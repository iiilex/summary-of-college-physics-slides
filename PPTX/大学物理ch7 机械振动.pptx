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300" r:id="rId2"/>
    <p:sldId id="370" r:id="rId3"/>
    <p:sldId id="372" r:id="rId4"/>
    <p:sldId id="258" r:id="rId5"/>
    <p:sldId id="304" r:id="rId6"/>
    <p:sldId id="363" r:id="rId7"/>
    <p:sldId id="364" r:id="rId8"/>
    <p:sldId id="365" r:id="rId9"/>
    <p:sldId id="308" r:id="rId10"/>
    <p:sldId id="377" r:id="rId11"/>
    <p:sldId id="381" r:id="rId12"/>
    <p:sldId id="400" r:id="rId13"/>
    <p:sldId id="396" r:id="rId14"/>
    <p:sldId id="395" r:id="rId15"/>
    <p:sldId id="314" r:id="rId16"/>
    <p:sldId id="315" r:id="rId17"/>
    <p:sldId id="317" r:id="rId18"/>
    <p:sldId id="318" r:id="rId19"/>
    <p:sldId id="378" r:id="rId20"/>
    <p:sldId id="319" r:id="rId21"/>
    <p:sldId id="326" r:id="rId22"/>
    <p:sldId id="380" r:id="rId23"/>
    <p:sldId id="398" r:id="rId24"/>
    <p:sldId id="399" r:id="rId25"/>
    <p:sldId id="387" r:id="rId26"/>
    <p:sldId id="388" r:id="rId27"/>
    <p:sldId id="384" r:id="rId28"/>
    <p:sldId id="385" r:id="rId29"/>
    <p:sldId id="386" r:id="rId30"/>
    <p:sldId id="389" r:id="rId31"/>
    <p:sldId id="334" r:id="rId32"/>
    <p:sldId id="368" r:id="rId33"/>
    <p:sldId id="369" r:id="rId34"/>
    <p:sldId id="310" r:id="rId35"/>
    <p:sldId id="311" r:id="rId36"/>
    <p:sldId id="336" r:id="rId37"/>
    <p:sldId id="337" r:id="rId38"/>
    <p:sldId id="338" r:id="rId39"/>
    <p:sldId id="339" r:id="rId40"/>
    <p:sldId id="340" r:id="rId41"/>
    <p:sldId id="341" r:id="rId42"/>
    <p:sldId id="342" r:id="rId43"/>
    <p:sldId id="343" r:id="rId44"/>
    <p:sldId id="344" r:id="rId45"/>
    <p:sldId id="345" r:id="rId46"/>
    <p:sldId id="376" r:id="rId47"/>
    <p:sldId id="348" r:id="rId48"/>
    <p:sldId id="349" r:id="rId49"/>
    <p:sldId id="351" r:id="rId50"/>
    <p:sldId id="352" r:id="rId51"/>
    <p:sldId id="353" r:id="rId52"/>
    <p:sldId id="354" r:id="rId53"/>
    <p:sldId id="355" r:id="rId54"/>
    <p:sldId id="356" r:id="rId5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FF0000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FF0000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FF0000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FF0000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FF0000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FF0000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FF0000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FF0000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FF0000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800000"/>
    <a:srgbClr val="993300"/>
    <a:srgbClr val="FF00FF"/>
    <a:srgbClr val="FF0000"/>
    <a:srgbClr val="006600"/>
    <a:srgbClr val="000066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03" autoAdjust="0"/>
    <p:restoredTop sz="94590" autoAdjust="0"/>
  </p:normalViewPr>
  <p:slideViewPr>
    <p:cSldViewPr>
      <p:cViewPr varScale="1">
        <p:scale>
          <a:sx n="113" d="100"/>
          <a:sy n="113" d="100"/>
        </p:scale>
        <p:origin x="3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7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4F909F9-9EE5-4D70-AB3F-96932F2EE4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E4F0B38-44A3-4B4D-874D-A74751C41DA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C68B598-2B9B-46E2-BDCC-C53BAF0AAAB1}" type="datetimeFigureOut">
              <a:rPr lang="zh-CN" altLang="en-US"/>
              <a:pPr>
                <a:defRPr/>
              </a:pPr>
              <a:t>2026/3/5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26EF4D57-FD26-E286-B72B-C87A78FB16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70E4A770-9C62-9719-1E9B-A32D0AFF8A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0EC595-D5F5-E0B0-873B-C7C551D4D62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26933A-1E32-A35E-B198-F69414142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B84979E-3E57-4786-BEDB-0DE81F1399B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A4A73727-8434-7DCF-EECD-97F135C910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备注占位符 2">
            <a:extLst>
              <a:ext uri="{FF2B5EF4-FFF2-40B4-BE49-F238E27FC236}">
                <a16:creationId xmlns:a16="http://schemas.microsoft.com/office/drawing/2014/main" id="{0249176B-11AF-F535-CA5A-3533A06257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6388" name="灯片编号占位符 3">
            <a:extLst>
              <a:ext uri="{FF2B5EF4-FFF2-40B4-BE49-F238E27FC236}">
                <a16:creationId xmlns:a16="http://schemas.microsoft.com/office/drawing/2014/main" id="{EAC1A96A-E09E-7B76-34E4-02E4819972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fld id="{C02C8ABA-5955-4AF3-97F8-A81F2247F7B5}" type="slidenum">
              <a:rPr lang="zh-CN" altLang="en-US" sz="1200" smtClean="0"/>
              <a:pPr/>
              <a:t>13</a:t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B68908F-77D3-FC62-3812-0CE3297AE98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75F03C-28BB-405D-A5FB-0AB956D0BD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2815708"/>
      </p:ext>
    </p:extLst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4CF53A8-BDA6-279E-FB51-92B1952ABB0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349273-5AED-4BFB-A194-EE719B23B3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8845325"/>
      </p:ext>
    </p:extLst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C8464A8-2823-CA0E-E7AC-48E54538BE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A85E06-11B4-49AE-9328-5904CA546C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7547616"/>
      </p:ext>
    </p:extLst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86FBE1B-FC66-0014-F878-12AFE236EB2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41F751-5F9A-4FC6-9B9C-9EF5C8800A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1537465"/>
      </p:ext>
    </p:extLst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C8BE36-8EE1-C1A1-1E54-EF8207A5249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865615-BAF7-4EFE-B605-C72432468A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6663616"/>
      </p:ext>
    </p:extLst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13BD87F2-7796-56D7-24C2-8A4CC2A311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8DD2BD-0B40-4A12-A5B1-6A79B55E5C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3410784"/>
      </p:ext>
    </p:extLst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C0034239-9AE0-B5C4-153F-F9616C01CD4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248F8B-8AA3-467B-B08E-032A408939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4732510"/>
      </p:ext>
    </p:extLst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5A4D329-E57B-C0D5-D693-10139E807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BE1A3-A050-495F-B488-A2110CB69D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8864402"/>
      </p:ext>
    </p:extLst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A01F824-F07E-1236-1024-E8D95EEEF1D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06BBDC-2025-4404-9075-FC5537750F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2531370"/>
      </p:ext>
    </p:extLst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E5104F7-16E0-1591-0B9B-A4462DCE07C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E76B7E-C466-47ED-A4A6-C8BFCB69AD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0699031"/>
      </p:ext>
    </p:extLst>
  </p:cSld>
  <p:clrMapOvr>
    <a:masterClrMapping/>
  </p:clrMapOvr>
  <p:transition spd="slow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7F5662E-C237-EA5D-5076-264439AE1F5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2D3F24-7199-4D3C-89BA-2589DE0377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6742162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E4C81EFC-32C5-D510-5280-9C885D9452F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5CDF5D3-A015-46ED-A6DF-44FEDB23D9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ideo" Target="file:///D:\CAI\&#30005;&#23376;&#25945;&#26696;\&#30005;&#23376;&#25945;&#26696;\Avi\E092b2.avi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ideo" Target="file:///D:\CAI\&#30005;&#23376;&#25945;&#26696;\&#30005;&#23376;&#25945;&#26696;\Avi\E092b2.avi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8.emf"/><Relationship Id="rId5" Type="http://schemas.openxmlformats.org/officeDocument/2006/relationships/image" Target="../media/image5.e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11.emf"/><Relationship Id="rId7" Type="http://schemas.openxmlformats.org/officeDocument/2006/relationships/image" Target="../media/image13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7" Type="http://schemas.openxmlformats.org/officeDocument/2006/relationships/image" Target="../media/image17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20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6.emf"/><Relationship Id="rId3" Type="http://schemas.openxmlformats.org/officeDocument/2006/relationships/image" Target="../media/image21.emf"/><Relationship Id="rId7" Type="http://schemas.openxmlformats.org/officeDocument/2006/relationships/image" Target="../media/image23.emf"/><Relationship Id="rId12" Type="http://schemas.openxmlformats.org/officeDocument/2006/relationships/oleObject" Target="../embeddings/oleObject24.bin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5.emf"/><Relationship Id="rId5" Type="http://schemas.openxmlformats.org/officeDocument/2006/relationships/image" Target="../media/image22.e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27.emf"/><Relationship Id="rId7" Type="http://schemas.openxmlformats.org/officeDocument/2006/relationships/image" Target="../media/image29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1.emf"/><Relationship Id="rId5" Type="http://schemas.openxmlformats.org/officeDocument/2006/relationships/image" Target="../media/image28.e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0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7.emf"/><Relationship Id="rId18" Type="http://schemas.openxmlformats.org/officeDocument/2006/relationships/oleObject" Target="../embeddings/oleObject38.bin"/><Relationship Id="rId3" Type="http://schemas.openxmlformats.org/officeDocument/2006/relationships/image" Target="../media/image32.emf"/><Relationship Id="rId21" Type="http://schemas.openxmlformats.org/officeDocument/2006/relationships/image" Target="../media/image41.emf"/><Relationship Id="rId7" Type="http://schemas.openxmlformats.org/officeDocument/2006/relationships/image" Target="../media/image34.emf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39.emf"/><Relationship Id="rId2" Type="http://schemas.openxmlformats.org/officeDocument/2006/relationships/oleObject" Target="../embeddings/oleObject30.bin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3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6.emf"/><Relationship Id="rId5" Type="http://schemas.openxmlformats.org/officeDocument/2006/relationships/image" Target="../media/image33.emf"/><Relationship Id="rId15" Type="http://schemas.openxmlformats.org/officeDocument/2006/relationships/image" Target="../media/image38.emf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40.e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5.emf"/><Relationship Id="rId14" Type="http://schemas.openxmlformats.org/officeDocument/2006/relationships/oleObject" Target="../embeddings/oleObject36.bin"/><Relationship Id="rId22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48.emf"/><Relationship Id="rId18" Type="http://schemas.openxmlformats.org/officeDocument/2006/relationships/oleObject" Target="../embeddings/oleObject48.bin"/><Relationship Id="rId3" Type="http://schemas.openxmlformats.org/officeDocument/2006/relationships/image" Target="../media/image43.emf"/><Relationship Id="rId7" Type="http://schemas.openxmlformats.org/officeDocument/2006/relationships/image" Target="../media/image45.emf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50.emf"/><Relationship Id="rId2" Type="http://schemas.openxmlformats.org/officeDocument/2006/relationships/oleObject" Target="../embeddings/oleObject40.bin"/><Relationship Id="rId16" Type="http://schemas.openxmlformats.org/officeDocument/2006/relationships/oleObject" Target="../embeddings/oleObject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7.emf"/><Relationship Id="rId5" Type="http://schemas.openxmlformats.org/officeDocument/2006/relationships/image" Target="../media/image44.emf"/><Relationship Id="rId15" Type="http://schemas.openxmlformats.org/officeDocument/2006/relationships/image" Target="../media/image49.emf"/><Relationship Id="rId10" Type="http://schemas.openxmlformats.org/officeDocument/2006/relationships/oleObject" Target="../embeddings/oleObject44.bin"/><Relationship Id="rId19" Type="http://schemas.openxmlformats.org/officeDocument/2006/relationships/image" Target="../media/image51.e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6.emf"/><Relationship Id="rId14" Type="http://schemas.openxmlformats.org/officeDocument/2006/relationships/oleObject" Target="../embeddings/oleObject4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57.emf"/><Relationship Id="rId18" Type="http://schemas.openxmlformats.org/officeDocument/2006/relationships/oleObject" Target="../embeddings/oleObject56.bin"/><Relationship Id="rId3" Type="http://schemas.openxmlformats.org/officeDocument/2006/relationships/image" Target="../media/image52.png"/><Relationship Id="rId21" Type="http://schemas.openxmlformats.org/officeDocument/2006/relationships/image" Target="../media/image61.emf"/><Relationship Id="rId7" Type="http://schemas.openxmlformats.org/officeDocument/2006/relationships/image" Target="../media/image54.emf"/><Relationship Id="rId12" Type="http://schemas.openxmlformats.org/officeDocument/2006/relationships/oleObject" Target="../embeddings/oleObject53.bin"/><Relationship Id="rId17" Type="http://schemas.openxmlformats.org/officeDocument/2006/relationships/image" Target="../media/image59.emf"/><Relationship Id="rId2" Type="http://schemas.openxmlformats.org/officeDocument/2006/relationships/notesSlide" Target="../notesSlides/notesSlide1.xml"/><Relationship Id="rId16" Type="http://schemas.openxmlformats.org/officeDocument/2006/relationships/oleObject" Target="../embeddings/oleObject55.bin"/><Relationship Id="rId20" Type="http://schemas.openxmlformats.org/officeDocument/2006/relationships/oleObject" Target="../embeddings/oleObject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56.emf"/><Relationship Id="rId5" Type="http://schemas.openxmlformats.org/officeDocument/2006/relationships/image" Target="../media/image53.emf"/><Relationship Id="rId15" Type="http://schemas.openxmlformats.org/officeDocument/2006/relationships/image" Target="../media/image58.emf"/><Relationship Id="rId23" Type="http://schemas.openxmlformats.org/officeDocument/2006/relationships/image" Target="../media/image62.emf"/><Relationship Id="rId10" Type="http://schemas.openxmlformats.org/officeDocument/2006/relationships/oleObject" Target="../embeddings/oleObject52.bin"/><Relationship Id="rId19" Type="http://schemas.openxmlformats.org/officeDocument/2006/relationships/image" Target="../media/image60.e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55.emf"/><Relationship Id="rId14" Type="http://schemas.openxmlformats.org/officeDocument/2006/relationships/oleObject" Target="../embeddings/oleObject54.bin"/><Relationship Id="rId22" Type="http://schemas.openxmlformats.org/officeDocument/2006/relationships/oleObject" Target="../embeddings/oleObject58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68.emf"/><Relationship Id="rId18" Type="http://schemas.openxmlformats.org/officeDocument/2006/relationships/oleObject" Target="../embeddings/oleObject66.bin"/><Relationship Id="rId3" Type="http://schemas.openxmlformats.org/officeDocument/2006/relationships/oleObject" Target="../embeddings/oleObject59.bin"/><Relationship Id="rId7" Type="http://schemas.openxmlformats.org/officeDocument/2006/relationships/image" Target="../media/image65.jpeg"/><Relationship Id="rId12" Type="http://schemas.openxmlformats.org/officeDocument/2006/relationships/oleObject" Target="../embeddings/oleObject63.bin"/><Relationship Id="rId17" Type="http://schemas.openxmlformats.org/officeDocument/2006/relationships/image" Target="../media/image70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5.bin"/><Relationship Id="rId20" Type="http://schemas.openxmlformats.org/officeDocument/2006/relationships/image" Target="../media/image72.png"/><Relationship Id="rId1" Type="http://schemas.openxmlformats.org/officeDocument/2006/relationships/video" Target="file:///D:\CAI\&#30005;&#23376;&#25945;&#26696;\&#30005;&#23376;&#25945;&#26696;\Avi\e0401s2.avi" TargetMode="External"/><Relationship Id="rId6" Type="http://schemas.openxmlformats.org/officeDocument/2006/relationships/image" Target="../media/image64.emf"/><Relationship Id="rId11" Type="http://schemas.openxmlformats.org/officeDocument/2006/relationships/image" Target="../media/image67.emf"/><Relationship Id="rId5" Type="http://schemas.openxmlformats.org/officeDocument/2006/relationships/oleObject" Target="../embeddings/oleObject60.bin"/><Relationship Id="rId15" Type="http://schemas.openxmlformats.org/officeDocument/2006/relationships/image" Target="../media/image69.emf"/><Relationship Id="rId10" Type="http://schemas.openxmlformats.org/officeDocument/2006/relationships/oleObject" Target="../embeddings/oleObject62.bin"/><Relationship Id="rId19" Type="http://schemas.openxmlformats.org/officeDocument/2006/relationships/image" Target="../media/image71.emf"/><Relationship Id="rId4" Type="http://schemas.openxmlformats.org/officeDocument/2006/relationships/image" Target="../media/image63.emf"/><Relationship Id="rId9" Type="http://schemas.openxmlformats.org/officeDocument/2006/relationships/image" Target="../media/image66.emf"/><Relationship Id="rId14" Type="http://schemas.openxmlformats.org/officeDocument/2006/relationships/oleObject" Target="../embeddings/oleObject6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13" Type="http://schemas.openxmlformats.org/officeDocument/2006/relationships/image" Target="../media/image78.emf"/><Relationship Id="rId18" Type="http://schemas.openxmlformats.org/officeDocument/2006/relationships/oleObject" Target="../embeddings/oleObject75.bin"/><Relationship Id="rId3" Type="http://schemas.openxmlformats.org/officeDocument/2006/relationships/image" Target="../media/image73.emf"/><Relationship Id="rId21" Type="http://schemas.openxmlformats.org/officeDocument/2006/relationships/image" Target="../media/image82.emf"/><Relationship Id="rId7" Type="http://schemas.openxmlformats.org/officeDocument/2006/relationships/image" Target="../media/image75.emf"/><Relationship Id="rId12" Type="http://schemas.openxmlformats.org/officeDocument/2006/relationships/oleObject" Target="../embeddings/oleObject72.bin"/><Relationship Id="rId17" Type="http://schemas.openxmlformats.org/officeDocument/2006/relationships/image" Target="../media/image80.emf"/><Relationship Id="rId2" Type="http://schemas.openxmlformats.org/officeDocument/2006/relationships/oleObject" Target="../embeddings/oleObject67.bin"/><Relationship Id="rId16" Type="http://schemas.openxmlformats.org/officeDocument/2006/relationships/oleObject" Target="../embeddings/oleObject74.bin"/><Relationship Id="rId20" Type="http://schemas.openxmlformats.org/officeDocument/2006/relationships/oleObject" Target="../embeddings/oleObject7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77.emf"/><Relationship Id="rId5" Type="http://schemas.openxmlformats.org/officeDocument/2006/relationships/image" Target="../media/image74.emf"/><Relationship Id="rId15" Type="http://schemas.openxmlformats.org/officeDocument/2006/relationships/image" Target="../media/image79.emf"/><Relationship Id="rId23" Type="http://schemas.openxmlformats.org/officeDocument/2006/relationships/image" Target="../media/image83.emf"/><Relationship Id="rId10" Type="http://schemas.openxmlformats.org/officeDocument/2006/relationships/oleObject" Target="../embeddings/oleObject71.bin"/><Relationship Id="rId19" Type="http://schemas.openxmlformats.org/officeDocument/2006/relationships/image" Target="../media/image81.emf"/><Relationship Id="rId4" Type="http://schemas.openxmlformats.org/officeDocument/2006/relationships/oleObject" Target="../embeddings/oleObject68.bin"/><Relationship Id="rId9" Type="http://schemas.openxmlformats.org/officeDocument/2006/relationships/image" Target="../media/image76.emf"/><Relationship Id="rId14" Type="http://schemas.openxmlformats.org/officeDocument/2006/relationships/oleObject" Target="../embeddings/oleObject73.bin"/><Relationship Id="rId22" Type="http://schemas.openxmlformats.org/officeDocument/2006/relationships/oleObject" Target="../embeddings/oleObject7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gif"/><Relationship Id="rId13" Type="http://schemas.openxmlformats.org/officeDocument/2006/relationships/oleObject" Target="../embeddings/oleObject83.bin"/><Relationship Id="rId18" Type="http://schemas.openxmlformats.org/officeDocument/2006/relationships/image" Target="../media/image92.emf"/><Relationship Id="rId3" Type="http://schemas.openxmlformats.org/officeDocument/2006/relationships/image" Target="../media/image84.emf"/><Relationship Id="rId21" Type="http://schemas.openxmlformats.org/officeDocument/2006/relationships/oleObject" Target="../embeddings/oleObject87.bin"/><Relationship Id="rId7" Type="http://schemas.openxmlformats.org/officeDocument/2006/relationships/image" Target="../media/image86.emf"/><Relationship Id="rId12" Type="http://schemas.openxmlformats.org/officeDocument/2006/relationships/image" Target="../media/image89.emf"/><Relationship Id="rId17" Type="http://schemas.openxmlformats.org/officeDocument/2006/relationships/oleObject" Target="../embeddings/oleObject85.bin"/><Relationship Id="rId2" Type="http://schemas.openxmlformats.org/officeDocument/2006/relationships/oleObject" Target="../embeddings/oleObject78.bin"/><Relationship Id="rId16" Type="http://schemas.openxmlformats.org/officeDocument/2006/relationships/image" Target="../media/image91.emf"/><Relationship Id="rId20" Type="http://schemas.openxmlformats.org/officeDocument/2006/relationships/image" Target="../media/image93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0.bin"/><Relationship Id="rId11" Type="http://schemas.openxmlformats.org/officeDocument/2006/relationships/oleObject" Target="../embeddings/oleObject82.bin"/><Relationship Id="rId24" Type="http://schemas.openxmlformats.org/officeDocument/2006/relationships/image" Target="../media/image95.emf"/><Relationship Id="rId5" Type="http://schemas.openxmlformats.org/officeDocument/2006/relationships/image" Target="../media/image85.emf"/><Relationship Id="rId15" Type="http://schemas.openxmlformats.org/officeDocument/2006/relationships/oleObject" Target="../embeddings/oleObject84.bin"/><Relationship Id="rId23" Type="http://schemas.openxmlformats.org/officeDocument/2006/relationships/oleObject" Target="../embeddings/oleObject88.bin"/><Relationship Id="rId10" Type="http://schemas.openxmlformats.org/officeDocument/2006/relationships/image" Target="../media/image88.emf"/><Relationship Id="rId19" Type="http://schemas.openxmlformats.org/officeDocument/2006/relationships/oleObject" Target="../embeddings/oleObject86.bin"/><Relationship Id="rId4" Type="http://schemas.openxmlformats.org/officeDocument/2006/relationships/oleObject" Target="../embeddings/oleObject79.bin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90.emf"/><Relationship Id="rId22" Type="http://schemas.openxmlformats.org/officeDocument/2006/relationships/image" Target="../media/image94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3" Type="http://schemas.openxmlformats.org/officeDocument/2006/relationships/image" Target="../media/image96.emf"/><Relationship Id="rId7" Type="http://schemas.openxmlformats.org/officeDocument/2006/relationships/image" Target="../media/image98.emf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1.bin"/><Relationship Id="rId5" Type="http://schemas.openxmlformats.org/officeDocument/2006/relationships/image" Target="../media/image97.emf"/><Relationship Id="rId4" Type="http://schemas.openxmlformats.org/officeDocument/2006/relationships/oleObject" Target="../embeddings/oleObject90.bin"/><Relationship Id="rId9" Type="http://schemas.openxmlformats.org/officeDocument/2006/relationships/image" Target="../media/image99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13" Type="http://schemas.openxmlformats.org/officeDocument/2006/relationships/oleObject" Target="../embeddings/oleObject98.bin"/><Relationship Id="rId18" Type="http://schemas.openxmlformats.org/officeDocument/2006/relationships/image" Target="../media/image108.emf"/><Relationship Id="rId3" Type="http://schemas.openxmlformats.org/officeDocument/2006/relationships/image" Target="../media/image101.emf"/><Relationship Id="rId7" Type="http://schemas.openxmlformats.org/officeDocument/2006/relationships/image" Target="../media/image103.emf"/><Relationship Id="rId12" Type="http://schemas.openxmlformats.org/officeDocument/2006/relationships/image" Target="../media/image105.emf"/><Relationship Id="rId17" Type="http://schemas.openxmlformats.org/officeDocument/2006/relationships/oleObject" Target="../embeddings/oleObject100.bin"/><Relationship Id="rId2" Type="http://schemas.openxmlformats.org/officeDocument/2006/relationships/oleObject" Target="../embeddings/oleObject93.bin"/><Relationship Id="rId16" Type="http://schemas.openxmlformats.org/officeDocument/2006/relationships/image" Target="../media/image107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5.bin"/><Relationship Id="rId11" Type="http://schemas.openxmlformats.org/officeDocument/2006/relationships/oleObject" Target="../embeddings/oleObject97.bin"/><Relationship Id="rId5" Type="http://schemas.openxmlformats.org/officeDocument/2006/relationships/image" Target="../media/image102.emf"/><Relationship Id="rId15" Type="http://schemas.openxmlformats.org/officeDocument/2006/relationships/oleObject" Target="../embeddings/oleObject99.bin"/><Relationship Id="rId10" Type="http://schemas.openxmlformats.org/officeDocument/2006/relationships/image" Target="../media/image100.gif"/><Relationship Id="rId4" Type="http://schemas.openxmlformats.org/officeDocument/2006/relationships/oleObject" Target="../embeddings/oleObject94.bin"/><Relationship Id="rId9" Type="http://schemas.openxmlformats.org/officeDocument/2006/relationships/image" Target="../media/image104.emf"/><Relationship Id="rId14" Type="http://schemas.openxmlformats.org/officeDocument/2006/relationships/image" Target="../media/image10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oleObject" Target="../embeddings/oleObject10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0.emf"/><Relationship Id="rId4" Type="http://schemas.openxmlformats.org/officeDocument/2006/relationships/oleObject" Target="../embeddings/oleObject10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13" Type="http://schemas.openxmlformats.org/officeDocument/2006/relationships/image" Target="../media/image116.emf"/><Relationship Id="rId3" Type="http://schemas.openxmlformats.org/officeDocument/2006/relationships/image" Target="../media/image111.emf"/><Relationship Id="rId7" Type="http://schemas.openxmlformats.org/officeDocument/2006/relationships/image" Target="../media/image113.emf"/><Relationship Id="rId12" Type="http://schemas.openxmlformats.org/officeDocument/2006/relationships/oleObject" Target="../embeddings/oleObject108.bin"/><Relationship Id="rId2" Type="http://schemas.openxmlformats.org/officeDocument/2006/relationships/oleObject" Target="../embeddings/oleObject10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5.bin"/><Relationship Id="rId11" Type="http://schemas.openxmlformats.org/officeDocument/2006/relationships/image" Target="../media/image115.emf"/><Relationship Id="rId5" Type="http://schemas.openxmlformats.org/officeDocument/2006/relationships/image" Target="../media/image112.emf"/><Relationship Id="rId10" Type="http://schemas.openxmlformats.org/officeDocument/2006/relationships/oleObject" Target="../embeddings/oleObject107.bin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11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3" Type="http://schemas.openxmlformats.org/officeDocument/2006/relationships/image" Target="../media/image122.emf"/><Relationship Id="rId7" Type="http://schemas.openxmlformats.org/officeDocument/2006/relationships/image" Target="../media/image124.emf"/><Relationship Id="rId2" Type="http://schemas.openxmlformats.org/officeDocument/2006/relationships/oleObject" Target="../embeddings/oleObject10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126.emf"/><Relationship Id="rId5" Type="http://schemas.openxmlformats.org/officeDocument/2006/relationships/image" Target="../media/image123.emf"/><Relationship Id="rId10" Type="http://schemas.openxmlformats.org/officeDocument/2006/relationships/oleObject" Target="../embeddings/oleObject113.bin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25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3" Type="http://schemas.openxmlformats.org/officeDocument/2006/relationships/image" Target="../media/image129.emf"/><Relationship Id="rId7" Type="http://schemas.openxmlformats.org/officeDocument/2006/relationships/image" Target="../media/image131.emf"/><Relationship Id="rId2" Type="http://schemas.openxmlformats.org/officeDocument/2006/relationships/oleObject" Target="../embeddings/oleObject1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6.bin"/><Relationship Id="rId5" Type="http://schemas.openxmlformats.org/officeDocument/2006/relationships/image" Target="../media/image130.emf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3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emf"/><Relationship Id="rId7" Type="http://schemas.openxmlformats.org/officeDocument/2006/relationships/image" Target="../media/image135.emf"/><Relationship Id="rId2" Type="http://schemas.openxmlformats.org/officeDocument/2006/relationships/oleObject" Target="../embeddings/oleObject1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0.bin"/><Relationship Id="rId5" Type="http://schemas.openxmlformats.org/officeDocument/2006/relationships/image" Target="../media/image134.emf"/><Relationship Id="rId4" Type="http://schemas.openxmlformats.org/officeDocument/2006/relationships/oleObject" Target="../embeddings/oleObject11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4.bin"/><Relationship Id="rId3" Type="http://schemas.openxmlformats.org/officeDocument/2006/relationships/image" Target="../media/image136.emf"/><Relationship Id="rId7" Type="http://schemas.openxmlformats.org/officeDocument/2006/relationships/image" Target="../media/image138.emf"/><Relationship Id="rId2" Type="http://schemas.openxmlformats.org/officeDocument/2006/relationships/oleObject" Target="../embeddings/oleObject1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3.bin"/><Relationship Id="rId5" Type="http://schemas.openxmlformats.org/officeDocument/2006/relationships/image" Target="../media/image137.wmf"/><Relationship Id="rId4" Type="http://schemas.openxmlformats.org/officeDocument/2006/relationships/oleObject" Target="../embeddings/oleObject122.bin"/><Relationship Id="rId9" Type="http://schemas.openxmlformats.org/officeDocument/2006/relationships/image" Target="../media/image139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image" Target="../media/image152.emf"/><Relationship Id="rId18" Type="http://schemas.openxmlformats.org/officeDocument/2006/relationships/oleObject" Target="../embeddings/oleObject133.bin"/><Relationship Id="rId3" Type="http://schemas.openxmlformats.org/officeDocument/2006/relationships/image" Target="../media/image147.emf"/><Relationship Id="rId7" Type="http://schemas.openxmlformats.org/officeDocument/2006/relationships/image" Target="../media/image149.emf"/><Relationship Id="rId12" Type="http://schemas.openxmlformats.org/officeDocument/2006/relationships/oleObject" Target="../embeddings/oleObject130.bin"/><Relationship Id="rId17" Type="http://schemas.openxmlformats.org/officeDocument/2006/relationships/image" Target="../media/image154.emf"/><Relationship Id="rId2" Type="http://schemas.openxmlformats.org/officeDocument/2006/relationships/oleObject" Target="../embeddings/oleObject125.bin"/><Relationship Id="rId16" Type="http://schemas.openxmlformats.org/officeDocument/2006/relationships/oleObject" Target="../embeddings/oleObject13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51.emf"/><Relationship Id="rId5" Type="http://schemas.openxmlformats.org/officeDocument/2006/relationships/image" Target="../media/image148.emf"/><Relationship Id="rId15" Type="http://schemas.openxmlformats.org/officeDocument/2006/relationships/image" Target="../media/image153.emf"/><Relationship Id="rId10" Type="http://schemas.openxmlformats.org/officeDocument/2006/relationships/oleObject" Target="../embeddings/oleObject129.bin"/><Relationship Id="rId19" Type="http://schemas.openxmlformats.org/officeDocument/2006/relationships/image" Target="../media/image155.emf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50.emf"/><Relationship Id="rId14" Type="http://schemas.openxmlformats.org/officeDocument/2006/relationships/oleObject" Target="../embeddings/oleObject131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3" Type="http://schemas.openxmlformats.org/officeDocument/2006/relationships/image" Target="../media/image156.emf"/><Relationship Id="rId7" Type="http://schemas.openxmlformats.org/officeDocument/2006/relationships/image" Target="../media/image158.emf"/><Relationship Id="rId2" Type="http://schemas.openxmlformats.org/officeDocument/2006/relationships/oleObject" Target="../embeddings/oleObject1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60.emf"/><Relationship Id="rId5" Type="http://schemas.openxmlformats.org/officeDocument/2006/relationships/image" Target="../media/image157.emf"/><Relationship Id="rId10" Type="http://schemas.openxmlformats.org/officeDocument/2006/relationships/oleObject" Target="../embeddings/oleObject138.bin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59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13" Type="http://schemas.openxmlformats.org/officeDocument/2006/relationships/image" Target="../media/image166.emf"/><Relationship Id="rId18" Type="http://schemas.openxmlformats.org/officeDocument/2006/relationships/oleObject" Target="../embeddings/oleObject147.bin"/><Relationship Id="rId3" Type="http://schemas.openxmlformats.org/officeDocument/2006/relationships/image" Target="../media/image161.emf"/><Relationship Id="rId21" Type="http://schemas.openxmlformats.org/officeDocument/2006/relationships/image" Target="../media/image170.emf"/><Relationship Id="rId7" Type="http://schemas.openxmlformats.org/officeDocument/2006/relationships/image" Target="../media/image163.emf"/><Relationship Id="rId12" Type="http://schemas.openxmlformats.org/officeDocument/2006/relationships/oleObject" Target="../embeddings/oleObject144.bin"/><Relationship Id="rId17" Type="http://schemas.openxmlformats.org/officeDocument/2006/relationships/image" Target="../media/image168.emf"/><Relationship Id="rId2" Type="http://schemas.openxmlformats.org/officeDocument/2006/relationships/oleObject" Target="../embeddings/oleObject139.bin"/><Relationship Id="rId16" Type="http://schemas.openxmlformats.org/officeDocument/2006/relationships/oleObject" Target="../embeddings/oleObject146.bin"/><Relationship Id="rId20" Type="http://schemas.openxmlformats.org/officeDocument/2006/relationships/oleObject" Target="../embeddings/oleObject14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1.bin"/><Relationship Id="rId11" Type="http://schemas.openxmlformats.org/officeDocument/2006/relationships/image" Target="../media/image165.emf"/><Relationship Id="rId5" Type="http://schemas.openxmlformats.org/officeDocument/2006/relationships/image" Target="../media/image162.emf"/><Relationship Id="rId15" Type="http://schemas.openxmlformats.org/officeDocument/2006/relationships/image" Target="../media/image167.emf"/><Relationship Id="rId23" Type="http://schemas.openxmlformats.org/officeDocument/2006/relationships/image" Target="../media/image171.emf"/><Relationship Id="rId10" Type="http://schemas.openxmlformats.org/officeDocument/2006/relationships/oleObject" Target="../embeddings/oleObject143.bin"/><Relationship Id="rId19" Type="http://schemas.openxmlformats.org/officeDocument/2006/relationships/image" Target="../media/image169.emf"/><Relationship Id="rId4" Type="http://schemas.openxmlformats.org/officeDocument/2006/relationships/oleObject" Target="../embeddings/oleObject140.bin"/><Relationship Id="rId9" Type="http://schemas.openxmlformats.org/officeDocument/2006/relationships/image" Target="../media/image164.emf"/><Relationship Id="rId14" Type="http://schemas.openxmlformats.org/officeDocument/2006/relationships/oleObject" Target="../embeddings/oleObject145.bin"/><Relationship Id="rId22" Type="http://schemas.openxmlformats.org/officeDocument/2006/relationships/oleObject" Target="../embeddings/oleObject149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3.bin"/><Relationship Id="rId13" Type="http://schemas.openxmlformats.org/officeDocument/2006/relationships/image" Target="../media/image177.emf"/><Relationship Id="rId3" Type="http://schemas.openxmlformats.org/officeDocument/2006/relationships/image" Target="../media/image172.emf"/><Relationship Id="rId7" Type="http://schemas.openxmlformats.org/officeDocument/2006/relationships/image" Target="../media/image174.emf"/><Relationship Id="rId12" Type="http://schemas.openxmlformats.org/officeDocument/2006/relationships/oleObject" Target="../embeddings/oleObject155.bin"/><Relationship Id="rId2" Type="http://schemas.openxmlformats.org/officeDocument/2006/relationships/oleObject" Target="../embeddings/oleObject1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2.bin"/><Relationship Id="rId11" Type="http://schemas.openxmlformats.org/officeDocument/2006/relationships/image" Target="../media/image176.emf"/><Relationship Id="rId5" Type="http://schemas.openxmlformats.org/officeDocument/2006/relationships/image" Target="../media/image173.emf"/><Relationship Id="rId10" Type="http://schemas.openxmlformats.org/officeDocument/2006/relationships/oleObject" Target="../embeddings/oleObject154.bin"/><Relationship Id="rId4" Type="http://schemas.openxmlformats.org/officeDocument/2006/relationships/oleObject" Target="../embeddings/oleObject151.bin"/><Relationship Id="rId9" Type="http://schemas.openxmlformats.org/officeDocument/2006/relationships/image" Target="../media/image175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13" Type="http://schemas.openxmlformats.org/officeDocument/2006/relationships/image" Target="../media/image183.wmf"/><Relationship Id="rId18" Type="http://schemas.openxmlformats.org/officeDocument/2006/relationships/oleObject" Target="../embeddings/oleObject164.bin"/><Relationship Id="rId3" Type="http://schemas.openxmlformats.org/officeDocument/2006/relationships/image" Target="../media/image178.emf"/><Relationship Id="rId21" Type="http://schemas.openxmlformats.org/officeDocument/2006/relationships/image" Target="../media/image187.emf"/><Relationship Id="rId7" Type="http://schemas.openxmlformats.org/officeDocument/2006/relationships/image" Target="../media/image180.emf"/><Relationship Id="rId12" Type="http://schemas.openxmlformats.org/officeDocument/2006/relationships/oleObject" Target="../embeddings/oleObject161.bin"/><Relationship Id="rId17" Type="http://schemas.openxmlformats.org/officeDocument/2006/relationships/image" Target="../media/image185.emf"/><Relationship Id="rId2" Type="http://schemas.openxmlformats.org/officeDocument/2006/relationships/oleObject" Target="../embeddings/oleObject156.bin"/><Relationship Id="rId16" Type="http://schemas.openxmlformats.org/officeDocument/2006/relationships/oleObject" Target="../embeddings/oleObject163.bin"/><Relationship Id="rId20" Type="http://schemas.openxmlformats.org/officeDocument/2006/relationships/oleObject" Target="../embeddings/oleObject16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8.bin"/><Relationship Id="rId11" Type="http://schemas.openxmlformats.org/officeDocument/2006/relationships/image" Target="../media/image182.emf"/><Relationship Id="rId5" Type="http://schemas.openxmlformats.org/officeDocument/2006/relationships/image" Target="../media/image179.wmf"/><Relationship Id="rId15" Type="http://schemas.openxmlformats.org/officeDocument/2006/relationships/image" Target="../media/image184.emf"/><Relationship Id="rId10" Type="http://schemas.openxmlformats.org/officeDocument/2006/relationships/oleObject" Target="../embeddings/oleObject160.bin"/><Relationship Id="rId19" Type="http://schemas.openxmlformats.org/officeDocument/2006/relationships/image" Target="../media/image186.emf"/><Relationship Id="rId4" Type="http://schemas.openxmlformats.org/officeDocument/2006/relationships/oleObject" Target="../embeddings/oleObject157.bin"/><Relationship Id="rId9" Type="http://schemas.openxmlformats.org/officeDocument/2006/relationships/image" Target="../media/image181.wmf"/><Relationship Id="rId14" Type="http://schemas.openxmlformats.org/officeDocument/2006/relationships/oleObject" Target="../embeddings/oleObject162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emf"/><Relationship Id="rId13" Type="http://schemas.openxmlformats.org/officeDocument/2006/relationships/oleObject" Target="../embeddings/oleObject171.bin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68.bin"/><Relationship Id="rId12" Type="http://schemas.openxmlformats.org/officeDocument/2006/relationships/image" Target="../media/image192.emf"/><Relationship Id="rId2" Type="http://schemas.openxmlformats.org/officeDocument/2006/relationships/hyperlink" Target="htm&#29256;/jiaoan/ppt/PCAI/P04/CH01/BDAC/HTML/ZDHCPAI.HTML" TargetMode="External"/><Relationship Id="rId16" Type="http://schemas.openxmlformats.org/officeDocument/2006/relationships/image" Target="../media/image194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9.emf"/><Relationship Id="rId11" Type="http://schemas.openxmlformats.org/officeDocument/2006/relationships/oleObject" Target="../embeddings/oleObject170.bin"/><Relationship Id="rId5" Type="http://schemas.openxmlformats.org/officeDocument/2006/relationships/oleObject" Target="../embeddings/oleObject167.bin"/><Relationship Id="rId15" Type="http://schemas.openxmlformats.org/officeDocument/2006/relationships/oleObject" Target="../embeddings/oleObject172.bin"/><Relationship Id="rId10" Type="http://schemas.openxmlformats.org/officeDocument/2006/relationships/image" Target="../media/image191.emf"/><Relationship Id="rId4" Type="http://schemas.openxmlformats.org/officeDocument/2006/relationships/image" Target="../media/image188.emf"/><Relationship Id="rId9" Type="http://schemas.openxmlformats.org/officeDocument/2006/relationships/oleObject" Target="../embeddings/oleObject169.bin"/><Relationship Id="rId14" Type="http://schemas.openxmlformats.org/officeDocument/2006/relationships/image" Target="../media/image193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6.bin"/><Relationship Id="rId3" Type="http://schemas.openxmlformats.org/officeDocument/2006/relationships/image" Target="../media/image195.emf"/><Relationship Id="rId7" Type="http://schemas.openxmlformats.org/officeDocument/2006/relationships/image" Target="../media/image197.emf"/><Relationship Id="rId2" Type="http://schemas.openxmlformats.org/officeDocument/2006/relationships/oleObject" Target="../embeddings/oleObject17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5.bin"/><Relationship Id="rId5" Type="http://schemas.openxmlformats.org/officeDocument/2006/relationships/image" Target="../media/image196.emf"/><Relationship Id="rId4" Type="http://schemas.openxmlformats.org/officeDocument/2006/relationships/oleObject" Target="../embeddings/oleObject174.bin"/><Relationship Id="rId9" Type="http://schemas.openxmlformats.org/officeDocument/2006/relationships/image" Target="../media/image198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emf"/><Relationship Id="rId2" Type="http://schemas.openxmlformats.org/officeDocument/2006/relationships/oleObject" Target="../embeddings/oleObject17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1.emf"/><Relationship Id="rId5" Type="http://schemas.openxmlformats.org/officeDocument/2006/relationships/oleObject" Target="../embeddings/oleObject178.bin"/><Relationship Id="rId4" Type="http://schemas.openxmlformats.org/officeDocument/2006/relationships/image" Target="../media/image20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13" Type="http://schemas.openxmlformats.org/officeDocument/2006/relationships/oleObject" Target="../embeddings/oleObject184.bin"/><Relationship Id="rId3" Type="http://schemas.openxmlformats.org/officeDocument/2006/relationships/oleObject" Target="../embeddings/oleObject179.bin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207.emf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4.wmf"/><Relationship Id="rId11" Type="http://schemas.openxmlformats.org/officeDocument/2006/relationships/oleObject" Target="../embeddings/oleObject183.bin"/><Relationship Id="rId5" Type="http://schemas.openxmlformats.org/officeDocument/2006/relationships/oleObject" Target="../embeddings/oleObject180.bin"/><Relationship Id="rId10" Type="http://schemas.openxmlformats.org/officeDocument/2006/relationships/image" Target="../media/image206.wmf"/><Relationship Id="rId4" Type="http://schemas.openxmlformats.org/officeDocument/2006/relationships/image" Target="../media/image203.emf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208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emf"/><Relationship Id="rId3" Type="http://schemas.openxmlformats.org/officeDocument/2006/relationships/oleObject" Target="../embeddings/oleObject185.bin"/><Relationship Id="rId7" Type="http://schemas.openxmlformats.org/officeDocument/2006/relationships/oleObject" Target="../embeddings/oleObject187.bin"/><Relationship Id="rId2" Type="http://schemas.openxmlformats.org/officeDocument/2006/relationships/hyperlink" Target="htm&#29256;/jiaoan/ppt/PCAI/P04/CH01/BDAC/HTML/TPLZD1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0.emf"/><Relationship Id="rId5" Type="http://schemas.openxmlformats.org/officeDocument/2006/relationships/oleObject" Target="../embeddings/oleObject186.bin"/><Relationship Id="rId4" Type="http://schemas.openxmlformats.org/officeDocument/2006/relationships/image" Target="../media/image209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1.bin"/><Relationship Id="rId13" Type="http://schemas.openxmlformats.org/officeDocument/2006/relationships/image" Target="../media/image217.emf"/><Relationship Id="rId3" Type="http://schemas.openxmlformats.org/officeDocument/2006/relationships/image" Target="../media/image212.emf"/><Relationship Id="rId7" Type="http://schemas.openxmlformats.org/officeDocument/2006/relationships/image" Target="../media/image214.emf"/><Relationship Id="rId12" Type="http://schemas.openxmlformats.org/officeDocument/2006/relationships/oleObject" Target="../embeddings/oleObject193.bin"/><Relationship Id="rId17" Type="http://schemas.openxmlformats.org/officeDocument/2006/relationships/image" Target="../media/image219.emf"/><Relationship Id="rId2" Type="http://schemas.openxmlformats.org/officeDocument/2006/relationships/oleObject" Target="../embeddings/oleObject188.bin"/><Relationship Id="rId16" Type="http://schemas.openxmlformats.org/officeDocument/2006/relationships/oleObject" Target="../embeddings/oleObject19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0.bin"/><Relationship Id="rId11" Type="http://schemas.openxmlformats.org/officeDocument/2006/relationships/image" Target="../media/image216.emf"/><Relationship Id="rId5" Type="http://schemas.openxmlformats.org/officeDocument/2006/relationships/image" Target="../media/image213.emf"/><Relationship Id="rId15" Type="http://schemas.openxmlformats.org/officeDocument/2006/relationships/image" Target="../media/image218.emf"/><Relationship Id="rId10" Type="http://schemas.openxmlformats.org/officeDocument/2006/relationships/oleObject" Target="../embeddings/oleObject192.bin"/><Relationship Id="rId4" Type="http://schemas.openxmlformats.org/officeDocument/2006/relationships/oleObject" Target="../embeddings/oleObject189.bin"/><Relationship Id="rId9" Type="http://schemas.openxmlformats.org/officeDocument/2006/relationships/image" Target="../media/image215.emf"/><Relationship Id="rId14" Type="http://schemas.openxmlformats.org/officeDocument/2006/relationships/oleObject" Target="../embeddings/oleObject194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9.bin"/><Relationship Id="rId13" Type="http://schemas.openxmlformats.org/officeDocument/2006/relationships/image" Target="../media/image225.emf"/><Relationship Id="rId3" Type="http://schemas.openxmlformats.org/officeDocument/2006/relationships/image" Target="../media/image220.emf"/><Relationship Id="rId7" Type="http://schemas.openxmlformats.org/officeDocument/2006/relationships/image" Target="../media/image222.emf"/><Relationship Id="rId12" Type="http://schemas.openxmlformats.org/officeDocument/2006/relationships/oleObject" Target="../embeddings/oleObject201.bin"/><Relationship Id="rId2" Type="http://schemas.openxmlformats.org/officeDocument/2006/relationships/oleObject" Target="../embeddings/oleObject19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8.bin"/><Relationship Id="rId11" Type="http://schemas.openxmlformats.org/officeDocument/2006/relationships/image" Target="../media/image224.emf"/><Relationship Id="rId5" Type="http://schemas.openxmlformats.org/officeDocument/2006/relationships/image" Target="../media/image221.emf"/><Relationship Id="rId10" Type="http://schemas.openxmlformats.org/officeDocument/2006/relationships/oleObject" Target="../embeddings/oleObject200.bin"/><Relationship Id="rId4" Type="http://schemas.openxmlformats.org/officeDocument/2006/relationships/oleObject" Target="../embeddings/oleObject197.bin"/><Relationship Id="rId9" Type="http://schemas.openxmlformats.org/officeDocument/2006/relationships/image" Target="../media/image223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5.bin"/><Relationship Id="rId13" Type="http://schemas.openxmlformats.org/officeDocument/2006/relationships/image" Target="../media/image231.emf"/><Relationship Id="rId18" Type="http://schemas.openxmlformats.org/officeDocument/2006/relationships/oleObject" Target="../embeddings/oleObject210.bin"/><Relationship Id="rId3" Type="http://schemas.openxmlformats.org/officeDocument/2006/relationships/image" Target="../media/image226.emf"/><Relationship Id="rId7" Type="http://schemas.openxmlformats.org/officeDocument/2006/relationships/image" Target="../media/image228.emf"/><Relationship Id="rId12" Type="http://schemas.openxmlformats.org/officeDocument/2006/relationships/oleObject" Target="../embeddings/oleObject207.bin"/><Relationship Id="rId17" Type="http://schemas.openxmlformats.org/officeDocument/2006/relationships/image" Target="../media/image233.emf"/><Relationship Id="rId2" Type="http://schemas.openxmlformats.org/officeDocument/2006/relationships/oleObject" Target="../embeddings/oleObject202.bin"/><Relationship Id="rId16" Type="http://schemas.openxmlformats.org/officeDocument/2006/relationships/oleObject" Target="../embeddings/oleObject20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4.bin"/><Relationship Id="rId11" Type="http://schemas.openxmlformats.org/officeDocument/2006/relationships/image" Target="../media/image230.emf"/><Relationship Id="rId5" Type="http://schemas.openxmlformats.org/officeDocument/2006/relationships/image" Target="../media/image227.emf"/><Relationship Id="rId15" Type="http://schemas.openxmlformats.org/officeDocument/2006/relationships/image" Target="../media/image232.emf"/><Relationship Id="rId10" Type="http://schemas.openxmlformats.org/officeDocument/2006/relationships/oleObject" Target="../embeddings/oleObject206.bin"/><Relationship Id="rId19" Type="http://schemas.openxmlformats.org/officeDocument/2006/relationships/image" Target="../media/image234.emf"/><Relationship Id="rId4" Type="http://schemas.openxmlformats.org/officeDocument/2006/relationships/oleObject" Target="../embeddings/oleObject203.bin"/><Relationship Id="rId9" Type="http://schemas.openxmlformats.org/officeDocument/2006/relationships/image" Target="../media/image229.emf"/><Relationship Id="rId14" Type="http://schemas.openxmlformats.org/officeDocument/2006/relationships/oleObject" Target="../embeddings/oleObject208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emf"/><Relationship Id="rId2" Type="http://schemas.openxmlformats.org/officeDocument/2006/relationships/oleObject" Target="../embeddings/oleObject211.bin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emf"/><Relationship Id="rId3" Type="http://schemas.openxmlformats.org/officeDocument/2006/relationships/oleObject" Target="../embeddings/oleObject212.bin"/><Relationship Id="rId7" Type="http://schemas.openxmlformats.org/officeDocument/2006/relationships/oleObject" Target="../embeddings/oleObject214.bin"/><Relationship Id="rId2" Type="http://schemas.openxmlformats.org/officeDocument/2006/relationships/hyperlink" Target="htm&#29256;/jiaoan/ppt/PCAI/P04/CH01/BDAC/HTML/BTPLZD2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7.emf"/><Relationship Id="rId5" Type="http://schemas.openxmlformats.org/officeDocument/2006/relationships/oleObject" Target="../embeddings/oleObject213.bin"/><Relationship Id="rId4" Type="http://schemas.openxmlformats.org/officeDocument/2006/relationships/image" Target="../media/image236.e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8.bin"/><Relationship Id="rId13" Type="http://schemas.openxmlformats.org/officeDocument/2006/relationships/image" Target="../media/image244.emf"/><Relationship Id="rId3" Type="http://schemas.openxmlformats.org/officeDocument/2006/relationships/image" Target="../media/image239.emf"/><Relationship Id="rId7" Type="http://schemas.openxmlformats.org/officeDocument/2006/relationships/image" Target="../media/image241.emf"/><Relationship Id="rId12" Type="http://schemas.openxmlformats.org/officeDocument/2006/relationships/oleObject" Target="../embeddings/oleObject220.bin"/><Relationship Id="rId2" Type="http://schemas.openxmlformats.org/officeDocument/2006/relationships/oleObject" Target="../embeddings/oleObject2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7.bin"/><Relationship Id="rId11" Type="http://schemas.openxmlformats.org/officeDocument/2006/relationships/image" Target="../media/image243.emf"/><Relationship Id="rId5" Type="http://schemas.openxmlformats.org/officeDocument/2006/relationships/image" Target="../media/image240.emf"/><Relationship Id="rId15" Type="http://schemas.openxmlformats.org/officeDocument/2006/relationships/image" Target="../media/image245.emf"/><Relationship Id="rId10" Type="http://schemas.openxmlformats.org/officeDocument/2006/relationships/oleObject" Target="../embeddings/oleObject219.bin"/><Relationship Id="rId4" Type="http://schemas.openxmlformats.org/officeDocument/2006/relationships/oleObject" Target="../embeddings/oleObject216.bin"/><Relationship Id="rId9" Type="http://schemas.openxmlformats.org/officeDocument/2006/relationships/image" Target="../media/image242.emf"/><Relationship Id="rId14" Type="http://schemas.openxmlformats.org/officeDocument/2006/relationships/oleObject" Target="../embeddings/oleObject221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5.bin"/><Relationship Id="rId13" Type="http://schemas.openxmlformats.org/officeDocument/2006/relationships/image" Target="../media/image251.emf"/><Relationship Id="rId3" Type="http://schemas.openxmlformats.org/officeDocument/2006/relationships/image" Target="../media/image246.emf"/><Relationship Id="rId7" Type="http://schemas.openxmlformats.org/officeDocument/2006/relationships/image" Target="../media/image248.emf"/><Relationship Id="rId12" Type="http://schemas.openxmlformats.org/officeDocument/2006/relationships/oleObject" Target="../embeddings/oleObject227.bin"/><Relationship Id="rId2" Type="http://schemas.openxmlformats.org/officeDocument/2006/relationships/oleObject" Target="../embeddings/oleObject2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4.bin"/><Relationship Id="rId11" Type="http://schemas.openxmlformats.org/officeDocument/2006/relationships/image" Target="../media/image250.emf"/><Relationship Id="rId5" Type="http://schemas.openxmlformats.org/officeDocument/2006/relationships/image" Target="../media/image247.emf"/><Relationship Id="rId10" Type="http://schemas.openxmlformats.org/officeDocument/2006/relationships/oleObject" Target="../embeddings/oleObject226.bin"/><Relationship Id="rId4" Type="http://schemas.openxmlformats.org/officeDocument/2006/relationships/oleObject" Target="../embeddings/oleObject223.bin"/><Relationship Id="rId9" Type="http://schemas.openxmlformats.org/officeDocument/2006/relationships/image" Target="../media/image249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emf"/><Relationship Id="rId7" Type="http://schemas.openxmlformats.org/officeDocument/2006/relationships/image" Target="../media/image254.emf"/><Relationship Id="rId2" Type="http://schemas.openxmlformats.org/officeDocument/2006/relationships/oleObject" Target="../embeddings/oleObject2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0.bin"/><Relationship Id="rId5" Type="http://schemas.openxmlformats.org/officeDocument/2006/relationships/image" Target="../media/image253.emf"/><Relationship Id="rId4" Type="http://schemas.openxmlformats.org/officeDocument/2006/relationships/oleObject" Target="../embeddings/oleObject229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4.bin"/><Relationship Id="rId13" Type="http://schemas.openxmlformats.org/officeDocument/2006/relationships/image" Target="../media/image260.emf"/><Relationship Id="rId3" Type="http://schemas.openxmlformats.org/officeDocument/2006/relationships/image" Target="../media/image255.emf"/><Relationship Id="rId7" Type="http://schemas.openxmlformats.org/officeDocument/2006/relationships/image" Target="../media/image257.emf"/><Relationship Id="rId12" Type="http://schemas.openxmlformats.org/officeDocument/2006/relationships/oleObject" Target="../embeddings/oleObject236.bin"/><Relationship Id="rId2" Type="http://schemas.openxmlformats.org/officeDocument/2006/relationships/oleObject" Target="../embeddings/oleObject2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3.bin"/><Relationship Id="rId11" Type="http://schemas.openxmlformats.org/officeDocument/2006/relationships/image" Target="../media/image259.emf"/><Relationship Id="rId5" Type="http://schemas.openxmlformats.org/officeDocument/2006/relationships/image" Target="../media/image256.emf"/><Relationship Id="rId10" Type="http://schemas.openxmlformats.org/officeDocument/2006/relationships/oleObject" Target="../embeddings/oleObject235.bin"/><Relationship Id="rId4" Type="http://schemas.openxmlformats.org/officeDocument/2006/relationships/oleObject" Target="../embeddings/oleObject232.bin"/><Relationship Id="rId9" Type="http://schemas.openxmlformats.org/officeDocument/2006/relationships/image" Target="../media/image258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emf"/><Relationship Id="rId7" Type="http://schemas.openxmlformats.org/officeDocument/2006/relationships/image" Target="../media/image263.emf"/><Relationship Id="rId2" Type="http://schemas.openxmlformats.org/officeDocument/2006/relationships/oleObject" Target="../embeddings/oleObject23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9.bin"/><Relationship Id="rId5" Type="http://schemas.openxmlformats.org/officeDocument/2006/relationships/image" Target="../media/image262.emf"/><Relationship Id="rId4" Type="http://schemas.openxmlformats.org/officeDocument/2006/relationships/oleObject" Target="../embeddings/oleObject238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3.bin"/><Relationship Id="rId3" Type="http://schemas.openxmlformats.org/officeDocument/2006/relationships/image" Target="../media/image264.emf"/><Relationship Id="rId7" Type="http://schemas.openxmlformats.org/officeDocument/2006/relationships/image" Target="../media/image266.emf"/><Relationship Id="rId2" Type="http://schemas.openxmlformats.org/officeDocument/2006/relationships/oleObject" Target="../embeddings/oleObject24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2.bin"/><Relationship Id="rId5" Type="http://schemas.openxmlformats.org/officeDocument/2006/relationships/image" Target="../media/image265.emf"/><Relationship Id="rId4" Type="http://schemas.openxmlformats.org/officeDocument/2006/relationships/oleObject" Target="../embeddings/oleObject241.bin"/><Relationship Id="rId9" Type="http://schemas.openxmlformats.org/officeDocument/2006/relationships/image" Target="../media/image267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7.bin"/><Relationship Id="rId3" Type="http://schemas.openxmlformats.org/officeDocument/2006/relationships/image" Target="../media/image268.emf"/><Relationship Id="rId7" Type="http://schemas.openxmlformats.org/officeDocument/2006/relationships/image" Target="../media/image270.emf"/><Relationship Id="rId2" Type="http://schemas.openxmlformats.org/officeDocument/2006/relationships/oleObject" Target="../embeddings/oleObject2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6.bin"/><Relationship Id="rId5" Type="http://schemas.openxmlformats.org/officeDocument/2006/relationships/image" Target="../media/image269.emf"/><Relationship Id="rId4" Type="http://schemas.openxmlformats.org/officeDocument/2006/relationships/oleObject" Target="../embeddings/oleObject245.bin"/><Relationship Id="rId9" Type="http://schemas.openxmlformats.org/officeDocument/2006/relationships/image" Target="../media/image271.e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6">
            <a:extLst>
              <a:ext uri="{FF2B5EF4-FFF2-40B4-BE49-F238E27FC236}">
                <a16:creationId xmlns:a16="http://schemas.microsoft.com/office/drawing/2014/main" id="{38FAD1C3-1141-D20F-022E-9446DFC42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985838"/>
            <a:ext cx="38100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kumimoji="0" lang="en-US" altLang="zh-CN" sz="480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480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 七 章</a:t>
            </a:r>
          </a:p>
        </p:txBody>
      </p:sp>
      <p:sp>
        <p:nvSpPr>
          <p:cNvPr id="3075" name="Text Box 7">
            <a:extLst>
              <a:ext uri="{FF2B5EF4-FFF2-40B4-BE49-F238E27FC236}">
                <a16:creationId xmlns:a16="http://schemas.microsoft.com/office/drawing/2014/main" id="{106C499C-C876-60CA-4DD4-E433752B6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2065338"/>
            <a:ext cx="6769100" cy="13239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kumimoji="0" lang="en-US" altLang="zh-CN" sz="8000"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  <a:endParaRPr kumimoji="0" lang="zh-CN" altLang="en-US" sz="800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076" name="Rectangle 8">
            <a:extLst>
              <a:ext uri="{FF2B5EF4-FFF2-40B4-BE49-F238E27FC236}">
                <a16:creationId xmlns:a16="http://schemas.microsoft.com/office/drawing/2014/main" id="{69B75FD7-D3D7-A7ED-3433-5277D0E1D2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6875" y="2155825"/>
            <a:ext cx="77724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sz="5400" b="1">
                <a:solidFill>
                  <a:srgbClr val="FF0000"/>
                </a:solidFill>
              </a:rPr>
              <a:t>机械振动</a:t>
            </a:r>
            <a:endParaRPr lang="en-US" altLang="zh-CN" sz="5400" b="1">
              <a:solidFill>
                <a:srgbClr val="FF0000"/>
              </a:solidFill>
            </a:endParaRPr>
          </a:p>
        </p:txBody>
      </p:sp>
      <p:sp>
        <p:nvSpPr>
          <p:cNvPr id="3077" name="TextBox 1">
            <a:extLst>
              <a:ext uri="{FF2B5EF4-FFF2-40B4-BE49-F238E27FC236}">
                <a16:creationId xmlns:a16="http://schemas.microsoft.com/office/drawing/2014/main" id="{F7F6C423-2A3C-7C6F-7CBE-99D298D70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3573463"/>
            <a:ext cx="434022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zh-CN" altLang="en-US" sz="3200"/>
              <a:t>简谐振动</a:t>
            </a:r>
            <a:endParaRPr lang="en-US" altLang="zh-CN" sz="3200"/>
          </a:p>
          <a:p>
            <a:pPr eaLnBrk="1" hangingPunct="1">
              <a:buFontTx/>
              <a:buAutoNum type="arabicPeriod"/>
            </a:pPr>
            <a:r>
              <a:rPr lang="zh-CN" altLang="en-US" sz="3200"/>
              <a:t>振动的合成与分解</a:t>
            </a:r>
            <a:endParaRPr lang="en-US" altLang="zh-CN" sz="3200"/>
          </a:p>
          <a:p>
            <a:pPr eaLnBrk="1" hangingPunct="1">
              <a:buFontTx/>
              <a:buAutoNum type="arabicPeriod"/>
            </a:pPr>
            <a:r>
              <a:rPr lang="zh-CN" altLang="en-US" sz="3200"/>
              <a:t>阻尼振动和受迫振动</a:t>
            </a:r>
          </a:p>
        </p:txBody>
      </p:sp>
    </p:spTree>
  </p:cSld>
  <p:clrMapOvr>
    <a:masterClrMapping/>
  </p:clrMapOvr>
  <p:transition spd="slow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4">
            <a:extLst>
              <a:ext uri="{FF2B5EF4-FFF2-40B4-BE49-F238E27FC236}">
                <a16:creationId xmlns:a16="http://schemas.microsoft.com/office/drawing/2014/main" id="{925BBC1B-75B6-252E-EFA1-EDADDE7BB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3" y="665163"/>
            <a:ext cx="8324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66"/>
                </a:solidFill>
              </a:rPr>
              <a:t>机械振动 </a:t>
            </a:r>
            <a:r>
              <a:rPr lang="en-US" altLang="zh-CN" sz="2800">
                <a:solidFill>
                  <a:srgbClr val="000066"/>
                </a:solidFill>
                <a:latin typeface="华文中宋" panose="02010600040101010101" pitchFamily="2" charset="-122"/>
              </a:rPr>
              <a:t>—</a:t>
            </a:r>
            <a:r>
              <a:rPr lang="en-US" altLang="zh-CN" sz="2800">
                <a:solidFill>
                  <a:srgbClr val="00008A"/>
                </a:solidFill>
              </a:rPr>
              <a:t> </a:t>
            </a:r>
            <a:r>
              <a:rPr lang="zh-CN" altLang="en-US">
                <a:solidFill>
                  <a:srgbClr val="800000"/>
                </a:solidFill>
              </a:rPr>
              <a:t>物体在一定位置附近作来回往复的运动。</a:t>
            </a:r>
            <a:r>
              <a:rPr lang="zh-CN" altLang="en-US">
                <a:solidFill>
                  <a:srgbClr val="00008A"/>
                </a:solidFill>
              </a:rPr>
              <a:t>            </a:t>
            </a:r>
          </a:p>
        </p:txBody>
      </p:sp>
      <p:pic>
        <p:nvPicPr>
          <p:cNvPr id="166919" name="E092b2.avi">
            <a:hlinkClick r:id="" action="ppaction://media"/>
            <a:extLst>
              <a:ext uri="{FF2B5EF4-FFF2-40B4-BE49-F238E27FC236}">
                <a16:creationId xmlns:a16="http://schemas.microsoft.com/office/drawing/2014/main" id="{EDFF4DBF-8BBD-3F92-3C4D-BECC3880E8E7}"/>
              </a:ext>
            </a:extLst>
          </p:cNvPr>
          <p:cNvPicPr>
            <a:picLocks noRot="1" noChangeAspect="1" noChangeArrowheads="1"/>
          </p:cNvPicPr>
          <p:nvPr>
            <a:videoFile r:link="rId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038" y="1384300"/>
            <a:ext cx="3875087" cy="281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 Box 8">
            <a:extLst>
              <a:ext uri="{FF2B5EF4-FFF2-40B4-BE49-F238E27FC236}">
                <a16:creationId xmlns:a16="http://schemas.microsoft.com/office/drawing/2014/main" id="{096FF72E-C580-1E61-1E4F-B32A5E031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4960938"/>
            <a:ext cx="3167063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/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广义振动：</a:t>
            </a:r>
          </a:p>
        </p:txBody>
      </p:sp>
      <p:sp>
        <p:nvSpPr>
          <p:cNvPr id="4101" name="Text Box 9">
            <a:extLst>
              <a:ext uri="{FF2B5EF4-FFF2-40B4-BE49-F238E27FC236}">
                <a16:creationId xmlns:a16="http://schemas.microsoft.com/office/drawing/2014/main" id="{3F7A8039-E216-090E-268E-22A0EBBEF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516563"/>
            <a:ext cx="79565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任一物理量</a:t>
            </a:r>
            <a:r>
              <a:rPr lang="en-US" altLang="zh-CN" sz="2300">
                <a:solidFill>
                  <a:srgbClr val="000066"/>
                </a:solidFill>
              </a:rPr>
              <a:t>(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如位移、电流等</a:t>
            </a:r>
            <a:r>
              <a:rPr lang="en-US" altLang="zh-CN" sz="2300">
                <a:solidFill>
                  <a:srgbClr val="000066"/>
                </a:solidFill>
              </a:rPr>
              <a:t>)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在某一数值附近反复变化。</a:t>
            </a:r>
            <a:endParaRPr lang="zh-CN" altLang="en-US" sz="2300" b="0">
              <a:solidFill>
                <a:srgbClr val="000066"/>
              </a:solidFill>
              <a:latin typeface="华文中宋" panose="02010600040101010101" pitchFamily="2" charset="-122"/>
            </a:endParaRPr>
          </a:p>
        </p:txBody>
      </p:sp>
      <p:sp>
        <p:nvSpPr>
          <p:cNvPr id="4102" name="Text Box 10">
            <a:extLst>
              <a:ext uri="{FF2B5EF4-FFF2-40B4-BE49-F238E27FC236}">
                <a16:creationId xmlns:a16="http://schemas.microsoft.com/office/drawing/2014/main" id="{0C758E6B-FFF9-3004-D38C-F3D10C9F0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225" y="4337050"/>
            <a:ext cx="4752975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/>
            <a:r>
              <a:rPr lang="zh-CN" altLang="en-US" sz="2300">
                <a:latin typeface="华文中宋" panose="02010600040101010101" pitchFamily="2" charset="-122"/>
              </a:rPr>
              <a:t>机械振动、电磁振动、 </a:t>
            </a:r>
            <a:r>
              <a:rPr lang="zh-CN" altLang="en-US" sz="2300">
                <a:latin typeface="华文中宋" panose="02010600040101010101" pitchFamily="2" charset="-122"/>
                <a:sym typeface="Symbol" panose="05050102010706020507" pitchFamily="18" charset="2"/>
              </a:rPr>
              <a:t></a:t>
            </a:r>
            <a:r>
              <a:rPr lang="zh-CN" altLang="en-US" sz="2300">
                <a:latin typeface="华文中宋" panose="02010600040101010101" pitchFamily="2" charset="-122"/>
              </a:rPr>
              <a:t> </a:t>
            </a:r>
          </a:p>
        </p:txBody>
      </p:sp>
      <p:sp>
        <p:nvSpPr>
          <p:cNvPr id="4103" name="Text Box 11">
            <a:extLst>
              <a:ext uri="{FF2B5EF4-FFF2-40B4-BE49-F238E27FC236}">
                <a16:creationId xmlns:a16="http://schemas.microsoft.com/office/drawing/2014/main" id="{85C32303-5ABE-16F0-3083-AAB59666D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8" y="4340225"/>
            <a:ext cx="4470400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/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振动有各种不同的形式：</a:t>
            </a:r>
            <a:r>
              <a:rPr lang="zh-CN" altLang="en-US" sz="2300">
                <a:solidFill>
                  <a:srgbClr val="00008A"/>
                </a:solidFill>
                <a:latin typeface="华文中宋" panose="02010600040101010101" pitchFamily="2" charset="-122"/>
              </a:rPr>
              <a:t> 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video>
              <p:cMediaNode>
                <p:cTn id="2" repeatCount="indefinite" fill="remove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66919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>
            <a:extLst>
              <a:ext uri="{FF2B5EF4-FFF2-40B4-BE49-F238E27FC236}">
                <a16:creationId xmlns:a16="http://schemas.microsoft.com/office/drawing/2014/main" id="{151F0934-BC83-88C0-72B2-B79BA1C47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" y="1347788"/>
            <a:ext cx="447516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200">
                <a:latin typeface="华文中宋" panose="02010600040101010101" pitchFamily="2" charset="-122"/>
              </a:rPr>
              <a:t>★</a:t>
            </a:r>
            <a:r>
              <a:rPr lang="en-US" altLang="zh-CN" sz="2600">
                <a:solidFill>
                  <a:srgbClr val="00008A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600">
                <a:solidFill>
                  <a:srgbClr val="000066"/>
                </a:solidFill>
                <a:latin typeface="华文中宋" panose="02010600040101010101" pitchFamily="2" charset="-122"/>
              </a:rPr>
              <a:t>简谐振动</a:t>
            </a:r>
            <a:endParaRPr lang="en-US" altLang="zh-CN" sz="2600">
              <a:solidFill>
                <a:srgbClr val="000066"/>
              </a:solidFill>
              <a:latin typeface="华文中宋" panose="02010600040101010101" pitchFamily="2" charset="-122"/>
            </a:endParaRPr>
          </a:p>
        </p:txBody>
      </p:sp>
      <p:sp>
        <p:nvSpPr>
          <p:cNvPr id="5123" name="Text Box 6">
            <a:extLst>
              <a:ext uri="{FF2B5EF4-FFF2-40B4-BE49-F238E27FC236}">
                <a16:creationId xmlns:a16="http://schemas.microsoft.com/office/drawing/2014/main" id="{8D1A6168-AF49-BF38-F185-40485065C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1727200"/>
            <a:ext cx="8001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3000">
                <a:solidFill>
                  <a:srgbClr val="800000"/>
                </a:solidFill>
                <a:latin typeface="华文中宋" panose="02010600040101010101" pitchFamily="2" charset="-122"/>
              </a:rPr>
              <a:t>  —</a:t>
            </a:r>
            <a:r>
              <a:rPr lang="en-US" altLang="zh-CN">
                <a:solidFill>
                  <a:srgbClr val="800000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solidFill>
                  <a:srgbClr val="800000"/>
                </a:solidFill>
                <a:latin typeface="华文中宋" panose="02010600040101010101" pitchFamily="2" charset="-122"/>
              </a:rPr>
              <a:t>物体振动时，离开平衡位置的位移</a:t>
            </a:r>
            <a:r>
              <a:rPr lang="zh-CN" altLang="en-US" sz="1500">
                <a:solidFill>
                  <a:srgbClr val="800000"/>
                </a:solidFill>
                <a:latin typeface="华文中宋" panose="02010600040101010101" pitchFamily="2" charset="-122"/>
              </a:rPr>
              <a:t> </a:t>
            </a:r>
            <a:r>
              <a:rPr lang="en-US" altLang="zh-CN" sz="3000" i="1"/>
              <a:t>x</a:t>
            </a:r>
            <a:r>
              <a:rPr lang="en-US" altLang="zh-CN" sz="1500" i="1">
                <a:solidFill>
                  <a:srgbClr val="800000"/>
                </a:solidFill>
              </a:rPr>
              <a:t> </a:t>
            </a:r>
            <a:r>
              <a:rPr lang="en-US" altLang="zh-CN" sz="2300">
                <a:solidFill>
                  <a:srgbClr val="800000"/>
                </a:solidFill>
              </a:rPr>
              <a:t>(</a:t>
            </a:r>
            <a:r>
              <a:rPr lang="zh-CN" altLang="en-US" sz="2300">
                <a:solidFill>
                  <a:srgbClr val="800000"/>
                </a:solidFill>
                <a:latin typeface="华文中宋" panose="02010600040101010101" pitchFamily="2" charset="-122"/>
              </a:rPr>
              <a:t>或角位移</a:t>
            </a:r>
            <a:r>
              <a:rPr lang="zh-CN" altLang="en-US" sz="2800" i="1">
                <a:sym typeface="Symbol" panose="05050102010706020507" pitchFamily="18" charset="2"/>
              </a:rPr>
              <a:t></a:t>
            </a:r>
            <a:r>
              <a:rPr lang="zh-CN" altLang="en-US" i="1">
                <a:solidFill>
                  <a:srgbClr val="80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300">
                <a:solidFill>
                  <a:srgbClr val="800000"/>
                </a:solidFill>
              </a:rPr>
              <a:t>)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300">
                <a:solidFill>
                  <a:srgbClr val="800000"/>
                </a:solidFill>
                <a:latin typeface="华文中宋" panose="02010600040101010101" pitchFamily="2" charset="-122"/>
              </a:rPr>
              <a:t>随时间</a:t>
            </a:r>
            <a:r>
              <a:rPr lang="zh-CN" altLang="en-US" sz="1500">
                <a:solidFill>
                  <a:srgbClr val="800000"/>
                </a:solidFill>
                <a:latin typeface="华文中宋" panose="02010600040101010101" pitchFamily="2" charset="-122"/>
              </a:rPr>
              <a:t> </a:t>
            </a:r>
            <a:r>
              <a:rPr lang="en-US" altLang="zh-CN" sz="3000" i="1"/>
              <a:t>t</a:t>
            </a:r>
            <a:r>
              <a:rPr lang="en-US" altLang="zh-CN" sz="3000" i="1">
                <a:solidFill>
                  <a:srgbClr val="800000"/>
                </a:solidFill>
              </a:rPr>
              <a:t> </a:t>
            </a:r>
            <a:r>
              <a:rPr lang="zh-CN" altLang="en-US" sz="2300">
                <a:solidFill>
                  <a:srgbClr val="800000"/>
                </a:solidFill>
              </a:rPr>
              <a:t>的</a:t>
            </a:r>
            <a:r>
              <a:rPr lang="zh-CN" altLang="en-US" sz="2300">
                <a:solidFill>
                  <a:srgbClr val="800000"/>
                </a:solidFill>
                <a:latin typeface="华文中宋" panose="02010600040101010101" pitchFamily="2" charset="-122"/>
              </a:rPr>
              <a:t>变化可表示为余弦函数或正弦函数：</a:t>
            </a:r>
          </a:p>
        </p:txBody>
      </p:sp>
      <p:graphicFrame>
        <p:nvGraphicFramePr>
          <p:cNvPr id="5124" name="Object 7">
            <a:extLst>
              <a:ext uri="{FF2B5EF4-FFF2-40B4-BE49-F238E27FC236}">
                <a16:creationId xmlns:a16="http://schemas.microsoft.com/office/drawing/2014/main" id="{45948B5F-0F90-6DAB-96DD-31698826F0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9113" y="3011488"/>
          <a:ext cx="314166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895718" imgH="276225" progId="Equation.3">
                  <p:embed/>
                </p:oleObj>
              </mc:Choice>
              <mc:Fallback>
                <p:oleObj name="公式" r:id="rId3" imgW="2895718" imgH="27622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113" y="3011488"/>
                        <a:ext cx="3141662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8972" name="E092b2.avi">
            <a:hlinkClick r:id="" action="ppaction://media"/>
            <a:extLst>
              <a:ext uri="{FF2B5EF4-FFF2-40B4-BE49-F238E27FC236}">
                <a16:creationId xmlns:a16="http://schemas.microsoft.com/office/drawing/2014/main" id="{54E86B50-E947-0260-FF38-5EE8318AA82A}"/>
              </a:ext>
            </a:extLst>
          </p:cNvPr>
          <p:cNvPicPr>
            <a:picLocks noRot="1" noChangeAspect="1" noChangeArrowheads="1"/>
          </p:cNvPicPr>
          <p:nvPr>
            <a:videoFile r:link="rId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3573463"/>
            <a:ext cx="3024187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8973" name="Rectangle 13">
            <a:extLst>
              <a:ext uri="{FF2B5EF4-FFF2-40B4-BE49-F238E27FC236}">
                <a16:creationId xmlns:a16="http://schemas.microsoft.com/office/drawing/2014/main" id="{48665532-B8D8-71E1-6091-DFCF14F67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5" y="622300"/>
            <a:ext cx="6121400" cy="5715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/>
          <a:p>
            <a:pPr eaLnBrk="1" hangingPunct="1">
              <a:defRPr/>
            </a:pPr>
            <a:r>
              <a:rPr lang="en-US" altLang="zh-CN" sz="3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§7</a:t>
            </a:r>
            <a:r>
              <a:rPr lang="zh-CN" altLang="en-US" sz="3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－</a:t>
            </a:r>
            <a:r>
              <a:rPr lang="en-US" altLang="zh-CN" sz="3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1</a:t>
            </a:r>
            <a:r>
              <a:rPr lang="en-US" altLang="zh-CN" sz="3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3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简谐振动</a:t>
            </a:r>
            <a:endParaRPr lang="en-US" altLang="zh-CN" sz="34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127" name="矩形 1">
            <a:extLst>
              <a:ext uri="{FF2B5EF4-FFF2-40B4-BE49-F238E27FC236}">
                <a16:creationId xmlns:a16="http://schemas.microsoft.com/office/drawing/2014/main" id="{12DF4878-E2BC-F4D3-FCB1-A62CD9D54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3" y="3795713"/>
            <a:ext cx="45720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A</a:t>
            </a:r>
            <a:r>
              <a:rPr lang="zh-CN" altLang="zh-CN"/>
              <a:t>：振幅</a:t>
            </a:r>
            <a:r>
              <a:rPr lang="zh-CN" altLang="zh-CN">
                <a:solidFill>
                  <a:schemeClr val="tx1"/>
                </a:solidFill>
              </a:rPr>
              <a:t>，振动幅度的大小，由初条件决定。</a:t>
            </a:r>
          </a:p>
          <a:p>
            <a:pPr eaLnBrk="1" hangingPunct="1"/>
            <a:r>
              <a:rPr lang="en-US" altLang="zh-CN"/>
              <a:t>ω</a:t>
            </a:r>
            <a:r>
              <a:rPr lang="zh-CN" altLang="zh-CN"/>
              <a:t>：角频率（</a:t>
            </a:r>
            <a:r>
              <a:rPr lang="zh-CN" altLang="en-US"/>
              <a:t>圆</a:t>
            </a:r>
            <a:r>
              <a:rPr lang="zh-CN" altLang="zh-CN"/>
              <a:t>频率），</a:t>
            </a:r>
            <a:r>
              <a:rPr lang="zh-CN" altLang="zh-CN">
                <a:solidFill>
                  <a:schemeClr val="tx1"/>
                </a:solidFill>
              </a:rPr>
              <a:t>振动系统固有的</a:t>
            </a:r>
            <a:r>
              <a:rPr lang="zh-CN" altLang="en-US">
                <a:solidFill>
                  <a:schemeClr val="tx1"/>
                </a:solidFill>
              </a:rPr>
              <a:t>频率</a:t>
            </a:r>
            <a:endParaRPr lang="zh-CN" altLang="zh-CN">
              <a:solidFill>
                <a:schemeClr val="tx1"/>
              </a:solidFill>
            </a:endParaRPr>
          </a:p>
          <a:p>
            <a:pPr eaLnBrk="1" hangingPunct="1"/>
            <a:r>
              <a:rPr lang="en-US" altLang="zh-CN"/>
              <a:t>φ</a:t>
            </a:r>
            <a:r>
              <a:rPr lang="zh-CN" altLang="zh-CN"/>
              <a:t>：初相位</a:t>
            </a:r>
            <a:r>
              <a:rPr lang="zh-CN" altLang="zh-CN">
                <a:solidFill>
                  <a:schemeClr val="tx1"/>
                </a:solidFill>
              </a:rPr>
              <a:t>，由初条件决定。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video>
              <p:cMediaNode>
                <p:cTn id="2" repeatCount="indefinite" fill="remove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6897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41">
            <a:extLst>
              <a:ext uri="{FF2B5EF4-FFF2-40B4-BE49-F238E27FC236}">
                <a16:creationId xmlns:a16="http://schemas.microsoft.com/office/drawing/2014/main" id="{47224180-EA5C-39FC-9A1F-E772B4C77C30}"/>
              </a:ext>
            </a:extLst>
          </p:cNvPr>
          <p:cNvGrpSpPr>
            <a:grpSpLocks/>
          </p:cNvGrpSpPr>
          <p:nvPr/>
        </p:nvGrpSpPr>
        <p:grpSpPr bwMode="auto">
          <a:xfrm>
            <a:off x="6372225" y="2005013"/>
            <a:ext cx="1428750" cy="533400"/>
            <a:chOff x="3989" y="1568"/>
            <a:chExt cx="772" cy="336"/>
          </a:xfrm>
        </p:grpSpPr>
        <p:sp>
          <p:nvSpPr>
            <p:cNvPr id="6184" name="Line 20">
              <a:extLst>
                <a:ext uri="{FF2B5EF4-FFF2-40B4-BE49-F238E27FC236}">
                  <a16:creationId xmlns:a16="http://schemas.microsoft.com/office/drawing/2014/main" id="{EFA1B4D5-0367-C167-133D-0A931E8FAE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3" y="1604"/>
              <a:ext cx="0" cy="2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5" name="Line 21">
              <a:extLst>
                <a:ext uri="{FF2B5EF4-FFF2-40B4-BE49-F238E27FC236}">
                  <a16:creationId xmlns:a16="http://schemas.microsoft.com/office/drawing/2014/main" id="{8AE4F6F0-51D8-AD37-E3B1-9002077BBA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61" y="1604"/>
              <a:ext cx="0" cy="2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6" name="Line 22">
              <a:extLst>
                <a:ext uri="{FF2B5EF4-FFF2-40B4-BE49-F238E27FC236}">
                  <a16:creationId xmlns:a16="http://schemas.microsoft.com/office/drawing/2014/main" id="{E5E257B9-4C93-ADB7-2569-093BBEF0AB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0" y="1752"/>
              <a:ext cx="263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7" name="Line 23">
              <a:extLst>
                <a:ext uri="{FF2B5EF4-FFF2-40B4-BE49-F238E27FC236}">
                  <a16:creationId xmlns:a16="http://schemas.microsoft.com/office/drawing/2014/main" id="{CC8D1A1C-6825-5375-2380-CAF4F8667A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9" y="1752"/>
              <a:ext cx="263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8" name="Text Box 24">
              <a:extLst>
                <a:ext uri="{FF2B5EF4-FFF2-40B4-BE49-F238E27FC236}">
                  <a16:creationId xmlns:a16="http://schemas.microsoft.com/office/drawing/2014/main" id="{737DFC36-B18F-8D24-4ED9-2D75AEFF9C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6" y="1568"/>
              <a:ext cx="25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900" i="1">
                  <a:ea typeface="宋体" panose="02010600030101010101" pitchFamily="2" charset="-122"/>
                </a:rPr>
                <a:t>x</a:t>
              </a:r>
            </a:p>
          </p:txBody>
        </p:sp>
      </p:grpSp>
      <p:grpSp>
        <p:nvGrpSpPr>
          <p:cNvPr id="6147" name="Group 61">
            <a:extLst>
              <a:ext uri="{FF2B5EF4-FFF2-40B4-BE49-F238E27FC236}">
                <a16:creationId xmlns:a16="http://schemas.microsoft.com/office/drawing/2014/main" id="{74FE8EA7-7CE7-CFB0-7DFC-ACE039F023A8}"/>
              </a:ext>
            </a:extLst>
          </p:cNvPr>
          <p:cNvGrpSpPr>
            <a:grpSpLocks/>
          </p:cNvGrpSpPr>
          <p:nvPr/>
        </p:nvGrpSpPr>
        <p:grpSpPr bwMode="auto">
          <a:xfrm>
            <a:off x="6977063" y="1276350"/>
            <a:ext cx="1125537" cy="728663"/>
            <a:chOff x="4395" y="804"/>
            <a:chExt cx="709" cy="459"/>
          </a:xfrm>
        </p:grpSpPr>
        <p:sp>
          <p:nvSpPr>
            <p:cNvPr id="6181" name="Oval 27">
              <a:extLst>
                <a:ext uri="{FF2B5EF4-FFF2-40B4-BE49-F238E27FC236}">
                  <a16:creationId xmlns:a16="http://schemas.microsoft.com/office/drawing/2014/main" id="{1F2833F3-96B6-84F2-AD1D-CFBFF2AB2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0" y="867"/>
              <a:ext cx="384" cy="39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66FFCC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82" name="Line 30">
              <a:extLst>
                <a:ext uri="{FF2B5EF4-FFF2-40B4-BE49-F238E27FC236}">
                  <a16:creationId xmlns:a16="http://schemas.microsoft.com/office/drawing/2014/main" id="{18E0C394-B5AA-E149-7509-CA71BCA1A7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95" y="1081"/>
              <a:ext cx="31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83" name="Object 31">
              <a:extLst>
                <a:ext uri="{FF2B5EF4-FFF2-40B4-BE49-F238E27FC236}">
                  <a16:creationId xmlns:a16="http://schemas.microsoft.com/office/drawing/2014/main" id="{64695ED3-ECD6-B693-4827-C6E6BA8916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67" y="804"/>
            <a:ext cx="200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00179" imgH="257175" progId="Equation.3">
                    <p:embed/>
                  </p:oleObj>
                </mc:Choice>
                <mc:Fallback>
                  <p:oleObj name="公式" r:id="rId2" imgW="200179" imgH="257175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7" y="804"/>
                          <a:ext cx="200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48" name="Group 63">
            <a:extLst>
              <a:ext uri="{FF2B5EF4-FFF2-40B4-BE49-F238E27FC236}">
                <a16:creationId xmlns:a16="http://schemas.microsoft.com/office/drawing/2014/main" id="{3DACB7D8-BD12-7865-453B-BEECA4151172}"/>
              </a:ext>
            </a:extLst>
          </p:cNvPr>
          <p:cNvGrpSpPr>
            <a:grpSpLocks/>
          </p:cNvGrpSpPr>
          <p:nvPr/>
        </p:nvGrpSpPr>
        <p:grpSpPr bwMode="auto">
          <a:xfrm>
            <a:off x="4559300" y="887413"/>
            <a:ext cx="3254375" cy="1893887"/>
            <a:chOff x="2872" y="559"/>
            <a:chExt cx="2050" cy="1193"/>
          </a:xfrm>
        </p:grpSpPr>
        <p:sp>
          <p:nvSpPr>
            <p:cNvPr id="6166" name="Text Box 8">
              <a:extLst>
                <a:ext uri="{FF2B5EF4-FFF2-40B4-BE49-F238E27FC236}">
                  <a16:creationId xmlns:a16="http://schemas.microsoft.com/office/drawing/2014/main" id="{F7E9EEF9-B617-F6D2-2EC2-378636C0BD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1483"/>
              <a:ext cx="1235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200"/>
                <a:t>平衡位置</a:t>
              </a:r>
            </a:p>
          </p:txBody>
        </p:sp>
        <p:sp>
          <p:nvSpPr>
            <p:cNvPr id="6167" name="Freeform 15">
              <a:extLst>
                <a:ext uri="{FF2B5EF4-FFF2-40B4-BE49-F238E27FC236}">
                  <a16:creationId xmlns:a16="http://schemas.microsoft.com/office/drawing/2014/main" id="{9838F161-502C-2C01-514F-8DFDE58E2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9" y="913"/>
              <a:ext cx="818" cy="261"/>
            </a:xfrm>
            <a:custGeom>
              <a:avLst/>
              <a:gdLst>
                <a:gd name="T0" fmla="*/ 0 w 1057"/>
                <a:gd name="T1" fmla="*/ 47 h 285"/>
                <a:gd name="T2" fmla="*/ 2 w 1057"/>
                <a:gd name="T3" fmla="*/ 5 h 285"/>
                <a:gd name="T4" fmla="*/ 4 w 1057"/>
                <a:gd name="T5" fmla="*/ 72 h 285"/>
                <a:gd name="T6" fmla="*/ 6 w 1057"/>
                <a:gd name="T7" fmla="*/ 5 h 285"/>
                <a:gd name="T8" fmla="*/ 9 w 1057"/>
                <a:gd name="T9" fmla="*/ 71 h 285"/>
                <a:gd name="T10" fmla="*/ 10 w 1057"/>
                <a:gd name="T11" fmla="*/ 5 h 285"/>
                <a:gd name="T12" fmla="*/ 13 w 1057"/>
                <a:gd name="T13" fmla="*/ 71 h 285"/>
                <a:gd name="T14" fmla="*/ 15 w 1057"/>
                <a:gd name="T15" fmla="*/ 5 h 285"/>
                <a:gd name="T16" fmla="*/ 17 w 1057"/>
                <a:gd name="T17" fmla="*/ 72 h 285"/>
                <a:gd name="T18" fmla="*/ 19 w 1057"/>
                <a:gd name="T19" fmla="*/ 5 h 285"/>
                <a:gd name="T20" fmla="*/ 22 w 1057"/>
                <a:gd name="T21" fmla="*/ 72 h 285"/>
                <a:gd name="T22" fmla="*/ 22 w 1057"/>
                <a:gd name="T23" fmla="*/ 32 h 28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57" h="285">
                  <a:moveTo>
                    <a:pt x="0" y="177"/>
                  </a:moveTo>
                  <a:cubicBezTo>
                    <a:pt x="14" y="151"/>
                    <a:pt x="53" y="0"/>
                    <a:pt x="82" y="15"/>
                  </a:cubicBezTo>
                  <a:cubicBezTo>
                    <a:pt x="111" y="30"/>
                    <a:pt x="140" y="267"/>
                    <a:pt x="174" y="267"/>
                  </a:cubicBezTo>
                  <a:cubicBezTo>
                    <a:pt x="208" y="267"/>
                    <a:pt x="250" y="16"/>
                    <a:pt x="285" y="15"/>
                  </a:cubicBezTo>
                  <a:cubicBezTo>
                    <a:pt x="320" y="14"/>
                    <a:pt x="350" y="261"/>
                    <a:pt x="384" y="261"/>
                  </a:cubicBezTo>
                  <a:cubicBezTo>
                    <a:pt x="418" y="261"/>
                    <a:pt x="453" y="15"/>
                    <a:pt x="488" y="15"/>
                  </a:cubicBezTo>
                  <a:cubicBezTo>
                    <a:pt x="523" y="15"/>
                    <a:pt x="560" y="261"/>
                    <a:pt x="594" y="261"/>
                  </a:cubicBezTo>
                  <a:cubicBezTo>
                    <a:pt x="628" y="261"/>
                    <a:pt x="658" y="14"/>
                    <a:pt x="691" y="15"/>
                  </a:cubicBezTo>
                  <a:cubicBezTo>
                    <a:pt x="724" y="16"/>
                    <a:pt x="758" y="267"/>
                    <a:pt x="792" y="267"/>
                  </a:cubicBezTo>
                  <a:cubicBezTo>
                    <a:pt x="826" y="267"/>
                    <a:pt x="864" y="15"/>
                    <a:pt x="895" y="15"/>
                  </a:cubicBezTo>
                  <a:cubicBezTo>
                    <a:pt x="926" y="15"/>
                    <a:pt x="949" y="249"/>
                    <a:pt x="976" y="267"/>
                  </a:cubicBezTo>
                  <a:cubicBezTo>
                    <a:pt x="1003" y="285"/>
                    <a:pt x="1043" y="147"/>
                    <a:pt x="1057" y="123"/>
                  </a:cubicBezTo>
                </a:path>
              </a:pathLst>
            </a:custGeom>
            <a:noFill/>
            <a:ln w="38100">
              <a:solidFill>
                <a:srgbClr val="A75DF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8" name="Line 17">
              <a:extLst>
                <a:ext uri="{FF2B5EF4-FFF2-40B4-BE49-F238E27FC236}">
                  <a16:creationId xmlns:a16="http://schemas.microsoft.com/office/drawing/2014/main" id="{6F0BF912-097E-A69A-B6D3-DB80868D5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6" y="559"/>
              <a:ext cx="0" cy="703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round/>
              <a:headEnd type="non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9" name="Text Box 18">
              <a:extLst>
                <a:ext uri="{FF2B5EF4-FFF2-40B4-BE49-F238E27FC236}">
                  <a16:creationId xmlns:a16="http://schemas.microsoft.com/office/drawing/2014/main" id="{01527C07-AF7C-8C83-0397-B84415AF67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622"/>
              <a:ext cx="29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>
                  <a:solidFill>
                    <a:srgbClr val="000092"/>
                  </a:solidFill>
                  <a:ea typeface="宋体" panose="02010600030101010101" pitchFamily="2" charset="-122"/>
                </a:rPr>
                <a:t>k</a:t>
              </a:r>
            </a:p>
          </p:txBody>
        </p:sp>
        <p:sp>
          <p:nvSpPr>
            <p:cNvPr id="47129" name="Oval 25">
              <a:extLst>
                <a:ext uri="{FF2B5EF4-FFF2-40B4-BE49-F238E27FC236}">
                  <a16:creationId xmlns:a16="http://schemas.microsoft.com/office/drawing/2014/main" id="{D202FC23-790A-E3A9-D4DF-3E1D02EBE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861"/>
              <a:ext cx="385" cy="396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171" name="Text Box 26">
              <a:extLst>
                <a:ext uri="{FF2B5EF4-FFF2-40B4-BE49-F238E27FC236}">
                  <a16:creationId xmlns:a16="http://schemas.microsoft.com/office/drawing/2014/main" id="{D6E42D4E-0F1E-92C9-F442-B36B175C34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6" y="572"/>
              <a:ext cx="385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600" i="1">
                  <a:solidFill>
                    <a:srgbClr val="000092"/>
                  </a:solidFill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6172" name="Line 32">
              <a:extLst>
                <a:ext uri="{FF2B5EF4-FFF2-40B4-BE49-F238E27FC236}">
                  <a16:creationId xmlns:a16="http://schemas.microsoft.com/office/drawing/2014/main" id="{A4F78A28-DB53-C4F3-EDC6-D63B922B57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72" y="582"/>
              <a:ext cx="91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3" name="Line 33">
              <a:extLst>
                <a:ext uri="{FF2B5EF4-FFF2-40B4-BE49-F238E27FC236}">
                  <a16:creationId xmlns:a16="http://schemas.microsoft.com/office/drawing/2014/main" id="{FDEB5EC3-9C36-A983-8DCB-321DE2D126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1" y="667"/>
              <a:ext cx="91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4" name="Line 34">
              <a:extLst>
                <a:ext uri="{FF2B5EF4-FFF2-40B4-BE49-F238E27FC236}">
                  <a16:creationId xmlns:a16="http://schemas.microsoft.com/office/drawing/2014/main" id="{1008190C-ED5B-6CBF-7F61-44B9E68E4B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1" y="758"/>
              <a:ext cx="91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5" name="Line 35">
              <a:extLst>
                <a:ext uri="{FF2B5EF4-FFF2-40B4-BE49-F238E27FC236}">
                  <a16:creationId xmlns:a16="http://schemas.microsoft.com/office/drawing/2014/main" id="{2B2E3C37-6326-4D19-A860-CF48CA3F2C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1" y="849"/>
              <a:ext cx="91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6" name="Line 36">
              <a:extLst>
                <a:ext uri="{FF2B5EF4-FFF2-40B4-BE49-F238E27FC236}">
                  <a16:creationId xmlns:a16="http://schemas.microsoft.com/office/drawing/2014/main" id="{D7A2A5A3-5289-1277-1297-54EF6ABB42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1" y="940"/>
              <a:ext cx="91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7" name="Line 37">
              <a:extLst>
                <a:ext uri="{FF2B5EF4-FFF2-40B4-BE49-F238E27FC236}">
                  <a16:creationId xmlns:a16="http://schemas.microsoft.com/office/drawing/2014/main" id="{5FC60D6C-115D-0F9A-D942-E22296DCB1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1" y="1030"/>
              <a:ext cx="91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8" name="Line 38">
              <a:extLst>
                <a:ext uri="{FF2B5EF4-FFF2-40B4-BE49-F238E27FC236}">
                  <a16:creationId xmlns:a16="http://schemas.microsoft.com/office/drawing/2014/main" id="{C0C6F2AD-682E-3EFB-2BFD-450F388817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1" y="1121"/>
              <a:ext cx="91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9" name="Line 39">
              <a:extLst>
                <a:ext uri="{FF2B5EF4-FFF2-40B4-BE49-F238E27FC236}">
                  <a16:creationId xmlns:a16="http://schemas.microsoft.com/office/drawing/2014/main" id="{EC06402B-AB98-D646-5240-70CDD93573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1" y="1212"/>
              <a:ext cx="91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0" name="Line 42">
              <a:extLst>
                <a:ext uri="{FF2B5EF4-FFF2-40B4-BE49-F238E27FC236}">
                  <a16:creationId xmlns:a16="http://schemas.microsoft.com/office/drawing/2014/main" id="{8F282FE2-517F-7715-02E8-0F4E9B37F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2" y="1265"/>
              <a:ext cx="1950" cy="0"/>
            </a:xfrm>
            <a:prstGeom prst="line">
              <a:avLst/>
            </a:prstGeom>
            <a:noFill/>
            <a:ln w="19050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149" name="Group 46">
            <a:extLst>
              <a:ext uri="{FF2B5EF4-FFF2-40B4-BE49-F238E27FC236}">
                <a16:creationId xmlns:a16="http://schemas.microsoft.com/office/drawing/2014/main" id="{AFE2811A-53F6-2001-DB78-127BC2917028}"/>
              </a:ext>
            </a:extLst>
          </p:cNvPr>
          <p:cNvGrpSpPr>
            <a:grpSpLocks/>
          </p:cNvGrpSpPr>
          <p:nvPr/>
        </p:nvGrpSpPr>
        <p:grpSpPr bwMode="auto">
          <a:xfrm>
            <a:off x="6011863" y="1917700"/>
            <a:ext cx="2706687" cy="519113"/>
            <a:chOff x="3760" y="1561"/>
            <a:chExt cx="1705" cy="327"/>
          </a:xfrm>
        </p:grpSpPr>
        <p:sp>
          <p:nvSpPr>
            <p:cNvPr id="6162" name="Line 10">
              <a:extLst>
                <a:ext uri="{FF2B5EF4-FFF2-40B4-BE49-F238E27FC236}">
                  <a16:creationId xmlns:a16="http://schemas.microsoft.com/office/drawing/2014/main" id="{B3B095BD-20DA-CB0C-6593-47DBE8D55C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8" y="1621"/>
              <a:ext cx="1368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3" name="Text Box 11">
              <a:extLst>
                <a:ext uri="{FF2B5EF4-FFF2-40B4-BE49-F238E27FC236}">
                  <a16:creationId xmlns:a16="http://schemas.microsoft.com/office/drawing/2014/main" id="{7016D68C-E89F-391F-C19E-4BCDCC7824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" y="1570"/>
              <a:ext cx="299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600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6164" name="Text Box 12">
              <a:extLst>
                <a:ext uri="{FF2B5EF4-FFF2-40B4-BE49-F238E27FC236}">
                  <a16:creationId xmlns:a16="http://schemas.microsoft.com/office/drawing/2014/main" id="{EE0DDB72-0DF5-9974-9BEA-93A8053F8E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1" y="1561"/>
              <a:ext cx="3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6165" name="Line 44">
              <a:extLst>
                <a:ext uri="{FF2B5EF4-FFF2-40B4-BE49-F238E27FC236}">
                  <a16:creationId xmlns:a16="http://schemas.microsoft.com/office/drawing/2014/main" id="{BDBDB832-32E7-564E-0BDD-0131057EA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623"/>
              <a:ext cx="13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50" name="Text Box 47">
            <a:extLst>
              <a:ext uri="{FF2B5EF4-FFF2-40B4-BE49-F238E27FC236}">
                <a16:creationId xmlns:a16="http://schemas.microsoft.com/office/drawing/2014/main" id="{72CEDC75-56BA-A367-4764-079DA2F1F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2133600"/>
            <a:ext cx="39814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66"/>
                </a:solidFill>
              </a:rPr>
              <a:t>一、简谐振动方程              </a:t>
            </a:r>
          </a:p>
        </p:txBody>
      </p:sp>
      <p:sp>
        <p:nvSpPr>
          <p:cNvPr id="6151" name="Text Box 48">
            <a:extLst>
              <a:ext uri="{FF2B5EF4-FFF2-40B4-BE49-F238E27FC236}">
                <a16:creationId xmlns:a16="http://schemas.microsoft.com/office/drawing/2014/main" id="{A89B577A-3058-1B8D-C4BD-A2F63313B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636838"/>
            <a:ext cx="2851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66"/>
                </a:solidFill>
              </a:rPr>
              <a:t>1. </a:t>
            </a:r>
            <a:r>
              <a:rPr lang="zh-CN" altLang="en-US">
                <a:solidFill>
                  <a:srgbClr val="000066"/>
                </a:solidFill>
              </a:rPr>
              <a:t>动力学特征           </a:t>
            </a:r>
          </a:p>
        </p:txBody>
      </p:sp>
      <p:sp>
        <p:nvSpPr>
          <p:cNvPr id="6152" name="Text Box 49">
            <a:extLst>
              <a:ext uri="{FF2B5EF4-FFF2-40B4-BE49-F238E27FC236}">
                <a16:creationId xmlns:a16="http://schemas.microsoft.com/office/drawing/2014/main" id="{3137B643-D4BF-FA58-49BD-59201F1DA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713" y="3141663"/>
            <a:ext cx="8269287" cy="44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系统受力</a:t>
            </a:r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:</a:t>
            </a:r>
            <a:r>
              <a:rPr lang="zh-CN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力的大小与位移成正比，方向与位移方向相反。</a:t>
            </a:r>
            <a:endParaRPr lang="en-US" altLang="zh-CN" sz="2300">
              <a:solidFill>
                <a:srgbClr val="000066"/>
              </a:solidFill>
              <a:latin typeface="华文中宋" panose="02010600040101010101" pitchFamily="2" charset="-122"/>
            </a:endParaRPr>
          </a:p>
        </p:txBody>
      </p:sp>
      <p:graphicFrame>
        <p:nvGraphicFramePr>
          <p:cNvPr id="6153" name="Object 50">
            <a:extLst>
              <a:ext uri="{FF2B5EF4-FFF2-40B4-BE49-F238E27FC236}">
                <a16:creationId xmlns:a16="http://schemas.microsoft.com/office/drawing/2014/main" id="{DE44D8E1-2637-B34D-3EC8-21B3CC5A66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9738" y="3716338"/>
          <a:ext cx="1519237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24118" imgH="200025" progId="Equation.3">
                  <p:embed/>
                </p:oleObj>
              </mc:Choice>
              <mc:Fallback>
                <p:oleObj name="公式" r:id="rId4" imgW="1524118" imgH="200025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9738" y="3716338"/>
                        <a:ext cx="1519237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" name="Text Box 52">
            <a:extLst>
              <a:ext uri="{FF2B5EF4-FFF2-40B4-BE49-F238E27FC236}">
                <a16:creationId xmlns:a16="http://schemas.microsoft.com/office/drawing/2014/main" id="{8226A95F-7AFA-C19E-2742-0CDCCBF7B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260350"/>
            <a:ext cx="4822825" cy="177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300">
                <a:solidFill>
                  <a:srgbClr val="00008A"/>
                </a:solidFill>
                <a:latin typeface="华文中宋" panose="02010600040101010101" pitchFamily="2" charset="-122"/>
              </a:rPr>
              <a:t>     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物体在平衡位置的两侧，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在</a:t>
            </a:r>
            <a:r>
              <a:rPr lang="zh-CN" altLang="en-US" sz="2300">
                <a:latin typeface="华文中宋" panose="02010600040101010101" pitchFamily="2" charset="-122"/>
              </a:rPr>
              <a:t>弹性恢复力</a:t>
            </a:r>
            <a:r>
              <a:rPr lang="zh-CN" altLang="en-US" sz="2300">
                <a:solidFill>
                  <a:srgbClr val="000080"/>
                </a:solidFill>
                <a:latin typeface="华文中宋" panose="02010600040101010101" pitchFamily="2" charset="-122"/>
              </a:rPr>
              <a:t>和</a:t>
            </a:r>
            <a:r>
              <a:rPr lang="zh-CN" altLang="en-US" sz="2300">
                <a:latin typeface="华文中宋" panose="02010600040101010101" pitchFamily="2" charset="-122"/>
              </a:rPr>
              <a:t>惯性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两个因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素互相制约下，不断重复相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同的运动过程。</a:t>
            </a:r>
          </a:p>
        </p:txBody>
      </p:sp>
      <p:sp>
        <p:nvSpPr>
          <p:cNvPr id="6155" name="Text Box 53">
            <a:extLst>
              <a:ext uri="{FF2B5EF4-FFF2-40B4-BE49-F238E27FC236}">
                <a16:creationId xmlns:a16="http://schemas.microsoft.com/office/drawing/2014/main" id="{5B294D5C-BF03-9C04-D544-F9F6C078E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63" y="4329113"/>
            <a:ext cx="4391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2.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运动学特征</a:t>
            </a:r>
          </a:p>
        </p:txBody>
      </p:sp>
      <p:sp>
        <p:nvSpPr>
          <p:cNvPr id="6156" name="Rectangle 54">
            <a:extLst>
              <a:ext uri="{FF2B5EF4-FFF2-40B4-BE49-F238E27FC236}">
                <a16:creationId xmlns:a16="http://schemas.microsoft.com/office/drawing/2014/main" id="{0F2D50DD-8E3D-86F0-65EC-BE7832A28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925" y="4878388"/>
            <a:ext cx="3319463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1428750" indent="-1428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由牛顿定律：　</a:t>
            </a:r>
          </a:p>
        </p:txBody>
      </p:sp>
      <p:graphicFrame>
        <p:nvGraphicFramePr>
          <p:cNvPr id="6157" name="Object 55">
            <a:extLst>
              <a:ext uri="{FF2B5EF4-FFF2-40B4-BE49-F238E27FC236}">
                <a16:creationId xmlns:a16="http://schemas.microsoft.com/office/drawing/2014/main" id="{82CAA4C0-743C-ABCF-C589-7540A1C4A2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0050" y="4591050"/>
          <a:ext cx="216058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52350" imgH="304800" progId="Equation.3">
                  <p:embed/>
                </p:oleObj>
              </mc:Choice>
              <mc:Fallback>
                <p:oleObj name="公式" r:id="rId6" imgW="752350" imgH="30480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050" y="4591050"/>
                        <a:ext cx="2160588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8" name="Object 56">
            <a:extLst>
              <a:ext uri="{FF2B5EF4-FFF2-40B4-BE49-F238E27FC236}">
                <a16:creationId xmlns:a16="http://schemas.microsoft.com/office/drawing/2014/main" id="{00A2782C-3CEE-46C6-033B-2D5C3D069D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86488" y="4591050"/>
          <a:ext cx="2225675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57577" imgH="800100" progId="Equation.3">
                  <p:embed/>
                </p:oleObj>
              </mc:Choice>
              <mc:Fallback>
                <p:oleObj name="公式" r:id="rId8" imgW="2057577" imgH="80010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6488" y="4591050"/>
                        <a:ext cx="2225675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9" name="Text Box 57">
            <a:extLst>
              <a:ext uri="{FF2B5EF4-FFF2-40B4-BE49-F238E27FC236}">
                <a16:creationId xmlns:a16="http://schemas.microsoft.com/office/drawing/2014/main" id="{6F1D289C-D84D-87C3-ADD3-1770732DB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6538" y="4878388"/>
            <a:ext cx="1327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66"/>
                </a:solidFill>
              </a:rPr>
              <a:t>得：       </a:t>
            </a:r>
          </a:p>
        </p:txBody>
      </p:sp>
      <p:sp>
        <p:nvSpPr>
          <p:cNvPr id="6160" name="Text Box 58">
            <a:extLst>
              <a:ext uri="{FF2B5EF4-FFF2-40B4-BE49-F238E27FC236}">
                <a16:creationId xmlns:a16="http://schemas.microsoft.com/office/drawing/2014/main" id="{BE5B02E3-C616-3E5D-30BA-BDEBF3888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925" y="5959475"/>
            <a:ext cx="1133475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</a:rPr>
              <a:t>令：     </a:t>
            </a:r>
          </a:p>
        </p:txBody>
      </p:sp>
      <p:graphicFrame>
        <p:nvGraphicFramePr>
          <p:cNvPr id="6161" name="Object 59">
            <a:extLst>
              <a:ext uri="{FF2B5EF4-FFF2-40B4-BE49-F238E27FC236}">
                <a16:creationId xmlns:a16="http://schemas.microsoft.com/office/drawing/2014/main" id="{EF7175BF-CBBE-F30D-EBD1-EE71D991B1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0363" y="5743575"/>
          <a:ext cx="147955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81132" imgH="809625" progId="Equation.3">
                  <p:embed/>
                </p:oleObj>
              </mc:Choice>
              <mc:Fallback>
                <p:oleObj name="公式" r:id="rId10" imgW="1381132" imgH="809625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363" y="5743575"/>
                        <a:ext cx="1479550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9">
            <a:extLst>
              <a:ext uri="{FF2B5EF4-FFF2-40B4-BE49-F238E27FC236}">
                <a16:creationId xmlns:a16="http://schemas.microsoft.com/office/drawing/2014/main" id="{5C911D46-BE66-D49A-7BC4-B23BE43B3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" y="1866900"/>
            <a:ext cx="77374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3.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运动方程</a:t>
            </a:r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----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微分方程的解  </a:t>
            </a:r>
          </a:p>
        </p:txBody>
      </p:sp>
      <p:graphicFrame>
        <p:nvGraphicFramePr>
          <p:cNvPr id="7171" name="Object 33">
            <a:extLst>
              <a:ext uri="{FF2B5EF4-FFF2-40B4-BE49-F238E27FC236}">
                <a16:creationId xmlns:a16="http://schemas.microsoft.com/office/drawing/2014/main" id="{133B7619-B345-ED39-4B67-6D82B3AA86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8550" y="765175"/>
          <a:ext cx="2347913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8609" imgH="304800" progId="Equation.3">
                  <p:embed/>
                </p:oleObj>
              </mc:Choice>
              <mc:Fallback>
                <p:oleObj name="Equation" r:id="rId2" imgW="828609" imgH="3048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550" y="765175"/>
                        <a:ext cx="2347913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35">
            <a:extLst>
              <a:ext uri="{FF2B5EF4-FFF2-40B4-BE49-F238E27FC236}">
                <a16:creationId xmlns:a16="http://schemas.microsoft.com/office/drawing/2014/main" id="{5C1907AD-ADC6-C11A-6C44-9AB16577B3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2963" y="1901825"/>
          <a:ext cx="3138487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790862" imgH="276225" progId="Equation.3">
                  <p:embed/>
                </p:oleObj>
              </mc:Choice>
              <mc:Fallback>
                <p:oleObj name="公式" r:id="rId4" imgW="2790862" imgH="276225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2963" y="1901825"/>
                        <a:ext cx="3138487" cy="4270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Rectangle 51">
            <a:extLst>
              <a:ext uri="{FF2B5EF4-FFF2-40B4-BE49-F238E27FC236}">
                <a16:creationId xmlns:a16="http://schemas.microsoft.com/office/drawing/2014/main" id="{88D65E49-59C7-4393-7185-5DFA9CF28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" y="2420938"/>
            <a:ext cx="7827963" cy="129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谐振动的运动方程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 </a:t>
            </a:r>
            <a:r>
              <a:rPr lang="en-US" altLang="zh-CN" sz="3000">
                <a:solidFill>
                  <a:srgbClr val="000066"/>
                </a:solidFill>
                <a:latin typeface="华文中宋" panose="02010600040101010101" pitchFamily="2" charset="-122"/>
              </a:rPr>
              <a:t>—</a:t>
            </a:r>
            <a:r>
              <a:rPr lang="en-US" altLang="zh-CN">
                <a:solidFill>
                  <a:srgbClr val="000092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latin typeface="华文中宋" panose="02010600040101010101" pitchFamily="2" charset="-122"/>
              </a:rPr>
              <a:t>振动方程</a:t>
            </a:r>
            <a:r>
              <a:rPr lang="zh-CN" altLang="en-US">
                <a:solidFill>
                  <a:srgbClr val="000092"/>
                </a:solidFill>
                <a:latin typeface="华文中宋" panose="02010600040101010101" pitchFamily="2" charset="-122"/>
              </a:rPr>
              <a:t>。</a:t>
            </a:r>
            <a:endParaRPr lang="en-US" altLang="zh-CN">
              <a:solidFill>
                <a:srgbClr val="000092"/>
              </a:solidFill>
              <a:latin typeface="华文中宋" panose="02010600040101010101" pitchFamily="2" charset="-122"/>
            </a:endParaRPr>
          </a:p>
          <a:p>
            <a:r>
              <a:rPr lang="zh-CN" altLang="en-US">
                <a:solidFill>
                  <a:srgbClr val="000092"/>
                </a:solidFill>
                <a:latin typeface="华文中宋" panose="02010600040101010101" pitchFamily="2" charset="-122"/>
              </a:rPr>
              <a:t>凡是具有以上受力特征、运动微分方程和运动方程的运动均为简谐振动</a:t>
            </a:r>
          </a:p>
        </p:txBody>
      </p:sp>
      <p:sp>
        <p:nvSpPr>
          <p:cNvPr id="7174" name="Text Box 57">
            <a:extLst>
              <a:ext uri="{FF2B5EF4-FFF2-40B4-BE49-F238E27FC236}">
                <a16:creationId xmlns:a16="http://schemas.microsoft.com/office/drawing/2014/main" id="{0C83EB26-802D-5C7C-2976-8D877FF75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13" y="333375"/>
            <a:ext cx="3765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66"/>
                </a:solidFill>
              </a:rPr>
              <a:t>得谐振动的微分方程：       </a:t>
            </a:r>
          </a:p>
        </p:txBody>
      </p:sp>
      <p:sp>
        <p:nvSpPr>
          <p:cNvPr id="7175" name="Text Box 62">
            <a:extLst>
              <a:ext uri="{FF2B5EF4-FFF2-40B4-BE49-F238E27FC236}">
                <a16:creationId xmlns:a16="http://schemas.microsoft.com/office/drawing/2014/main" id="{71A13A1D-C9B9-5CC1-57F1-8E659F46D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850" y="3792538"/>
            <a:ext cx="44767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kumimoji="0" lang="en-US" altLang="zh-CN" sz="3000" i="1"/>
              <a:t>x </a:t>
            </a:r>
            <a:r>
              <a:rPr kumimoji="0" lang="en-US" altLang="zh-CN" sz="3000"/>
              <a:t>~ </a:t>
            </a:r>
            <a:r>
              <a:rPr lang="en-US" altLang="zh-CN" sz="3000" i="1"/>
              <a:t>t</a:t>
            </a:r>
            <a:r>
              <a:rPr lang="en-US" altLang="zh-CN">
                <a:solidFill>
                  <a:srgbClr val="000099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关系曲线称</a:t>
            </a:r>
            <a:r>
              <a:rPr lang="zh-CN" altLang="en-US" sz="2300"/>
              <a:t>振动曲线</a:t>
            </a:r>
            <a:r>
              <a:rPr lang="zh-CN" altLang="en-US" sz="2300">
                <a:solidFill>
                  <a:srgbClr val="000099"/>
                </a:solidFill>
              </a:rPr>
              <a:t>。</a:t>
            </a:r>
            <a:r>
              <a:rPr lang="zh-CN" altLang="en-US">
                <a:solidFill>
                  <a:srgbClr val="000099"/>
                </a:solidFill>
              </a:rPr>
              <a:t>        </a:t>
            </a:r>
          </a:p>
        </p:txBody>
      </p:sp>
      <p:grpSp>
        <p:nvGrpSpPr>
          <p:cNvPr id="7176" name="Group 79">
            <a:extLst>
              <a:ext uri="{FF2B5EF4-FFF2-40B4-BE49-F238E27FC236}">
                <a16:creationId xmlns:a16="http://schemas.microsoft.com/office/drawing/2014/main" id="{00DE69B5-72B2-F961-2E30-25592CBEFC5B}"/>
              </a:ext>
            </a:extLst>
          </p:cNvPr>
          <p:cNvGrpSpPr>
            <a:grpSpLocks/>
          </p:cNvGrpSpPr>
          <p:nvPr/>
        </p:nvGrpSpPr>
        <p:grpSpPr bwMode="auto">
          <a:xfrm>
            <a:off x="5192713" y="3892550"/>
            <a:ext cx="3654425" cy="2054225"/>
            <a:chOff x="3253" y="2408"/>
            <a:chExt cx="2302" cy="1430"/>
          </a:xfrm>
        </p:grpSpPr>
        <p:sp>
          <p:nvSpPr>
            <p:cNvPr id="7180" name="Line 64">
              <a:extLst>
                <a:ext uri="{FF2B5EF4-FFF2-40B4-BE49-F238E27FC236}">
                  <a16:creationId xmlns:a16="http://schemas.microsoft.com/office/drawing/2014/main" id="{7979378A-DFB7-50EC-B293-03E5D197EA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3" y="3308"/>
              <a:ext cx="1968" cy="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1" name="Line 65">
              <a:extLst>
                <a:ext uri="{FF2B5EF4-FFF2-40B4-BE49-F238E27FC236}">
                  <a16:creationId xmlns:a16="http://schemas.microsoft.com/office/drawing/2014/main" id="{A2EA989D-DA56-FB3E-CDE5-E6B0B2B075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6" y="2589"/>
              <a:ext cx="0" cy="1249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" name="Text Box 66">
              <a:extLst>
                <a:ext uri="{FF2B5EF4-FFF2-40B4-BE49-F238E27FC236}">
                  <a16:creationId xmlns:a16="http://schemas.microsoft.com/office/drawing/2014/main" id="{B670369E-91F6-A4F0-687E-EC5633F65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7" y="3261"/>
              <a:ext cx="178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2"/>
                  </a:solidFill>
                </a:rPr>
                <a:t>t</a:t>
              </a:r>
            </a:p>
          </p:txBody>
        </p:sp>
        <p:sp>
          <p:nvSpPr>
            <p:cNvPr id="7183" name="Text Box 67">
              <a:extLst>
                <a:ext uri="{FF2B5EF4-FFF2-40B4-BE49-F238E27FC236}">
                  <a16:creationId xmlns:a16="http://schemas.microsoft.com/office/drawing/2014/main" id="{2AAC371D-7B52-C904-AAE7-DBFEDE2EF9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4" y="3243"/>
              <a:ext cx="26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500" i="1">
                  <a:solidFill>
                    <a:schemeClr val="tx2"/>
                  </a:solidFill>
                </a:rPr>
                <a:t>O</a:t>
              </a:r>
            </a:p>
          </p:txBody>
        </p:sp>
        <p:sp>
          <p:nvSpPr>
            <p:cNvPr id="7184" name="Text Box 68">
              <a:extLst>
                <a:ext uri="{FF2B5EF4-FFF2-40B4-BE49-F238E27FC236}">
                  <a16:creationId xmlns:a16="http://schemas.microsoft.com/office/drawing/2014/main" id="{626E3FD2-FEF4-89B8-3BE9-01198CF70C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0" y="2408"/>
              <a:ext cx="228" cy="3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2"/>
                  </a:solidFill>
                </a:rPr>
                <a:t>x</a:t>
              </a:r>
            </a:p>
          </p:txBody>
        </p:sp>
        <p:sp>
          <p:nvSpPr>
            <p:cNvPr id="7185" name="Text Box 69">
              <a:extLst>
                <a:ext uri="{FF2B5EF4-FFF2-40B4-BE49-F238E27FC236}">
                  <a16:creationId xmlns:a16="http://schemas.microsoft.com/office/drawing/2014/main" id="{C2D8264B-958F-C7DD-2AF3-22991A5135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3269"/>
              <a:ext cx="243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600" i="1">
                  <a:solidFill>
                    <a:srgbClr val="990000"/>
                  </a:solidFill>
                </a:rPr>
                <a:t>T</a:t>
              </a:r>
            </a:p>
          </p:txBody>
        </p:sp>
        <p:sp>
          <p:nvSpPr>
            <p:cNvPr id="7186" name="Line 71">
              <a:extLst>
                <a:ext uri="{FF2B5EF4-FFF2-40B4-BE49-F238E27FC236}">
                  <a16:creationId xmlns:a16="http://schemas.microsoft.com/office/drawing/2014/main" id="{7C4001DE-A8A2-7B1F-7B87-F725F0625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8" y="2945"/>
              <a:ext cx="0" cy="37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7" name="Text Box 72">
              <a:extLst>
                <a:ext uri="{FF2B5EF4-FFF2-40B4-BE49-F238E27FC236}">
                  <a16:creationId xmlns:a16="http://schemas.microsoft.com/office/drawing/2014/main" id="{02E4FCCF-F1F8-AC9B-CAB0-D1DC991C51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3" y="2761"/>
              <a:ext cx="265" cy="3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/>
                <a:t>A</a:t>
              </a:r>
            </a:p>
          </p:txBody>
        </p:sp>
        <p:sp>
          <p:nvSpPr>
            <p:cNvPr id="7188" name="Freeform 73">
              <a:extLst>
                <a:ext uri="{FF2B5EF4-FFF2-40B4-BE49-F238E27FC236}">
                  <a16:creationId xmlns:a16="http://schemas.microsoft.com/office/drawing/2014/main" id="{BD92985B-9716-4F77-45D7-37A9A858D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5" y="2924"/>
              <a:ext cx="1809" cy="767"/>
            </a:xfrm>
            <a:custGeom>
              <a:avLst/>
              <a:gdLst>
                <a:gd name="T0" fmla="*/ 0 w 2121"/>
                <a:gd name="T1" fmla="*/ 11 h 991"/>
                <a:gd name="T2" fmla="*/ 47 w 2121"/>
                <a:gd name="T3" fmla="*/ 2 h 991"/>
                <a:gd name="T4" fmla="*/ 91 w 2121"/>
                <a:gd name="T5" fmla="*/ 10 h 991"/>
                <a:gd name="T6" fmla="*/ 135 w 2121"/>
                <a:gd name="T7" fmla="*/ 22 h 991"/>
                <a:gd name="T8" fmla="*/ 178 w 2121"/>
                <a:gd name="T9" fmla="*/ 11 h 991"/>
                <a:gd name="T10" fmla="*/ 195 w 2121"/>
                <a:gd name="T11" fmla="*/ 5 h 99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21" h="991">
                  <a:moveTo>
                    <a:pt x="0" y="509"/>
                  </a:moveTo>
                  <a:cubicBezTo>
                    <a:pt x="84" y="425"/>
                    <a:pt x="342" y="6"/>
                    <a:pt x="506" y="3"/>
                  </a:cubicBezTo>
                  <a:cubicBezTo>
                    <a:pt x="670" y="0"/>
                    <a:pt x="826" y="324"/>
                    <a:pt x="985" y="488"/>
                  </a:cubicBezTo>
                  <a:cubicBezTo>
                    <a:pt x="1144" y="652"/>
                    <a:pt x="1302" y="988"/>
                    <a:pt x="1460" y="989"/>
                  </a:cubicBezTo>
                  <a:cubicBezTo>
                    <a:pt x="1617" y="991"/>
                    <a:pt x="1825" y="622"/>
                    <a:pt x="1935" y="498"/>
                  </a:cubicBezTo>
                  <a:cubicBezTo>
                    <a:pt x="2045" y="374"/>
                    <a:pt x="2090" y="285"/>
                    <a:pt x="2121" y="242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9" name="Rectangle 74">
              <a:extLst>
                <a:ext uri="{FF2B5EF4-FFF2-40B4-BE49-F238E27FC236}">
                  <a16:creationId xmlns:a16="http://schemas.microsoft.com/office/drawing/2014/main" id="{57A8AC57-04E4-E8BC-3EB9-177696E9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4" y="3133"/>
              <a:ext cx="227" cy="18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0" name="Line 75">
              <a:extLst>
                <a:ext uri="{FF2B5EF4-FFF2-40B4-BE49-F238E27FC236}">
                  <a16:creationId xmlns:a16="http://schemas.microsoft.com/office/drawing/2014/main" id="{E51B370D-99AA-19C7-E057-25E591501F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1" y="2915"/>
              <a:ext cx="27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77" name="Text Box 76">
            <a:extLst>
              <a:ext uri="{FF2B5EF4-FFF2-40B4-BE49-F238E27FC236}">
                <a16:creationId xmlns:a16="http://schemas.microsoft.com/office/drawing/2014/main" id="{BD206C58-8F8D-C696-7CC7-51EA1F579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440238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00008A"/>
                </a:solidFill>
                <a:latin typeface="华文中宋" panose="02010600040101010101" pitchFamily="2" charset="-122"/>
              </a:rPr>
              <a:t> </a:t>
            </a:r>
            <a:r>
              <a:rPr lang="en-US" altLang="zh-CN" sz="2000">
                <a:latin typeface="华文中宋" panose="02010600040101010101" pitchFamily="2" charset="-122"/>
              </a:rPr>
              <a:t>★</a:t>
            </a:r>
            <a:r>
              <a:rPr lang="en-US" altLang="zh-CN"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简谐振动特点：</a:t>
            </a:r>
          </a:p>
        </p:txBody>
      </p:sp>
      <p:sp>
        <p:nvSpPr>
          <p:cNvPr id="7178" name="Text Box 77">
            <a:extLst>
              <a:ext uri="{FF2B5EF4-FFF2-40B4-BE49-F238E27FC236}">
                <a16:creationId xmlns:a16="http://schemas.microsoft.com/office/drawing/2014/main" id="{AFC5FA32-D1CB-EF2C-79D1-3EB410CFC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919663"/>
            <a:ext cx="2971800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/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 </a:t>
            </a:r>
            <a:r>
              <a:rPr lang="en-US" altLang="zh-CN" sz="2300">
                <a:solidFill>
                  <a:srgbClr val="000066"/>
                </a:solidFill>
              </a:rPr>
              <a:t>(1)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等幅振动；   </a:t>
            </a:r>
          </a:p>
        </p:txBody>
      </p:sp>
      <p:sp>
        <p:nvSpPr>
          <p:cNvPr id="7179" name="Text Box 78">
            <a:extLst>
              <a:ext uri="{FF2B5EF4-FFF2-40B4-BE49-F238E27FC236}">
                <a16:creationId xmlns:a16="http://schemas.microsoft.com/office/drawing/2014/main" id="{F0E6B509-0279-61F3-5774-910C9DDED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484813"/>
            <a:ext cx="3754437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300">
                <a:solidFill>
                  <a:srgbClr val="000066"/>
                </a:solidFill>
              </a:rPr>
              <a:t>(2)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周期振动。</a:t>
            </a:r>
          </a:p>
        </p:txBody>
      </p:sp>
    </p:spTree>
  </p:cSld>
  <p:clrMapOvr>
    <a:masterClrMapping/>
  </p:clrMapOvr>
  <p:transition spd="slow"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00" name="Rectangle 4">
            <a:extLst>
              <a:ext uri="{FF2B5EF4-FFF2-40B4-BE49-F238E27FC236}">
                <a16:creationId xmlns:a16="http://schemas.microsoft.com/office/drawing/2014/main" id="{B744385A-9193-5F72-4B3E-4562BD9C4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09575"/>
            <a:ext cx="7632700" cy="5715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/>
          <a:p>
            <a:pPr eaLnBrk="1" hangingPunct="1">
              <a:defRPr/>
            </a:pPr>
            <a:r>
              <a:rPr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</a:t>
            </a:r>
            <a:r>
              <a:rPr lang="zh-CN" alt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</a:rPr>
              <a:t>  描述简谐振动的特征量 </a:t>
            </a:r>
          </a:p>
        </p:txBody>
      </p:sp>
      <p:sp>
        <p:nvSpPr>
          <p:cNvPr id="8195" name="Text Box 5">
            <a:extLst>
              <a:ext uri="{FF2B5EF4-FFF2-40B4-BE49-F238E27FC236}">
                <a16:creationId xmlns:a16="http://schemas.microsoft.com/office/drawing/2014/main" id="{12BE056F-312C-5DC4-EF1F-D62F5A7A4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205038"/>
            <a:ext cx="633571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66"/>
                </a:solidFill>
              </a:rPr>
              <a:t>1</a:t>
            </a:r>
            <a:r>
              <a:rPr lang="zh-CN" altLang="en-US" sz="2600">
                <a:solidFill>
                  <a:srgbClr val="000066"/>
                </a:solidFill>
              </a:rPr>
              <a:t>、振幅</a:t>
            </a:r>
            <a:r>
              <a:rPr lang="zh-CN" altLang="en-US" sz="2600">
                <a:solidFill>
                  <a:srgbClr val="000099"/>
                </a:solidFill>
              </a:rPr>
              <a:t> </a:t>
            </a:r>
            <a:r>
              <a:rPr lang="en-US" altLang="zh-CN" sz="3000" i="1"/>
              <a:t>A </a:t>
            </a:r>
            <a:r>
              <a:rPr lang="en-US" altLang="zh-CN">
                <a:solidFill>
                  <a:srgbClr val="800000"/>
                </a:solidFill>
              </a:rPr>
              <a:t>— </a:t>
            </a:r>
            <a:r>
              <a:rPr lang="zh-CN" altLang="en-US" sz="2300">
                <a:solidFill>
                  <a:srgbClr val="800000"/>
                </a:solidFill>
              </a:rPr>
              <a:t>最大位移的绝对值。</a:t>
            </a:r>
            <a:endParaRPr lang="zh-CN" altLang="en-US" sz="2300">
              <a:solidFill>
                <a:srgbClr val="000099"/>
              </a:solidFill>
            </a:endParaRPr>
          </a:p>
        </p:txBody>
      </p:sp>
      <p:graphicFrame>
        <p:nvGraphicFramePr>
          <p:cNvPr id="8196" name="Object 6">
            <a:extLst>
              <a:ext uri="{FF2B5EF4-FFF2-40B4-BE49-F238E27FC236}">
                <a16:creationId xmlns:a16="http://schemas.microsoft.com/office/drawing/2014/main" id="{4A6674DE-69BE-ECAE-937B-91170AFBE4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9900" y="1731963"/>
          <a:ext cx="283210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43379" imgH="295275" progId="Equation.3">
                  <p:embed/>
                </p:oleObj>
              </mc:Choice>
              <mc:Fallback>
                <p:oleObj name="公式" r:id="rId2" imgW="2943379" imgH="29527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00" y="1731963"/>
                        <a:ext cx="2832100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Text Box 7">
            <a:extLst>
              <a:ext uri="{FF2B5EF4-FFF2-40B4-BE49-F238E27FC236}">
                <a16:creationId xmlns:a16="http://schemas.microsoft.com/office/drawing/2014/main" id="{33A608BF-099C-BB11-963C-6673AD953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196975"/>
            <a:ext cx="2593975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</a:rPr>
              <a:t>谐振动方程：         </a:t>
            </a:r>
          </a:p>
        </p:txBody>
      </p:sp>
      <p:sp>
        <p:nvSpPr>
          <p:cNvPr id="8198" name="Text Box 8">
            <a:extLst>
              <a:ext uri="{FF2B5EF4-FFF2-40B4-BE49-F238E27FC236}">
                <a16:creationId xmlns:a16="http://schemas.microsoft.com/office/drawing/2014/main" id="{6E22E796-AFF9-DB3E-EBFD-584EA709F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3" y="3554413"/>
            <a:ext cx="50403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66"/>
                </a:solidFill>
              </a:rPr>
              <a:t>2</a:t>
            </a:r>
            <a:r>
              <a:rPr lang="zh-CN" altLang="en-US" sz="2600">
                <a:solidFill>
                  <a:srgbClr val="000066"/>
                </a:solidFill>
              </a:rPr>
              <a:t>、周期、频率和角频率          </a:t>
            </a:r>
          </a:p>
        </p:txBody>
      </p:sp>
      <p:sp>
        <p:nvSpPr>
          <p:cNvPr id="8199" name="Text Box 9">
            <a:extLst>
              <a:ext uri="{FF2B5EF4-FFF2-40B4-BE49-F238E27FC236}">
                <a16:creationId xmlns:a16="http://schemas.microsoft.com/office/drawing/2014/main" id="{771DFEB7-E765-975C-310F-7FD1967B1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8" y="4173538"/>
            <a:ext cx="6332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66"/>
                </a:solidFill>
              </a:rPr>
              <a:t>1</a:t>
            </a:r>
            <a:r>
              <a:rPr lang="zh-CN" altLang="en-US">
                <a:solidFill>
                  <a:srgbClr val="000066"/>
                </a:solidFill>
              </a:rPr>
              <a:t>）</a:t>
            </a:r>
            <a:r>
              <a:rPr lang="en-US" altLang="zh-CN">
                <a:solidFill>
                  <a:srgbClr val="000066"/>
                </a:solidFill>
              </a:rPr>
              <a:t>. </a:t>
            </a:r>
            <a:r>
              <a:rPr lang="zh-CN" altLang="en-US">
                <a:solidFill>
                  <a:srgbClr val="000066"/>
                </a:solidFill>
              </a:rPr>
              <a:t>周期</a:t>
            </a:r>
            <a:r>
              <a:rPr lang="zh-CN" altLang="en-US">
                <a:solidFill>
                  <a:srgbClr val="000092"/>
                </a:solidFill>
              </a:rPr>
              <a:t>  </a:t>
            </a:r>
            <a:r>
              <a:rPr lang="en-US" altLang="zh-CN" sz="2800" i="1"/>
              <a:t>T </a:t>
            </a:r>
            <a:r>
              <a:rPr lang="en-US" altLang="zh-CN" i="1">
                <a:solidFill>
                  <a:srgbClr val="800000"/>
                </a:solidFill>
              </a:rPr>
              <a:t>—</a:t>
            </a:r>
            <a:r>
              <a:rPr lang="en-US" altLang="zh-CN" i="1"/>
              <a:t> </a:t>
            </a:r>
            <a:r>
              <a:rPr lang="zh-CN" altLang="en-US" sz="2300">
                <a:solidFill>
                  <a:srgbClr val="800000"/>
                </a:solidFill>
              </a:rPr>
              <a:t>完成一次全振动所需的时间        </a:t>
            </a:r>
            <a:endParaRPr lang="zh-CN" altLang="en-US" sz="2300" i="1"/>
          </a:p>
        </p:txBody>
      </p:sp>
      <p:graphicFrame>
        <p:nvGraphicFramePr>
          <p:cNvPr id="8200" name="Object 10">
            <a:extLst>
              <a:ext uri="{FF2B5EF4-FFF2-40B4-BE49-F238E27FC236}">
                <a16:creationId xmlns:a16="http://schemas.microsoft.com/office/drawing/2014/main" id="{66B78283-B311-6F30-4CF9-6DAF8E2A94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3425" y="4740275"/>
          <a:ext cx="1223963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33644" imgH="771525" progId="Equation.3">
                  <p:embed/>
                </p:oleObj>
              </mc:Choice>
              <mc:Fallback>
                <p:oleObj name="公式" r:id="rId4" imgW="1133644" imgH="77152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3425" y="4740275"/>
                        <a:ext cx="1223963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Text Box 12">
            <a:extLst>
              <a:ext uri="{FF2B5EF4-FFF2-40B4-BE49-F238E27FC236}">
                <a16:creationId xmlns:a16="http://schemas.microsoft.com/office/drawing/2014/main" id="{F841A2BA-06D6-1583-7A92-60F927460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813" y="5757863"/>
            <a:ext cx="2447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66"/>
                </a:solidFill>
              </a:rPr>
              <a:t>弹簧振子：   </a:t>
            </a:r>
          </a:p>
        </p:txBody>
      </p:sp>
      <p:graphicFrame>
        <p:nvGraphicFramePr>
          <p:cNvPr id="8202" name="Object 13">
            <a:extLst>
              <a:ext uri="{FF2B5EF4-FFF2-40B4-BE49-F238E27FC236}">
                <a16:creationId xmlns:a16="http://schemas.microsoft.com/office/drawing/2014/main" id="{665A8565-B967-C72E-477D-20E72E7EBE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4075" y="5757863"/>
          <a:ext cx="2857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43200" imgH="361950" progId="Equation.3">
                  <p:embed/>
                </p:oleObj>
              </mc:Choice>
              <mc:Fallback>
                <p:oleObj name="公式" r:id="rId6" imgW="2743200" imgH="36195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75" y="5757863"/>
                        <a:ext cx="2857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" name="Object 14">
            <a:extLst>
              <a:ext uri="{FF2B5EF4-FFF2-40B4-BE49-F238E27FC236}">
                <a16:creationId xmlns:a16="http://schemas.microsoft.com/office/drawing/2014/main" id="{0A30691A-497B-639B-1CD4-B95BC9CD99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2088" y="5757863"/>
          <a:ext cx="176530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62253" imgH="361950" progId="Equation.3">
                  <p:embed/>
                </p:oleObj>
              </mc:Choice>
              <mc:Fallback>
                <p:oleObj name="公式" r:id="rId8" imgW="1962253" imgH="36195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088" y="5757863"/>
                        <a:ext cx="1765300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4" name="Rectangle 16">
            <a:extLst>
              <a:ext uri="{FF2B5EF4-FFF2-40B4-BE49-F238E27FC236}">
                <a16:creationId xmlns:a16="http://schemas.microsoft.com/office/drawing/2014/main" id="{D3AE117F-9747-591D-A925-9173EDB06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755900"/>
            <a:ext cx="3206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(</a:t>
            </a:r>
            <a:r>
              <a:rPr lang="zh-CN" altLang="en-US"/>
              <a:t>参考圆的半径</a:t>
            </a:r>
            <a:r>
              <a:rPr lang="en-US" altLang="zh-CN"/>
              <a:t>)             </a:t>
            </a:r>
          </a:p>
        </p:txBody>
      </p:sp>
      <p:grpSp>
        <p:nvGrpSpPr>
          <p:cNvPr id="8205" name="Group 40">
            <a:extLst>
              <a:ext uri="{FF2B5EF4-FFF2-40B4-BE49-F238E27FC236}">
                <a16:creationId xmlns:a16="http://schemas.microsoft.com/office/drawing/2014/main" id="{7BC1F4E9-E803-3189-7162-E87F6E3FFA29}"/>
              </a:ext>
            </a:extLst>
          </p:cNvPr>
          <p:cNvGrpSpPr>
            <a:grpSpLocks/>
          </p:cNvGrpSpPr>
          <p:nvPr/>
        </p:nvGrpSpPr>
        <p:grpSpPr bwMode="auto">
          <a:xfrm>
            <a:off x="5218113" y="1806575"/>
            <a:ext cx="793750" cy="901700"/>
            <a:chOff x="3295" y="1138"/>
            <a:chExt cx="500" cy="568"/>
          </a:xfrm>
        </p:grpSpPr>
        <p:sp>
          <p:nvSpPr>
            <p:cNvPr id="8220" name="Line 29">
              <a:extLst>
                <a:ext uri="{FF2B5EF4-FFF2-40B4-BE49-F238E27FC236}">
                  <a16:creationId xmlns:a16="http://schemas.microsoft.com/office/drawing/2014/main" id="{30AFEE28-872A-900F-BF5D-23B27C3624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3" y="1322"/>
              <a:ext cx="0" cy="38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1" name="Line 30">
              <a:extLst>
                <a:ext uri="{FF2B5EF4-FFF2-40B4-BE49-F238E27FC236}">
                  <a16:creationId xmlns:a16="http://schemas.microsoft.com/office/drawing/2014/main" id="{61F5D393-26BB-EF7E-D92A-D7267BB0A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" y="1306"/>
              <a:ext cx="251" cy="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2" name="Text Box 31">
              <a:extLst>
                <a:ext uri="{FF2B5EF4-FFF2-40B4-BE49-F238E27FC236}">
                  <a16:creationId xmlns:a16="http://schemas.microsoft.com/office/drawing/2014/main" id="{E4980877-D3F2-828D-80C8-1E486401EC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5" y="1138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ea typeface="宋体" panose="02010600030101010101" pitchFamily="2" charset="-122"/>
                </a:rPr>
                <a:t>A</a:t>
              </a:r>
            </a:p>
          </p:txBody>
        </p:sp>
      </p:grpSp>
      <p:grpSp>
        <p:nvGrpSpPr>
          <p:cNvPr id="8206" name="Group 42">
            <a:extLst>
              <a:ext uri="{FF2B5EF4-FFF2-40B4-BE49-F238E27FC236}">
                <a16:creationId xmlns:a16="http://schemas.microsoft.com/office/drawing/2014/main" id="{1EBA581E-3119-38B1-CA33-6216976B9D76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2408238"/>
            <a:ext cx="2879725" cy="735012"/>
            <a:chOff x="3515" y="1525"/>
            <a:chExt cx="1814" cy="463"/>
          </a:xfrm>
        </p:grpSpPr>
        <p:sp>
          <p:nvSpPr>
            <p:cNvPr id="8217" name="Text Box 27">
              <a:extLst>
                <a:ext uri="{FF2B5EF4-FFF2-40B4-BE49-F238E27FC236}">
                  <a16:creationId xmlns:a16="http://schemas.microsoft.com/office/drawing/2014/main" id="{DFF41B9F-7049-42EA-EBF0-22A3E4D91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" y="1661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0066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8218" name="Line 32">
              <a:extLst>
                <a:ext uri="{FF2B5EF4-FFF2-40B4-BE49-F238E27FC236}">
                  <a16:creationId xmlns:a16="http://schemas.microsoft.com/office/drawing/2014/main" id="{4F88D0DF-104C-9902-4FE8-62F483D00C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9" y="1525"/>
              <a:ext cx="0" cy="227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prstDash val="dash"/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9" name="Line 41">
              <a:extLst>
                <a:ext uri="{FF2B5EF4-FFF2-40B4-BE49-F238E27FC236}">
                  <a16:creationId xmlns:a16="http://schemas.microsoft.com/office/drawing/2014/main" id="{7DE20F17-405E-FCF7-3A93-B166AD039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5" y="1525"/>
              <a:ext cx="1678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dash"/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207" name="Group 45">
            <a:extLst>
              <a:ext uri="{FF2B5EF4-FFF2-40B4-BE49-F238E27FC236}">
                <a16:creationId xmlns:a16="http://schemas.microsoft.com/office/drawing/2014/main" id="{6EE54D69-A942-935A-DAB1-28EF5A063A0C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1374775"/>
            <a:ext cx="3619500" cy="2270125"/>
            <a:chOff x="3288" y="866"/>
            <a:chExt cx="2280" cy="1430"/>
          </a:xfrm>
        </p:grpSpPr>
        <p:sp>
          <p:nvSpPr>
            <p:cNvPr id="8208" name="Line 24">
              <a:extLst>
                <a:ext uri="{FF2B5EF4-FFF2-40B4-BE49-F238E27FC236}">
                  <a16:creationId xmlns:a16="http://schemas.microsoft.com/office/drawing/2014/main" id="{C237811E-E130-2407-4397-DFAF27BAD6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0" y="2003"/>
              <a:ext cx="0" cy="253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9" name="Line 18">
              <a:extLst>
                <a:ext uri="{FF2B5EF4-FFF2-40B4-BE49-F238E27FC236}">
                  <a16:creationId xmlns:a16="http://schemas.microsoft.com/office/drawing/2014/main" id="{B6B1F22F-4F63-05DB-584A-FDE0C513D0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6" y="1703"/>
              <a:ext cx="204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0" name="Line 19">
              <a:extLst>
                <a:ext uri="{FF2B5EF4-FFF2-40B4-BE49-F238E27FC236}">
                  <a16:creationId xmlns:a16="http://schemas.microsoft.com/office/drawing/2014/main" id="{C5D9480A-33A7-4D45-C21C-660E72173B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26" y="1002"/>
              <a:ext cx="0" cy="129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1" name="Freeform 20">
              <a:extLst>
                <a:ext uri="{FF2B5EF4-FFF2-40B4-BE49-F238E27FC236}">
                  <a16:creationId xmlns:a16="http://schemas.microsoft.com/office/drawing/2014/main" id="{D82E2C23-A792-C41B-E506-93EAB4DA2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4" y="1314"/>
              <a:ext cx="1876" cy="794"/>
            </a:xfrm>
            <a:custGeom>
              <a:avLst/>
              <a:gdLst>
                <a:gd name="T0" fmla="*/ 0 w 2121"/>
                <a:gd name="T1" fmla="*/ 18 h 991"/>
                <a:gd name="T2" fmla="*/ 80 w 2121"/>
                <a:gd name="T3" fmla="*/ 2 h 991"/>
                <a:gd name="T4" fmla="*/ 157 w 2121"/>
                <a:gd name="T5" fmla="*/ 18 h 991"/>
                <a:gd name="T6" fmla="*/ 232 w 2121"/>
                <a:gd name="T7" fmla="*/ 36 h 991"/>
                <a:gd name="T8" fmla="*/ 307 w 2121"/>
                <a:gd name="T9" fmla="*/ 18 h 991"/>
                <a:gd name="T10" fmla="*/ 336 w 2121"/>
                <a:gd name="T11" fmla="*/ 9 h 99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21" h="991">
                  <a:moveTo>
                    <a:pt x="0" y="509"/>
                  </a:moveTo>
                  <a:cubicBezTo>
                    <a:pt x="84" y="425"/>
                    <a:pt x="342" y="6"/>
                    <a:pt x="506" y="3"/>
                  </a:cubicBezTo>
                  <a:cubicBezTo>
                    <a:pt x="670" y="0"/>
                    <a:pt x="826" y="324"/>
                    <a:pt x="985" y="488"/>
                  </a:cubicBezTo>
                  <a:cubicBezTo>
                    <a:pt x="1144" y="652"/>
                    <a:pt x="1302" y="988"/>
                    <a:pt x="1460" y="989"/>
                  </a:cubicBezTo>
                  <a:cubicBezTo>
                    <a:pt x="1617" y="991"/>
                    <a:pt x="1825" y="622"/>
                    <a:pt x="1935" y="498"/>
                  </a:cubicBezTo>
                  <a:cubicBezTo>
                    <a:pt x="2045" y="374"/>
                    <a:pt x="2090" y="285"/>
                    <a:pt x="2121" y="242"/>
                  </a:cubicBezTo>
                </a:path>
              </a:pathLst>
            </a:custGeom>
            <a:noFill/>
            <a:ln w="349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2" name="Text Box 21">
              <a:extLst>
                <a:ext uri="{FF2B5EF4-FFF2-40B4-BE49-F238E27FC236}">
                  <a16:creationId xmlns:a16="http://schemas.microsoft.com/office/drawing/2014/main" id="{65F33162-1C18-B885-971F-25A81E946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7" y="1683"/>
              <a:ext cx="1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1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8213" name="Text Box 23">
              <a:extLst>
                <a:ext uri="{FF2B5EF4-FFF2-40B4-BE49-F238E27FC236}">
                  <a16:creationId xmlns:a16="http://schemas.microsoft.com/office/drawing/2014/main" id="{D92C096B-65F2-394E-49C9-AE1C34247C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86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8214" name="Rectangle 37">
              <a:extLst>
                <a:ext uri="{FF2B5EF4-FFF2-40B4-BE49-F238E27FC236}">
                  <a16:creationId xmlns:a16="http://schemas.microsoft.com/office/drawing/2014/main" id="{918E8D8F-D112-2B3A-8E95-FB1C073B9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434"/>
              <a:ext cx="227" cy="31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15" name="Text Box 38">
              <a:extLst>
                <a:ext uri="{FF2B5EF4-FFF2-40B4-BE49-F238E27FC236}">
                  <a16:creationId xmlns:a16="http://schemas.microsoft.com/office/drawing/2014/main" id="{25941AEE-7940-485C-F150-EF7E8B09F5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1570"/>
              <a:ext cx="26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600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8216" name="Freeform 43">
              <a:extLst>
                <a:ext uri="{FF2B5EF4-FFF2-40B4-BE49-F238E27FC236}">
                  <a16:creationId xmlns:a16="http://schemas.microsoft.com/office/drawing/2014/main" id="{7598E824-E6C9-9B7D-CE4C-61792B155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3" y="1343"/>
              <a:ext cx="227" cy="182"/>
            </a:xfrm>
            <a:custGeom>
              <a:avLst/>
              <a:gdLst>
                <a:gd name="T0" fmla="*/ 0 w 272"/>
                <a:gd name="T1" fmla="*/ 8 h 227"/>
                <a:gd name="T2" fmla="*/ 9 w 272"/>
                <a:gd name="T3" fmla="*/ 2 h 227"/>
                <a:gd name="T4" fmla="*/ 18 w 272"/>
                <a:gd name="T5" fmla="*/ 0 h 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2" h="227">
                  <a:moveTo>
                    <a:pt x="0" y="227"/>
                  </a:moveTo>
                  <a:cubicBezTo>
                    <a:pt x="45" y="155"/>
                    <a:pt x="91" y="84"/>
                    <a:pt x="136" y="46"/>
                  </a:cubicBezTo>
                  <a:cubicBezTo>
                    <a:pt x="181" y="8"/>
                    <a:pt x="249" y="8"/>
                    <a:pt x="272" y="0"/>
                  </a:cubicBezTo>
                </a:path>
              </a:pathLst>
            </a:custGeom>
            <a:noFill/>
            <a:ln w="349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">
            <a:extLst>
              <a:ext uri="{FF2B5EF4-FFF2-40B4-BE49-F238E27FC236}">
                <a16:creationId xmlns:a16="http://schemas.microsoft.com/office/drawing/2014/main" id="{473C6536-77F9-6023-7567-A3A3DE1AF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2888"/>
            <a:ext cx="7920037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2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）</a:t>
            </a:r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.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频率</a:t>
            </a:r>
            <a:r>
              <a:rPr lang="zh-CN" altLang="en-US" sz="500">
                <a:solidFill>
                  <a:srgbClr val="000092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3000" i="1">
                <a:latin typeface="华文中宋" panose="02010600040101010101" pitchFamily="2" charset="-122"/>
                <a:sym typeface="Symbol" panose="05050102010706020507" pitchFamily="18" charset="2"/>
              </a:rPr>
              <a:t></a:t>
            </a:r>
            <a:r>
              <a:rPr lang="zh-CN" altLang="en-US" sz="2800" i="1">
                <a:latin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i="1">
                <a:solidFill>
                  <a:srgbClr val="800000"/>
                </a:solidFill>
                <a:latin typeface="华文中宋" panose="02010600040101010101" pitchFamily="2" charset="-122"/>
                <a:sym typeface="Symbol" panose="05050102010706020507" pitchFamily="18" charset="2"/>
              </a:rPr>
              <a:t>— </a:t>
            </a:r>
            <a:r>
              <a:rPr lang="zh-CN" altLang="en-US" sz="2300">
                <a:solidFill>
                  <a:srgbClr val="800000"/>
                </a:solidFill>
                <a:latin typeface="华文中宋" panose="02010600040101010101" pitchFamily="2" charset="-122"/>
                <a:sym typeface="Symbol" panose="05050102010706020507" pitchFamily="18" charset="2"/>
              </a:rPr>
              <a:t>单位时间内完成全振动的次数。</a:t>
            </a:r>
            <a:r>
              <a:rPr lang="zh-CN" altLang="en-US" sz="2800" i="1">
                <a:latin typeface="华文中宋" panose="02010600040101010101" pitchFamily="2" charset="-122"/>
                <a:sym typeface="Symbol" panose="05050102010706020507" pitchFamily="18" charset="2"/>
              </a:rPr>
              <a:t>       </a:t>
            </a:r>
            <a:endParaRPr lang="zh-CN" altLang="en-US" sz="2800">
              <a:latin typeface="华文中宋" panose="02010600040101010101" pitchFamily="2" charset="-122"/>
            </a:endParaRPr>
          </a:p>
        </p:txBody>
      </p:sp>
      <p:graphicFrame>
        <p:nvGraphicFramePr>
          <p:cNvPr id="9219" name="Object 5">
            <a:extLst>
              <a:ext uri="{FF2B5EF4-FFF2-40B4-BE49-F238E27FC236}">
                <a16:creationId xmlns:a16="http://schemas.microsoft.com/office/drawing/2014/main" id="{39C211A4-1C97-E8B7-A597-8615BD3C08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3800" y="762000"/>
          <a:ext cx="2036763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57397" imgH="771525" progId="Equation.3">
                  <p:embed/>
                </p:oleObj>
              </mc:Choice>
              <mc:Fallback>
                <p:oleObj name="公式" r:id="rId2" imgW="1857397" imgH="77152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762000"/>
                        <a:ext cx="2036763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Rectangle 7">
            <a:extLst>
              <a:ext uri="{FF2B5EF4-FFF2-40B4-BE49-F238E27FC236}">
                <a16:creationId xmlns:a16="http://schemas.microsoft.com/office/drawing/2014/main" id="{D18E4CFB-ABF7-9803-287C-31217B3FF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1682750"/>
            <a:ext cx="84169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3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）</a:t>
            </a:r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.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角频率</a:t>
            </a:r>
            <a:r>
              <a:rPr lang="zh-CN" altLang="en-US" sz="1000">
                <a:solidFill>
                  <a:srgbClr val="000092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3000" i="1">
                <a:latin typeface="华文中宋" panose="02010600040101010101" pitchFamily="2" charset="-122"/>
                <a:sym typeface="Symbol" panose="05050102010706020507" pitchFamily="18" charset="2"/>
              </a:rPr>
              <a:t></a:t>
            </a:r>
            <a:r>
              <a:rPr lang="zh-CN" altLang="en-US" i="1">
                <a:solidFill>
                  <a:srgbClr val="000092"/>
                </a:solidFill>
                <a:latin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900">
                <a:solidFill>
                  <a:srgbClr val="800000"/>
                </a:solidFill>
                <a:latin typeface="华文中宋" panose="02010600040101010101" pitchFamily="2" charset="-122"/>
                <a:sym typeface="Symbol" panose="05050102010706020507" pitchFamily="18" charset="2"/>
              </a:rPr>
              <a:t>—</a:t>
            </a:r>
            <a:r>
              <a:rPr lang="en-US" altLang="zh-CN">
                <a:solidFill>
                  <a:srgbClr val="800000"/>
                </a:solidFill>
                <a:latin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300">
                <a:solidFill>
                  <a:srgbClr val="800000"/>
                </a:solidFill>
                <a:latin typeface="华文中宋" panose="02010600040101010101" pitchFamily="2" charset="-122"/>
                <a:sym typeface="Symbol" panose="05050102010706020507" pitchFamily="18" charset="2"/>
              </a:rPr>
              <a:t>旋转矢量的角速度。</a:t>
            </a:r>
            <a:r>
              <a:rPr lang="en-US" altLang="zh-CN" sz="2300">
                <a:solidFill>
                  <a:srgbClr val="800000"/>
                </a:solidFill>
                <a:sym typeface="Symbol" panose="05050102010706020507" pitchFamily="18" charset="2"/>
              </a:rPr>
              <a:t>(</a:t>
            </a:r>
            <a:r>
              <a:rPr lang="zh-CN" altLang="en-US" sz="2300">
                <a:solidFill>
                  <a:srgbClr val="800000"/>
                </a:solidFill>
                <a:latin typeface="华文中宋" panose="02010600040101010101" pitchFamily="2" charset="-122"/>
                <a:sym typeface="Symbol" panose="05050102010706020507" pitchFamily="18" charset="2"/>
              </a:rPr>
              <a:t>亦称</a:t>
            </a:r>
            <a:r>
              <a:rPr lang="zh-CN" altLang="en-US" sz="2300">
                <a:latin typeface="华文中宋" panose="02010600040101010101" pitchFamily="2" charset="-122"/>
                <a:sym typeface="Symbol" panose="05050102010706020507" pitchFamily="18" charset="2"/>
              </a:rPr>
              <a:t>圆频率</a:t>
            </a:r>
            <a:r>
              <a:rPr lang="en-US" altLang="zh-CN" sz="2300">
                <a:solidFill>
                  <a:srgbClr val="800000"/>
                </a:solidFill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rgbClr val="800000"/>
                </a:solidFill>
                <a:latin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000092"/>
                </a:solidFill>
                <a:latin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solidFill>
                  <a:srgbClr val="000092"/>
                </a:solidFill>
                <a:latin typeface="华文中宋" panose="02010600040101010101" pitchFamily="2" charset="-122"/>
                <a:sym typeface="Symbol" panose="05050102010706020507" pitchFamily="18" charset="2"/>
              </a:rPr>
              <a:t>             </a:t>
            </a:r>
            <a:endParaRPr lang="en-US" altLang="zh-CN">
              <a:solidFill>
                <a:srgbClr val="000092"/>
              </a:solidFill>
              <a:latin typeface="华文中宋" panose="02010600040101010101" pitchFamily="2" charset="-122"/>
            </a:endParaRPr>
          </a:p>
        </p:txBody>
      </p:sp>
      <p:graphicFrame>
        <p:nvGraphicFramePr>
          <p:cNvPr id="9221" name="Object 8">
            <a:extLst>
              <a:ext uri="{FF2B5EF4-FFF2-40B4-BE49-F238E27FC236}">
                <a16:creationId xmlns:a16="http://schemas.microsoft.com/office/drawing/2014/main" id="{DAFD0161-C7C4-38C2-B971-130CF8B5FB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2259013"/>
          <a:ext cx="2447925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86000" imgH="771525" progId="Equation.3">
                  <p:embed/>
                </p:oleObj>
              </mc:Choice>
              <mc:Fallback>
                <p:oleObj name="公式" r:id="rId4" imgW="2286000" imgH="77152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259013"/>
                        <a:ext cx="2447925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Rectangle 10">
            <a:extLst>
              <a:ext uri="{FF2B5EF4-FFF2-40B4-BE49-F238E27FC236}">
                <a16:creationId xmlns:a16="http://schemas.microsoft.com/office/drawing/2014/main" id="{DD0907BD-01AC-33FD-AF9F-A3053E741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482975"/>
            <a:ext cx="38147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1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）</a:t>
            </a:r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.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相位</a:t>
            </a:r>
            <a:r>
              <a:rPr lang="zh-CN" altLang="en-US">
                <a:solidFill>
                  <a:srgbClr val="000092"/>
                </a:solidFill>
                <a:latin typeface="华文中宋" panose="02010600040101010101" pitchFamily="2" charset="-122"/>
              </a:rPr>
              <a:t> </a:t>
            </a:r>
            <a:r>
              <a:rPr lang="en-US" altLang="zh-CN" sz="2800"/>
              <a:t>(</a:t>
            </a:r>
            <a:r>
              <a:rPr lang="en-US" altLang="zh-CN" sz="2800" i="1">
                <a:sym typeface="Symbol" panose="05050102010706020507" pitchFamily="18" charset="2"/>
              </a:rPr>
              <a:t></a:t>
            </a:r>
            <a:r>
              <a:rPr lang="en-US" altLang="zh-CN" sz="1000" i="1">
                <a:sym typeface="Symbol" panose="05050102010706020507" pitchFamily="18" charset="2"/>
              </a:rPr>
              <a:t>  </a:t>
            </a:r>
            <a:r>
              <a:rPr lang="en-US" altLang="zh-CN" sz="2800" i="1"/>
              <a:t>t</a:t>
            </a:r>
            <a:r>
              <a:rPr lang="en-US" altLang="zh-CN" sz="1500" i="1"/>
              <a:t> </a:t>
            </a:r>
            <a:r>
              <a:rPr lang="en-US" altLang="zh-CN" sz="2800"/>
              <a:t>+</a:t>
            </a:r>
            <a:r>
              <a:rPr lang="en-US" altLang="zh-CN" sz="1000"/>
              <a:t> </a:t>
            </a:r>
            <a:r>
              <a:rPr lang="en-US" altLang="zh-CN" sz="2800" i="1">
                <a:sym typeface="Symbol" panose="05050102010706020507" pitchFamily="18" charset="2"/>
              </a:rPr>
              <a:t> </a:t>
            </a:r>
            <a:r>
              <a:rPr lang="en-US" altLang="zh-CN" sz="2800"/>
              <a:t>)</a:t>
            </a:r>
            <a:r>
              <a:rPr lang="en-US" altLang="zh-CN" sz="2800">
                <a:solidFill>
                  <a:srgbClr val="000092"/>
                </a:solidFill>
              </a:rPr>
              <a:t>            </a:t>
            </a:r>
            <a:endParaRPr lang="en-US" altLang="zh-CN" sz="2800" i="1">
              <a:solidFill>
                <a:srgbClr val="000092"/>
              </a:solidFill>
            </a:endParaRPr>
          </a:p>
        </p:txBody>
      </p:sp>
      <p:sp>
        <p:nvSpPr>
          <p:cNvPr id="9223" name="Text Box 11">
            <a:extLst>
              <a:ext uri="{FF2B5EF4-FFF2-40B4-BE49-F238E27FC236}">
                <a16:creationId xmlns:a16="http://schemas.microsoft.com/office/drawing/2014/main" id="{47A3C923-E565-3446-2B20-C9F66AFA9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363" y="4059238"/>
            <a:ext cx="72390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000066"/>
                </a:solidFill>
              </a:rPr>
              <a:t>决定物体的振动状态或旋转矢量在参考圆上的位置。         </a:t>
            </a:r>
          </a:p>
        </p:txBody>
      </p:sp>
      <p:sp>
        <p:nvSpPr>
          <p:cNvPr id="9224" name="Rectangle 13">
            <a:extLst>
              <a:ext uri="{FF2B5EF4-FFF2-40B4-BE49-F238E27FC236}">
                <a16:creationId xmlns:a16="http://schemas.microsoft.com/office/drawing/2014/main" id="{A2667A16-2D47-D79C-9B62-C5082C878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437063"/>
            <a:ext cx="842486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66"/>
                </a:solidFill>
              </a:rPr>
              <a:t>(1)</a:t>
            </a:r>
            <a:r>
              <a:rPr lang="en-US" altLang="zh-CN">
                <a:solidFill>
                  <a:srgbClr val="00009A"/>
                </a:solidFill>
              </a:rPr>
              <a:t>  </a:t>
            </a:r>
            <a:r>
              <a:rPr lang="en-US" altLang="zh-CN" sz="2800"/>
              <a:t>(</a:t>
            </a:r>
            <a:r>
              <a:rPr lang="en-US" altLang="zh-CN" sz="2800" i="1">
                <a:sym typeface="Symbol" panose="05050102010706020507" pitchFamily="18" charset="2"/>
              </a:rPr>
              <a:t></a:t>
            </a:r>
            <a:r>
              <a:rPr lang="en-US" altLang="zh-CN" sz="1800" i="1">
                <a:sym typeface="Symbol" panose="05050102010706020507" pitchFamily="18" charset="2"/>
              </a:rPr>
              <a:t> </a:t>
            </a:r>
            <a:r>
              <a:rPr lang="en-US" altLang="zh-CN" sz="1000" i="1">
                <a:sym typeface="Symbol" panose="05050102010706020507" pitchFamily="18" charset="2"/>
              </a:rPr>
              <a:t> </a:t>
            </a:r>
            <a:r>
              <a:rPr lang="en-US" altLang="zh-CN" sz="2800" i="1"/>
              <a:t>t</a:t>
            </a:r>
            <a:r>
              <a:rPr lang="en-US" altLang="zh-CN" sz="1500" i="1"/>
              <a:t> </a:t>
            </a:r>
            <a:r>
              <a:rPr lang="en-US" altLang="zh-CN" sz="2800"/>
              <a:t>+</a:t>
            </a:r>
            <a:r>
              <a:rPr lang="en-US" altLang="zh-CN" sz="1000"/>
              <a:t> </a:t>
            </a:r>
            <a:r>
              <a:rPr lang="en-US" altLang="zh-CN" sz="2800" i="1">
                <a:sym typeface="Symbol" panose="05050102010706020507" pitchFamily="18" charset="2"/>
              </a:rPr>
              <a:t> </a:t>
            </a:r>
            <a:r>
              <a:rPr lang="en-US" altLang="zh-CN" sz="2800"/>
              <a:t>) </a:t>
            </a:r>
            <a:r>
              <a:rPr lang="zh-CN" altLang="en-US" sz="2300">
                <a:solidFill>
                  <a:srgbClr val="000066"/>
                </a:solidFill>
              </a:rPr>
              <a:t>可确定</a:t>
            </a:r>
            <a:r>
              <a:rPr lang="zh-CN" altLang="en-US"/>
              <a:t> </a:t>
            </a:r>
            <a:r>
              <a:rPr lang="en-US" altLang="zh-CN" sz="2900" i="1"/>
              <a:t>t</a:t>
            </a:r>
            <a:r>
              <a:rPr lang="en-US" altLang="zh-CN" sz="2900" i="1">
                <a:solidFill>
                  <a:srgbClr val="00009A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时刻的</a:t>
            </a:r>
            <a:r>
              <a:rPr lang="zh-CN" altLang="en-US">
                <a:solidFill>
                  <a:srgbClr val="00009A"/>
                </a:solidFill>
              </a:rPr>
              <a:t> </a:t>
            </a:r>
            <a:r>
              <a:rPr lang="en-US" altLang="zh-CN" sz="3000" i="1"/>
              <a:t>x</a:t>
            </a:r>
            <a:r>
              <a:rPr lang="zh-CN" altLang="en-US">
                <a:solidFill>
                  <a:srgbClr val="00009A"/>
                </a:solidFill>
              </a:rPr>
              <a:t>、</a:t>
            </a:r>
            <a:r>
              <a:rPr lang="en-US" altLang="zh-CN" sz="3000" i="1"/>
              <a:t>v</a:t>
            </a:r>
            <a:r>
              <a:rPr lang="zh-CN" altLang="en-US">
                <a:solidFill>
                  <a:srgbClr val="00009A"/>
                </a:solidFill>
              </a:rPr>
              <a:t>、</a:t>
            </a:r>
            <a:r>
              <a:rPr lang="en-US" altLang="zh-CN" sz="3000" i="1"/>
              <a:t>a</a:t>
            </a:r>
            <a:r>
              <a:rPr lang="en-US" altLang="zh-CN" i="1">
                <a:solidFill>
                  <a:srgbClr val="00009A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的大小和方向；</a:t>
            </a:r>
            <a:r>
              <a:rPr lang="zh-CN" altLang="en-US">
                <a:solidFill>
                  <a:srgbClr val="00009A"/>
                </a:solidFill>
              </a:rPr>
              <a:t>    </a:t>
            </a:r>
            <a:endParaRPr lang="zh-CN" altLang="en-US" sz="2800"/>
          </a:p>
        </p:txBody>
      </p:sp>
      <p:sp>
        <p:nvSpPr>
          <p:cNvPr id="9225" name="Text Box 12">
            <a:extLst>
              <a:ext uri="{FF2B5EF4-FFF2-40B4-BE49-F238E27FC236}">
                <a16:creationId xmlns:a16="http://schemas.microsoft.com/office/drawing/2014/main" id="{C79447B1-2923-07B8-EC4A-E75BA3A03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030788"/>
            <a:ext cx="92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66"/>
                </a:solidFill>
              </a:rPr>
              <a:t>(2)</a:t>
            </a:r>
            <a:r>
              <a:rPr lang="en-US" altLang="zh-CN">
                <a:solidFill>
                  <a:srgbClr val="000080"/>
                </a:solidFill>
              </a:rPr>
              <a:t>     </a:t>
            </a:r>
          </a:p>
        </p:txBody>
      </p:sp>
      <p:graphicFrame>
        <p:nvGraphicFramePr>
          <p:cNvPr id="9226" name="Object 14">
            <a:extLst>
              <a:ext uri="{FF2B5EF4-FFF2-40B4-BE49-F238E27FC236}">
                <a16:creationId xmlns:a16="http://schemas.microsoft.com/office/drawing/2014/main" id="{66B0F102-6BF5-0697-5042-3F3E447009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1725" y="5081588"/>
          <a:ext cx="4594225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809956" imgH="276225" progId="Equation.3">
                  <p:embed/>
                </p:oleObj>
              </mc:Choice>
              <mc:Fallback>
                <p:oleObj name="公式" r:id="rId6" imgW="4809956" imgH="27622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725" y="5081588"/>
                        <a:ext cx="4594225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7" name="Text Box 16">
            <a:extLst>
              <a:ext uri="{FF2B5EF4-FFF2-40B4-BE49-F238E27FC236}">
                <a16:creationId xmlns:a16="http://schemas.microsoft.com/office/drawing/2014/main" id="{5DE8F786-D849-E19E-FBAF-10A479776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487988"/>
            <a:ext cx="61134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2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）</a:t>
            </a:r>
            <a:r>
              <a:rPr lang="en-US" altLang="zh-CN">
                <a:solidFill>
                  <a:srgbClr val="000066"/>
                </a:solidFill>
              </a:rPr>
              <a:t>. </a:t>
            </a:r>
            <a:r>
              <a:rPr lang="zh-CN" altLang="en-US" sz="2300">
                <a:solidFill>
                  <a:srgbClr val="000066"/>
                </a:solidFill>
              </a:rPr>
              <a:t>初相</a:t>
            </a:r>
            <a:r>
              <a:rPr lang="zh-CN" altLang="en-US">
                <a:solidFill>
                  <a:srgbClr val="000092"/>
                </a:solidFill>
              </a:rPr>
              <a:t> </a:t>
            </a:r>
            <a:r>
              <a:rPr lang="en-US" altLang="zh-CN" sz="2800" i="1"/>
              <a:t>φ</a:t>
            </a:r>
            <a:r>
              <a:rPr lang="en-US" altLang="zh-CN" sz="2800">
                <a:solidFill>
                  <a:srgbClr val="000092"/>
                </a:solidFill>
              </a:rPr>
              <a:t>  </a:t>
            </a:r>
            <a:r>
              <a:rPr lang="en-US" altLang="zh-CN" sz="2800">
                <a:solidFill>
                  <a:srgbClr val="800000"/>
                </a:solidFill>
              </a:rPr>
              <a:t>— </a:t>
            </a:r>
            <a:r>
              <a:rPr lang="en-US" altLang="zh-CN" sz="2800" i="1">
                <a:solidFill>
                  <a:srgbClr val="800000"/>
                </a:solidFill>
              </a:rPr>
              <a:t> </a:t>
            </a:r>
            <a:r>
              <a:rPr lang="en-US" altLang="zh-CN" sz="3000" i="1">
                <a:solidFill>
                  <a:srgbClr val="800000"/>
                </a:solidFill>
              </a:rPr>
              <a:t>t </a:t>
            </a:r>
            <a:r>
              <a:rPr lang="en-US" altLang="zh-CN" sz="2800">
                <a:solidFill>
                  <a:srgbClr val="800000"/>
                </a:solidFill>
              </a:rPr>
              <a:t>= 0 </a:t>
            </a:r>
            <a:r>
              <a:rPr lang="zh-CN" altLang="en-US" sz="2300">
                <a:solidFill>
                  <a:srgbClr val="800000"/>
                </a:solidFill>
              </a:rPr>
              <a:t>时刻的相位</a:t>
            </a:r>
            <a:r>
              <a:rPr lang="zh-CN" altLang="en-US">
                <a:solidFill>
                  <a:srgbClr val="800000"/>
                </a:solidFill>
              </a:rPr>
              <a:t>。        </a:t>
            </a:r>
            <a:r>
              <a:rPr lang="zh-CN" altLang="en-US"/>
              <a:t>       </a:t>
            </a:r>
          </a:p>
        </p:txBody>
      </p:sp>
      <p:sp>
        <p:nvSpPr>
          <p:cNvPr id="9228" name="Text Box 17">
            <a:extLst>
              <a:ext uri="{FF2B5EF4-FFF2-40B4-BE49-F238E27FC236}">
                <a16:creationId xmlns:a16="http://schemas.microsoft.com/office/drawing/2014/main" id="{5FB8A9EC-0BB7-27B7-BCD5-B125A734B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979738"/>
            <a:ext cx="38163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66"/>
                </a:solidFill>
              </a:rPr>
              <a:t>3</a:t>
            </a:r>
            <a:r>
              <a:rPr lang="zh-CN" altLang="en-US" sz="2600">
                <a:solidFill>
                  <a:srgbClr val="000066"/>
                </a:solidFill>
              </a:rPr>
              <a:t>、相位和初相                  </a:t>
            </a:r>
          </a:p>
        </p:txBody>
      </p:sp>
      <p:sp>
        <p:nvSpPr>
          <p:cNvPr id="9229" name="Rectangle 18">
            <a:extLst>
              <a:ext uri="{FF2B5EF4-FFF2-40B4-BE49-F238E27FC236}">
                <a16:creationId xmlns:a16="http://schemas.microsoft.com/office/drawing/2014/main" id="{339DB086-0F7F-E9CD-24B0-A9626C1C9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5011738"/>
            <a:ext cx="3395663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</a:rPr>
              <a:t>突出了振动的周期性。</a:t>
            </a:r>
          </a:p>
        </p:txBody>
      </p:sp>
    </p:spTree>
  </p:cSld>
  <p:clrMapOvr>
    <a:masterClrMapping/>
  </p:clrMapOvr>
  <p:transition spd="slow"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4">
            <a:extLst>
              <a:ext uri="{FF2B5EF4-FFF2-40B4-BE49-F238E27FC236}">
                <a16:creationId xmlns:a16="http://schemas.microsoft.com/office/drawing/2014/main" id="{565A0E20-8176-14FB-9D05-63E203216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33375"/>
            <a:ext cx="67056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66"/>
                </a:solidFill>
              </a:rPr>
              <a:t>4</a:t>
            </a:r>
            <a:r>
              <a:rPr lang="zh-CN" altLang="en-US" sz="2600">
                <a:solidFill>
                  <a:srgbClr val="000066"/>
                </a:solidFill>
              </a:rPr>
              <a:t>、决定简谐振动各特征量的因素                     </a:t>
            </a:r>
          </a:p>
        </p:txBody>
      </p:sp>
      <p:sp>
        <p:nvSpPr>
          <p:cNvPr id="10243" name="Text Box 5">
            <a:extLst>
              <a:ext uri="{FF2B5EF4-FFF2-40B4-BE49-F238E27FC236}">
                <a16:creationId xmlns:a16="http://schemas.microsoft.com/office/drawing/2014/main" id="{1DD6EC77-2CF1-F0D3-A77F-74E94B712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3" y="1196975"/>
            <a:ext cx="2886075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</a:rPr>
              <a:t>弹簧振子系统：         </a:t>
            </a:r>
          </a:p>
        </p:txBody>
      </p:sp>
      <p:graphicFrame>
        <p:nvGraphicFramePr>
          <p:cNvPr id="10244" name="Object 6">
            <a:extLst>
              <a:ext uri="{FF2B5EF4-FFF2-40B4-BE49-F238E27FC236}">
                <a16:creationId xmlns:a16="http://schemas.microsoft.com/office/drawing/2014/main" id="{8C1EF412-51AB-C78B-28EB-AAF4F031C5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2205038"/>
          <a:ext cx="3348038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28997" imgH="809625" progId="Equation.3">
                  <p:embed/>
                </p:oleObj>
              </mc:Choice>
              <mc:Fallback>
                <p:oleObj name="公式" r:id="rId2" imgW="3228997" imgH="80962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205038"/>
                        <a:ext cx="3348038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7">
            <a:extLst>
              <a:ext uri="{FF2B5EF4-FFF2-40B4-BE49-F238E27FC236}">
                <a16:creationId xmlns:a16="http://schemas.microsoft.com/office/drawing/2014/main" id="{474575B8-3A9B-D625-506F-08A9350F33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969963"/>
          <a:ext cx="1728787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66750" imgH="809625" progId="Equation.3">
                  <p:embed/>
                </p:oleObj>
              </mc:Choice>
              <mc:Fallback>
                <p:oleObj name="公式" r:id="rId4" imgW="1666750" imgH="80962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969963"/>
                        <a:ext cx="1728787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8">
            <a:extLst>
              <a:ext uri="{FF2B5EF4-FFF2-40B4-BE49-F238E27FC236}">
                <a16:creationId xmlns:a16="http://schemas.microsoft.com/office/drawing/2014/main" id="{75803BAC-0DF3-9B08-5DFC-2655E4E661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38738" y="2205038"/>
          <a:ext cx="267335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00215" imgH="809625" progId="Equation.3">
                  <p:embed/>
                </p:oleObj>
              </mc:Choice>
              <mc:Fallback>
                <p:oleObj name="公式" r:id="rId6" imgW="2600215" imgH="80962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8738" y="2205038"/>
                        <a:ext cx="267335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Text Box 10">
            <a:extLst>
              <a:ext uri="{FF2B5EF4-FFF2-40B4-BE49-F238E27FC236}">
                <a16:creationId xmlns:a16="http://schemas.microsoft.com/office/drawing/2014/main" id="{F1B313DE-986C-2860-8727-7BF5E65A2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2588" y="3260725"/>
            <a:ext cx="6880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800" i="1"/>
              <a:t>T</a:t>
            </a:r>
            <a:r>
              <a:rPr lang="en-US" altLang="zh-CN" sz="2800" i="1">
                <a:solidFill>
                  <a:srgbClr val="000066"/>
                </a:solidFill>
              </a:rPr>
              <a:t>—</a:t>
            </a:r>
            <a:r>
              <a:rPr lang="en-US" altLang="zh-CN" sz="2800" i="1">
                <a:solidFill>
                  <a:srgbClr val="000092"/>
                </a:solidFill>
              </a:rPr>
              <a:t> </a:t>
            </a:r>
            <a:r>
              <a:rPr lang="zh-CN" altLang="en-US"/>
              <a:t>固有周期</a:t>
            </a:r>
            <a:r>
              <a:rPr lang="zh-CN" altLang="en-US">
                <a:solidFill>
                  <a:srgbClr val="000092"/>
                </a:solidFill>
              </a:rPr>
              <a:t> </a:t>
            </a:r>
            <a:r>
              <a:rPr lang="zh-CN" altLang="en-US">
                <a:solidFill>
                  <a:srgbClr val="000066"/>
                </a:solidFill>
              </a:rPr>
              <a:t>；</a:t>
            </a:r>
            <a:r>
              <a:rPr lang="zh-CN" altLang="en-US">
                <a:solidFill>
                  <a:srgbClr val="000092"/>
                </a:solidFill>
              </a:rPr>
              <a:t>       </a:t>
            </a:r>
            <a:r>
              <a:rPr lang="en-US" altLang="zh-CN" sz="2800" i="1"/>
              <a:t>ν</a:t>
            </a:r>
            <a:r>
              <a:rPr lang="en-US" altLang="zh-CN">
                <a:solidFill>
                  <a:srgbClr val="000092"/>
                </a:solidFill>
              </a:rPr>
              <a:t>  </a:t>
            </a:r>
            <a:r>
              <a:rPr lang="en-US" altLang="zh-CN" sz="2800">
                <a:solidFill>
                  <a:srgbClr val="000066"/>
                </a:solidFill>
              </a:rPr>
              <a:t>—</a:t>
            </a:r>
            <a:r>
              <a:rPr lang="en-US" altLang="zh-CN">
                <a:solidFill>
                  <a:srgbClr val="000092"/>
                </a:solidFill>
              </a:rPr>
              <a:t> </a:t>
            </a:r>
            <a:r>
              <a:rPr lang="zh-CN" altLang="en-US"/>
              <a:t>固有频率</a:t>
            </a:r>
            <a:r>
              <a:rPr lang="zh-CN" altLang="en-US">
                <a:solidFill>
                  <a:srgbClr val="000092"/>
                </a:solidFill>
              </a:rPr>
              <a:t>。                    </a:t>
            </a:r>
            <a:r>
              <a:rPr lang="zh-CN" altLang="en-US" sz="2800" i="1">
                <a:solidFill>
                  <a:srgbClr val="000092"/>
                </a:solidFill>
              </a:rPr>
              <a:t>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4BBC93-8FB0-9B3B-F2F7-14DF0AF35C10}"/>
              </a:ext>
            </a:extLst>
          </p:cNvPr>
          <p:cNvSpPr/>
          <p:nvPr/>
        </p:nvSpPr>
        <p:spPr>
          <a:xfrm>
            <a:off x="647700" y="4076700"/>
            <a:ext cx="7921625" cy="261620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zh-CN" sz="2800" dirty="0"/>
              <a:t>∴周期和频率是由振动系统决定的。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zh-CN" altLang="zh-CN" sz="2800" dirty="0"/>
              <a:t>对于一个确定的系统，其频率虽然确定，但其运动状态还要由初条件决定。</a:t>
            </a:r>
            <a:endParaRPr lang="en-US" altLang="zh-CN" sz="2800" dirty="0"/>
          </a:p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sz="2800" dirty="0" err="1"/>
              <a:t>ωt</a:t>
            </a:r>
            <a:r>
              <a:rPr lang="zh-CN" altLang="zh-CN" sz="2800" dirty="0"/>
              <a:t>＋</a:t>
            </a:r>
            <a:r>
              <a:rPr lang="en-US" altLang="zh-CN" sz="2800" dirty="0"/>
              <a:t>φ</a:t>
            </a:r>
            <a:r>
              <a:rPr lang="zh-CN" altLang="zh-CN" sz="2800" dirty="0"/>
              <a:t>是简谐振动的相位，它决定振动物体在任一时刻的位置和运动状态。</a:t>
            </a:r>
          </a:p>
          <a:p>
            <a:pPr eaLnBrk="1" hangingPunct="1">
              <a:defRPr/>
            </a:pPr>
            <a:endParaRPr lang="zh-CN" altLang="zh-CN" dirty="0"/>
          </a:p>
        </p:txBody>
      </p:sp>
    </p:spTree>
  </p:cSld>
  <p:clrMapOvr>
    <a:masterClrMapping/>
  </p:clrMapOvr>
  <p:transition spd="slow"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4">
            <a:extLst>
              <a:ext uri="{FF2B5EF4-FFF2-40B4-BE49-F238E27FC236}">
                <a16:creationId xmlns:a16="http://schemas.microsoft.com/office/drawing/2014/main" id="{BE3E750B-DD1E-4D0F-B309-76747148D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60350"/>
            <a:ext cx="655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1"/>
              <a:t>A</a:t>
            </a:r>
            <a:r>
              <a:rPr lang="en-US" altLang="zh-CN" sz="2600" i="1">
                <a:solidFill>
                  <a:srgbClr val="000092"/>
                </a:solidFill>
              </a:rPr>
              <a:t> </a:t>
            </a:r>
            <a:r>
              <a:rPr lang="zh-CN" altLang="en-US" sz="2600">
                <a:solidFill>
                  <a:srgbClr val="000066"/>
                </a:solidFill>
              </a:rPr>
              <a:t>和</a:t>
            </a:r>
            <a:r>
              <a:rPr lang="zh-CN" altLang="en-US" sz="2600">
                <a:solidFill>
                  <a:srgbClr val="000092"/>
                </a:solidFill>
              </a:rPr>
              <a:t> </a:t>
            </a:r>
            <a:r>
              <a:rPr lang="zh-CN" altLang="en-US" sz="2800" i="1">
                <a:sym typeface="Symbol" panose="05050102010706020507" pitchFamily="18" charset="2"/>
              </a:rPr>
              <a:t></a:t>
            </a:r>
            <a:r>
              <a:rPr lang="zh-CN" altLang="en-US" sz="2600" i="1">
                <a:solidFill>
                  <a:srgbClr val="000092"/>
                </a:solidFill>
              </a:rPr>
              <a:t> </a:t>
            </a:r>
            <a:r>
              <a:rPr lang="zh-CN" altLang="en-US" sz="2600">
                <a:solidFill>
                  <a:srgbClr val="000066"/>
                </a:solidFill>
              </a:rPr>
              <a:t>的确定</a:t>
            </a:r>
            <a:r>
              <a:rPr lang="zh-CN" altLang="en-US" sz="2600"/>
              <a:t>（初始条件）</a:t>
            </a:r>
          </a:p>
        </p:txBody>
      </p:sp>
      <p:sp>
        <p:nvSpPr>
          <p:cNvPr id="11267" name="Text Box 6">
            <a:extLst>
              <a:ext uri="{FF2B5EF4-FFF2-40B4-BE49-F238E27FC236}">
                <a16:creationId xmlns:a16="http://schemas.microsoft.com/office/drawing/2014/main" id="{538594C9-A133-06C3-11D9-296D0D3EA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100138"/>
            <a:ext cx="3140075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300">
                <a:solidFill>
                  <a:srgbClr val="000066"/>
                </a:solidFill>
              </a:rPr>
              <a:t>振动方程： </a:t>
            </a:r>
          </a:p>
        </p:txBody>
      </p:sp>
      <p:graphicFrame>
        <p:nvGraphicFramePr>
          <p:cNvPr id="11268" name="Object 7">
            <a:extLst>
              <a:ext uri="{FF2B5EF4-FFF2-40B4-BE49-F238E27FC236}">
                <a16:creationId xmlns:a16="http://schemas.microsoft.com/office/drawing/2014/main" id="{D933C6E0-0ADB-62C9-EA05-2FDE046499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1131888"/>
          <a:ext cx="338455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43379" imgH="295275" progId="Equation.3">
                  <p:embed/>
                </p:oleObj>
              </mc:Choice>
              <mc:Fallback>
                <p:oleObj name="公式" r:id="rId2" imgW="2943379" imgH="29527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1131888"/>
                        <a:ext cx="3384550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Text Box 10">
            <a:extLst>
              <a:ext uri="{FF2B5EF4-FFF2-40B4-BE49-F238E27FC236}">
                <a16:creationId xmlns:a16="http://schemas.microsoft.com/office/drawing/2014/main" id="{CE56E2AE-83A7-5899-AD3E-EEAFC3317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009775"/>
            <a:ext cx="2736850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300"/>
              <a:t>初始条件：</a:t>
            </a:r>
          </a:p>
        </p:txBody>
      </p:sp>
      <p:graphicFrame>
        <p:nvGraphicFramePr>
          <p:cNvPr id="11270" name="Object 12">
            <a:extLst>
              <a:ext uri="{FF2B5EF4-FFF2-40B4-BE49-F238E27FC236}">
                <a16:creationId xmlns:a16="http://schemas.microsoft.com/office/drawing/2014/main" id="{92FDF5DD-3CF8-5A80-4C1D-9FB9AFC62D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5438" y="2998788"/>
          <a:ext cx="24987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33662" imgH="962025" progId="Equation.3">
                  <p:embed/>
                </p:oleObj>
              </mc:Choice>
              <mc:Fallback>
                <p:oleObj name="公式" r:id="rId4" imgW="2333662" imgH="96202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5438" y="2998788"/>
                        <a:ext cx="2498725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13">
            <a:extLst>
              <a:ext uri="{FF2B5EF4-FFF2-40B4-BE49-F238E27FC236}">
                <a16:creationId xmlns:a16="http://schemas.microsoft.com/office/drawing/2014/main" id="{4ACFF4E3-904B-919C-4ED4-D68FA23C6E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4475" y="4149725"/>
          <a:ext cx="2579688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33668" imgH="923925" progId="Equation.3">
                  <p:embed/>
                </p:oleObj>
              </mc:Choice>
              <mc:Fallback>
                <p:oleObj name="公式" r:id="rId6" imgW="2733668" imgH="92392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475" y="4149725"/>
                        <a:ext cx="2579688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72" name="Group 27">
            <a:extLst>
              <a:ext uri="{FF2B5EF4-FFF2-40B4-BE49-F238E27FC236}">
                <a16:creationId xmlns:a16="http://schemas.microsoft.com/office/drawing/2014/main" id="{E3AEDB4D-3B57-F150-A674-2DF02F984EB8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3573463"/>
            <a:ext cx="3276600" cy="1008062"/>
            <a:chOff x="521" y="2205"/>
            <a:chExt cx="2064" cy="810"/>
          </a:xfrm>
        </p:grpSpPr>
        <p:sp>
          <p:nvSpPr>
            <p:cNvPr id="11282" name="Text Box 11">
              <a:extLst>
                <a:ext uri="{FF2B5EF4-FFF2-40B4-BE49-F238E27FC236}">
                  <a16:creationId xmlns:a16="http://schemas.microsoft.com/office/drawing/2014/main" id="{DA97E834-F436-8DB7-33FD-2F9A9D8474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449"/>
              <a:ext cx="2064" cy="3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300">
                  <a:solidFill>
                    <a:srgbClr val="000066"/>
                  </a:solidFill>
                </a:rPr>
                <a:t>由上式得：</a:t>
              </a:r>
            </a:p>
          </p:txBody>
        </p:sp>
        <p:sp>
          <p:nvSpPr>
            <p:cNvPr id="11283" name="AutoShape 14">
              <a:extLst>
                <a:ext uri="{FF2B5EF4-FFF2-40B4-BE49-F238E27FC236}">
                  <a16:creationId xmlns:a16="http://schemas.microsoft.com/office/drawing/2014/main" id="{7A3D1E2B-5E13-CBFB-8F14-F161703C9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205"/>
              <a:ext cx="148" cy="810"/>
            </a:xfrm>
            <a:prstGeom prst="leftBrace">
              <a:avLst>
                <a:gd name="adj1" fmla="val 45608"/>
                <a:gd name="adj2" fmla="val 50000"/>
              </a:avLst>
            </a:prstGeom>
            <a:noFill/>
            <a:ln w="28575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1273" name="Text Box 15">
            <a:extLst>
              <a:ext uri="{FF2B5EF4-FFF2-40B4-BE49-F238E27FC236}">
                <a16:creationId xmlns:a16="http://schemas.microsoft.com/office/drawing/2014/main" id="{27D21B50-1DCB-9C78-D5E6-4B1C5CAF0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229225"/>
            <a:ext cx="7777162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altLang="zh-CN" sz="2800" i="1">
                <a:sym typeface="Symbol" panose="05050102010706020507" pitchFamily="18" charset="2"/>
              </a:rPr>
              <a:t></a:t>
            </a:r>
            <a:r>
              <a:rPr lang="en-US" altLang="zh-CN" i="1">
                <a:solidFill>
                  <a:srgbClr val="000092"/>
                </a:solidFill>
                <a:sym typeface="Symbol" panose="05050102010706020507" pitchFamily="18" charset="2"/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在</a:t>
            </a:r>
            <a:r>
              <a:rPr lang="zh-CN" altLang="en-US">
                <a:solidFill>
                  <a:srgbClr val="000066"/>
                </a:solidFill>
              </a:rPr>
              <a:t>  </a:t>
            </a:r>
            <a:r>
              <a:rPr lang="en-US" altLang="zh-CN" sz="3500"/>
              <a:t>-</a:t>
            </a:r>
            <a:r>
              <a:rPr lang="en-US" altLang="zh-CN" sz="1000"/>
              <a:t> </a:t>
            </a:r>
            <a:r>
              <a:rPr lang="en-US" altLang="zh-CN" sz="3000" i="1">
                <a:sym typeface="Symbol" panose="05050102010706020507" pitchFamily="18" charset="2"/>
              </a:rPr>
              <a:t></a:t>
            </a:r>
            <a:r>
              <a:rPr lang="en-US" altLang="zh-CN" i="1">
                <a:solidFill>
                  <a:srgbClr val="000092"/>
                </a:solidFill>
                <a:sym typeface="Symbol" panose="05050102010706020507" pitchFamily="18" charset="2"/>
              </a:rPr>
              <a:t>  </a:t>
            </a:r>
            <a:r>
              <a:rPr lang="en-US" altLang="zh-CN" sz="3400"/>
              <a:t>~ </a:t>
            </a:r>
            <a:r>
              <a:rPr lang="en-US" altLang="zh-CN" sz="3000" i="1">
                <a:sym typeface="Symbol" panose="05050102010706020507" pitchFamily="18" charset="2"/>
              </a:rPr>
              <a:t></a:t>
            </a:r>
            <a:r>
              <a:rPr lang="en-US" altLang="zh-CN" sz="3000" i="1">
                <a:solidFill>
                  <a:srgbClr val="000092"/>
                </a:solidFill>
                <a:sym typeface="Symbol" panose="05050102010706020507" pitchFamily="18" charset="2"/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之间有两个值</a:t>
            </a:r>
            <a:r>
              <a:rPr lang="en-US" altLang="zh-CN" sz="2300">
                <a:solidFill>
                  <a:srgbClr val="000066"/>
                </a:solidFill>
              </a:rPr>
              <a:t>, </a:t>
            </a:r>
            <a:r>
              <a:rPr lang="zh-CN" altLang="en-US" sz="2300">
                <a:solidFill>
                  <a:srgbClr val="000066"/>
                </a:solidFill>
              </a:rPr>
              <a:t>要由初始条件判断取舍。</a:t>
            </a:r>
          </a:p>
        </p:txBody>
      </p:sp>
      <p:sp>
        <p:nvSpPr>
          <p:cNvPr id="11274" name="Text Box 16">
            <a:extLst>
              <a:ext uri="{FF2B5EF4-FFF2-40B4-BE49-F238E27FC236}">
                <a16:creationId xmlns:a16="http://schemas.microsoft.com/office/drawing/2014/main" id="{9AA2990F-B022-CB2E-2816-36A433441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868863"/>
            <a:ext cx="2873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/>
              <a:t>★</a:t>
            </a:r>
            <a:r>
              <a:rPr lang="en-US" altLang="zh-CN">
                <a:solidFill>
                  <a:srgbClr val="000092"/>
                </a:solidFill>
              </a:rPr>
              <a:t> </a:t>
            </a:r>
            <a:r>
              <a:rPr lang="zh-CN" altLang="en-US">
                <a:solidFill>
                  <a:srgbClr val="000066"/>
                </a:solidFill>
              </a:rPr>
              <a:t>注意：</a:t>
            </a:r>
          </a:p>
        </p:txBody>
      </p:sp>
      <p:graphicFrame>
        <p:nvGraphicFramePr>
          <p:cNvPr id="11275" name="Object 19">
            <a:extLst>
              <a:ext uri="{FF2B5EF4-FFF2-40B4-BE49-F238E27FC236}">
                <a16:creationId xmlns:a16="http://schemas.microsoft.com/office/drawing/2014/main" id="{B2568C6E-2B47-AB6F-DA62-C2C12EB465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1719263"/>
          <a:ext cx="19446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14591" imgH="342900" progId="Equation.3">
                  <p:embed/>
                </p:oleObj>
              </mc:Choice>
              <mc:Fallback>
                <p:oleObj name="公式" r:id="rId8" imgW="1914591" imgH="3429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1719263"/>
                        <a:ext cx="1944688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20">
            <a:extLst>
              <a:ext uri="{FF2B5EF4-FFF2-40B4-BE49-F238E27FC236}">
                <a16:creationId xmlns:a16="http://schemas.microsoft.com/office/drawing/2014/main" id="{85655782-8924-6A5F-7631-B592F821B8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2276475"/>
          <a:ext cx="25923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71791" imgH="342900" progId="Equation.3">
                  <p:embed/>
                </p:oleObj>
              </mc:Choice>
              <mc:Fallback>
                <p:oleObj name="公式" r:id="rId10" imgW="2371791" imgH="3429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2276475"/>
                        <a:ext cx="25923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77" name="Group 26">
            <a:extLst>
              <a:ext uri="{FF2B5EF4-FFF2-40B4-BE49-F238E27FC236}">
                <a16:creationId xmlns:a16="http://schemas.microsoft.com/office/drawing/2014/main" id="{C0CFD106-00D8-814C-F940-06C123A2717F}"/>
              </a:ext>
            </a:extLst>
          </p:cNvPr>
          <p:cNvGrpSpPr>
            <a:grpSpLocks/>
          </p:cNvGrpSpPr>
          <p:nvPr/>
        </p:nvGrpSpPr>
        <p:grpSpPr bwMode="auto">
          <a:xfrm>
            <a:off x="2543175" y="1865313"/>
            <a:ext cx="1006475" cy="695325"/>
            <a:chOff x="1655" y="1191"/>
            <a:chExt cx="726" cy="454"/>
          </a:xfrm>
        </p:grpSpPr>
        <p:graphicFrame>
          <p:nvGraphicFramePr>
            <p:cNvPr id="11280" name="Object 17">
              <a:extLst>
                <a:ext uri="{FF2B5EF4-FFF2-40B4-BE49-F238E27FC236}">
                  <a16:creationId xmlns:a16="http://schemas.microsoft.com/office/drawing/2014/main" id="{1F042CFF-7F9A-B9BA-3EC4-6F42D88DCF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55" y="1317"/>
            <a:ext cx="58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809544" imgH="219075" progId="Equation.3">
                    <p:embed/>
                  </p:oleObj>
                </mc:Choice>
                <mc:Fallback>
                  <p:oleObj name="公式" r:id="rId12" imgW="809544" imgH="219075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1317"/>
                          <a:ext cx="58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1" name="AutoShape 23">
              <a:extLst>
                <a:ext uri="{FF2B5EF4-FFF2-40B4-BE49-F238E27FC236}">
                  <a16:creationId xmlns:a16="http://schemas.microsoft.com/office/drawing/2014/main" id="{E069C790-27C2-EB64-6387-2300CFDE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1191"/>
              <a:ext cx="136" cy="454"/>
            </a:xfrm>
            <a:prstGeom prst="leftBrace">
              <a:avLst>
                <a:gd name="adj1" fmla="val 27819"/>
                <a:gd name="adj2" fmla="val 50000"/>
              </a:avLst>
            </a:prstGeom>
            <a:noFill/>
            <a:ln w="25400">
              <a:solidFill>
                <a:srgbClr val="800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1278" name="Text Box 28">
            <a:extLst>
              <a:ext uri="{FF2B5EF4-FFF2-40B4-BE49-F238E27FC236}">
                <a16:creationId xmlns:a16="http://schemas.microsoft.com/office/drawing/2014/main" id="{834E2FAD-36C2-D852-9B55-945C876BF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200" y="2281238"/>
            <a:ext cx="1801813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200"/>
              <a:t>(</a:t>
            </a:r>
            <a:r>
              <a:rPr lang="zh-CN" altLang="en-US" sz="2200"/>
              <a:t>初速度</a:t>
            </a:r>
            <a:r>
              <a:rPr lang="en-US" altLang="zh-CN" sz="2200"/>
              <a:t>)      </a:t>
            </a:r>
          </a:p>
        </p:txBody>
      </p:sp>
      <p:sp>
        <p:nvSpPr>
          <p:cNvPr id="11279" name="Text Box 29">
            <a:extLst>
              <a:ext uri="{FF2B5EF4-FFF2-40B4-BE49-F238E27FC236}">
                <a16:creationId xmlns:a16="http://schemas.microsoft.com/office/drawing/2014/main" id="{96B0C366-EE27-56ED-1FB9-95901FDD0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200" y="1700213"/>
            <a:ext cx="1801813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200"/>
              <a:t>(</a:t>
            </a:r>
            <a:r>
              <a:rPr lang="zh-CN" altLang="en-US" sz="2200"/>
              <a:t>初位移</a:t>
            </a:r>
            <a:r>
              <a:rPr lang="en-US" altLang="zh-CN" sz="2200"/>
              <a:t>)      </a:t>
            </a:r>
          </a:p>
        </p:txBody>
      </p:sp>
    </p:spTree>
  </p:cSld>
  <p:clrMapOvr>
    <a:masterClrMapping/>
  </p:clrMapOvr>
  <p:transition spd="slow"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4" name="Text Box 4">
            <a:extLst>
              <a:ext uri="{FF2B5EF4-FFF2-40B4-BE49-F238E27FC236}">
                <a16:creationId xmlns:a16="http://schemas.microsoft.com/office/drawing/2014/main" id="{C75E7465-D4C0-B2B0-9E50-D9622AB47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33375"/>
            <a:ext cx="6553200" cy="498475"/>
          </a:xfrm>
          <a:prstGeom prst="rect">
            <a:avLst/>
          </a:prstGeom>
          <a:noFill/>
          <a:ln w="9525">
            <a:solidFill>
              <a:srgbClr val="FFFFFF">
                <a:alpha val="0"/>
              </a:srgb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600">
                <a:solidFill>
                  <a:srgbClr val="000080"/>
                </a:solidFill>
                <a:latin typeface="Arial" panose="020B0604020202020204" pitchFamily="34" charset="0"/>
              </a:rPr>
              <a:t>三、简谐振动的速度、加速度</a:t>
            </a:r>
          </a:p>
        </p:txBody>
      </p:sp>
      <p:grpSp>
        <p:nvGrpSpPr>
          <p:cNvPr id="174085" name="Group 5">
            <a:extLst>
              <a:ext uri="{FF2B5EF4-FFF2-40B4-BE49-F238E27FC236}">
                <a16:creationId xmlns:a16="http://schemas.microsoft.com/office/drawing/2014/main" id="{7780C65E-20F3-40FA-6016-19483554A1EA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979488"/>
            <a:ext cx="6872288" cy="2520950"/>
            <a:chOff x="930" y="2069"/>
            <a:chExt cx="4329" cy="1588"/>
          </a:xfrm>
        </p:grpSpPr>
        <p:sp>
          <p:nvSpPr>
            <p:cNvPr id="12316" name="Line 6">
              <a:extLst>
                <a:ext uri="{FF2B5EF4-FFF2-40B4-BE49-F238E27FC236}">
                  <a16:creationId xmlns:a16="http://schemas.microsoft.com/office/drawing/2014/main" id="{47E11FBC-B8CD-DC86-C38B-3F159E293C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4" y="3022"/>
              <a:ext cx="3899" cy="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7" name="Line 7">
              <a:extLst>
                <a:ext uri="{FF2B5EF4-FFF2-40B4-BE49-F238E27FC236}">
                  <a16:creationId xmlns:a16="http://schemas.microsoft.com/office/drawing/2014/main" id="{3E4B128E-D583-234A-7051-5D495805EE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4" y="2404"/>
              <a:ext cx="0" cy="1253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8" name="Text Box 8">
              <a:extLst>
                <a:ext uri="{FF2B5EF4-FFF2-40B4-BE49-F238E27FC236}">
                  <a16:creationId xmlns:a16="http://schemas.microsoft.com/office/drawing/2014/main" id="{055E503A-AFE0-876C-7DF4-F9EEBEE821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7" y="2993"/>
              <a:ext cx="18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3000" i="1">
                  <a:solidFill>
                    <a:schemeClr val="tx1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12319" name="Text Box 9">
              <a:extLst>
                <a:ext uri="{FF2B5EF4-FFF2-40B4-BE49-F238E27FC236}">
                  <a16:creationId xmlns:a16="http://schemas.microsoft.com/office/drawing/2014/main" id="{558F0DE5-E759-6615-B971-19227062FF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" y="2894"/>
              <a:ext cx="272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700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12320" name="Text Box 10">
              <a:extLst>
                <a:ext uri="{FF2B5EF4-FFF2-40B4-BE49-F238E27FC236}">
                  <a16:creationId xmlns:a16="http://schemas.microsoft.com/office/drawing/2014/main" id="{8870449F-F6CC-4F61-695F-203269A91B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0" y="2069"/>
              <a:ext cx="927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3000" i="1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sz="1500" i="1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3000" i="1">
                  <a:solidFill>
                    <a:schemeClr val="tx1"/>
                  </a:solidFill>
                  <a:ea typeface="宋体" panose="02010600030101010101" pitchFamily="2" charset="-122"/>
                </a:rPr>
                <a:t>/</a:t>
              </a:r>
              <a:r>
                <a:rPr lang="en-US" altLang="zh-CN" sz="1500" i="1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3000" i="1">
                  <a:solidFill>
                    <a:schemeClr val="tx1"/>
                  </a:solidFill>
                  <a:ea typeface="宋体" panose="02010600030101010101" pitchFamily="2" charset="-122"/>
                </a:rPr>
                <a:t>v</a:t>
              </a:r>
              <a:r>
                <a:rPr lang="en-US" altLang="zh-CN" sz="1500" i="1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3000" i="1">
                  <a:solidFill>
                    <a:schemeClr val="tx1"/>
                  </a:solidFill>
                  <a:ea typeface="宋体" panose="02010600030101010101" pitchFamily="2" charset="-122"/>
                </a:rPr>
                <a:t>/a    </a:t>
              </a:r>
            </a:p>
          </p:txBody>
        </p:sp>
      </p:grpSp>
      <p:grpSp>
        <p:nvGrpSpPr>
          <p:cNvPr id="174091" name="Group 11">
            <a:extLst>
              <a:ext uri="{FF2B5EF4-FFF2-40B4-BE49-F238E27FC236}">
                <a16:creationId xmlns:a16="http://schemas.microsoft.com/office/drawing/2014/main" id="{AF026AAF-03E0-3F9A-4821-0CE03D4D3868}"/>
              </a:ext>
            </a:extLst>
          </p:cNvPr>
          <p:cNvGrpSpPr>
            <a:grpSpLocks/>
          </p:cNvGrpSpPr>
          <p:nvPr/>
        </p:nvGrpSpPr>
        <p:grpSpPr bwMode="auto">
          <a:xfrm>
            <a:off x="1933575" y="1157288"/>
            <a:ext cx="5627688" cy="2127250"/>
            <a:chOff x="1380" y="134"/>
            <a:chExt cx="3545" cy="1447"/>
          </a:xfrm>
        </p:grpSpPr>
        <p:sp>
          <p:nvSpPr>
            <p:cNvPr id="12314" name="Freeform 12">
              <a:extLst>
                <a:ext uri="{FF2B5EF4-FFF2-40B4-BE49-F238E27FC236}">
                  <a16:creationId xmlns:a16="http://schemas.microsoft.com/office/drawing/2014/main" id="{32B220B3-864D-1341-920E-BCEBA2B1C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0" y="389"/>
              <a:ext cx="3545" cy="1192"/>
            </a:xfrm>
            <a:custGeom>
              <a:avLst/>
              <a:gdLst>
                <a:gd name="T0" fmla="*/ 0 w 4189"/>
                <a:gd name="T1" fmla="*/ 1 h 1871"/>
                <a:gd name="T2" fmla="*/ 35 w 4189"/>
                <a:gd name="T3" fmla="*/ 2 h 1871"/>
                <a:gd name="T4" fmla="*/ 72 w 4189"/>
                <a:gd name="T5" fmla="*/ 1 h 1871"/>
                <a:gd name="T6" fmla="*/ 112 w 4189"/>
                <a:gd name="T7" fmla="*/ 1 h 1871"/>
                <a:gd name="T8" fmla="*/ 151 w 4189"/>
                <a:gd name="T9" fmla="*/ 1 h 1871"/>
                <a:gd name="T10" fmla="*/ 193 w 4189"/>
                <a:gd name="T11" fmla="*/ 2 h 1871"/>
                <a:gd name="T12" fmla="*/ 232 w 4189"/>
                <a:gd name="T13" fmla="*/ 1 h 1871"/>
                <a:gd name="T14" fmla="*/ 272 w 4189"/>
                <a:gd name="T15" fmla="*/ 1 h 1871"/>
                <a:gd name="T16" fmla="*/ 314 w 4189"/>
                <a:gd name="T17" fmla="*/ 1 h 1871"/>
                <a:gd name="T18" fmla="*/ 333 w 4189"/>
                <a:gd name="T19" fmla="*/ 2 h 1871"/>
                <a:gd name="T20" fmla="*/ 343 w 4189"/>
                <a:gd name="T21" fmla="*/ 2 h 187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189" h="1871">
                  <a:moveTo>
                    <a:pt x="0" y="1207"/>
                  </a:moveTo>
                  <a:cubicBezTo>
                    <a:pt x="70" y="1311"/>
                    <a:pt x="273" y="1871"/>
                    <a:pt x="419" y="1829"/>
                  </a:cubicBezTo>
                  <a:cubicBezTo>
                    <a:pt x="565" y="1788"/>
                    <a:pt x="720" y="1259"/>
                    <a:pt x="877" y="955"/>
                  </a:cubicBezTo>
                  <a:cubicBezTo>
                    <a:pt x="1034" y="650"/>
                    <a:pt x="1200" y="6"/>
                    <a:pt x="1361" y="3"/>
                  </a:cubicBezTo>
                  <a:cubicBezTo>
                    <a:pt x="1522" y="0"/>
                    <a:pt x="1679" y="632"/>
                    <a:pt x="1846" y="935"/>
                  </a:cubicBezTo>
                  <a:cubicBezTo>
                    <a:pt x="2013" y="1238"/>
                    <a:pt x="2199" y="1822"/>
                    <a:pt x="2365" y="1822"/>
                  </a:cubicBezTo>
                  <a:cubicBezTo>
                    <a:pt x="2531" y="1822"/>
                    <a:pt x="2680" y="1238"/>
                    <a:pt x="2840" y="935"/>
                  </a:cubicBezTo>
                  <a:cubicBezTo>
                    <a:pt x="3000" y="632"/>
                    <a:pt x="3159" y="3"/>
                    <a:pt x="3325" y="3"/>
                  </a:cubicBezTo>
                  <a:cubicBezTo>
                    <a:pt x="3491" y="3"/>
                    <a:pt x="3713" y="693"/>
                    <a:pt x="3835" y="935"/>
                  </a:cubicBezTo>
                  <a:cubicBezTo>
                    <a:pt x="3957" y="1178"/>
                    <a:pt x="3999" y="1330"/>
                    <a:pt x="4058" y="1460"/>
                  </a:cubicBezTo>
                  <a:cubicBezTo>
                    <a:pt x="4117" y="1589"/>
                    <a:pt x="4162" y="1660"/>
                    <a:pt x="4189" y="1714"/>
                  </a:cubicBezTo>
                </a:path>
              </a:pathLst>
            </a:custGeom>
            <a:noFill/>
            <a:ln w="28575" cap="flat">
              <a:solidFill>
                <a:srgbClr val="008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5" name="Text Box 13">
              <a:extLst>
                <a:ext uri="{FF2B5EF4-FFF2-40B4-BE49-F238E27FC236}">
                  <a16:creationId xmlns:a16="http://schemas.microsoft.com/office/drawing/2014/main" id="{5ED3845D-A77E-A23B-E94A-5242619A26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6" y="134"/>
              <a:ext cx="252" cy="4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3400" i="1">
                  <a:solidFill>
                    <a:srgbClr val="00800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</p:grpSp>
      <p:grpSp>
        <p:nvGrpSpPr>
          <p:cNvPr id="174094" name="Group 14">
            <a:extLst>
              <a:ext uri="{FF2B5EF4-FFF2-40B4-BE49-F238E27FC236}">
                <a16:creationId xmlns:a16="http://schemas.microsoft.com/office/drawing/2014/main" id="{B3BED274-9C7C-7194-448A-D1B45327118F}"/>
              </a:ext>
            </a:extLst>
          </p:cNvPr>
          <p:cNvGrpSpPr>
            <a:grpSpLocks/>
          </p:cNvGrpSpPr>
          <p:nvPr/>
        </p:nvGrpSpPr>
        <p:grpSpPr bwMode="auto">
          <a:xfrm>
            <a:off x="1958975" y="1222375"/>
            <a:ext cx="5626100" cy="1965325"/>
            <a:chOff x="1135" y="1995"/>
            <a:chExt cx="3544" cy="1238"/>
          </a:xfrm>
        </p:grpSpPr>
        <p:sp>
          <p:nvSpPr>
            <p:cNvPr id="12310" name="Freeform 15">
              <a:extLst>
                <a:ext uri="{FF2B5EF4-FFF2-40B4-BE49-F238E27FC236}">
                  <a16:creationId xmlns:a16="http://schemas.microsoft.com/office/drawing/2014/main" id="{96D16D0C-CA6E-8586-84B9-3E1B079AC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5" y="2299"/>
              <a:ext cx="3544" cy="934"/>
            </a:xfrm>
            <a:custGeom>
              <a:avLst/>
              <a:gdLst>
                <a:gd name="T0" fmla="*/ 0 w 4189"/>
                <a:gd name="T1" fmla="*/ 2 h 1281"/>
                <a:gd name="T2" fmla="*/ 31 w 4189"/>
                <a:gd name="T3" fmla="*/ 7 h 1281"/>
                <a:gd name="T4" fmla="*/ 69 w 4189"/>
                <a:gd name="T5" fmla="*/ 11 h 1281"/>
                <a:gd name="T6" fmla="*/ 105 w 4189"/>
                <a:gd name="T7" fmla="*/ 7 h 1281"/>
                <a:gd name="T8" fmla="*/ 146 w 4189"/>
                <a:gd name="T9" fmla="*/ 1 h 1281"/>
                <a:gd name="T10" fmla="*/ 184 w 4189"/>
                <a:gd name="T11" fmla="*/ 7 h 1281"/>
                <a:gd name="T12" fmla="*/ 230 w 4189"/>
                <a:gd name="T13" fmla="*/ 11 h 1281"/>
                <a:gd name="T14" fmla="*/ 266 w 4189"/>
                <a:gd name="T15" fmla="*/ 7 h 1281"/>
                <a:gd name="T16" fmla="*/ 308 w 4189"/>
                <a:gd name="T17" fmla="*/ 1 h 1281"/>
                <a:gd name="T18" fmla="*/ 341 w 4189"/>
                <a:gd name="T19" fmla="*/ 5 h 12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89" h="1281">
                  <a:moveTo>
                    <a:pt x="0" y="247"/>
                  </a:moveTo>
                  <a:cubicBezTo>
                    <a:pt x="63" y="323"/>
                    <a:pt x="237" y="533"/>
                    <a:pt x="379" y="705"/>
                  </a:cubicBezTo>
                  <a:cubicBezTo>
                    <a:pt x="521" y="877"/>
                    <a:pt x="699" y="1281"/>
                    <a:pt x="851" y="1281"/>
                  </a:cubicBezTo>
                  <a:cubicBezTo>
                    <a:pt x="1003" y="1281"/>
                    <a:pt x="1134" y="913"/>
                    <a:pt x="1291" y="708"/>
                  </a:cubicBezTo>
                  <a:cubicBezTo>
                    <a:pt x="1448" y="503"/>
                    <a:pt x="1632" y="53"/>
                    <a:pt x="1793" y="51"/>
                  </a:cubicBezTo>
                  <a:cubicBezTo>
                    <a:pt x="1954" y="49"/>
                    <a:pt x="2090" y="490"/>
                    <a:pt x="2260" y="695"/>
                  </a:cubicBezTo>
                  <a:cubicBezTo>
                    <a:pt x="2430" y="900"/>
                    <a:pt x="2648" y="1281"/>
                    <a:pt x="2814" y="1281"/>
                  </a:cubicBezTo>
                  <a:cubicBezTo>
                    <a:pt x="2980" y="1281"/>
                    <a:pt x="3093" y="904"/>
                    <a:pt x="3254" y="695"/>
                  </a:cubicBezTo>
                  <a:cubicBezTo>
                    <a:pt x="3415" y="486"/>
                    <a:pt x="3627" y="48"/>
                    <a:pt x="3783" y="24"/>
                  </a:cubicBezTo>
                  <a:cubicBezTo>
                    <a:pt x="3939" y="0"/>
                    <a:pt x="4105" y="439"/>
                    <a:pt x="4189" y="548"/>
                  </a:cubicBezTo>
                </a:path>
              </a:pathLst>
            </a:custGeom>
            <a:noFill/>
            <a:ln w="28575" cap="flat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1" name="Line 16">
              <a:extLst>
                <a:ext uri="{FF2B5EF4-FFF2-40B4-BE49-F238E27FC236}">
                  <a16:creationId xmlns:a16="http://schemas.microsoft.com/office/drawing/2014/main" id="{8E50F142-3855-0E8E-6391-127A5CAC0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2" y="1995"/>
              <a:ext cx="0" cy="24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2" name="Line 17">
              <a:extLst>
                <a:ext uri="{FF2B5EF4-FFF2-40B4-BE49-F238E27FC236}">
                  <a16:creationId xmlns:a16="http://schemas.microsoft.com/office/drawing/2014/main" id="{E6FC0E6A-3F9E-4CB9-E937-0BDEB17E4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1995"/>
              <a:ext cx="0" cy="24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3" name="Text Box 18">
              <a:extLst>
                <a:ext uri="{FF2B5EF4-FFF2-40B4-BE49-F238E27FC236}">
                  <a16:creationId xmlns:a16="http://schemas.microsoft.com/office/drawing/2014/main" id="{0BC63CD2-051E-2997-7661-74946E5DD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1" y="2086"/>
              <a:ext cx="23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3400" i="1">
                  <a:solidFill>
                    <a:schemeClr val="accent2"/>
                  </a:solidFill>
                  <a:ea typeface="宋体" panose="02010600030101010101" pitchFamily="2" charset="-122"/>
                </a:rPr>
                <a:t>v</a:t>
              </a:r>
            </a:p>
          </p:txBody>
        </p:sp>
      </p:grpSp>
      <p:grpSp>
        <p:nvGrpSpPr>
          <p:cNvPr id="174099" name="Group 19">
            <a:extLst>
              <a:ext uri="{FF2B5EF4-FFF2-40B4-BE49-F238E27FC236}">
                <a16:creationId xmlns:a16="http://schemas.microsoft.com/office/drawing/2014/main" id="{52A64526-D098-DEF2-551C-33F94EECEDE6}"/>
              </a:ext>
            </a:extLst>
          </p:cNvPr>
          <p:cNvGrpSpPr>
            <a:grpSpLocks/>
          </p:cNvGrpSpPr>
          <p:nvPr/>
        </p:nvGrpSpPr>
        <p:grpSpPr bwMode="auto">
          <a:xfrm>
            <a:off x="1933575" y="1511300"/>
            <a:ext cx="5627688" cy="1452563"/>
            <a:chOff x="1380" y="2614"/>
            <a:chExt cx="3545" cy="915"/>
          </a:xfrm>
        </p:grpSpPr>
        <p:sp>
          <p:nvSpPr>
            <p:cNvPr id="12307" name="Freeform 20">
              <a:extLst>
                <a:ext uri="{FF2B5EF4-FFF2-40B4-BE49-F238E27FC236}">
                  <a16:creationId xmlns:a16="http://schemas.microsoft.com/office/drawing/2014/main" id="{7F420443-3DFF-91AC-CB8B-5A2CFBA53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0" y="2875"/>
              <a:ext cx="3545" cy="654"/>
            </a:xfrm>
            <a:custGeom>
              <a:avLst/>
              <a:gdLst>
                <a:gd name="T0" fmla="*/ 0 w 4189"/>
                <a:gd name="T1" fmla="*/ 1 h 1260"/>
                <a:gd name="T2" fmla="*/ 35 w 4189"/>
                <a:gd name="T3" fmla="*/ 1 h 1260"/>
                <a:gd name="T4" fmla="*/ 72 w 4189"/>
                <a:gd name="T5" fmla="*/ 1 h 1260"/>
                <a:gd name="T6" fmla="*/ 112 w 4189"/>
                <a:gd name="T7" fmla="*/ 1 h 1260"/>
                <a:gd name="T8" fmla="*/ 151 w 4189"/>
                <a:gd name="T9" fmla="*/ 1 h 1260"/>
                <a:gd name="T10" fmla="*/ 192 w 4189"/>
                <a:gd name="T11" fmla="*/ 1 h 1260"/>
                <a:gd name="T12" fmla="*/ 232 w 4189"/>
                <a:gd name="T13" fmla="*/ 1 h 1260"/>
                <a:gd name="T14" fmla="*/ 272 w 4189"/>
                <a:gd name="T15" fmla="*/ 1 h 1260"/>
                <a:gd name="T16" fmla="*/ 314 w 4189"/>
                <a:gd name="T17" fmla="*/ 1 h 1260"/>
                <a:gd name="T18" fmla="*/ 333 w 4189"/>
                <a:gd name="T19" fmla="*/ 1 h 1260"/>
                <a:gd name="T20" fmla="*/ 343 w 4189"/>
                <a:gd name="T21" fmla="*/ 1 h 126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189" h="1260">
                  <a:moveTo>
                    <a:pt x="0" y="447"/>
                  </a:moveTo>
                  <a:cubicBezTo>
                    <a:pt x="70" y="377"/>
                    <a:pt x="273" y="0"/>
                    <a:pt x="419" y="28"/>
                  </a:cubicBezTo>
                  <a:cubicBezTo>
                    <a:pt x="565" y="56"/>
                    <a:pt x="720" y="412"/>
                    <a:pt x="877" y="617"/>
                  </a:cubicBezTo>
                  <a:cubicBezTo>
                    <a:pt x="1034" y="822"/>
                    <a:pt x="1200" y="1256"/>
                    <a:pt x="1361" y="1258"/>
                  </a:cubicBezTo>
                  <a:cubicBezTo>
                    <a:pt x="1522" y="1260"/>
                    <a:pt x="1682" y="835"/>
                    <a:pt x="1846" y="630"/>
                  </a:cubicBezTo>
                  <a:cubicBezTo>
                    <a:pt x="2010" y="425"/>
                    <a:pt x="2177" y="28"/>
                    <a:pt x="2343" y="28"/>
                  </a:cubicBezTo>
                  <a:cubicBezTo>
                    <a:pt x="2509" y="28"/>
                    <a:pt x="2676" y="425"/>
                    <a:pt x="2840" y="630"/>
                  </a:cubicBezTo>
                  <a:cubicBezTo>
                    <a:pt x="3004" y="835"/>
                    <a:pt x="3159" y="1258"/>
                    <a:pt x="3325" y="1258"/>
                  </a:cubicBezTo>
                  <a:cubicBezTo>
                    <a:pt x="3491" y="1258"/>
                    <a:pt x="3713" y="793"/>
                    <a:pt x="3835" y="630"/>
                  </a:cubicBezTo>
                  <a:cubicBezTo>
                    <a:pt x="3957" y="467"/>
                    <a:pt x="3999" y="364"/>
                    <a:pt x="4058" y="277"/>
                  </a:cubicBezTo>
                  <a:cubicBezTo>
                    <a:pt x="4117" y="190"/>
                    <a:pt x="4162" y="142"/>
                    <a:pt x="4189" y="106"/>
                  </a:cubicBez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8" name="Text Box 21">
              <a:extLst>
                <a:ext uri="{FF2B5EF4-FFF2-40B4-BE49-F238E27FC236}">
                  <a16:creationId xmlns:a16="http://schemas.microsoft.com/office/drawing/2014/main" id="{CD17E668-95CD-0748-D608-78289D72D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7" y="2614"/>
              <a:ext cx="2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3400" i="1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2309" name="Line 22">
              <a:extLst>
                <a:ext uri="{FF2B5EF4-FFF2-40B4-BE49-F238E27FC236}">
                  <a16:creationId xmlns:a16="http://schemas.microsoft.com/office/drawing/2014/main" id="{667143F2-C99E-9A15-A503-0CCEB69DA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4" y="2875"/>
              <a:ext cx="0" cy="35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103" name="Line 23">
            <a:extLst>
              <a:ext uri="{FF2B5EF4-FFF2-40B4-BE49-F238E27FC236}">
                <a16:creationId xmlns:a16="http://schemas.microsoft.com/office/drawing/2014/main" id="{5A1AD679-030A-0B05-FE9D-22137C7B35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8800" y="1771650"/>
            <a:ext cx="0" cy="720725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dash"/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04" name="Line 24">
            <a:extLst>
              <a:ext uri="{FF2B5EF4-FFF2-40B4-BE49-F238E27FC236}">
                <a16:creationId xmlns:a16="http://schemas.microsoft.com/office/drawing/2014/main" id="{DE493CBA-4ECA-7384-A085-752EECE21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1738" y="1555750"/>
            <a:ext cx="0" cy="936625"/>
          </a:xfrm>
          <a:prstGeom prst="line">
            <a:avLst/>
          </a:prstGeom>
          <a:noFill/>
          <a:ln w="19050">
            <a:solidFill>
              <a:srgbClr val="008000"/>
            </a:solidFill>
            <a:prstDash val="dash"/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4105" name="Object 25">
            <a:extLst>
              <a:ext uri="{FF2B5EF4-FFF2-40B4-BE49-F238E27FC236}">
                <a16:creationId xmlns:a16="http://schemas.microsoft.com/office/drawing/2014/main" id="{7FAB9E2A-062B-63D2-7D89-9A1DA0C1BA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8963" y="3622675"/>
          <a:ext cx="4008437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648259" imgH="771525" progId="Equation.3">
                  <p:embed/>
                </p:oleObj>
              </mc:Choice>
              <mc:Fallback>
                <p:oleObj name="公式" r:id="rId2" imgW="4648259" imgH="771525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963" y="3622675"/>
                        <a:ext cx="4008437" cy="8413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06" name="Object 26">
            <a:extLst>
              <a:ext uri="{FF2B5EF4-FFF2-40B4-BE49-F238E27FC236}">
                <a16:creationId xmlns:a16="http://schemas.microsoft.com/office/drawing/2014/main" id="{AD2B5B12-4813-13F5-3340-8DC692BAC1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4630738"/>
          <a:ext cx="432117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867150" imgH="885825" progId="Equation.3">
                  <p:embed/>
                </p:oleObj>
              </mc:Choice>
              <mc:Fallback>
                <p:oleObj name="公式" r:id="rId4" imgW="4867150" imgH="885825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630738"/>
                        <a:ext cx="4321175" cy="9588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09" name="Object 29">
            <a:extLst>
              <a:ext uri="{FF2B5EF4-FFF2-40B4-BE49-F238E27FC236}">
                <a16:creationId xmlns:a16="http://schemas.microsoft.com/office/drawing/2014/main" id="{38946F53-A1DB-F0B6-DC20-211ED14D03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2588" y="3838575"/>
          <a:ext cx="18002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23944" imgH="314325" progId="Equation.3">
                  <p:embed/>
                </p:oleObj>
              </mc:Choice>
              <mc:Fallback>
                <p:oleObj name="公式" r:id="rId6" imgW="1723944" imgH="314325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3838575"/>
                        <a:ext cx="18002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0" name="Object 30">
            <a:extLst>
              <a:ext uri="{FF2B5EF4-FFF2-40B4-BE49-F238E27FC236}">
                <a16:creationId xmlns:a16="http://schemas.microsoft.com/office/drawing/2014/main" id="{8A854FCC-D6FB-4F61-D4AF-EA53E7E60D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5463" y="4902200"/>
          <a:ext cx="20177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66756" imgH="381000" progId="Equation.3">
                  <p:embed/>
                </p:oleObj>
              </mc:Choice>
              <mc:Fallback>
                <p:oleObj name="公式" r:id="rId8" imgW="2066756" imgH="3810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463" y="4902200"/>
                        <a:ext cx="20177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11" name="Text Box 31">
            <a:extLst>
              <a:ext uri="{FF2B5EF4-FFF2-40B4-BE49-F238E27FC236}">
                <a16:creationId xmlns:a16="http://schemas.microsoft.com/office/drawing/2014/main" id="{0BF997BC-ED1E-D317-97A4-2A0CD2AF8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813175"/>
            <a:ext cx="1784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66"/>
                </a:solidFill>
              </a:rPr>
              <a:t>1. </a:t>
            </a:r>
            <a:r>
              <a:rPr lang="zh-CN" altLang="en-US">
                <a:solidFill>
                  <a:srgbClr val="000066"/>
                </a:solidFill>
              </a:rPr>
              <a:t>速度         </a:t>
            </a:r>
          </a:p>
        </p:txBody>
      </p:sp>
      <p:sp>
        <p:nvSpPr>
          <p:cNvPr id="174112" name="Text Box 32">
            <a:extLst>
              <a:ext uri="{FF2B5EF4-FFF2-40B4-BE49-F238E27FC236}">
                <a16:creationId xmlns:a16="http://schemas.microsoft.com/office/drawing/2014/main" id="{8D59D6E1-6EC1-37D8-D2F7-FC56D07F4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4894263"/>
            <a:ext cx="2089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66"/>
                </a:solidFill>
              </a:rPr>
              <a:t>2. </a:t>
            </a:r>
            <a:r>
              <a:rPr lang="zh-CN" altLang="en-US">
                <a:solidFill>
                  <a:srgbClr val="000066"/>
                </a:solidFill>
              </a:rPr>
              <a:t>加速度         </a:t>
            </a:r>
          </a:p>
        </p:txBody>
      </p:sp>
      <p:grpSp>
        <p:nvGrpSpPr>
          <p:cNvPr id="174115" name="Group 35">
            <a:extLst>
              <a:ext uri="{FF2B5EF4-FFF2-40B4-BE49-F238E27FC236}">
                <a16:creationId xmlns:a16="http://schemas.microsoft.com/office/drawing/2014/main" id="{C9F28E1D-22BE-FD59-86FD-0244008D50B6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1123950"/>
            <a:ext cx="2808288" cy="863600"/>
            <a:chOff x="3152" y="585"/>
            <a:chExt cx="1840" cy="577"/>
          </a:xfrm>
        </p:grpSpPr>
        <p:graphicFrame>
          <p:nvGraphicFramePr>
            <p:cNvPr id="12305" name="Object 33">
              <a:extLst>
                <a:ext uri="{FF2B5EF4-FFF2-40B4-BE49-F238E27FC236}">
                  <a16:creationId xmlns:a16="http://schemas.microsoft.com/office/drawing/2014/main" id="{B513F433-3739-BE11-84F1-8F7D52FF04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2" y="585"/>
            <a:ext cx="1840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028818" imgH="295275" progId="Equation.3">
                    <p:embed/>
                  </p:oleObj>
                </mc:Choice>
                <mc:Fallback>
                  <p:oleObj name="公式" r:id="rId10" imgW="3028818" imgH="295275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585"/>
                          <a:ext cx="1840" cy="26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FF">
                              <a:alpha val="0"/>
                            </a:srgbClr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6" name="Line 34">
              <a:extLst>
                <a:ext uri="{FF2B5EF4-FFF2-40B4-BE49-F238E27FC236}">
                  <a16:creationId xmlns:a16="http://schemas.microsoft.com/office/drawing/2014/main" id="{D1F743EB-1023-7E1F-56FC-7BCC0B6535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8" y="845"/>
              <a:ext cx="272" cy="31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84981DA8-AB5D-02DC-47FF-CE1BB98BF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3" y="5732463"/>
            <a:ext cx="83470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zh-CN"/>
              <a:t>由此看出：速度与位移的相位相差</a:t>
            </a:r>
            <a:r>
              <a:rPr lang="en-US" altLang="zh-CN"/>
              <a:t>π/2</a:t>
            </a:r>
            <a:endParaRPr lang="zh-CN" altLang="zh-CN"/>
          </a:p>
          <a:p>
            <a:pPr eaLnBrk="1" hangingPunct="1"/>
            <a:r>
              <a:rPr lang="zh-CN" altLang="zh-CN"/>
              <a:t>加速度与速度的相位相差</a:t>
            </a:r>
            <a:r>
              <a:rPr lang="en-US" altLang="zh-CN"/>
              <a:t>π/2</a:t>
            </a:r>
            <a:r>
              <a:rPr lang="zh-CN" altLang="en-US"/>
              <a:t>，</a:t>
            </a:r>
            <a:r>
              <a:rPr lang="zh-CN" altLang="zh-CN"/>
              <a:t>加速度与位移的相位相差</a:t>
            </a:r>
            <a:r>
              <a:rPr lang="en-US" altLang="zh-CN"/>
              <a:t>π</a:t>
            </a:r>
            <a:endParaRPr lang="zh-CN" altLang="zh-CN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17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7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7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7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17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17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17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7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7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0"/>
                                        <p:tgtEl>
                                          <p:spTgt spid="17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0"/>
                                        <p:tgtEl>
                                          <p:spTgt spid="17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1000"/>
                                        <p:tgtEl>
                                          <p:spTgt spid="17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7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4" grpId="0" animBg="1"/>
      <p:bldP spid="174111" grpId="0"/>
      <p:bldP spid="174112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168DD76-EF85-A52E-E476-15AB16A818D1}"/>
              </a:ext>
            </a:extLst>
          </p:cNvPr>
          <p:cNvSpPr txBox="1"/>
          <p:nvPr/>
        </p:nvSpPr>
        <p:spPr>
          <a:xfrm>
            <a:off x="179388" y="692150"/>
            <a:ext cx="8856662" cy="1108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200" dirty="0"/>
              <a:t>教材例题</a:t>
            </a:r>
            <a:r>
              <a:rPr lang="en-US" altLang="zh-CN" sz="2200" dirty="0"/>
              <a:t>7.1 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一质量为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0.01kg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的物体做谐振动，振幅为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8cm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，周期为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4s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，</a:t>
            </a:r>
            <a:r>
              <a:rPr lang="en-US" altLang="zh-CN" sz="2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=0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时，物体位于</a:t>
            </a:r>
            <a:r>
              <a:rPr lang="en-US" altLang="zh-CN" sz="2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=4cm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处并处于</a:t>
            </a:r>
            <a:r>
              <a:rPr lang="en-US" altLang="zh-CN" sz="2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轴正方向运动，求：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）</a:t>
            </a:r>
            <a:r>
              <a:rPr lang="en-US" altLang="zh-CN" sz="2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=1s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时，物体的位置坐标、速度和受力；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173D72-1998-5679-E026-979FE64876ED}"/>
              </a:ext>
            </a:extLst>
          </p:cNvPr>
          <p:cNvSpPr txBox="1"/>
          <p:nvPr/>
        </p:nvSpPr>
        <p:spPr>
          <a:xfrm>
            <a:off x="179388" y="207963"/>
            <a:ext cx="6648450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rgbClr val="C00000"/>
                </a:solidFill>
              </a:rPr>
              <a:t>第一类问题：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由简谐振动运动学方程求未知参数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0ACF63-9237-606B-7049-A344E0958936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1858963"/>
            <a:ext cx="8856662" cy="465137"/>
            <a:chOff x="179512" y="1858720"/>
            <a:chExt cx="8856984" cy="46571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4C7ACCB-96C2-CA84-94A4-FF6A7B762FCE}"/>
                </a:ext>
              </a:extLst>
            </p:cNvPr>
            <p:cNvSpPr txBox="1"/>
            <p:nvPr/>
          </p:nvSpPr>
          <p:spPr>
            <a:xfrm>
              <a:off x="179512" y="1858720"/>
              <a:ext cx="8856984" cy="43074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200" dirty="0"/>
                <a:t>解： </a:t>
              </a:r>
              <a:r>
                <a:rPr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设物体的运动学方程为</a:t>
              </a:r>
              <a:endPara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aphicFrame>
          <p:nvGraphicFramePr>
            <p:cNvPr id="13335" name="Object 35">
              <a:extLst>
                <a:ext uri="{FF2B5EF4-FFF2-40B4-BE49-F238E27FC236}">
                  <a16:creationId xmlns:a16="http://schemas.microsoft.com/office/drawing/2014/main" id="{46D1C185-7471-2DD9-9980-789996F4A3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67944" y="1893546"/>
            <a:ext cx="2376264" cy="4308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38147" imgH="180975" progId="Equation.DSMT4">
                    <p:embed/>
                  </p:oleObj>
                </mc:Choice>
                <mc:Fallback>
                  <p:oleObj name="Equation" r:id="rId2" imgW="1238147" imgH="180975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7944" y="1893546"/>
                          <a:ext cx="2376264" cy="430886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FF">
                              <a:alpha val="0"/>
                            </a:srgbClr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62DBCF26-812C-0BCC-2B63-8110E1628D8F}"/>
              </a:ext>
            </a:extLst>
          </p:cNvPr>
          <p:cNvGrpSpPr>
            <a:grpSpLocks/>
          </p:cNvGrpSpPr>
          <p:nvPr/>
        </p:nvGrpSpPr>
        <p:grpSpPr bwMode="auto">
          <a:xfrm>
            <a:off x="150813" y="2324100"/>
            <a:ext cx="8885237" cy="779463"/>
            <a:chOff x="151172" y="2324432"/>
            <a:chExt cx="8885323" cy="778574"/>
          </a:xfrm>
        </p:grpSpPr>
        <p:graphicFrame>
          <p:nvGraphicFramePr>
            <p:cNvPr id="13330" name="Object 35">
              <a:extLst>
                <a:ext uri="{FF2B5EF4-FFF2-40B4-BE49-F238E27FC236}">
                  <a16:creationId xmlns:a16="http://schemas.microsoft.com/office/drawing/2014/main" id="{4E1D22EA-9942-47CC-35B9-CE59F47D24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8861" y="2324432"/>
            <a:ext cx="3863916" cy="778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009915" imgH="371475" progId="Equation.DSMT4">
                    <p:embed/>
                  </p:oleObj>
                </mc:Choice>
                <mc:Fallback>
                  <p:oleObj name="Equation" r:id="rId4" imgW="2009915" imgH="371475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8861" y="2324432"/>
                          <a:ext cx="3863916" cy="77857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FF">
                              <a:alpha val="0"/>
                            </a:srgbClr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65403F29-8EE8-196F-799C-0569B2AD1BC5}"/>
                </a:ext>
              </a:extLst>
            </p:cNvPr>
            <p:cNvSpPr txBox="1"/>
            <p:nvPr/>
          </p:nvSpPr>
          <p:spPr>
            <a:xfrm>
              <a:off x="151172" y="2446531"/>
              <a:ext cx="8885323" cy="46143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已知                                                      当</a:t>
              </a:r>
              <a:r>
                <a:rPr lang="en-US" altLang="zh-CN" i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=0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时，                 ， </a:t>
              </a:r>
              <a:endPara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aphicFrame>
          <p:nvGraphicFramePr>
            <p:cNvPr id="13332" name="Object 35">
              <a:extLst>
                <a:ext uri="{FF2B5EF4-FFF2-40B4-BE49-F238E27FC236}">
                  <a16:creationId xmlns:a16="http://schemas.microsoft.com/office/drawing/2014/main" id="{ABC9F5F5-AAAC-C8AC-6151-8233D06193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60232" y="2482021"/>
            <a:ext cx="1376363" cy="452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04688" imgH="209550" progId="Equation.DSMT4">
                    <p:embed/>
                  </p:oleObj>
                </mc:Choice>
                <mc:Fallback>
                  <p:oleObj name="Equation" r:id="rId6" imgW="704688" imgH="209550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0232" y="2482021"/>
                          <a:ext cx="1376363" cy="45243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FF">
                              <a:alpha val="0"/>
                            </a:srgbClr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3" name="Object 35">
              <a:extLst>
                <a:ext uri="{FF2B5EF4-FFF2-40B4-BE49-F238E27FC236}">
                  <a16:creationId xmlns:a16="http://schemas.microsoft.com/office/drawing/2014/main" id="{1B3571F7-7959-6BD0-1F57-B71EFAE4E7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1895" y="2482022"/>
            <a:ext cx="749300" cy="452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71409" imgH="209550" progId="Equation.DSMT4">
                    <p:embed/>
                  </p:oleObj>
                </mc:Choice>
                <mc:Fallback>
                  <p:oleObj name="Equation" r:id="rId8" imgW="371409" imgH="209550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1895" y="2482022"/>
                          <a:ext cx="749300" cy="452437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FF">
                              <a:alpha val="0"/>
                            </a:srgbClr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64D5C2ED-8785-D275-990B-2B1471CD9673}"/>
              </a:ext>
            </a:extLst>
          </p:cNvPr>
          <p:cNvGrpSpPr>
            <a:grpSpLocks/>
          </p:cNvGrpSpPr>
          <p:nvPr/>
        </p:nvGrpSpPr>
        <p:grpSpPr bwMode="auto">
          <a:xfrm>
            <a:off x="617538" y="3081338"/>
            <a:ext cx="7394575" cy="779462"/>
            <a:chOff x="129339" y="2857500"/>
            <a:chExt cx="7394990" cy="779463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DC01F10-8605-0BD2-AAE8-81D45FA0A6B2}"/>
                </a:ext>
              </a:extLst>
            </p:cNvPr>
            <p:cNvSpPr txBox="1"/>
            <p:nvPr/>
          </p:nvSpPr>
          <p:spPr>
            <a:xfrm>
              <a:off x="129339" y="3027362"/>
              <a:ext cx="7394990" cy="46196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代入运动学方程得                              ，得</a:t>
              </a:r>
              <a:endPara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aphicFrame>
          <p:nvGraphicFramePr>
            <p:cNvPr id="13328" name="Object 35">
              <a:extLst>
                <a:ext uri="{FF2B5EF4-FFF2-40B4-BE49-F238E27FC236}">
                  <a16:creationId xmlns:a16="http://schemas.microsoft.com/office/drawing/2014/main" id="{47B3E2EA-131E-1954-85D6-CFFDE56E6B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77837" y="3094302"/>
            <a:ext cx="2028825" cy="401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047853" imgH="180975" progId="Equation.DSMT4">
                    <p:embed/>
                  </p:oleObj>
                </mc:Choice>
                <mc:Fallback>
                  <p:oleObj name="Equation" r:id="rId10" imgW="1047853" imgH="180975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7837" y="3094302"/>
                          <a:ext cx="2028825" cy="40163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FF">
                              <a:alpha val="0"/>
                            </a:srgbClr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9" name="Object 35">
              <a:extLst>
                <a:ext uri="{FF2B5EF4-FFF2-40B4-BE49-F238E27FC236}">
                  <a16:creationId xmlns:a16="http://schemas.microsoft.com/office/drawing/2014/main" id="{5424BF94-EB99-AC62-89AA-E3B7779A1E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62625" y="2857500"/>
            <a:ext cx="1497013" cy="779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61882" imgH="371475" progId="Equation.DSMT4">
                    <p:embed/>
                  </p:oleObj>
                </mc:Choice>
                <mc:Fallback>
                  <p:oleObj name="Equation" r:id="rId12" imgW="761882" imgH="371475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2625" y="2857500"/>
                          <a:ext cx="1497013" cy="779463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FF">
                              <a:alpha val="0"/>
                            </a:srgbClr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9EA77444-4636-3B1C-DA71-EF090BE2DAD5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859213"/>
            <a:ext cx="7394575" cy="779462"/>
            <a:chOff x="129339" y="3480437"/>
            <a:chExt cx="7394990" cy="779462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492194D-D353-D6FF-2E8F-8075B3BF83DA}"/>
                </a:ext>
              </a:extLst>
            </p:cNvPr>
            <p:cNvSpPr txBox="1"/>
            <p:nvPr/>
          </p:nvSpPr>
          <p:spPr>
            <a:xfrm>
              <a:off x="129339" y="3639187"/>
              <a:ext cx="7394990" cy="46196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dirty="0">
                  <a:solidFill>
                    <a:srgbClr val="C00000"/>
                  </a:solidFill>
                </a:rPr>
                <a:t>根据            这一条件可得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，</a:t>
              </a:r>
              <a:endPara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aphicFrame>
          <p:nvGraphicFramePr>
            <p:cNvPr id="13325" name="Object 35">
              <a:extLst>
                <a:ext uri="{FF2B5EF4-FFF2-40B4-BE49-F238E27FC236}">
                  <a16:creationId xmlns:a16="http://schemas.microsoft.com/office/drawing/2014/main" id="{1CBCFD6B-367A-FB8C-D682-BAC959A67C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74206" y="3666611"/>
            <a:ext cx="749300" cy="452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71409" imgH="209550" progId="Equation.DSMT4">
                    <p:embed/>
                  </p:oleObj>
                </mc:Choice>
                <mc:Fallback>
                  <p:oleObj name="Equation" r:id="rId14" imgW="371409" imgH="209550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4206" y="3666611"/>
                          <a:ext cx="749300" cy="452437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FF">
                              <a:alpha val="0"/>
                            </a:srgbClr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6" name="Object 35">
              <a:extLst>
                <a:ext uri="{FF2B5EF4-FFF2-40B4-BE49-F238E27FC236}">
                  <a16:creationId xmlns:a16="http://schemas.microsoft.com/office/drawing/2014/main" id="{AD13B46D-84BE-A585-250B-F2F516014B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92249" y="3480437"/>
            <a:ext cx="796925" cy="779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400006" imgH="371475" progId="Equation.DSMT4">
                    <p:embed/>
                  </p:oleObj>
                </mc:Choice>
                <mc:Fallback>
                  <p:oleObj name="Equation" r:id="rId16" imgW="400006" imgH="371475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249" y="3480437"/>
                          <a:ext cx="796925" cy="77946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FF">
                              <a:alpha val="0"/>
                            </a:srgbClr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AD92DA4A-AFED-015B-220D-D44711A9AC99}"/>
              </a:ext>
            </a:extLst>
          </p:cNvPr>
          <p:cNvSpPr txBox="1"/>
          <p:nvPr/>
        </p:nvSpPr>
        <p:spPr>
          <a:xfrm>
            <a:off x="582613" y="4643438"/>
            <a:ext cx="739457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由此得到运动学方程和速度：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25" name="Object 35">
            <a:extLst>
              <a:ext uri="{FF2B5EF4-FFF2-40B4-BE49-F238E27FC236}">
                <a16:creationId xmlns:a16="http://schemas.microsoft.com/office/drawing/2014/main" id="{8F251995-3C4A-F2A0-06A5-DBA987ECA5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5488" y="4994275"/>
          <a:ext cx="295275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43182" imgH="371475" progId="Equation.DSMT4">
                  <p:embed/>
                </p:oleObj>
              </mc:Choice>
              <mc:Fallback>
                <p:oleObj name="Equation" r:id="rId18" imgW="1543182" imgH="371475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488" y="4994275"/>
                        <a:ext cx="2952750" cy="8334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5">
            <a:extLst>
              <a:ext uri="{FF2B5EF4-FFF2-40B4-BE49-F238E27FC236}">
                <a16:creationId xmlns:a16="http://schemas.microsoft.com/office/drawing/2014/main" id="{A8DD8594-3912-8A9C-6866-BFE106F72A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40088" y="5799138"/>
          <a:ext cx="3625850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895526" imgH="371475" progId="Equation.DSMT4">
                  <p:embed/>
                </p:oleObj>
              </mc:Choice>
              <mc:Fallback>
                <p:oleObj name="Equation" r:id="rId20" imgW="1895526" imgH="371475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088" y="5799138"/>
                        <a:ext cx="3625850" cy="83343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99" name="Picture 11">
            <a:extLst>
              <a:ext uri="{FF2B5EF4-FFF2-40B4-BE49-F238E27FC236}">
                <a16:creationId xmlns:a16="http://schemas.microsoft.com/office/drawing/2014/main" id="{276F5E67-3F29-0DA9-560E-225D8F164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2303463"/>
            <a:ext cx="8591550" cy="2355850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6888887-3A1A-0FB8-7DB9-5ECE119DCCB7}"/>
              </a:ext>
            </a:extLst>
          </p:cNvPr>
          <p:cNvSpPr txBox="1"/>
          <p:nvPr/>
        </p:nvSpPr>
        <p:spPr>
          <a:xfrm>
            <a:off x="142875" y="188913"/>
            <a:ext cx="885825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200" dirty="0"/>
              <a:t>教材例题</a:t>
            </a:r>
            <a:r>
              <a:rPr lang="en-US" altLang="zh-CN" sz="2200" dirty="0"/>
              <a:t>7.1  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）若物体在平衡位置并向</a:t>
            </a:r>
            <a:r>
              <a:rPr lang="en-US" altLang="zh-CN" sz="2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轴负方向运动时刻开始计时，试求初相和由起始位置到</a:t>
            </a:r>
            <a:r>
              <a:rPr lang="en-US" altLang="zh-CN" sz="2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=-8cm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处所需的最短时间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grpSp>
        <p:nvGrpSpPr>
          <p:cNvPr id="14339" name="组合 4">
            <a:extLst>
              <a:ext uri="{FF2B5EF4-FFF2-40B4-BE49-F238E27FC236}">
                <a16:creationId xmlns:a16="http://schemas.microsoft.com/office/drawing/2014/main" id="{081AB97D-CC8E-FDA3-6071-824639F2396F}"/>
              </a:ext>
            </a:extLst>
          </p:cNvPr>
          <p:cNvGrpSpPr>
            <a:grpSpLocks/>
          </p:cNvGrpSpPr>
          <p:nvPr/>
        </p:nvGrpSpPr>
        <p:grpSpPr bwMode="auto">
          <a:xfrm>
            <a:off x="166688" y="1003300"/>
            <a:ext cx="8977312" cy="449263"/>
            <a:chOff x="167477" y="1003708"/>
            <a:chExt cx="8976524" cy="448287"/>
          </a:xfrm>
        </p:grpSpPr>
        <p:grpSp>
          <p:nvGrpSpPr>
            <p:cNvPr id="14355" name="组合 8">
              <a:extLst>
                <a:ext uri="{FF2B5EF4-FFF2-40B4-BE49-F238E27FC236}">
                  <a16:creationId xmlns:a16="http://schemas.microsoft.com/office/drawing/2014/main" id="{34B21847-8CC4-1A14-C06B-2E2821A8ED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477" y="1003708"/>
              <a:ext cx="8365391" cy="430862"/>
              <a:chOff x="179512" y="1858721"/>
              <a:chExt cx="8934346" cy="430862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827075A-C0DC-7E68-0113-79C78FF4CC1F}"/>
                  </a:ext>
                </a:extLst>
              </p:cNvPr>
              <p:cNvSpPr txBox="1"/>
              <p:nvPr/>
            </p:nvSpPr>
            <p:spPr>
              <a:xfrm>
                <a:off x="179512" y="1858721"/>
                <a:ext cx="8934346" cy="43086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zh-CN" altLang="en-US" sz="2200" dirty="0"/>
                  <a:t>解： </a:t>
                </a:r>
                <a:r>
                  <a:rPr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设物体的运动学方向为                                </a:t>
                </a:r>
                <a:endParaRPr lang="en-US" altLang="zh-CN" sz="22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graphicFrame>
            <p:nvGraphicFramePr>
              <p:cNvPr id="14358" name="Object 35">
                <a:extLst>
                  <a:ext uri="{FF2B5EF4-FFF2-40B4-BE49-F238E27FC236}">
                    <a16:creationId xmlns:a16="http://schemas.microsoft.com/office/drawing/2014/main" id="{CF32736B-3365-2F1A-3EC2-8FC4E056ABE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67944" y="1893546"/>
              <a:ext cx="2376263" cy="3955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238147" imgH="180975" progId="Equation.DSMT4">
                      <p:embed/>
                    </p:oleObj>
                  </mc:Choice>
                  <mc:Fallback>
                    <p:oleObj name="Equation" r:id="rId2" imgW="1238147" imgH="180975" progId="Equation.DSMT4">
                      <p:embed/>
                      <p:pic>
                        <p:nvPicPr>
                          <p:cNvPr id="0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67944" y="1893546"/>
                            <a:ext cx="2376263" cy="39559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FFFFFF">
                                <a:alpha val="0"/>
                              </a:srgbClr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FDEF940-4AC1-C717-7BE1-1763874731D0}"/>
                </a:ext>
              </a:extLst>
            </p:cNvPr>
            <p:cNvSpPr txBox="1"/>
            <p:nvPr/>
          </p:nvSpPr>
          <p:spPr>
            <a:xfrm>
              <a:off x="6032774" y="1021133"/>
              <a:ext cx="3111227" cy="43086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当</a:t>
              </a:r>
              <a:r>
                <a:rPr lang="en-US" altLang="zh-CN" sz="2200" i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</a:t>
              </a:r>
              <a:r>
                <a:rPr lang="en-US" altLang="zh-CN" sz="2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=0</a:t>
              </a:r>
              <a:r>
                <a:rPr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时，</a:t>
              </a:r>
              <a:r>
                <a:rPr lang="en-US" altLang="zh-CN" sz="2200" i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x</a:t>
              </a:r>
              <a:r>
                <a:rPr lang="en-US" altLang="zh-CN" sz="2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=0</a:t>
              </a:r>
              <a:r>
                <a:rPr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，代入得</a:t>
              </a:r>
              <a:endPara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FDFDE5C-1B87-EB61-0427-D7C9FD57F0BE}"/>
              </a:ext>
            </a:extLst>
          </p:cNvPr>
          <p:cNvGrpSpPr>
            <a:grpSpLocks/>
          </p:cNvGrpSpPr>
          <p:nvPr/>
        </p:nvGrpSpPr>
        <p:grpSpPr bwMode="auto">
          <a:xfrm>
            <a:off x="2555875" y="1538288"/>
            <a:ext cx="4537075" cy="481012"/>
            <a:chOff x="539552" y="1504244"/>
            <a:chExt cx="4536505" cy="480131"/>
          </a:xfrm>
        </p:grpSpPr>
        <p:graphicFrame>
          <p:nvGraphicFramePr>
            <p:cNvPr id="14352" name="Object 35">
              <a:extLst>
                <a:ext uri="{FF2B5EF4-FFF2-40B4-BE49-F238E27FC236}">
                  <a16:creationId xmlns:a16="http://schemas.microsoft.com/office/drawing/2014/main" id="{BBD2EC7F-45E0-75C1-018F-3C6ABB413B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9552" y="1554163"/>
            <a:ext cx="1504950" cy="430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828609" imgH="180975" progId="Equation.DSMT4">
                    <p:embed/>
                  </p:oleObj>
                </mc:Choice>
                <mc:Fallback>
                  <p:oleObj name="Equation" r:id="rId4" imgW="828609" imgH="180975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552" y="1554163"/>
                          <a:ext cx="1504950" cy="43021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FF">
                              <a:alpha val="0"/>
                            </a:srgbClr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3" name="文本框 18">
              <a:extLst>
                <a:ext uri="{FF2B5EF4-FFF2-40B4-BE49-F238E27FC236}">
                  <a16:creationId xmlns:a16="http://schemas.microsoft.com/office/drawing/2014/main" id="{2B0C5F61-FF8F-3F26-8975-A534A53342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9753" y="1515048"/>
              <a:ext cx="2736304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200">
                  <a:solidFill>
                    <a:schemeClr val="tx1"/>
                  </a:solidFill>
                </a:rPr>
                <a:t>所以</a:t>
              </a:r>
              <a:endParaRPr lang="en-US" altLang="zh-CN" sz="2200">
                <a:solidFill>
                  <a:schemeClr val="tx1"/>
                </a:solidFill>
              </a:endParaRPr>
            </a:p>
          </p:txBody>
        </p:sp>
        <p:graphicFrame>
          <p:nvGraphicFramePr>
            <p:cNvPr id="14354" name="Object 35">
              <a:extLst>
                <a:ext uri="{FF2B5EF4-FFF2-40B4-BE49-F238E27FC236}">
                  <a16:creationId xmlns:a16="http://schemas.microsoft.com/office/drawing/2014/main" id="{A4A012E1-B72E-F0FA-6429-C620C6BA7C8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38721" y="1504244"/>
            <a:ext cx="1011237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52524" imgH="190500" progId="Equation.DSMT4">
                    <p:embed/>
                  </p:oleObj>
                </mc:Choice>
                <mc:Fallback>
                  <p:oleObj name="Equation" r:id="rId6" imgW="552524" imgH="190500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8721" y="1504244"/>
                          <a:ext cx="1011237" cy="45720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FF">
                              <a:alpha val="0"/>
                            </a:srgbClr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E4B9868-059E-93C7-DC67-E77178363169}"/>
              </a:ext>
            </a:extLst>
          </p:cNvPr>
          <p:cNvGrpSpPr>
            <a:grpSpLocks/>
          </p:cNvGrpSpPr>
          <p:nvPr/>
        </p:nvGrpSpPr>
        <p:grpSpPr bwMode="auto">
          <a:xfrm>
            <a:off x="730250" y="2063750"/>
            <a:ext cx="6156325" cy="504825"/>
            <a:chOff x="503550" y="1922691"/>
            <a:chExt cx="6156682" cy="505212"/>
          </a:xfrm>
        </p:grpSpPr>
        <p:sp>
          <p:nvSpPr>
            <p:cNvPr id="14349" name="文本框 21">
              <a:extLst>
                <a:ext uri="{FF2B5EF4-FFF2-40B4-BE49-F238E27FC236}">
                  <a16:creationId xmlns:a16="http://schemas.microsoft.com/office/drawing/2014/main" id="{F3CF4BB6-375C-8AF9-A57A-A349FA4F06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550" y="1922691"/>
              <a:ext cx="6156682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200">
                  <a:solidFill>
                    <a:schemeClr val="tx1"/>
                  </a:solidFill>
                </a:rPr>
                <a:t>根据</a:t>
              </a:r>
              <a:r>
                <a:rPr lang="en-US" altLang="zh-CN" sz="2200" i="1">
                  <a:solidFill>
                    <a:schemeClr val="tx1"/>
                  </a:solidFill>
                </a:rPr>
                <a:t>t</a:t>
              </a:r>
              <a:r>
                <a:rPr lang="en-US" altLang="zh-CN" sz="2200">
                  <a:solidFill>
                    <a:schemeClr val="tx1"/>
                  </a:solidFill>
                </a:rPr>
                <a:t>=0</a:t>
              </a:r>
              <a:r>
                <a:rPr lang="zh-CN" altLang="en-US" sz="2200">
                  <a:solidFill>
                    <a:schemeClr val="tx1"/>
                  </a:solidFill>
                </a:rPr>
                <a:t>时，          这一条件，只能取</a:t>
              </a:r>
              <a:endParaRPr lang="en-US" altLang="zh-CN" sz="2200">
                <a:solidFill>
                  <a:schemeClr val="tx1"/>
                </a:solidFill>
              </a:endParaRPr>
            </a:p>
          </p:txBody>
        </p:sp>
        <p:graphicFrame>
          <p:nvGraphicFramePr>
            <p:cNvPr id="14350" name="Object 35">
              <a:extLst>
                <a:ext uri="{FF2B5EF4-FFF2-40B4-BE49-F238E27FC236}">
                  <a16:creationId xmlns:a16="http://schemas.microsoft.com/office/drawing/2014/main" id="{D3596DEA-A722-F368-1085-8E32829655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9043" y="1943715"/>
            <a:ext cx="696913" cy="484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71409" imgH="209550" progId="Equation.DSMT4">
                    <p:embed/>
                  </p:oleObj>
                </mc:Choice>
                <mc:Fallback>
                  <p:oleObj name="Equation" r:id="rId8" imgW="371409" imgH="209550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9043" y="1943715"/>
                          <a:ext cx="696913" cy="48418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FF">
                              <a:alpha val="0"/>
                            </a:srgbClr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1" name="Object 35">
              <a:extLst>
                <a:ext uri="{FF2B5EF4-FFF2-40B4-BE49-F238E27FC236}">
                  <a16:creationId xmlns:a16="http://schemas.microsoft.com/office/drawing/2014/main" id="{846E23F7-43F7-A795-E142-D5881D6ABA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06221" y="2024317"/>
            <a:ext cx="584200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04682" imgH="142875" progId="Equation.DSMT4">
                    <p:embed/>
                  </p:oleObj>
                </mc:Choice>
                <mc:Fallback>
                  <p:oleObj name="Equation" r:id="rId10" imgW="304682" imgH="142875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6221" y="2024317"/>
                          <a:ext cx="584200" cy="34925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FF">
                              <a:alpha val="0"/>
                            </a:srgbClr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7FE8CA4-4D3C-098B-F55E-A4EC9FEF4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" y="2647950"/>
            <a:ext cx="615632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200">
                <a:solidFill>
                  <a:schemeClr val="tx1"/>
                </a:solidFill>
              </a:rPr>
              <a:t>运动学方程为</a:t>
            </a:r>
            <a:endParaRPr lang="en-US" altLang="zh-CN" sz="2200">
              <a:solidFill>
                <a:schemeClr val="tx1"/>
              </a:solidFill>
            </a:endParaRPr>
          </a:p>
        </p:txBody>
      </p:sp>
      <p:graphicFrame>
        <p:nvGraphicFramePr>
          <p:cNvPr id="27" name="Object 35">
            <a:extLst>
              <a:ext uri="{FF2B5EF4-FFF2-40B4-BE49-F238E27FC236}">
                <a16:creationId xmlns:a16="http://schemas.microsoft.com/office/drawing/2014/main" id="{5783AAB2-9211-A1BB-B568-92636066A3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8263" y="2528888"/>
          <a:ext cx="2905125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14585" imgH="371475" progId="Equation.DSMT4">
                  <p:embed/>
                </p:oleObj>
              </mc:Choice>
              <mc:Fallback>
                <p:oleObj name="Equation" r:id="rId12" imgW="1514585" imgH="371475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263" y="2528888"/>
                        <a:ext cx="2905125" cy="7223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A0C1A72C-0780-FFD7-493D-DEBB79F4E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176588"/>
            <a:ext cx="7294562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200">
                <a:solidFill>
                  <a:srgbClr val="C00000"/>
                </a:solidFill>
              </a:rPr>
              <a:t>可见，同一振动不同起始计时时刻，有不同的初相位。</a:t>
            </a:r>
            <a:endParaRPr lang="en-US" altLang="zh-CN" sz="2200">
              <a:solidFill>
                <a:srgbClr val="C0000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27B6C00-2706-ACD7-FF98-F01A070DE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649663"/>
            <a:ext cx="61563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200">
                <a:solidFill>
                  <a:schemeClr val="tx1"/>
                </a:solidFill>
              </a:rPr>
              <a:t>设起始</a:t>
            </a:r>
            <a:r>
              <a:rPr lang="en-US" altLang="zh-CN" sz="2200" i="1">
                <a:solidFill>
                  <a:schemeClr val="tx1"/>
                </a:solidFill>
              </a:rPr>
              <a:t>x</a:t>
            </a:r>
            <a:r>
              <a:rPr lang="en-US" altLang="zh-CN" sz="2200">
                <a:solidFill>
                  <a:schemeClr val="tx1"/>
                </a:solidFill>
              </a:rPr>
              <a:t>=0</a:t>
            </a:r>
            <a:r>
              <a:rPr lang="zh-CN" altLang="en-US" sz="2200">
                <a:solidFill>
                  <a:schemeClr val="tx1"/>
                </a:solidFill>
              </a:rPr>
              <a:t>到</a:t>
            </a:r>
            <a:r>
              <a:rPr lang="en-US" altLang="zh-CN" sz="2200" i="1">
                <a:solidFill>
                  <a:schemeClr val="tx1"/>
                </a:solidFill>
              </a:rPr>
              <a:t>x</a:t>
            </a:r>
            <a:r>
              <a:rPr lang="en-US" altLang="zh-CN" sz="2200">
                <a:solidFill>
                  <a:schemeClr val="tx1"/>
                </a:solidFill>
              </a:rPr>
              <a:t>=-8cm</a:t>
            </a:r>
            <a:r>
              <a:rPr lang="zh-CN" altLang="en-US" sz="2200">
                <a:solidFill>
                  <a:schemeClr val="tx1"/>
                </a:solidFill>
              </a:rPr>
              <a:t>所需的最短时间为</a:t>
            </a:r>
            <a:r>
              <a:rPr lang="en-US" altLang="zh-CN" sz="2200" i="1">
                <a:solidFill>
                  <a:schemeClr val="tx1"/>
                </a:solidFill>
              </a:rPr>
              <a:t>t</a:t>
            </a:r>
            <a:r>
              <a:rPr lang="en-US" altLang="zh-CN" sz="2200">
                <a:solidFill>
                  <a:schemeClr val="tx1"/>
                </a:solidFill>
              </a:rPr>
              <a:t>’,</a:t>
            </a:r>
            <a:r>
              <a:rPr lang="zh-CN" altLang="en-US" sz="2200">
                <a:solidFill>
                  <a:schemeClr val="tx1"/>
                </a:solidFill>
              </a:rPr>
              <a:t>则</a:t>
            </a:r>
            <a:endParaRPr lang="en-US" altLang="zh-CN" sz="2200">
              <a:solidFill>
                <a:schemeClr val="tx1"/>
              </a:solidFill>
            </a:endParaRPr>
          </a:p>
        </p:txBody>
      </p:sp>
      <p:graphicFrame>
        <p:nvGraphicFramePr>
          <p:cNvPr id="30" name="Object 35">
            <a:extLst>
              <a:ext uri="{FF2B5EF4-FFF2-40B4-BE49-F238E27FC236}">
                <a16:creationId xmlns:a16="http://schemas.microsoft.com/office/drawing/2014/main" id="{FA8AACA6-BFD1-579A-C839-3DBD11486F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0475" y="4079875"/>
          <a:ext cx="31940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66750" imgH="371475" progId="Equation.DSMT4">
                  <p:embed/>
                </p:oleObj>
              </mc:Choice>
              <mc:Fallback>
                <p:oleObj name="Equation" r:id="rId14" imgW="1666750" imgH="371475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475" y="4079875"/>
                        <a:ext cx="3194050" cy="7556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5">
            <a:extLst>
              <a:ext uri="{FF2B5EF4-FFF2-40B4-BE49-F238E27FC236}">
                <a16:creationId xmlns:a16="http://schemas.microsoft.com/office/drawing/2014/main" id="{ADB24B5D-E270-4AF5-E2BF-22C1C9DBCD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56025" y="5849938"/>
          <a:ext cx="81597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9538" imgH="180975" progId="Equation.DSMT4">
                  <p:embed/>
                </p:oleObj>
              </mc:Choice>
              <mc:Fallback>
                <p:oleObj name="Equation" r:id="rId16" imgW="409538" imgH="180975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6025" y="5849938"/>
                        <a:ext cx="815975" cy="3873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5">
            <a:extLst>
              <a:ext uri="{FF2B5EF4-FFF2-40B4-BE49-F238E27FC236}">
                <a16:creationId xmlns:a16="http://schemas.microsoft.com/office/drawing/2014/main" id="{41EA6CE5-C263-E1FF-1D6E-D13B06CDF6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1588" y="4926013"/>
          <a:ext cx="3170237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57218" imgH="371475" progId="Equation.DSMT4">
                  <p:embed/>
                </p:oleObj>
              </mc:Choice>
              <mc:Fallback>
                <p:oleObj name="Equation" r:id="rId18" imgW="1657218" imgH="371475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8" y="4926013"/>
                        <a:ext cx="3170237" cy="7350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3">
            <a:extLst>
              <a:ext uri="{FF2B5EF4-FFF2-40B4-BE49-F238E27FC236}">
                <a16:creationId xmlns:a16="http://schemas.microsoft.com/office/drawing/2014/main" id="{19DCD24A-D36D-17DC-E3C1-88AD5CD67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919163"/>
            <a:ext cx="2976563" cy="206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1B1EEEB-93E8-D2C7-3192-23993F588102}"/>
              </a:ext>
            </a:extLst>
          </p:cNvPr>
          <p:cNvSpPr txBox="1"/>
          <p:nvPr/>
        </p:nvSpPr>
        <p:spPr>
          <a:xfrm>
            <a:off x="142875" y="188913"/>
            <a:ext cx="8858250" cy="4302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200" dirty="0"/>
              <a:t>教材例题</a:t>
            </a:r>
            <a:r>
              <a:rPr lang="en-US" altLang="zh-CN" sz="2200" dirty="0"/>
              <a:t>7.3  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如图所示为一谐振动的位移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时间曲线，求振动方程。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B29687D-02DA-872F-40F7-AFC900730423}"/>
              </a:ext>
            </a:extLst>
          </p:cNvPr>
          <p:cNvGrpSpPr>
            <a:grpSpLocks/>
          </p:cNvGrpSpPr>
          <p:nvPr/>
        </p:nvGrpSpPr>
        <p:grpSpPr bwMode="auto">
          <a:xfrm>
            <a:off x="142875" y="669925"/>
            <a:ext cx="6289675" cy="447675"/>
            <a:chOff x="179512" y="1858720"/>
            <a:chExt cx="6290408" cy="448955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E6A0417-91D4-ECB9-0BA2-C217418AA2F7}"/>
                </a:ext>
              </a:extLst>
            </p:cNvPr>
            <p:cNvSpPr txBox="1"/>
            <p:nvPr/>
          </p:nvSpPr>
          <p:spPr>
            <a:xfrm>
              <a:off x="179512" y="1858720"/>
              <a:ext cx="6290408" cy="43144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200" dirty="0"/>
                <a:t>解： </a:t>
              </a:r>
              <a:r>
                <a:rPr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设物体的运动学方程为</a:t>
              </a:r>
              <a:endPara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aphicFrame>
          <p:nvGraphicFramePr>
            <p:cNvPr id="15380" name="Object 35">
              <a:extLst>
                <a:ext uri="{FF2B5EF4-FFF2-40B4-BE49-F238E27FC236}">
                  <a16:creationId xmlns:a16="http://schemas.microsoft.com/office/drawing/2014/main" id="{0FDCE5C4-3197-9D2C-7AA7-85D45CF10C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4671" y="1875341"/>
            <a:ext cx="2425788" cy="432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6744" imgH="190500" progId="Equation.DSMT4">
                    <p:embed/>
                  </p:oleObj>
                </mc:Choice>
                <mc:Fallback>
                  <p:oleObj name="Equation" r:id="rId4" imgW="1266744" imgH="190500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671" y="1875341"/>
                          <a:ext cx="2425788" cy="43233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FF">
                              <a:alpha val="0"/>
                            </a:srgbClr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882F8D65-94A9-9536-96E3-FD87D829A77F}"/>
              </a:ext>
            </a:extLst>
          </p:cNvPr>
          <p:cNvSpPr txBox="1"/>
          <p:nvPr/>
        </p:nvSpPr>
        <p:spPr bwMode="auto">
          <a:xfrm>
            <a:off x="142875" y="1185863"/>
            <a:ext cx="6289675" cy="4302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由图知 </a:t>
            </a:r>
            <a:r>
              <a:rPr lang="en-US" altLang="zh-CN" sz="2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=6 cm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，</a:t>
            </a:r>
            <a:r>
              <a:rPr lang="en-US" altLang="zh-CN" sz="2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=0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时，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12" name="Object 35">
            <a:extLst>
              <a:ext uri="{FF2B5EF4-FFF2-40B4-BE49-F238E27FC236}">
                <a16:creationId xmlns:a16="http://schemas.microsoft.com/office/drawing/2014/main" id="{4325E5A2-28E4-E3D5-104C-17841A4803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713" y="1220788"/>
          <a:ext cx="11763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718" imgH="209550" progId="Equation.DSMT4">
                  <p:embed/>
                </p:oleObj>
              </mc:Choice>
              <mc:Fallback>
                <p:oleObj name="Equation" r:id="rId6" imgW="609718" imgH="20955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1220788"/>
                        <a:ext cx="1176337" cy="4191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109AA000-F754-09E9-8806-9B6DD386AC8F}"/>
              </a:ext>
            </a:extLst>
          </p:cNvPr>
          <p:cNvSpPr txBox="1"/>
          <p:nvPr/>
        </p:nvSpPr>
        <p:spPr bwMode="auto">
          <a:xfrm>
            <a:off x="196850" y="1677988"/>
            <a:ext cx="6291263" cy="4302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代入运动学方程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15" name="Object 35">
            <a:extLst>
              <a:ext uri="{FF2B5EF4-FFF2-40B4-BE49-F238E27FC236}">
                <a16:creationId xmlns:a16="http://schemas.microsoft.com/office/drawing/2014/main" id="{11E6986D-37E8-7E67-6ED4-4EA0D711F9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8763" y="1695450"/>
          <a:ext cx="16319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47674" imgH="209550" progId="Equation.DSMT4">
                  <p:embed/>
                </p:oleObj>
              </mc:Choice>
              <mc:Fallback>
                <p:oleObj name="Equation" r:id="rId8" imgW="847674" imgH="20955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63" y="1695450"/>
                        <a:ext cx="1631950" cy="4191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5">
            <a:extLst>
              <a:ext uri="{FF2B5EF4-FFF2-40B4-BE49-F238E27FC236}">
                <a16:creationId xmlns:a16="http://schemas.microsoft.com/office/drawing/2014/main" id="{ACFFBAAB-C51F-C6D7-8F0C-844EDF9C5D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3438" y="2176463"/>
          <a:ext cx="4124325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71612" imgH="381000" progId="Equation.DSMT4">
                  <p:embed/>
                </p:oleObj>
              </mc:Choice>
              <mc:Fallback>
                <p:oleObj name="Equation" r:id="rId10" imgW="2171612" imgH="3810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438" y="2176463"/>
                        <a:ext cx="4124325" cy="7223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B8734F56-7580-A46E-C8BF-3DCA22212D9F}"/>
              </a:ext>
            </a:extLst>
          </p:cNvPr>
          <p:cNvSpPr txBox="1"/>
          <p:nvPr/>
        </p:nvSpPr>
        <p:spPr bwMode="auto">
          <a:xfrm>
            <a:off x="109538" y="2998788"/>
            <a:ext cx="6289675" cy="4302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再由图知 </a:t>
            </a:r>
            <a:r>
              <a:rPr lang="en-US" altLang="zh-CN" sz="2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=1.5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时，</a:t>
            </a:r>
            <a:r>
              <a:rPr lang="en-US" altLang="zh-CN" sz="2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=3 cm, 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再代入运动学方程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19" name="Object 35">
            <a:extLst>
              <a:ext uri="{FF2B5EF4-FFF2-40B4-BE49-F238E27FC236}">
                <a16:creationId xmlns:a16="http://schemas.microsoft.com/office/drawing/2014/main" id="{0161B938-F3A9-429A-383F-A0167E8386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4425" y="3455988"/>
          <a:ext cx="3432175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00203" imgH="381000" progId="Equation.DSMT4">
                  <p:embed/>
                </p:oleObj>
              </mc:Choice>
              <mc:Fallback>
                <p:oleObj name="Equation" r:id="rId12" imgW="1800203" imgH="3810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3455988"/>
                        <a:ext cx="3432175" cy="7223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5">
            <a:extLst>
              <a:ext uri="{FF2B5EF4-FFF2-40B4-BE49-F238E27FC236}">
                <a16:creationId xmlns:a16="http://schemas.microsoft.com/office/drawing/2014/main" id="{1892518E-9620-2DCC-AF37-DB69F721EE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5963" y="3411538"/>
          <a:ext cx="1487487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71415" imgH="381000" progId="Equation.DSMT4">
                  <p:embed/>
                </p:oleObj>
              </mc:Choice>
              <mc:Fallback>
                <p:oleObj name="Equation" r:id="rId14" imgW="771415" imgH="3810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3411538"/>
                        <a:ext cx="1487487" cy="7223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E75EAF07-B843-8A5A-203F-B7BEB7AAEAFA}"/>
              </a:ext>
            </a:extLst>
          </p:cNvPr>
          <p:cNvSpPr txBox="1"/>
          <p:nvPr/>
        </p:nvSpPr>
        <p:spPr bwMode="auto">
          <a:xfrm>
            <a:off x="136525" y="4102100"/>
            <a:ext cx="6291263" cy="4302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由图知 </a:t>
            </a:r>
            <a:r>
              <a:rPr lang="en-US" altLang="zh-CN" sz="2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=1.5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时，</a:t>
            </a:r>
            <a:r>
              <a:rPr lang="en-US" altLang="zh-CN" sz="2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v&gt;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0, 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故只能取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24" name="Object 35">
            <a:extLst>
              <a:ext uri="{FF2B5EF4-FFF2-40B4-BE49-F238E27FC236}">
                <a16:creationId xmlns:a16="http://schemas.microsoft.com/office/drawing/2014/main" id="{56DE18ED-A2BE-A778-BBC9-510CBDA8A2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4050" y="3986213"/>
          <a:ext cx="911225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66732" imgH="381000" progId="Equation.DSMT4">
                  <p:embed/>
                </p:oleObj>
              </mc:Choice>
              <mc:Fallback>
                <p:oleObj name="Equation" r:id="rId16" imgW="466732" imgH="3810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050" y="3986213"/>
                        <a:ext cx="911225" cy="7223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5">
            <a:extLst>
              <a:ext uri="{FF2B5EF4-FFF2-40B4-BE49-F238E27FC236}">
                <a16:creationId xmlns:a16="http://schemas.microsoft.com/office/drawing/2014/main" id="{3133F3B2-5B05-04D5-A6AD-E1037A391E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9563" y="4605338"/>
          <a:ext cx="2038350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66918" imgH="381000" progId="Equation.DSMT4">
                  <p:embed/>
                </p:oleObj>
              </mc:Choice>
              <mc:Fallback>
                <p:oleObj name="Equation" r:id="rId18" imgW="1066918" imgH="3810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9563" y="4605338"/>
                        <a:ext cx="2038350" cy="7223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5">
            <a:extLst>
              <a:ext uri="{FF2B5EF4-FFF2-40B4-BE49-F238E27FC236}">
                <a16:creationId xmlns:a16="http://schemas.microsoft.com/office/drawing/2014/main" id="{DC3C80FB-3F07-206B-D5FA-46C1D58117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9600" y="4605338"/>
          <a:ext cx="887413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57200" imgH="381000" progId="Equation.DSMT4">
                  <p:embed/>
                </p:oleObj>
              </mc:Choice>
              <mc:Fallback>
                <p:oleObj name="Equation" r:id="rId20" imgW="457200" imgH="3810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9600" y="4605338"/>
                        <a:ext cx="887413" cy="7223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7B85742B-005D-F093-49B0-37DA3D84BCAF}"/>
              </a:ext>
            </a:extLst>
          </p:cNvPr>
          <p:cNvSpPr txBox="1"/>
          <p:nvPr/>
        </p:nvSpPr>
        <p:spPr bwMode="auto">
          <a:xfrm>
            <a:off x="274638" y="5313363"/>
            <a:ext cx="6289675" cy="4302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振动方程为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28" name="Object 35">
            <a:extLst>
              <a:ext uri="{FF2B5EF4-FFF2-40B4-BE49-F238E27FC236}">
                <a16:creationId xmlns:a16="http://schemas.microsoft.com/office/drawing/2014/main" id="{A98234D4-2350-DA96-3F7B-6E8099B7EF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5238" y="5489575"/>
          <a:ext cx="2840037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47685" imgH="381000" progId="Equation.DSMT4">
                  <p:embed/>
                </p:oleObj>
              </mc:Choice>
              <mc:Fallback>
                <p:oleObj name="Equation" r:id="rId22" imgW="1647685" imgH="3810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238" y="5489575"/>
                        <a:ext cx="2840037" cy="7540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8" grpId="0"/>
      <p:bldP spid="23" grpId="0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14CC21BC-D336-134F-0093-223898C69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620713"/>
            <a:ext cx="78787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tx1"/>
                </a:solidFill>
              </a:rPr>
              <a:t>证明系统是简谐振动和求系统固有振动频率</a:t>
            </a:r>
            <a:r>
              <a:rPr lang="zh-CN" altLang="en-US"/>
              <a:t>（本章重点）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28AD98-A3BD-4EC0-A964-12D0DD920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484313"/>
            <a:ext cx="7345362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Aft>
                <a:spcPts val="1200"/>
              </a:spcAft>
            </a:pPr>
            <a:r>
              <a:rPr lang="en-US" altLang="zh-CN">
                <a:solidFill>
                  <a:schemeClr val="tx1"/>
                </a:solidFill>
              </a:rPr>
              <a:t>1.</a:t>
            </a:r>
            <a:r>
              <a:rPr lang="zh-CN" altLang="en-US">
                <a:solidFill>
                  <a:schemeClr val="tx1"/>
                </a:solidFill>
              </a:rPr>
              <a:t>确定研究对象，建立坐标系，</a:t>
            </a:r>
            <a:r>
              <a:rPr lang="zh-CN" altLang="en-US"/>
              <a:t>受力或力矩分析</a:t>
            </a:r>
            <a:r>
              <a:rPr lang="zh-CN" altLang="en-US">
                <a:solidFill>
                  <a:schemeClr val="tx1"/>
                </a:solidFill>
              </a:rPr>
              <a:t>；</a:t>
            </a:r>
            <a:endParaRPr lang="en-US" altLang="zh-CN">
              <a:solidFill>
                <a:schemeClr val="tx1"/>
              </a:solidFill>
            </a:endParaRPr>
          </a:p>
          <a:p>
            <a:pPr eaLnBrk="1" hangingPunct="1">
              <a:spcAft>
                <a:spcPts val="1200"/>
              </a:spcAft>
            </a:pPr>
            <a:r>
              <a:rPr lang="en-US" altLang="zh-CN">
                <a:solidFill>
                  <a:schemeClr val="tx1"/>
                </a:solidFill>
              </a:rPr>
              <a:t>2.</a:t>
            </a:r>
            <a:r>
              <a:rPr lang="zh-CN" altLang="en-US">
                <a:solidFill>
                  <a:schemeClr val="tx1"/>
                </a:solidFill>
              </a:rPr>
              <a:t>由牛二定律或转动定律写</a:t>
            </a:r>
            <a:r>
              <a:rPr lang="zh-CN" altLang="en-US"/>
              <a:t>出动力学基本方程</a:t>
            </a:r>
            <a:r>
              <a:rPr lang="zh-CN" altLang="en-US">
                <a:solidFill>
                  <a:schemeClr val="tx1"/>
                </a:solidFill>
              </a:rPr>
              <a:t>；</a:t>
            </a:r>
            <a:endParaRPr lang="en-US" altLang="zh-CN">
              <a:solidFill>
                <a:schemeClr val="tx1"/>
              </a:solidFill>
            </a:endParaRPr>
          </a:p>
          <a:p>
            <a:pPr eaLnBrk="1" hangingPunct="1">
              <a:spcAft>
                <a:spcPts val="1200"/>
              </a:spcAft>
            </a:pPr>
            <a:r>
              <a:rPr lang="en-US" altLang="zh-CN">
                <a:solidFill>
                  <a:schemeClr val="tx1"/>
                </a:solidFill>
              </a:rPr>
              <a:t>3.</a:t>
            </a:r>
            <a:r>
              <a:rPr lang="zh-CN" altLang="en-US">
                <a:solidFill>
                  <a:schemeClr val="tx1"/>
                </a:solidFill>
              </a:rPr>
              <a:t>将动力学基本方程化为二阶常微分方程，将其与标准</a:t>
            </a:r>
            <a:r>
              <a:rPr lang="zh-CN" altLang="en-US"/>
              <a:t>振动微分方程</a:t>
            </a:r>
            <a:r>
              <a:rPr lang="zh-CN" altLang="en-US">
                <a:solidFill>
                  <a:schemeClr val="tx1"/>
                </a:solidFill>
              </a:rPr>
              <a:t>做比较，判定是否为简谐振动；</a:t>
            </a:r>
            <a:endParaRPr lang="en-US" altLang="zh-CN">
              <a:solidFill>
                <a:schemeClr val="tx1"/>
              </a:solidFill>
            </a:endParaRPr>
          </a:p>
          <a:p>
            <a:pPr eaLnBrk="1" hangingPunct="1">
              <a:spcAft>
                <a:spcPts val="1200"/>
              </a:spcAft>
            </a:pPr>
            <a:r>
              <a:rPr lang="en-US" altLang="zh-CN">
                <a:solidFill>
                  <a:schemeClr val="tx1"/>
                </a:solidFill>
              </a:rPr>
              <a:t>4.</a:t>
            </a:r>
            <a:r>
              <a:rPr lang="zh-CN" altLang="en-US">
                <a:solidFill>
                  <a:schemeClr val="tx1"/>
                </a:solidFill>
              </a:rPr>
              <a:t>由振动微分方程的常系数项写出振动角频率或周期；</a:t>
            </a:r>
            <a:endParaRPr lang="en-US" altLang="zh-CN">
              <a:solidFill>
                <a:schemeClr val="tx1"/>
              </a:solidFill>
            </a:endParaRPr>
          </a:p>
          <a:p>
            <a:pPr eaLnBrk="1" hangingPunct="1">
              <a:spcAft>
                <a:spcPts val="1200"/>
              </a:spcAft>
            </a:pPr>
            <a:r>
              <a:rPr lang="en-US" altLang="zh-CN">
                <a:solidFill>
                  <a:schemeClr val="tx1"/>
                </a:solidFill>
              </a:rPr>
              <a:t>5.</a:t>
            </a:r>
            <a:r>
              <a:rPr lang="zh-CN" altLang="en-US">
                <a:solidFill>
                  <a:schemeClr val="tx1"/>
                </a:solidFill>
              </a:rPr>
              <a:t>由</a:t>
            </a:r>
            <a:r>
              <a:rPr lang="en-US" altLang="zh-CN">
                <a:solidFill>
                  <a:schemeClr val="tx1"/>
                </a:solidFill>
              </a:rPr>
              <a:t>t=0</a:t>
            </a:r>
            <a:r>
              <a:rPr lang="zh-CN" altLang="en-US">
                <a:solidFill>
                  <a:schemeClr val="tx1"/>
                </a:solidFill>
              </a:rPr>
              <a:t>时的</a:t>
            </a:r>
            <a:r>
              <a:rPr lang="zh-CN" altLang="en-US"/>
              <a:t>初始条件</a:t>
            </a:r>
            <a:r>
              <a:rPr lang="en-US" altLang="zh-CN">
                <a:solidFill>
                  <a:schemeClr val="tx1"/>
                </a:solidFill>
              </a:rPr>
              <a:t>x(0)</a:t>
            </a:r>
            <a:r>
              <a:rPr lang="zh-CN" altLang="en-US">
                <a:solidFill>
                  <a:schemeClr val="tx1"/>
                </a:solidFill>
              </a:rPr>
              <a:t>和</a:t>
            </a:r>
            <a:r>
              <a:rPr lang="en-US" altLang="zh-CN">
                <a:solidFill>
                  <a:schemeClr val="tx1"/>
                </a:solidFill>
              </a:rPr>
              <a:t>v(0)</a:t>
            </a:r>
            <a:r>
              <a:rPr lang="zh-CN" altLang="en-US">
                <a:solidFill>
                  <a:schemeClr val="tx1"/>
                </a:solidFill>
              </a:rPr>
              <a:t>确定增幅和初相；</a:t>
            </a:r>
            <a:endParaRPr lang="en-US" altLang="zh-CN">
              <a:solidFill>
                <a:schemeClr val="tx1"/>
              </a:solidFill>
            </a:endParaRPr>
          </a:p>
          <a:p>
            <a:pPr eaLnBrk="1" hangingPunct="1">
              <a:spcAft>
                <a:spcPts val="1200"/>
              </a:spcAft>
            </a:pPr>
            <a:r>
              <a:rPr lang="en-US" altLang="zh-CN">
                <a:solidFill>
                  <a:schemeClr val="tx1"/>
                </a:solidFill>
              </a:rPr>
              <a:t>6.</a:t>
            </a:r>
            <a:r>
              <a:rPr lang="zh-CN" altLang="en-US">
                <a:solidFill>
                  <a:schemeClr val="tx1"/>
                </a:solidFill>
              </a:rPr>
              <a:t>比较</a:t>
            </a:r>
            <a:r>
              <a:rPr lang="zh-CN" altLang="en-US"/>
              <a:t>简谐振动运动学方程</a:t>
            </a:r>
            <a:r>
              <a:rPr lang="zh-CN" altLang="en-US">
                <a:solidFill>
                  <a:schemeClr val="tx1"/>
                </a:solidFill>
              </a:rPr>
              <a:t>的标准形式写出运动学方程。</a:t>
            </a:r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523" name="Group 51">
            <a:extLst>
              <a:ext uri="{FF2B5EF4-FFF2-40B4-BE49-F238E27FC236}">
                <a16:creationId xmlns:a16="http://schemas.microsoft.com/office/drawing/2014/main" id="{8B192156-3EE5-4453-5270-7B73CBED24F9}"/>
              </a:ext>
            </a:extLst>
          </p:cNvPr>
          <p:cNvGrpSpPr>
            <a:grpSpLocks/>
          </p:cNvGrpSpPr>
          <p:nvPr/>
        </p:nvGrpSpPr>
        <p:grpSpPr bwMode="auto">
          <a:xfrm>
            <a:off x="8124825" y="3467100"/>
            <a:ext cx="695325" cy="2770188"/>
            <a:chOff x="5073" y="2184"/>
            <a:chExt cx="438" cy="1745"/>
          </a:xfrm>
        </p:grpSpPr>
        <p:sp>
          <p:nvSpPr>
            <p:cNvPr id="18475" name="Text Box 5">
              <a:extLst>
                <a:ext uri="{FF2B5EF4-FFF2-40B4-BE49-F238E27FC236}">
                  <a16:creationId xmlns:a16="http://schemas.microsoft.com/office/drawing/2014/main" id="{CE68DE1C-8DA6-7FBD-6780-30EDC7CED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3" y="2184"/>
              <a:ext cx="264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500" i="1">
                  <a:solidFill>
                    <a:srgbClr val="800000"/>
                  </a:solidFill>
                </a:rPr>
                <a:t>O</a:t>
              </a:r>
            </a:p>
          </p:txBody>
        </p:sp>
        <p:sp>
          <p:nvSpPr>
            <p:cNvPr id="18476" name="Text Box 6">
              <a:extLst>
                <a:ext uri="{FF2B5EF4-FFF2-40B4-BE49-F238E27FC236}">
                  <a16:creationId xmlns:a16="http://schemas.microsoft.com/office/drawing/2014/main" id="{16F18878-70C8-A88E-96D5-ABE00A8A10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3" y="3602"/>
              <a:ext cx="2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>
                  <a:solidFill>
                    <a:srgbClr val="800000"/>
                  </a:solidFill>
                </a:rPr>
                <a:t>x</a:t>
              </a:r>
            </a:p>
          </p:txBody>
        </p:sp>
        <p:sp>
          <p:nvSpPr>
            <p:cNvPr id="18477" name="Line 8">
              <a:extLst>
                <a:ext uri="{FF2B5EF4-FFF2-40B4-BE49-F238E27FC236}">
                  <a16:creationId xmlns:a16="http://schemas.microsoft.com/office/drawing/2014/main" id="{CA1DAE2E-EFF6-7CEE-AFD2-D7864E28748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485" y="3129"/>
              <a:ext cx="1408" cy="9"/>
            </a:xfrm>
            <a:prstGeom prst="line">
              <a:avLst/>
            </a:prstGeom>
            <a:noFill/>
            <a:ln w="22225">
              <a:solidFill>
                <a:srgbClr val="8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8" name="Line 11">
              <a:extLst>
                <a:ext uri="{FF2B5EF4-FFF2-40B4-BE49-F238E27FC236}">
                  <a16:creationId xmlns:a16="http://schemas.microsoft.com/office/drawing/2014/main" id="{326DFD75-8D73-F623-2B86-F39A6D5A316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276" y="2288"/>
              <a:ext cx="0" cy="293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5497" name="Rectangle 25">
            <a:extLst>
              <a:ext uri="{FF2B5EF4-FFF2-40B4-BE49-F238E27FC236}">
                <a16:creationId xmlns:a16="http://schemas.microsoft.com/office/drawing/2014/main" id="{4C843739-64B5-A640-7629-B25C4091A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60350"/>
            <a:ext cx="8496300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zh-CN" altLang="en-US" sz="2300">
                <a:solidFill>
                  <a:srgbClr val="000066"/>
                </a:solidFill>
              </a:rPr>
              <a:t>例题</a:t>
            </a:r>
            <a:r>
              <a:rPr lang="en-US" altLang="zh-CN" sz="2300">
                <a:solidFill>
                  <a:srgbClr val="000066"/>
                </a:solidFill>
              </a:rPr>
              <a:t>1  </a:t>
            </a:r>
            <a:r>
              <a:rPr lang="zh-CN" altLang="en-US" sz="2300">
                <a:solidFill>
                  <a:srgbClr val="000066"/>
                </a:solidFill>
              </a:rPr>
              <a:t>一轻弹簧竖直悬挂， 下端重物质量</a:t>
            </a:r>
            <a:r>
              <a:rPr lang="zh-CN" altLang="en-US" sz="1500">
                <a:solidFill>
                  <a:srgbClr val="000080"/>
                </a:solidFill>
              </a:rPr>
              <a:t> </a:t>
            </a:r>
            <a:r>
              <a:rPr lang="en-US" altLang="zh-CN" sz="2600" i="1"/>
              <a:t>m</a:t>
            </a:r>
            <a:r>
              <a:rPr lang="en-US" altLang="zh-CN" sz="1500" i="1"/>
              <a:t> </a:t>
            </a:r>
            <a:r>
              <a:rPr lang="en-US" altLang="zh-CN" sz="2600"/>
              <a:t>=</a:t>
            </a:r>
            <a:r>
              <a:rPr lang="en-US" altLang="zh-CN" sz="1500"/>
              <a:t> </a:t>
            </a:r>
          </a:p>
          <a:p>
            <a:pPr algn="just">
              <a:lnSpc>
                <a:spcPct val="110000"/>
              </a:lnSpc>
            </a:pPr>
            <a:r>
              <a:rPr lang="en-US" altLang="zh-CN" sz="2600"/>
              <a:t>0.1kg</a:t>
            </a:r>
            <a:r>
              <a:rPr lang="zh-CN" altLang="en-US" sz="2300">
                <a:solidFill>
                  <a:srgbClr val="000066"/>
                </a:solidFill>
              </a:rPr>
              <a:t>，平衡时弹簧伸长</a:t>
            </a:r>
            <a:r>
              <a:rPr lang="zh-CN" altLang="en-US" sz="1500">
                <a:solidFill>
                  <a:srgbClr val="000080"/>
                </a:solidFill>
              </a:rPr>
              <a:t> </a:t>
            </a:r>
            <a:r>
              <a:rPr lang="en-US" altLang="zh-CN" sz="2600" i="1"/>
              <a:t>l</a:t>
            </a:r>
            <a:r>
              <a:rPr lang="en-US" altLang="zh-CN" sz="1500" i="1"/>
              <a:t> </a:t>
            </a:r>
            <a:r>
              <a:rPr lang="en-US" altLang="zh-CN" sz="2600"/>
              <a:t>=</a:t>
            </a:r>
            <a:r>
              <a:rPr lang="en-US" altLang="zh-CN" sz="1500"/>
              <a:t> </a:t>
            </a:r>
            <a:r>
              <a:rPr lang="en-US" altLang="zh-CN" sz="2600"/>
              <a:t>9.8 </a:t>
            </a:r>
            <a:r>
              <a:rPr lang="en-US" altLang="zh-CN" sz="2600">
                <a:sym typeface="Symbol" panose="05050102010706020507" pitchFamily="18" charset="2"/>
              </a:rPr>
              <a:t> </a:t>
            </a:r>
            <a:r>
              <a:rPr lang="en-US" altLang="zh-CN" sz="2600"/>
              <a:t>10</a:t>
            </a:r>
            <a:r>
              <a:rPr lang="en-US" altLang="zh-CN" sz="2600" baseline="30000"/>
              <a:t>-2</a:t>
            </a:r>
            <a:r>
              <a:rPr lang="en-US" altLang="zh-CN" sz="2000"/>
              <a:t> </a:t>
            </a:r>
            <a:r>
              <a:rPr lang="en-US" altLang="zh-CN" sz="2600"/>
              <a:t>m</a:t>
            </a:r>
            <a:r>
              <a:rPr lang="zh-CN" altLang="en-US" sz="2300">
                <a:solidFill>
                  <a:srgbClr val="000066"/>
                </a:solidFill>
              </a:rPr>
              <a:t>。今使</a:t>
            </a:r>
          </a:p>
          <a:p>
            <a:pPr algn="just">
              <a:lnSpc>
                <a:spcPct val="110000"/>
              </a:lnSpc>
            </a:pPr>
            <a:r>
              <a:rPr lang="zh-CN" altLang="en-US" sz="2300">
                <a:solidFill>
                  <a:srgbClr val="000066"/>
                </a:solidFill>
              </a:rPr>
              <a:t>物体在平衡位置获得向下的初速度 </a:t>
            </a:r>
            <a:r>
              <a:rPr lang="en-US" altLang="zh-CN" sz="2800" i="1"/>
              <a:t>v</a:t>
            </a:r>
            <a:r>
              <a:rPr lang="en-US" altLang="zh-CN" sz="2800" baseline="-25000"/>
              <a:t>0</a:t>
            </a:r>
            <a:r>
              <a:rPr lang="en-US" altLang="zh-CN" sz="2600" baseline="-25000"/>
              <a:t> </a:t>
            </a:r>
            <a:r>
              <a:rPr lang="en-US" altLang="zh-CN" sz="2600"/>
              <a:t>=</a:t>
            </a:r>
            <a:r>
              <a:rPr lang="en-US" altLang="zh-CN" sz="1500"/>
              <a:t> </a:t>
            </a:r>
            <a:r>
              <a:rPr lang="en-US" altLang="zh-CN" sz="2600"/>
              <a:t>1m.s</a:t>
            </a:r>
            <a:r>
              <a:rPr lang="en-US" altLang="zh-CN" sz="2600" baseline="30000"/>
              <a:t>-1</a:t>
            </a:r>
            <a:r>
              <a:rPr lang="en-US" altLang="zh-CN" sz="2600" baseline="30000">
                <a:solidFill>
                  <a:srgbClr val="000080"/>
                </a:solidFill>
              </a:rPr>
              <a:t> </a:t>
            </a:r>
            <a:r>
              <a:rPr lang="zh-CN" altLang="en-US">
                <a:solidFill>
                  <a:srgbClr val="000080"/>
                </a:solidFill>
              </a:rPr>
              <a:t>，</a:t>
            </a:r>
          </a:p>
          <a:p>
            <a:pPr algn="just">
              <a:lnSpc>
                <a:spcPct val="110000"/>
              </a:lnSpc>
            </a:pPr>
            <a:r>
              <a:rPr lang="zh-CN" altLang="en-US" sz="2300">
                <a:solidFill>
                  <a:srgbClr val="000066"/>
                </a:solidFill>
              </a:rPr>
              <a:t>则物体将在竖直方向运动。</a:t>
            </a:r>
            <a:r>
              <a:rPr lang="zh-CN" altLang="en-US">
                <a:solidFill>
                  <a:srgbClr val="000066"/>
                </a:solidFill>
              </a:rPr>
              <a:t> </a:t>
            </a:r>
          </a:p>
          <a:p>
            <a:pPr algn="just">
              <a:lnSpc>
                <a:spcPct val="110000"/>
              </a:lnSpc>
            </a:pPr>
            <a:r>
              <a:rPr lang="zh-CN" altLang="en-US">
                <a:solidFill>
                  <a:srgbClr val="000066"/>
                </a:solidFill>
              </a:rPr>
              <a:t>        </a:t>
            </a:r>
            <a:r>
              <a:rPr lang="zh-CN" altLang="en-US" sz="2300">
                <a:solidFill>
                  <a:srgbClr val="000066"/>
                </a:solidFill>
              </a:rPr>
              <a:t>求： </a:t>
            </a:r>
            <a:r>
              <a:rPr lang="en-US" altLang="zh-CN" sz="2300">
                <a:solidFill>
                  <a:srgbClr val="000066"/>
                </a:solidFill>
              </a:rPr>
              <a:t>(1) </a:t>
            </a:r>
            <a:r>
              <a:rPr lang="zh-CN" altLang="en-US" sz="2300">
                <a:solidFill>
                  <a:srgbClr val="000066"/>
                </a:solidFill>
              </a:rPr>
              <a:t>运动方程；</a:t>
            </a:r>
            <a:r>
              <a:rPr lang="en-US" altLang="zh-CN" sz="2300">
                <a:solidFill>
                  <a:srgbClr val="000066"/>
                </a:solidFill>
              </a:rPr>
              <a:t>(2) </a:t>
            </a:r>
            <a:r>
              <a:rPr lang="zh-CN" altLang="en-US" sz="2300">
                <a:solidFill>
                  <a:srgbClr val="000066"/>
                </a:solidFill>
              </a:rPr>
              <a:t>最大回复力。</a:t>
            </a:r>
          </a:p>
        </p:txBody>
      </p:sp>
      <p:sp>
        <p:nvSpPr>
          <p:cNvPr id="105499" name="Text Box 27">
            <a:extLst>
              <a:ext uri="{FF2B5EF4-FFF2-40B4-BE49-F238E27FC236}">
                <a16:creationId xmlns:a16="http://schemas.microsoft.com/office/drawing/2014/main" id="{46EA174D-B004-BF5E-7315-4ACD9EC20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2581275"/>
            <a:ext cx="5181600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选平衡位置为坐标原点如图。</a:t>
            </a:r>
          </a:p>
        </p:txBody>
      </p:sp>
      <p:sp>
        <p:nvSpPr>
          <p:cNvPr id="105500" name="Text Box 28">
            <a:extLst>
              <a:ext uri="{FF2B5EF4-FFF2-40B4-BE49-F238E27FC236}">
                <a16:creationId xmlns:a16="http://schemas.microsoft.com/office/drawing/2014/main" id="{BB962E18-D4B5-D408-654B-4449AFA58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138488"/>
            <a:ext cx="2628900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平衡时</a:t>
            </a:r>
          </a:p>
        </p:txBody>
      </p:sp>
      <p:graphicFrame>
        <p:nvGraphicFramePr>
          <p:cNvPr id="105501" name="Object 29">
            <a:extLst>
              <a:ext uri="{FF2B5EF4-FFF2-40B4-BE49-F238E27FC236}">
                <a16:creationId xmlns:a16="http://schemas.microsoft.com/office/drawing/2014/main" id="{B49E5E37-D71D-2D40-0294-8921BA3227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6150" y="3173413"/>
          <a:ext cx="15636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505053" imgH="276225" progId="Equation.3">
                  <p:embed/>
                </p:oleObj>
              </mc:Choice>
              <mc:Fallback>
                <p:oleObj name="公式" r:id="rId3" imgW="1505053" imgH="276225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150" y="3173413"/>
                        <a:ext cx="156368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502" name="Text Box 30">
            <a:extLst>
              <a:ext uri="{FF2B5EF4-FFF2-40B4-BE49-F238E27FC236}">
                <a16:creationId xmlns:a16="http://schemas.microsoft.com/office/drawing/2014/main" id="{3F0A0FD2-1AB0-AC53-F3E4-E0F4C9A07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3706813"/>
            <a:ext cx="33131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位移为</a:t>
            </a:r>
            <a:r>
              <a:rPr lang="zh-CN" altLang="en-US" sz="1500">
                <a:solidFill>
                  <a:srgbClr val="000080"/>
                </a:solidFill>
                <a:latin typeface="华文中宋" panose="02010600040101010101" pitchFamily="2" charset="-122"/>
              </a:rPr>
              <a:t> </a:t>
            </a:r>
            <a:r>
              <a:rPr lang="en-US" altLang="zh-CN" sz="2800" i="1"/>
              <a:t>x</a:t>
            </a:r>
            <a:r>
              <a:rPr lang="en-US" altLang="zh-CN" sz="1500" i="1">
                <a:solidFill>
                  <a:srgbClr val="000080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时</a:t>
            </a:r>
          </a:p>
        </p:txBody>
      </p:sp>
      <p:graphicFrame>
        <p:nvGraphicFramePr>
          <p:cNvPr id="105503" name="Object 31">
            <a:extLst>
              <a:ext uri="{FF2B5EF4-FFF2-40B4-BE49-F238E27FC236}">
                <a16:creationId xmlns:a16="http://schemas.microsoft.com/office/drawing/2014/main" id="{CE7793BD-DD3D-73A5-90AB-941B719195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3781425"/>
          <a:ext cx="40798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57391" imgH="85725" progId="Equation.3">
                  <p:embed/>
                </p:oleObj>
              </mc:Choice>
              <mc:Fallback>
                <p:oleObj name="Equation" r:id="rId5" imgW="1457391" imgH="85725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781425"/>
                        <a:ext cx="407987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504" name="Text Box 32">
            <a:extLst>
              <a:ext uri="{FF2B5EF4-FFF2-40B4-BE49-F238E27FC236}">
                <a16:creationId xmlns:a16="http://schemas.microsoft.com/office/drawing/2014/main" id="{E5E5D903-8C05-B2F7-A9CE-1FAC5F0D2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445125"/>
            <a:ext cx="4608512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所以物体做谐振动，且有：</a:t>
            </a:r>
          </a:p>
        </p:txBody>
      </p:sp>
      <p:sp>
        <p:nvSpPr>
          <p:cNvPr id="105507" name="Text Box 35">
            <a:extLst>
              <a:ext uri="{FF2B5EF4-FFF2-40B4-BE49-F238E27FC236}">
                <a16:creationId xmlns:a16="http://schemas.microsoft.com/office/drawing/2014/main" id="{1CB0DB3D-5EA0-A9EA-C7A6-C81B92F01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565400"/>
            <a:ext cx="2592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66"/>
                </a:solidFill>
              </a:rPr>
              <a:t>解：</a:t>
            </a:r>
            <a:r>
              <a:rPr lang="en-US" altLang="zh-CN">
                <a:solidFill>
                  <a:srgbClr val="000066"/>
                </a:solidFill>
              </a:rPr>
              <a:t>(1)</a:t>
            </a:r>
            <a:endParaRPr lang="en-US" altLang="zh-CN">
              <a:solidFill>
                <a:srgbClr val="000066"/>
              </a:solidFill>
              <a:latin typeface="华文中宋" panose="02010600040101010101" pitchFamily="2" charset="-122"/>
            </a:endParaRPr>
          </a:p>
        </p:txBody>
      </p:sp>
      <p:grpSp>
        <p:nvGrpSpPr>
          <p:cNvPr id="105524" name="Group 52">
            <a:extLst>
              <a:ext uri="{FF2B5EF4-FFF2-40B4-BE49-F238E27FC236}">
                <a16:creationId xmlns:a16="http://schemas.microsoft.com/office/drawing/2014/main" id="{C16A3FD1-243C-E246-FFA1-B64D2E39CA80}"/>
              </a:ext>
            </a:extLst>
          </p:cNvPr>
          <p:cNvGrpSpPr>
            <a:grpSpLocks/>
          </p:cNvGrpSpPr>
          <p:nvPr/>
        </p:nvGrpSpPr>
        <p:grpSpPr bwMode="auto">
          <a:xfrm>
            <a:off x="7164388" y="2525713"/>
            <a:ext cx="1458912" cy="1843087"/>
            <a:chOff x="4468" y="1515"/>
            <a:chExt cx="919" cy="1263"/>
          </a:xfrm>
        </p:grpSpPr>
        <p:sp>
          <p:nvSpPr>
            <p:cNvPr id="18459" name="Freeform 7">
              <a:extLst>
                <a:ext uri="{FF2B5EF4-FFF2-40B4-BE49-F238E27FC236}">
                  <a16:creationId xmlns:a16="http://schemas.microsoft.com/office/drawing/2014/main" id="{586B51C2-3B07-CF27-3972-32279BE0928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510" y="1873"/>
              <a:ext cx="827" cy="292"/>
            </a:xfrm>
            <a:custGeom>
              <a:avLst/>
              <a:gdLst>
                <a:gd name="T0" fmla="*/ 0 w 1057"/>
                <a:gd name="T1" fmla="*/ 255 h 285"/>
                <a:gd name="T2" fmla="*/ 2 w 1057"/>
                <a:gd name="T3" fmla="*/ 15 h 285"/>
                <a:gd name="T4" fmla="*/ 4 w 1057"/>
                <a:gd name="T5" fmla="*/ 385 h 285"/>
                <a:gd name="T6" fmla="*/ 7 w 1057"/>
                <a:gd name="T7" fmla="*/ 15 h 285"/>
                <a:gd name="T8" fmla="*/ 10 w 1057"/>
                <a:gd name="T9" fmla="*/ 376 h 285"/>
                <a:gd name="T10" fmla="*/ 13 w 1057"/>
                <a:gd name="T11" fmla="*/ 15 h 285"/>
                <a:gd name="T12" fmla="*/ 15 w 1057"/>
                <a:gd name="T13" fmla="*/ 376 h 285"/>
                <a:gd name="T14" fmla="*/ 17 w 1057"/>
                <a:gd name="T15" fmla="*/ 15 h 285"/>
                <a:gd name="T16" fmla="*/ 20 w 1057"/>
                <a:gd name="T17" fmla="*/ 385 h 285"/>
                <a:gd name="T18" fmla="*/ 23 w 1057"/>
                <a:gd name="T19" fmla="*/ 15 h 285"/>
                <a:gd name="T20" fmla="*/ 25 w 1057"/>
                <a:gd name="T21" fmla="*/ 385 h 285"/>
                <a:gd name="T22" fmla="*/ 27 w 1057"/>
                <a:gd name="T23" fmla="*/ 176 h 28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57" h="285">
                  <a:moveTo>
                    <a:pt x="0" y="177"/>
                  </a:moveTo>
                  <a:cubicBezTo>
                    <a:pt x="14" y="151"/>
                    <a:pt x="53" y="0"/>
                    <a:pt x="82" y="15"/>
                  </a:cubicBezTo>
                  <a:cubicBezTo>
                    <a:pt x="111" y="30"/>
                    <a:pt x="140" y="267"/>
                    <a:pt x="174" y="267"/>
                  </a:cubicBezTo>
                  <a:cubicBezTo>
                    <a:pt x="208" y="267"/>
                    <a:pt x="250" y="16"/>
                    <a:pt x="285" y="15"/>
                  </a:cubicBezTo>
                  <a:cubicBezTo>
                    <a:pt x="320" y="14"/>
                    <a:pt x="350" y="261"/>
                    <a:pt x="384" y="261"/>
                  </a:cubicBezTo>
                  <a:cubicBezTo>
                    <a:pt x="418" y="261"/>
                    <a:pt x="453" y="15"/>
                    <a:pt x="488" y="15"/>
                  </a:cubicBezTo>
                  <a:cubicBezTo>
                    <a:pt x="523" y="15"/>
                    <a:pt x="560" y="261"/>
                    <a:pt x="594" y="261"/>
                  </a:cubicBezTo>
                  <a:cubicBezTo>
                    <a:pt x="628" y="261"/>
                    <a:pt x="658" y="14"/>
                    <a:pt x="691" y="15"/>
                  </a:cubicBezTo>
                  <a:cubicBezTo>
                    <a:pt x="724" y="16"/>
                    <a:pt x="758" y="267"/>
                    <a:pt x="792" y="267"/>
                  </a:cubicBezTo>
                  <a:cubicBezTo>
                    <a:pt x="826" y="267"/>
                    <a:pt x="864" y="15"/>
                    <a:pt x="895" y="15"/>
                  </a:cubicBezTo>
                  <a:cubicBezTo>
                    <a:pt x="926" y="15"/>
                    <a:pt x="949" y="249"/>
                    <a:pt x="976" y="267"/>
                  </a:cubicBezTo>
                  <a:cubicBezTo>
                    <a:pt x="1003" y="285"/>
                    <a:pt x="1043" y="147"/>
                    <a:pt x="1057" y="123"/>
                  </a:cubicBezTo>
                </a:path>
              </a:pathLst>
            </a:custGeom>
            <a:noFill/>
            <a:ln w="38100">
              <a:solidFill>
                <a:srgbClr val="A75DF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0" name="Text Box 10">
              <a:extLst>
                <a:ext uri="{FF2B5EF4-FFF2-40B4-BE49-F238E27FC236}">
                  <a16:creationId xmlns:a16="http://schemas.microsoft.com/office/drawing/2014/main" id="{727F9F3D-898E-0CB3-6F98-A66A86FCFA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7" y="1797"/>
              <a:ext cx="330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000" i="1">
                  <a:solidFill>
                    <a:srgbClr val="9840F8"/>
                  </a:solidFill>
                </a:rPr>
                <a:t>k</a:t>
              </a:r>
            </a:p>
          </p:txBody>
        </p:sp>
        <p:sp>
          <p:nvSpPr>
            <p:cNvPr id="18461" name="Rectangle 12" descr="水滴">
              <a:extLst>
                <a:ext uri="{FF2B5EF4-FFF2-40B4-BE49-F238E27FC236}">
                  <a16:creationId xmlns:a16="http://schemas.microsoft.com/office/drawing/2014/main" id="{903E4C41-608A-33D8-5172-58419F732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8" y="2432"/>
              <a:ext cx="325" cy="315"/>
            </a:xfrm>
            <a:prstGeom prst="rect">
              <a:avLst/>
            </a:prstGeom>
            <a:blipFill dpi="0" rotWithShape="1">
              <a:blip r:embed="rId7"/>
              <a:srcRect/>
              <a:tile tx="0" ty="0" sx="100000" sy="100000" flip="none" algn="tl"/>
            </a:blipFill>
            <a:ln w="19050">
              <a:solidFill>
                <a:srgbClr val="0000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/>
              <a:endParaRPr lang="zh-CN" altLang="zh-CN" sz="2800" b="0">
                <a:solidFill>
                  <a:srgbClr val="000092"/>
                </a:solidFill>
              </a:endParaRPr>
            </a:p>
          </p:txBody>
        </p:sp>
        <p:sp>
          <p:nvSpPr>
            <p:cNvPr id="18462" name="Text Box 13">
              <a:extLst>
                <a:ext uri="{FF2B5EF4-FFF2-40B4-BE49-F238E27FC236}">
                  <a16:creationId xmlns:a16="http://schemas.microsoft.com/office/drawing/2014/main" id="{E824E3A2-4468-8674-E0CB-26E834EE90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4" y="2422"/>
              <a:ext cx="339" cy="3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>
                  <a:solidFill>
                    <a:srgbClr val="000092"/>
                  </a:solidFill>
                </a:rPr>
                <a:t>m</a:t>
              </a:r>
            </a:p>
          </p:txBody>
        </p:sp>
        <p:sp>
          <p:nvSpPr>
            <p:cNvPr id="18463" name="Line 14">
              <a:extLst>
                <a:ext uri="{FF2B5EF4-FFF2-40B4-BE49-F238E27FC236}">
                  <a16:creationId xmlns:a16="http://schemas.microsoft.com/office/drawing/2014/main" id="{4CA4A83D-ED33-5957-77C2-E75098657D5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624" y="2282"/>
              <a:ext cx="0" cy="293"/>
            </a:xfrm>
            <a:prstGeom prst="line">
              <a:avLst/>
            </a:prstGeom>
            <a:noFill/>
            <a:ln w="1714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4" name="Line 15">
              <a:extLst>
                <a:ext uri="{FF2B5EF4-FFF2-40B4-BE49-F238E27FC236}">
                  <a16:creationId xmlns:a16="http://schemas.microsoft.com/office/drawing/2014/main" id="{2E876A34-F14F-0277-9230-407949D22B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639" y="1922"/>
              <a:ext cx="0" cy="293"/>
            </a:xfrm>
            <a:prstGeom prst="line">
              <a:avLst/>
            </a:prstGeom>
            <a:noFill/>
            <a:ln w="1714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5" name="Text Box 16">
              <a:extLst>
                <a:ext uri="{FF2B5EF4-FFF2-40B4-BE49-F238E27FC236}">
                  <a16:creationId xmlns:a16="http://schemas.microsoft.com/office/drawing/2014/main" id="{EB922A35-DB77-5AC9-179C-7A700F025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2097"/>
              <a:ext cx="331" cy="3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>
                  <a:solidFill>
                    <a:srgbClr val="007000"/>
                  </a:solidFill>
                </a:rPr>
                <a:t>l</a:t>
              </a:r>
            </a:p>
          </p:txBody>
        </p:sp>
        <p:sp>
          <p:nvSpPr>
            <p:cNvPr id="18466" name="Line 17">
              <a:extLst>
                <a:ext uri="{FF2B5EF4-FFF2-40B4-BE49-F238E27FC236}">
                  <a16:creationId xmlns:a16="http://schemas.microsoft.com/office/drawing/2014/main" id="{D604A2C0-CD07-9E64-3E2F-2B4B782AA99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514" y="2249"/>
              <a:ext cx="360" cy="0"/>
            </a:xfrm>
            <a:prstGeom prst="line">
              <a:avLst/>
            </a:prstGeom>
            <a:noFill/>
            <a:ln w="12700">
              <a:solidFill>
                <a:srgbClr val="007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7" name="Line 18">
              <a:extLst>
                <a:ext uri="{FF2B5EF4-FFF2-40B4-BE49-F238E27FC236}">
                  <a16:creationId xmlns:a16="http://schemas.microsoft.com/office/drawing/2014/main" id="{F112AF93-B664-D4C6-7E84-85AD7EAB6D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85" y="1515"/>
              <a:ext cx="93" cy="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8" name="Line 19">
              <a:extLst>
                <a:ext uri="{FF2B5EF4-FFF2-40B4-BE49-F238E27FC236}">
                  <a16:creationId xmlns:a16="http://schemas.microsoft.com/office/drawing/2014/main" id="{9FE045DB-0E18-DE87-22B0-223E7CB190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70" y="1515"/>
              <a:ext cx="93" cy="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9" name="Line 20">
              <a:extLst>
                <a:ext uri="{FF2B5EF4-FFF2-40B4-BE49-F238E27FC236}">
                  <a16:creationId xmlns:a16="http://schemas.microsoft.com/office/drawing/2014/main" id="{E8F1379C-A388-F674-01AC-B70FE2DF3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40" y="1515"/>
              <a:ext cx="93" cy="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0" name="Line 21">
              <a:extLst>
                <a:ext uri="{FF2B5EF4-FFF2-40B4-BE49-F238E27FC236}">
                  <a16:creationId xmlns:a16="http://schemas.microsoft.com/office/drawing/2014/main" id="{6F7A83E2-4337-F841-C9BF-9D05387CFE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0" y="1515"/>
              <a:ext cx="93" cy="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1" name="Line 22">
              <a:extLst>
                <a:ext uri="{FF2B5EF4-FFF2-40B4-BE49-F238E27FC236}">
                  <a16:creationId xmlns:a16="http://schemas.microsoft.com/office/drawing/2014/main" id="{0EAFE2C3-D8E1-D5A1-B13D-E64B28CD3E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95" y="1515"/>
              <a:ext cx="93" cy="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2" name="Line 23">
              <a:extLst>
                <a:ext uri="{FF2B5EF4-FFF2-40B4-BE49-F238E27FC236}">
                  <a16:creationId xmlns:a16="http://schemas.microsoft.com/office/drawing/2014/main" id="{AD83C1F0-636D-45EB-99DF-68BFED913C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5" y="1515"/>
              <a:ext cx="93" cy="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3" name="Line 24">
              <a:extLst>
                <a:ext uri="{FF2B5EF4-FFF2-40B4-BE49-F238E27FC236}">
                  <a16:creationId xmlns:a16="http://schemas.microsoft.com/office/drawing/2014/main" id="{5DAFA500-1582-D524-721C-DE37B4060A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25" y="1515"/>
              <a:ext cx="93" cy="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4" name="Line 37">
              <a:extLst>
                <a:ext uri="{FF2B5EF4-FFF2-40B4-BE49-F238E27FC236}">
                  <a16:creationId xmlns:a16="http://schemas.microsoft.com/office/drawing/2014/main" id="{DABCE4F9-A6CA-6120-F864-CBCE4154122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892" y="1209"/>
              <a:ext cx="0" cy="783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5530" name="Group 58">
            <a:extLst>
              <a:ext uri="{FF2B5EF4-FFF2-40B4-BE49-F238E27FC236}">
                <a16:creationId xmlns:a16="http://schemas.microsoft.com/office/drawing/2014/main" id="{C82A1B8A-F18B-EE7B-E36E-9B4C53286496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3835400"/>
            <a:ext cx="1182688" cy="2003425"/>
            <a:chOff x="4629" y="2531"/>
            <a:chExt cx="745" cy="1262"/>
          </a:xfrm>
        </p:grpSpPr>
        <p:grpSp>
          <p:nvGrpSpPr>
            <p:cNvPr id="18450" name="Group 47">
              <a:extLst>
                <a:ext uri="{FF2B5EF4-FFF2-40B4-BE49-F238E27FC236}">
                  <a16:creationId xmlns:a16="http://schemas.microsoft.com/office/drawing/2014/main" id="{70480CB9-DCC8-A5C8-8008-3E507CCBD2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9" y="2979"/>
              <a:ext cx="435" cy="814"/>
              <a:chOff x="4675" y="2888"/>
              <a:chExt cx="435" cy="814"/>
            </a:xfrm>
          </p:grpSpPr>
          <p:grpSp>
            <p:nvGrpSpPr>
              <p:cNvPr id="18455" name="Group 42">
                <a:extLst>
                  <a:ext uri="{FF2B5EF4-FFF2-40B4-BE49-F238E27FC236}">
                    <a16:creationId xmlns:a16="http://schemas.microsoft.com/office/drawing/2014/main" id="{2F7AF271-9993-4EAF-AE3F-8E995A743A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75" y="3203"/>
                <a:ext cx="408" cy="499"/>
                <a:chOff x="4675" y="2995"/>
                <a:chExt cx="408" cy="499"/>
              </a:xfrm>
            </p:grpSpPr>
            <p:sp>
              <p:nvSpPr>
                <p:cNvPr id="18457" name="Line 40">
                  <a:extLst>
                    <a:ext uri="{FF2B5EF4-FFF2-40B4-BE49-F238E27FC236}">
                      <a16:creationId xmlns:a16="http://schemas.microsoft.com/office/drawing/2014/main" id="{DD9FAE83-9CBA-35D3-FCB5-2D58E896CC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47" y="2995"/>
                  <a:ext cx="0" cy="273"/>
                </a:xfrm>
                <a:prstGeom prst="line">
                  <a:avLst/>
                </a:prstGeom>
                <a:noFill/>
                <a:ln w="31750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8458" name="Object 41">
                  <a:extLst>
                    <a:ext uri="{FF2B5EF4-FFF2-40B4-BE49-F238E27FC236}">
                      <a16:creationId xmlns:a16="http://schemas.microsoft.com/office/drawing/2014/main" id="{8ECF0EAD-838F-6B35-3CBF-E15A139B85F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675" y="3246"/>
                <a:ext cx="408" cy="2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8" imgW="533459" imgH="276225" progId="Equation.3">
                        <p:embed/>
                      </p:oleObj>
                    </mc:Choice>
                    <mc:Fallback>
                      <p:oleObj name="公式" r:id="rId8" imgW="533459" imgH="276225" progId="Equation.3">
                        <p:embed/>
                        <p:pic>
                          <p:nvPicPr>
                            <p:cNvPr id="0" name="Object 4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75" y="3246"/>
                              <a:ext cx="408" cy="24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8456" name="Rectangle 43" descr="水滴">
                <a:extLst>
                  <a:ext uri="{FF2B5EF4-FFF2-40B4-BE49-F238E27FC236}">
                    <a16:creationId xmlns:a16="http://schemas.microsoft.com/office/drawing/2014/main" id="{D9F38E67-5712-E6BA-3E79-38F30F01D4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2888"/>
                <a:ext cx="325" cy="315"/>
              </a:xfrm>
              <a:prstGeom prst="rect">
                <a:avLst/>
              </a:prstGeom>
              <a:blipFill dpi="0" rotWithShape="1">
                <a:blip r:embed="rId7"/>
                <a:srcRect/>
                <a:tile tx="0" ty="0" sx="100000" sy="100000" flip="none" algn="tl"/>
              </a:blipFill>
              <a:ln w="19050">
                <a:solidFill>
                  <a:srgbClr val="000099"/>
                </a:solidFill>
                <a:prstDash val="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algn="ctr" eaLnBrk="1" hangingPunct="1"/>
                <a:endParaRPr lang="zh-CN" altLang="zh-CN" sz="2800" b="0">
                  <a:solidFill>
                    <a:srgbClr val="000092"/>
                  </a:solidFill>
                </a:endParaRPr>
              </a:p>
            </p:txBody>
          </p:sp>
        </p:grpSp>
        <p:grpSp>
          <p:nvGrpSpPr>
            <p:cNvPr id="18451" name="Group 50">
              <a:extLst>
                <a:ext uri="{FF2B5EF4-FFF2-40B4-BE49-F238E27FC236}">
                  <a16:creationId xmlns:a16="http://schemas.microsoft.com/office/drawing/2014/main" id="{105C2554-6B49-F875-3DCB-1C298773E1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7" y="2531"/>
              <a:ext cx="227" cy="454"/>
              <a:chOff x="5193" y="2432"/>
              <a:chExt cx="227" cy="454"/>
            </a:xfrm>
          </p:grpSpPr>
          <p:sp>
            <p:nvSpPr>
              <p:cNvPr id="18452" name="Line 44">
                <a:extLst>
                  <a:ext uri="{FF2B5EF4-FFF2-40B4-BE49-F238E27FC236}">
                    <a16:creationId xmlns:a16="http://schemas.microsoft.com/office/drawing/2014/main" id="{5F7F1B6F-6212-9B34-0E0D-C5C0640A0A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93" y="2886"/>
                <a:ext cx="227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3" name="Line 45">
                <a:extLst>
                  <a:ext uri="{FF2B5EF4-FFF2-40B4-BE49-F238E27FC236}">
                    <a16:creationId xmlns:a16="http://schemas.microsoft.com/office/drawing/2014/main" id="{49D3DE9E-5B58-E02D-D0DB-1948965AD9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08" y="2432"/>
                <a:ext cx="0" cy="45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8454" name="Object 46">
                <a:extLst>
                  <a:ext uri="{FF2B5EF4-FFF2-40B4-BE49-F238E27FC236}">
                    <a16:creationId xmlns:a16="http://schemas.microsoft.com/office/drawing/2014/main" id="{85E0C10C-F159-A98C-EEFD-9E1D5EA955C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10" y="2572"/>
              <a:ext cx="16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0" imgW="133453" imgH="123825" progId="Equation.3">
                      <p:embed/>
                    </p:oleObj>
                  </mc:Choice>
                  <mc:Fallback>
                    <p:oleObj name="公式" r:id="rId10" imgW="133453" imgH="123825" progId="Equation.3">
                      <p:embed/>
                      <p:pic>
                        <p:nvPicPr>
                          <p:cNvPr id="0" name="Object 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10" y="2572"/>
                            <a:ext cx="160" cy="152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05525" name="Object 53">
            <a:extLst>
              <a:ext uri="{FF2B5EF4-FFF2-40B4-BE49-F238E27FC236}">
                <a16:creationId xmlns:a16="http://schemas.microsoft.com/office/drawing/2014/main" id="{4B9E124B-3A86-FD44-1FBF-A3222D476B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4238625"/>
          <a:ext cx="230346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066756" imgH="828675" progId="Equation.3">
                  <p:embed/>
                </p:oleObj>
              </mc:Choice>
              <mc:Fallback>
                <p:oleObj name="公式" r:id="rId12" imgW="2066756" imgH="828675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4238625"/>
                        <a:ext cx="2303462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26" name="Object 54">
            <a:extLst>
              <a:ext uri="{FF2B5EF4-FFF2-40B4-BE49-F238E27FC236}">
                <a16:creationId xmlns:a16="http://schemas.microsoft.com/office/drawing/2014/main" id="{93C3BDE0-3F09-0244-2519-E60E132DC1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7425" y="4221163"/>
          <a:ext cx="307975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600215" imgH="876300" progId="Equation.3">
                  <p:embed/>
                </p:oleObj>
              </mc:Choice>
              <mc:Fallback>
                <p:oleObj name="公式" r:id="rId14" imgW="2600215" imgH="87630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425" y="4221163"/>
                        <a:ext cx="307975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27" name="Object 55">
            <a:extLst>
              <a:ext uri="{FF2B5EF4-FFF2-40B4-BE49-F238E27FC236}">
                <a16:creationId xmlns:a16="http://schemas.microsoft.com/office/drawing/2014/main" id="{783E4FB2-0F4A-DC78-4672-DDE2943595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5451475"/>
          <a:ext cx="20161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790671" imgH="352425" progId="Equation.3">
                  <p:embed/>
                </p:oleObj>
              </mc:Choice>
              <mc:Fallback>
                <p:oleObj name="公式" r:id="rId16" imgW="1790671" imgH="352425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451475"/>
                        <a:ext cx="201612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28" name="Object 56">
            <a:extLst>
              <a:ext uri="{FF2B5EF4-FFF2-40B4-BE49-F238E27FC236}">
                <a16:creationId xmlns:a16="http://schemas.microsoft.com/office/drawing/2014/main" id="{F2486F72-306F-9AE8-4374-600D42C191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91013" y="2889250"/>
          <a:ext cx="1793875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666750" imgH="771525" progId="Equation.3">
                  <p:embed/>
                </p:oleObj>
              </mc:Choice>
              <mc:Fallback>
                <p:oleObj name="公式" r:id="rId18" imgW="1666750" imgH="771525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1013" y="2889250"/>
                        <a:ext cx="1793875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5529" name="e0401s2.avi">
            <a:hlinkClick r:id="" action="ppaction://media"/>
            <a:extLst>
              <a:ext uri="{FF2B5EF4-FFF2-40B4-BE49-F238E27FC236}">
                <a16:creationId xmlns:a16="http://schemas.microsoft.com/office/drawing/2014/main" id="{6782C335-2E1B-E9C7-C75D-0CA987736A64}"/>
              </a:ext>
            </a:extLst>
          </p:cNvPr>
          <p:cNvPicPr>
            <a:picLocks noRot="1" noChangeAspect="1" noChangeArrowheads="1"/>
          </p:cNvPicPr>
          <p:nvPr>
            <a:videoFile r:link="rId1"/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3263" y="260350"/>
            <a:ext cx="1695450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5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0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105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105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0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05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5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0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05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10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0"/>
                                        <p:tgtEl>
                                          <p:spTgt spid="105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10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10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3000"/>
                                        <p:tgtEl>
                                          <p:spTgt spid="105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10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83" repeatCount="indefinite" fill="remove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05529"/>
                </p:tgtEl>
              </p:cMediaNode>
            </p:video>
          </p:childTnLst>
        </p:cTn>
      </p:par>
    </p:tnLst>
    <p:bldLst>
      <p:bldP spid="105497" grpId="0"/>
      <p:bldP spid="105499" grpId="0"/>
      <p:bldP spid="105500" grpId="0"/>
      <p:bldP spid="105502" grpId="0"/>
      <p:bldP spid="105504" grpId="0"/>
      <p:bldP spid="10550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0" name="Text Box 4">
            <a:extLst>
              <a:ext uri="{FF2B5EF4-FFF2-40B4-BE49-F238E27FC236}">
                <a16:creationId xmlns:a16="http://schemas.microsoft.com/office/drawing/2014/main" id="{035462D4-0E31-E1B0-59AC-F16CEA1E0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708025"/>
            <a:ext cx="2951162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由已知得： </a:t>
            </a:r>
          </a:p>
        </p:txBody>
      </p:sp>
      <p:graphicFrame>
        <p:nvGraphicFramePr>
          <p:cNvPr id="106503" name="Object 7">
            <a:extLst>
              <a:ext uri="{FF2B5EF4-FFF2-40B4-BE49-F238E27FC236}">
                <a16:creationId xmlns:a16="http://schemas.microsoft.com/office/drawing/2014/main" id="{D6B12F4F-2C2D-5974-29DA-D33F380DF4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1905000"/>
          <a:ext cx="2376487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00209" imgH="914400" progId="Equation.3">
                  <p:embed/>
                </p:oleObj>
              </mc:Choice>
              <mc:Fallback>
                <p:oleObj name="公式" r:id="rId2" imgW="2200209" imgH="914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905000"/>
                        <a:ext cx="2376487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4" name="Object 8">
            <a:extLst>
              <a:ext uri="{FF2B5EF4-FFF2-40B4-BE49-F238E27FC236}">
                <a16:creationId xmlns:a16="http://schemas.microsoft.com/office/drawing/2014/main" id="{2F1C2DF0-FDE7-DB73-3130-F049029627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9150" y="477838"/>
          <a:ext cx="377825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581341" imgH="762000" progId="Equation.3">
                  <p:embed/>
                </p:oleObj>
              </mc:Choice>
              <mc:Fallback>
                <p:oleObj name="公式" r:id="rId4" imgW="3581341" imgH="762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477838"/>
                        <a:ext cx="377825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5" name="Object 9">
            <a:extLst>
              <a:ext uri="{FF2B5EF4-FFF2-40B4-BE49-F238E27FC236}">
                <a16:creationId xmlns:a16="http://schemas.microsoft.com/office/drawing/2014/main" id="{2FFFF5BC-3B8E-BF63-4EC1-4464015A6F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1425" y="3079750"/>
          <a:ext cx="232251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00388" imgH="876300" progId="Equation.3">
                  <p:embed/>
                </p:oleObj>
              </mc:Choice>
              <mc:Fallback>
                <p:oleObj name="公式" r:id="rId6" imgW="2400388" imgH="876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425" y="3079750"/>
                        <a:ext cx="2322513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6" name="AutoShape 10">
            <a:extLst>
              <a:ext uri="{FF2B5EF4-FFF2-40B4-BE49-F238E27FC236}">
                <a16:creationId xmlns:a16="http://schemas.microsoft.com/office/drawing/2014/main" id="{17B87618-3FF0-8DA4-3B48-06A4B043B7B5}"/>
              </a:ext>
            </a:extLst>
          </p:cNvPr>
          <p:cNvSpPr>
            <a:spLocks/>
          </p:cNvSpPr>
          <p:nvPr/>
        </p:nvSpPr>
        <p:spPr bwMode="auto">
          <a:xfrm>
            <a:off x="898525" y="2427288"/>
            <a:ext cx="215900" cy="1081087"/>
          </a:xfrm>
          <a:prstGeom prst="leftBrace">
            <a:avLst>
              <a:gd name="adj1" fmla="val 41728"/>
              <a:gd name="adj2" fmla="val 50000"/>
            </a:avLst>
          </a:prstGeom>
          <a:noFill/>
          <a:ln w="28575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6508" name="Text Box 12">
            <a:extLst>
              <a:ext uri="{FF2B5EF4-FFF2-40B4-BE49-F238E27FC236}">
                <a16:creationId xmlns:a16="http://schemas.microsoft.com/office/drawing/2014/main" id="{98C17498-EC0D-DF56-2FF2-F9B7DD447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3" y="4092575"/>
            <a:ext cx="2860675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振动方程为</a:t>
            </a:r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:</a:t>
            </a:r>
          </a:p>
        </p:txBody>
      </p:sp>
      <p:graphicFrame>
        <p:nvGraphicFramePr>
          <p:cNvPr id="106509" name="Object 13">
            <a:extLst>
              <a:ext uri="{FF2B5EF4-FFF2-40B4-BE49-F238E27FC236}">
                <a16:creationId xmlns:a16="http://schemas.microsoft.com/office/drawing/2014/main" id="{016BA0E1-8A45-1413-C32E-346A9BDB04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9063" y="3919538"/>
          <a:ext cx="420052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238721" imgH="771525" progId="Equation.3">
                  <p:embed/>
                </p:oleObj>
              </mc:Choice>
              <mc:Fallback>
                <p:oleObj name="公式" r:id="rId8" imgW="4238721" imgH="77152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063" y="3919538"/>
                        <a:ext cx="4200525" cy="8572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10" name="Text Box 14">
            <a:extLst>
              <a:ext uri="{FF2B5EF4-FFF2-40B4-BE49-F238E27FC236}">
                <a16:creationId xmlns:a16="http://schemas.microsoft.com/office/drawing/2014/main" id="{41121B00-3597-1BA7-280E-9968FFA5D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" y="4927600"/>
            <a:ext cx="3816350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300">
                <a:solidFill>
                  <a:srgbClr val="000066"/>
                </a:solidFill>
              </a:rPr>
              <a:t>(2)</a:t>
            </a:r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最大回复力： </a:t>
            </a:r>
          </a:p>
        </p:txBody>
      </p:sp>
      <p:graphicFrame>
        <p:nvGraphicFramePr>
          <p:cNvPr id="106511" name="Object 15">
            <a:extLst>
              <a:ext uri="{FF2B5EF4-FFF2-40B4-BE49-F238E27FC236}">
                <a16:creationId xmlns:a16="http://schemas.microsoft.com/office/drawing/2014/main" id="{F4FD4E9B-7A41-4C09-9E05-8981760998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5563" y="5010150"/>
          <a:ext cx="20097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495712" imgH="314325" progId="Equation.3">
                  <p:embed/>
                </p:oleObj>
              </mc:Choice>
              <mc:Fallback>
                <p:oleObj name="公式" r:id="rId10" imgW="2495712" imgH="31432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63" y="5010150"/>
                        <a:ext cx="200977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14" name="Text Box 18">
            <a:extLst>
              <a:ext uri="{FF2B5EF4-FFF2-40B4-BE49-F238E27FC236}">
                <a16:creationId xmlns:a16="http://schemas.microsoft.com/office/drawing/2014/main" id="{4CBF1EFD-08E6-359F-2538-D52D09BAE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12875"/>
            <a:ext cx="3455987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由初始条件得： </a:t>
            </a:r>
          </a:p>
        </p:txBody>
      </p:sp>
      <p:graphicFrame>
        <p:nvGraphicFramePr>
          <p:cNvPr id="106515" name="Object 19">
            <a:extLst>
              <a:ext uri="{FF2B5EF4-FFF2-40B4-BE49-F238E27FC236}">
                <a16:creationId xmlns:a16="http://schemas.microsoft.com/office/drawing/2014/main" id="{DE68AF07-8892-3E48-F7F7-D06090D560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2271713"/>
          <a:ext cx="157638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05053" imgH="276225" progId="Equation.3">
                  <p:embed/>
                </p:oleObj>
              </mc:Choice>
              <mc:Fallback>
                <p:oleObj name="公式" r:id="rId12" imgW="1505053" imgH="27622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271713"/>
                        <a:ext cx="157638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6" name="Object 20">
            <a:extLst>
              <a:ext uri="{FF2B5EF4-FFF2-40B4-BE49-F238E27FC236}">
                <a16:creationId xmlns:a16="http://schemas.microsoft.com/office/drawing/2014/main" id="{6328DC16-FC0B-E9D2-6F65-50F9AC28F2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97300" y="1951038"/>
          <a:ext cx="21431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171612" imgH="1038225" progId="Equation.3">
                  <p:embed/>
                </p:oleObj>
              </mc:Choice>
              <mc:Fallback>
                <p:oleObj name="公式" r:id="rId14" imgW="2171612" imgH="1038225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1951038"/>
                        <a:ext cx="214312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7" name="Object 21">
            <a:extLst>
              <a:ext uri="{FF2B5EF4-FFF2-40B4-BE49-F238E27FC236}">
                <a16:creationId xmlns:a16="http://schemas.microsoft.com/office/drawing/2014/main" id="{707DB013-6C8E-87CE-D949-39B7A693B4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1763" y="3084513"/>
          <a:ext cx="1474787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04874" imgH="704850" progId="Equation.3">
                  <p:embed/>
                </p:oleObj>
              </mc:Choice>
              <mc:Fallback>
                <p:oleObj name="公式" r:id="rId16" imgW="1304874" imgH="70485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3" y="3084513"/>
                        <a:ext cx="1474787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8" name="Object 22">
            <a:extLst>
              <a:ext uri="{FF2B5EF4-FFF2-40B4-BE49-F238E27FC236}">
                <a16:creationId xmlns:a16="http://schemas.microsoft.com/office/drawing/2014/main" id="{CDC49ABF-3CC5-6878-EF1D-6729318EF5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5188" y="542925"/>
          <a:ext cx="229870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743200" imgH="809625" progId="Equation.3">
                  <p:embed/>
                </p:oleObj>
              </mc:Choice>
              <mc:Fallback>
                <p:oleObj name="公式" r:id="rId18" imgW="2743200" imgH="809625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5188" y="542925"/>
                        <a:ext cx="2298700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9" name="Object 23">
            <a:extLst>
              <a:ext uri="{FF2B5EF4-FFF2-40B4-BE49-F238E27FC236}">
                <a16:creationId xmlns:a16="http://schemas.microsoft.com/office/drawing/2014/main" id="{B303C03C-0D1B-480C-F01D-C286A3AB59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9488" y="3086100"/>
          <a:ext cx="256540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695538" imgH="771525" progId="Equation.3">
                  <p:embed/>
                </p:oleObj>
              </mc:Choice>
              <mc:Fallback>
                <p:oleObj name="公式" r:id="rId20" imgW="2695538" imgH="771525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488" y="3086100"/>
                        <a:ext cx="2565400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20" name="Object 24">
            <a:extLst>
              <a:ext uri="{FF2B5EF4-FFF2-40B4-BE49-F238E27FC236}">
                <a16:creationId xmlns:a16="http://schemas.microsoft.com/office/drawing/2014/main" id="{3341A984-36FC-3151-30EF-D31692EB08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70438" y="5026025"/>
          <a:ext cx="223202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743200" imgH="295275" progId="Equation.3">
                  <p:embed/>
                </p:oleObj>
              </mc:Choice>
              <mc:Fallback>
                <p:oleObj name="公式" r:id="rId22" imgW="2743200" imgH="295275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0438" y="5026025"/>
                        <a:ext cx="2232025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4FCB867-B131-A274-BD1A-67AC9515E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63" y="5711825"/>
            <a:ext cx="644366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/>
              <a:t>重力只影响谐振子系统的平衡位置；这样的结论对所有作用于谐振子系统的恒力都成立！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6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10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0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0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0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06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06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0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0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0"/>
                                        <p:tgtEl>
                                          <p:spTgt spid="106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106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106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106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0" grpId="0"/>
      <p:bldP spid="106506" grpId="0" animBg="1"/>
      <p:bldP spid="106508" grpId="0"/>
      <p:bldP spid="106510" grpId="0"/>
      <p:bldP spid="106514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582" name="Group 38">
            <a:extLst>
              <a:ext uri="{FF2B5EF4-FFF2-40B4-BE49-F238E27FC236}">
                <a16:creationId xmlns:a16="http://schemas.microsoft.com/office/drawing/2014/main" id="{D53B9F18-6C45-FCD5-E44B-76467A18427E}"/>
              </a:ext>
            </a:extLst>
          </p:cNvPr>
          <p:cNvGrpSpPr>
            <a:grpSpLocks/>
          </p:cNvGrpSpPr>
          <p:nvPr/>
        </p:nvGrpSpPr>
        <p:grpSpPr bwMode="auto">
          <a:xfrm>
            <a:off x="6659563" y="3246438"/>
            <a:ext cx="2116137" cy="2846387"/>
            <a:chOff x="4006" y="936"/>
            <a:chExt cx="1537" cy="2208"/>
          </a:xfrm>
        </p:grpSpPr>
        <p:sp>
          <p:nvSpPr>
            <p:cNvPr id="20507" name="Arc 7">
              <a:extLst>
                <a:ext uri="{FF2B5EF4-FFF2-40B4-BE49-F238E27FC236}">
                  <a16:creationId xmlns:a16="http://schemas.microsoft.com/office/drawing/2014/main" id="{AC9A931C-1811-12A3-767C-88D367D8B97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006" y="1192"/>
              <a:ext cx="1393" cy="1248"/>
            </a:xfrm>
            <a:custGeom>
              <a:avLst/>
              <a:gdLst>
                <a:gd name="T0" fmla="*/ 0 w 24109"/>
                <a:gd name="T1" fmla="*/ 0 h 21600"/>
                <a:gd name="T2" fmla="*/ 0 w 24109"/>
                <a:gd name="T3" fmla="*/ 0 h 21600"/>
                <a:gd name="T4" fmla="*/ 0 w 24109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109" h="21600" fill="none" extrusionOk="0">
                  <a:moveTo>
                    <a:pt x="0" y="3061"/>
                  </a:moveTo>
                  <a:cubicBezTo>
                    <a:pt x="3350" y="1057"/>
                    <a:pt x="7181" y="-1"/>
                    <a:pt x="11085" y="0"/>
                  </a:cubicBezTo>
                  <a:cubicBezTo>
                    <a:pt x="15785" y="0"/>
                    <a:pt x="20358" y="1533"/>
                    <a:pt x="24108" y="4368"/>
                  </a:cubicBezTo>
                </a:path>
                <a:path w="24109" h="21600" stroke="0" extrusionOk="0">
                  <a:moveTo>
                    <a:pt x="0" y="3061"/>
                  </a:moveTo>
                  <a:cubicBezTo>
                    <a:pt x="3350" y="1057"/>
                    <a:pt x="7181" y="-1"/>
                    <a:pt x="11085" y="0"/>
                  </a:cubicBezTo>
                  <a:cubicBezTo>
                    <a:pt x="15785" y="0"/>
                    <a:pt x="20358" y="1533"/>
                    <a:pt x="24108" y="4368"/>
                  </a:cubicBezTo>
                  <a:lnTo>
                    <a:pt x="11085" y="21600"/>
                  </a:lnTo>
                  <a:lnTo>
                    <a:pt x="0" y="3061"/>
                  </a:lnTo>
                  <a:close/>
                </a:path>
              </a:pathLst>
            </a:custGeom>
            <a:noFill/>
            <a:ln w="222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8" name="Line 8">
              <a:extLst>
                <a:ext uri="{FF2B5EF4-FFF2-40B4-BE49-F238E27FC236}">
                  <a16:creationId xmlns:a16="http://schemas.microsoft.com/office/drawing/2014/main" id="{D56BFE4A-12FD-DED3-77ED-06185B9C09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3" y="1073"/>
              <a:ext cx="0" cy="13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9" name="Line 9">
              <a:extLst>
                <a:ext uri="{FF2B5EF4-FFF2-40B4-BE49-F238E27FC236}">
                  <a16:creationId xmlns:a16="http://schemas.microsoft.com/office/drawing/2014/main" id="{95CDCD55-D588-5E4C-ED36-3F3F1EFCD4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0" y="1026"/>
              <a:ext cx="521" cy="1315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0" name="Oval 10">
              <a:extLst>
                <a:ext uri="{FF2B5EF4-FFF2-40B4-BE49-F238E27FC236}">
                  <a16:creationId xmlns:a16="http://schemas.microsoft.com/office/drawing/2014/main" id="{4BCBA140-EA0C-9FEA-CC44-D9031ADA2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5" y="2245"/>
              <a:ext cx="113" cy="113"/>
            </a:xfrm>
            <a:prstGeom prst="ellipse">
              <a:avLst/>
            </a:prstGeom>
            <a:solidFill>
              <a:srgbClr val="00CC00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11" name="Rectangle 11">
              <a:extLst>
                <a:ext uri="{FF2B5EF4-FFF2-40B4-BE49-F238E27FC236}">
                  <a16:creationId xmlns:a16="http://schemas.microsoft.com/office/drawing/2014/main" id="{859A933F-C28C-537F-73D3-52615839F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9" y="972"/>
              <a:ext cx="306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0512" name="Rectangle 12">
              <a:extLst>
                <a:ext uri="{FF2B5EF4-FFF2-40B4-BE49-F238E27FC236}">
                  <a16:creationId xmlns:a16="http://schemas.microsoft.com/office/drawing/2014/main" id="{794F0FF7-A074-AB60-C1F0-ED3369A33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1" y="1450"/>
              <a:ext cx="128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endParaRPr kumimoji="0" lang="zh-CN" altLang="zh-CN" sz="2800" i="1">
                <a:solidFill>
                  <a:srgbClr val="000092"/>
                </a:solidFill>
              </a:endParaRPr>
            </a:p>
          </p:txBody>
        </p:sp>
        <p:sp>
          <p:nvSpPr>
            <p:cNvPr id="20513" name="Rectangle 13">
              <a:extLst>
                <a:ext uri="{FF2B5EF4-FFF2-40B4-BE49-F238E27FC236}">
                  <a16:creationId xmlns:a16="http://schemas.microsoft.com/office/drawing/2014/main" id="{91571E99-E9C9-5B3E-FAA6-27EB7E7BA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" y="2220"/>
              <a:ext cx="334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92"/>
                  </a:solidFill>
                </a:rPr>
                <a:t>m</a:t>
              </a:r>
            </a:p>
          </p:txBody>
        </p:sp>
        <p:sp>
          <p:nvSpPr>
            <p:cNvPr id="20514" name="Line 14">
              <a:extLst>
                <a:ext uri="{FF2B5EF4-FFF2-40B4-BE49-F238E27FC236}">
                  <a16:creationId xmlns:a16="http://schemas.microsoft.com/office/drawing/2014/main" id="{41B8FEFE-DED8-E395-BF57-CB99A58A83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3" y="2340"/>
              <a:ext cx="1" cy="512"/>
            </a:xfrm>
            <a:prstGeom prst="line">
              <a:avLst/>
            </a:prstGeom>
            <a:noFill/>
            <a:ln w="34925">
              <a:solidFill>
                <a:srgbClr val="FF3300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5" name="Rectangle 15">
              <a:extLst>
                <a:ext uri="{FF2B5EF4-FFF2-40B4-BE49-F238E27FC236}">
                  <a16:creationId xmlns:a16="http://schemas.microsoft.com/office/drawing/2014/main" id="{76ECF217-B550-740A-F2B7-08DAB8106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0" y="2742"/>
              <a:ext cx="593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 sz="2800" i="1"/>
                <a:t>mg  </a:t>
              </a:r>
            </a:p>
          </p:txBody>
        </p:sp>
        <p:sp>
          <p:nvSpPr>
            <p:cNvPr id="20516" name="Rectangle 16">
              <a:extLst>
                <a:ext uri="{FF2B5EF4-FFF2-40B4-BE49-F238E27FC236}">
                  <a16:creationId xmlns:a16="http://schemas.microsoft.com/office/drawing/2014/main" id="{19F9DAF8-0D2F-C318-530B-8DCB5D18A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7" y="2408"/>
              <a:ext cx="300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 sz="2500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20517" name="Line 17">
              <a:extLst>
                <a:ext uri="{FF2B5EF4-FFF2-40B4-BE49-F238E27FC236}">
                  <a16:creationId xmlns:a16="http://schemas.microsoft.com/office/drawing/2014/main" id="{D9873CFC-ED21-80B9-8D99-4D5468045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032"/>
              <a:ext cx="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8" name="Rectangle 18">
              <a:extLst>
                <a:ext uri="{FF2B5EF4-FFF2-40B4-BE49-F238E27FC236}">
                  <a16:creationId xmlns:a16="http://schemas.microsoft.com/office/drawing/2014/main" id="{D7B0DF51-F577-D1C7-E030-DDF33801C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1269"/>
              <a:ext cx="269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 sz="2800" i="1">
                  <a:sym typeface="Symbol" panose="05050102010706020507" pitchFamily="18" charset="2"/>
                </a:rPr>
                <a:t></a:t>
              </a:r>
              <a:endParaRPr lang="en-US" altLang="zh-CN" sz="2800" i="1"/>
            </a:p>
          </p:txBody>
        </p:sp>
        <p:sp>
          <p:nvSpPr>
            <p:cNvPr id="20519" name="Freeform 19">
              <a:extLst>
                <a:ext uri="{FF2B5EF4-FFF2-40B4-BE49-F238E27FC236}">
                  <a16:creationId xmlns:a16="http://schemas.microsoft.com/office/drawing/2014/main" id="{797B6074-AABB-C10E-AC0A-709610FC0B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" y="1301"/>
              <a:ext cx="100" cy="47"/>
            </a:xfrm>
            <a:custGeom>
              <a:avLst/>
              <a:gdLst>
                <a:gd name="T0" fmla="*/ 0 w 144"/>
                <a:gd name="T1" fmla="*/ 33 h 48"/>
                <a:gd name="T2" fmla="*/ 1 w 144"/>
                <a:gd name="T3" fmla="*/ 24 h 48"/>
                <a:gd name="T4" fmla="*/ 1 w 144"/>
                <a:gd name="T5" fmla="*/ 0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" h="48">
                  <a:moveTo>
                    <a:pt x="0" y="48"/>
                  </a:moveTo>
                  <a:cubicBezTo>
                    <a:pt x="12" y="46"/>
                    <a:pt x="48" y="44"/>
                    <a:pt x="72" y="36"/>
                  </a:cubicBezTo>
                  <a:cubicBezTo>
                    <a:pt x="96" y="28"/>
                    <a:pt x="129" y="7"/>
                    <a:pt x="144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0" name="Line 20">
              <a:extLst>
                <a:ext uri="{FF2B5EF4-FFF2-40B4-BE49-F238E27FC236}">
                  <a16:creationId xmlns:a16="http://schemas.microsoft.com/office/drawing/2014/main" id="{42D473BA-A1B8-7FA4-CE55-E1ABCC7923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45" y="936"/>
              <a:ext cx="96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1" name="Line 21">
              <a:extLst>
                <a:ext uri="{FF2B5EF4-FFF2-40B4-BE49-F238E27FC236}">
                  <a16:creationId xmlns:a16="http://schemas.microsoft.com/office/drawing/2014/main" id="{14AC43EB-8FAB-4E49-DD3B-B6DDD5D754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1" y="936"/>
              <a:ext cx="96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2" name="Line 22">
              <a:extLst>
                <a:ext uri="{FF2B5EF4-FFF2-40B4-BE49-F238E27FC236}">
                  <a16:creationId xmlns:a16="http://schemas.microsoft.com/office/drawing/2014/main" id="{0A8745FF-43CA-B207-5511-B0DC149E67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37" y="936"/>
              <a:ext cx="96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3" name="Line 23">
              <a:extLst>
                <a:ext uri="{FF2B5EF4-FFF2-40B4-BE49-F238E27FC236}">
                  <a16:creationId xmlns:a16="http://schemas.microsoft.com/office/drawing/2014/main" id="{DA5F7746-1450-4795-4D8D-015E9FDEB9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3" y="936"/>
              <a:ext cx="96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4" name="Line 24">
              <a:extLst>
                <a:ext uri="{FF2B5EF4-FFF2-40B4-BE49-F238E27FC236}">
                  <a16:creationId xmlns:a16="http://schemas.microsoft.com/office/drawing/2014/main" id="{7502A824-442D-7813-FDEC-D01D6EEDA1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9" y="936"/>
              <a:ext cx="96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5" name="Rectangle 25">
              <a:extLst>
                <a:ext uri="{FF2B5EF4-FFF2-40B4-BE49-F238E27FC236}">
                  <a16:creationId xmlns:a16="http://schemas.microsoft.com/office/drawing/2014/main" id="{8447230C-1B23-F6B9-E65E-44E6B5F7A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0" y="1484"/>
              <a:ext cx="205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990000"/>
                  </a:solidFill>
                </a:rPr>
                <a:t>l</a:t>
              </a:r>
            </a:p>
          </p:txBody>
        </p:sp>
      </p:grpSp>
      <p:sp>
        <p:nvSpPr>
          <p:cNvPr id="108570" name="Rectangle 26">
            <a:extLst>
              <a:ext uri="{FF2B5EF4-FFF2-40B4-BE49-F238E27FC236}">
                <a16:creationId xmlns:a16="http://schemas.microsoft.com/office/drawing/2014/main" id="{EEEA8A90-9F35-94B5-A64C-D7B1A207C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50" y="908050"/>
            <a:ext cx="2613025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系统受力矩</a:t>
            </a:r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:</a:t>
            </a:r>
          </a:p>
        </p:txBody>
      </p:sp>
      <p:graphicFrame>
        <p:nvGraphicFramePr>
          <p:cNvPr id="108573" name="Object 29">
            <a:extLst>
              <a:ext uri="{FF2B5EF4-FFF2-40B4-BE49-F238E27FC236}">
                <a16:creationId xmlns:a16="http://schemas.microsoft.com/office/drawing/2014/main" id="{B5A68BB5-9F8A-E294-8AB8-3776E00C60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1003300"/>
          <a:ext cx="25193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33488" imgH="295275" progId="Equation.3">
                  <p:embed/>
                </p:oleObj>
              </mc:Choice>
              <mc:Fallback>
                <p:oleObj name="公式" r:id="rId2" imgW="2533488" imgH="295275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003300"/>
                        <a:ext cx="251936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74" name="Rectangle 30">
            <a:extLst>
              <a:ext uri="{FF2B5EF4-FFF2-40B4-BE49-F238E27FC236}">
                <a16:creationId xmlns:a16="http://schemas.microsoft.com/office/drawing/2014/main" id="{5510B455-A602-FAE6-8F79-CE41105CE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" y="1727200"/>
            <a:ext cx="2641600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由转动定律：     </a:t>
            </a:r>
          </a:p>
        </p:txBody>
      </p:sp>
      <p:graphicFrame>
        <p:nvGraphicFramePr>
          <p:cNvPr id="108575" name="Object 31">
            <a:extLst>
              <a:ext uri="{FF2B5EF4-FFF2-40B4-BE49-F238E27FC236}">
                <a16:creationId xmlns:a16="http://schemas.microsoft.com/office/drawing/2014/main" id="{F639A21B-6D8B-4464-923E-53895481C9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1484313"/>
          <a:ext cx="1655762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28800" imgH="933450" progId="Equation.3">
                  <p:embed/>
                </p:oleObj>
              </mc:Choice>
              <mc:Fallback>
                <p:oleObj name="公式" r:id="rId4" imgW="1828800" imgH="93345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484313"/>
                        <a:ext cx="1655762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76" name="Rectangle 32">
            <a:extLst>
              <a:ext uri="{FF2B5EF4-FFF2-40B4-BE49-F238E27FC236}">
                <a16:creationId xmlns:a16="http://schemas.microsoft.com/office/drawing/2014/main" id="{769C0CDF-802D-4111-D123-9F867DDC6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667250"/>
            <a:ext cx="4464050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单摆的运动是谐振动。</a:t>
            </a:r>
          </a:p>
        </p:txBody>
      </p:sp>
      <p:grpSp>
        <p:nvGrpSpPr>
          <p:cNvPr id="108587" name="Group 43">
            <a:extLst>
              <a:ext uri="{FF2B5EF4-FFF2-40B4-BE49-F238E27FC236}">
                <a16:creationId xmlns:a16="http://schemas.microsoft.com/office/drawing/2014/main" id="{626C47CC-C322-6788-7CE3-FCC97ED54D5F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334963"/>
            <a:ext cx="6026150" cy="506412"/>
            <a:chOff x="158" y="211"/>
            <a:chExt cx="3796" cy="319"/>
          </a:xfrm>
        </p:grpSpPr>
        <p:sp>
          <p:nvSpPr>
            <p:cNvPr id="20505" name="Rectangle 4">
              <a:extLst>
                <a:ext uri="{FF2B5EF4-FFF2-40B4-BE49-F238E27FC236}">
                  <a16:creationId xmlns:a16="http://schemas.microsoft.com/office/drawing/2014/main" id="{A71911BD-4DE7-2ECC-6EC3-279E9D79E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239"/>
              <a:ext cx="299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000066"/>
                  </a:solidFill>
                  <a:latin typeface="华文中宋" panose="02010600040101010101" pitchFamily="2" charset="-122"/>
                </a:rPr>
                <a:t>例题</a:t>
              </a:r>
              <a:r>
                <a:rPr lang="en-US" altLang="zh-CN">
                  <a:solidFill>
                    <a:srgbClr val="000066"/>
                  </a:solidFill>
                  <a:latin typeface="华文中宋" panose="02010600040101010101" pitchFamily="2" charset="-122"/>
                </a:rPr>
                <a:t>2  </a:t>
              </a:r>
              <a:r>
                <a:rPr lang="zh-CN" altLang="en-US">
                  <a:solidFill>
                    <a:srgbClr val="000066"/>
                  </a:solidFill>
                  <a:latin typeface="华文中宋" panose="02010600040101010101" pitchFamily="2" charset="-122"/>
                </a:rPr>
                <a:t>证明单摆的运动是谐振动</a:t>
              </a:r>
            </a:p>
          </p:txBody>
        </p:sp>
        <p:graphicFrame>
          <p:nvGraphicFramePr>
            <p:cNvPr id="20506" name="Object 41">
              <a:extLst>
                <a:ext uri="{FF2B5EF4-FFF2-40B4-BE49-F238E27FC236}">
                  <a16:creationId xmlns:a16="http://schemas.microsoft.com/office/drawing/2014/main" id="{9451D505-3983-8F6C-F63C-C8926E706D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2" y="211"/>
            <a:ext cx="80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228615" imgH="419100" progId="Equation.3">
                    <p:embed/>
                  </p:oleObj>
                </mc:Choice>
                <mc:Fallback>
                  <p:oleObj name="公式" r:id="rId6" imgW="1228615" imgH="41910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211"/>
                          <a:ext cx="80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08586" name="Picture 42" descr="danb">
            <a:extLst>
              <a:ext uri="{FF2B5EF4-FFF2-40B4-BE49-F238E27FC236}">
                <a16:creationId xmlns:a16="http://schemas.microsoft.com/office/drawing/2014/main" id="{013ED4FF-D933-531F-8FDB-6D7F454D5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260350"/>
            <a:ext cx="1584325" cy="280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8588" name="Object 44">
            <a:extLst>
              <a:ext uri="{FF2B5EF4-FFF2-40B4-BE49-F238E27FC236}">
                <a16:creationId xmlns:a16="http://schemas.microsoft.com/office/drawing/2014/main" id="{03044152-734A-8E38-C59C-EB69966653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990600"/>
          <a:ext cx="15843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505053" imgH="295275" progId="Equation.3">
                  <p:embed/>
                </p:oleObj>
              </mc:Choice>
              <mc:Fallback>
                <p:oleObj name="公式" r:id="rId9" imgW="1505053" imgH="295275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990600"/>
                        <a:ext cx="15843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89" name="Object 45">
            <a:extLst>
              <a:ext uri="{FF2B5EF4-FFF2-40B4-BE49-F238E27FC236}">
                <a16:creationId xmlns:a16="http://schemas.microsoft.com/office/drawing/2014/main" id="{B52A4A83-B615-EAFA-35E7-742529EBB0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0663" y="1773238"/>
          <a:ext cx="15494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505053" imgH="295275" progId="Equation.3">
                  <p:embed/>
                </p:oleObj>
              </mc:Choice>
              <mc:Fallback>
                <p:oleObj name="公式" r:id="rId11" imgW="1505053" imgH="295275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663" y="1773238"/>
                        <a:ext cx="15494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90" name="Object 46">
            <a:extLst>
              <a:ext uri="{FF2B5EF4-FFF2-40B4-BE49-F238E27FC236}">
                <a16:creationId xmlns:a16="http://schemas.microsoft.com/office/drawing/2014/main" id="{726EC8BE-B64F-0C2D-1EC2-A93021664D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2276475"/>
          <a:ext cx="3260725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143177" imgH="304800" progId="Equation.3">
                  <p:embed/>
                </p:oleObj>
              </mc:Choice>
              <mc:Fallback>
                <p:oleObj name="公式" r:id="rId13" imgW="1143177" imgH="30480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276475"/>
                        <a:ext cx="3260725" cy="108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91" name="Object 47">
            <a:extLst>
              <a:ext uri="{FF2B5EF4-FFF2-40B4-BE49-F238E27FC236}">
                <a16:creationId xmlns:a16="http://schemas.microsoft.com/office/drawing/2014/main" id="{88D5EA5D-915C-FCE9-66FC-1FAC7B54CB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2328863"/>
          <a:ext cx="2274887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095353" imgH="914400" progId="Equation.3">
                  <p:embed/>
                </p:oleObj>
              </mc:Choice>
              <mc:Fallback>
                <p:oleObj name="公式" r:id="rId15" imgW="2095353" imgH="91440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2328863"/>
                        <a:ext cx="2274887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8604" name="Group 60">
            <a:extLst>
              <a:ext uri="{FF2B5EF4-FFF2-40B4-BE49-F238E27FC236}">
                <a16:creationId xmlns:a16="http://schemas.microsoft.com/office/drawing/2014/main" id="{E2179DDE-675C-9832-B088-606C0C9A3F33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571875"/>
            <a:ext cx="2016125" cy="884238"/>
            <a:chOff x="295" y="2272"/>
            <a:chExt cx="1336" cy="626"/>
          </a:xfrm>
        </p:grpSpPr>
        <p:graphicFrame>
          <p:nvGraphicFramePr>
            <p:cNvPr id="20503" name="Object 49">
              <a:extLst>
                <a:ext uri="{FF2B5EF4-FFF2-40B4-BE49-F238E27FC236}">
                  <a16:creationId xmlns:a16="http://schemas.microsoft.com/office/drawing/2014/main" id="{0923A5D8-E413-E753-7A57-E10F197C00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7" y="2272"/>
            <a:ext cx="974" cy="6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1400197" imgH="876300" progId="Equation.3">
                    <p:embed/>
                  </p:oleObj>
                </mc:Choice>
                <mc:Fallback>
                  <p:oleObj name="公式" r:id="rId17" imgW="1400197" imgH="876300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2272"/>
                          <a:ext cx="974" cy="6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762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4" name="Rectangle 50">
              <a:extLst>
                <a:ext uri="{FF2B5EF4-FFF2-40B4-BE49-F238E27FC236}">
                  <a16:creationId xmlns:a16="http://schemas.microsoft.com/office/drawing/2014/main" id="{35D7A59B-179A-8018-887B-DFEDDF6AD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461"/>
              <a:ext cx="968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令</a:t>
              </a:r>
              <a:r>
                <a:rPr lang="zh-CN" altLang="en-US">
                  <a:solidFill>
                    <a:srgbClr val="000080"/>
                  </a:solidFill>
                  <a:latin typeface="华文中宋" panose="02010600040101010101" pitchFamily="2" charset="-122"/>
                </a:rPr>
                <a:t>          </a:t>
              </a:r>
            </a:p>
          </p:txBody>
        </p:sp>
      </p:grpSp>
      <p:grpSp>
        <p:nvGrpSpPr>
          <p:cNvPr id="108605" name="Group 61">
            <a:extLst>
              <a:ext uri="{FF2B5EF4-FFF2-40B4-BE49-F238E27FC236}">
                <a16:creationId xmlns:a16="http://schemas.microsoft.com/office/drawing/2014/main" id="{20E7DAB7-2E18-361C-38C9-4C2E69D26D3F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3500438"/>
            <a:ext cx="3189288" cy="950912"/>
            <a:chOff x="1824" y="2240"/>
            <a:chExt cx="2099" cy="655"/>
          </a:xfrm>
        </p:grpSpPr>
        <p:graphicFrame>
          <p:nvGraphicFramePr>
            <p:cNvPr id="20501" name="Object 33">
              <a:extLst>
                <a:ext uri="{FF2B5EF4-FFF2-40B4-BE49-F238E27FC236}">
                  <a16:creationId xmlns:a16="http://schemas.microsoft.com/office/drawing/2014/main" id="{16A3B0B1-C3BA-B0FF-FE10-00BF6AF0EB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81" y="2240"/>
            <a:ext cx="1542" cy="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371791" imgH="933450" progId="Equation.3">
                    <p:embed/>
                  </p:oleObj>
                </mc:Choice>
                <mc:Fallback>
                  <p:oleObj name="公式" r:id="rId19" imgW="2371791" imgH="93345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1" y="2240"/>
                          <a:ext cx="1542" cy="6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2" name="Text Box 51">
              <a:extLst>
                <a:ext uri="{FF2B5EF4-FFF2-40B4-BE49-F238E27FC236}">
                  <a16:creationId xmlns:a16="http://schemas.microsoft.com/office/drawing/2014/main" id="{DB754BA8-4B8F-6147-2AED-B920C1C630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454"/>
              <a:ext cx="75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sz="2300">
                  <a:solidFill>
                    <a:srgbClr val="000066"/>
                  </a:solidFill>
                </a:rPr>
                <a:t>得</a:t>
              </a:r>
              <a:r>
                <a:rPr lang="zh-CN" altLang="en-US" sz="2300">
                  <a:solidFill>
                    <a:srgbClr val="00007C"/>
                  </a:solidFill>
                </a:rPr>
                <a:t>：</a:t>
              </a:r>
              <a:r>
                <a:rPr lang="zh-CN" altLang="en-US">
                  <a:solidFill>
                    <a:srgbClr val="00007C"/>
                  </a:solidFill>
                </a:rPr>
                <a:t>     </a:t>
              </a:r>
            </a:p>
          </p:txBody>
        </p:sp>
      </p:grpSp>
      <p:grpSp>
        <p:nvGrpSpPr>
          <p:cNvPr id="108606" name="Group 62">
            <a:extLst>
              <a:ext uri="{FF2B5EF4-FFF2-40B4-BE49-F238E27FC236}">
                <a16:creationId xmlns:a16="http://schemas.microsoft.com/office/drawing/2014/main" id="{4E21A2B6-05A0-49DA-DE23-C67B1D4A7301}"/>
              </a:ext>
            </a:extLst>
          </p:cNvPr>
          <p:cNvGrpSpPr>
            <a:grpSpLocks/>
          </p:cNvGrpSpPr>
          <p:nvPr/>
        </p:nvGrpSpPr>
        <p:grpSpPr bwMode="auto">
          <a:xfrm>
            <a:off x="3443288" y="4437063"/>
            <a:ext cx="2568575" cy="963612"/>
            <a:chOff x="2169" y="2916"/>
            <a:chExt cx="1709" cy="667"/>
          </a:xfrm>
        </p:grpSpPr>
        <p:graphicFrame>
          <p:nvGraphicFramePr>
            <p:cNvPr id="20499" name="Object 55">
              <a:extLst>
                <a:ext uri="{FF2B5EF4-FFF2-40B4-BE49-F238E27FC236}">
                  <a16:creationId xmlns:a16="http://schemas.microsoft.com/office/drawing/2014/main" id="{3F2D33D8-F4DA-19D3-E662-EBAD1CD18D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46" y="2916"/>
            <a:ext cx="1132" cy="6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1857397" imgH="952500" progId="Equation.3">
                    <p:embed/>
                  </p:oleObj>
                </mc:Choice>
                <mc:Fallback>
                  <p:oleObj name="公式" r:id="rId21" imgW="1857397" imgH="952500" progId="Equation.3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6" y="2916"/>
                          <a:ext cx="1132" cy="6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762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0" name="Rectangle 56">
              <a:extLst>
                <a:ext uri="{FF2B5EF4-FFF2-40B4-BE49-F238E27FC236}">
                  <a16:creationId xmlns:a16="http://schemas.microsoft.com/office/drawing/2014/main" id="{52AAAC73-ACFD-0911-CE1A-30114892B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3076"/>
              <a:ext cx="835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300">
                  <a:solidFill>
                    <a:srgbClr val="000080"/>
                  </a:solidFill>
                  <a:latin typeface="华文中宋" panose="02010600040101010101" pitchFamily="2" charset="-122"/>
                </a:rPr>
                <a:t>周期 </a:t>
              </a:r>
              <a:r>
                <a:rPr lang="zh-CN" altLang="en-US">
                  <a:solidFill>
                    <a:srgbClr val="000080"/>
                  </a:solidFill>
                  <a:latin typeface="华文中宋" panose="02010600040101010101" pitchFamily="2" charset="-122"/>
                </a:rPr>
                <a:t>    </a:t>
              </a:r>
            </a:p>
          </p:txBody>
        </p:sp>
      </p:grpSp>
      <p:sp>
        <p:nvSpPr>
          <p:cNvPr id="108601" name="Rectangle 57">
            <a:extLst>
              <a:ext uri="{FF2B5EF4-FFF2-40B4-BE49-F238E27FC236}">
                <a16:creationId xmlns:a16="http://schemas.microsoft.com/office/drawing/2014/main" id="{0CE89F5F-FC19-8EAC-C95A-63CF09AEF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445125"/>
            <a:ext cx="2476500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振动方程</a:t>
            </a:r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:           </a:t>
            </a:r>
          </a:p>
        </p:txBody>
      </p:sp>
      <p:graphicFrame>
        <p:nvGraphicFramePr>
          <p:cNvPr id="108603" name="Object 59">
            <a:extLst>
              <a:ext uri="{FF2B5EF4-FFF2-40B4-BE49-F238E27FC236}">
                <a16:creationId xmlns:a16="http://schemas.microsoft.com/office/drawing/2014/main" id="{00BD778C-5AA6-E484-3D6A-1176307A93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5470525"/>
          <a:ext cx="30099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2943379" imgH="342900" progId="Equation.3">
                  <p:embed/>
                </p:oleObj>
              </mc:Choice>
              <mc:Fallback>
                <p:oleObj name="公式" r:id="rId23" imgW="2943379" imgH="34290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470525"/>
                        <a:ext cx="30099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8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8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8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08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08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08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08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08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08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08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08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10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108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10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10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10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70" grpId="0"/>
      <p:bldP spid="108574" grpId="0"/>
      <p:bldP spid="108576" grpId="0"/>
      <p:bldP spid="108601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2" name="Rectangle 4">
            <a:extLst>
              <a:ext uri="{FF2B5EF4-FFF2-40B4-BE49-F238E27FC236}">
                <a16:creationId xmlns:a16="http://schemas.microsoft.com/office/drawing/2014/main" id="{216BF2F1-C6E0-3F21-09E7-0456A554E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597025"/>
            <a:ext cx="2241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100">
                <a:latin typeface="华文中宋" panose="02010600040101010101" pitchFamily="2" charset="-122"/>
              </a:rPr>
              <a:t>★</a:t>
            </a:r>
            <a:r>
              <a:rPr lang="en-US" altLang="zh-CN">
                <a:solidFill>
                  <a:srgbClr val="000080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说明</a:t>
            </a:r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:</a:t>
            </a:r>
            <a:r>
              <a:rPr lang="en-US" altLang="zh-CN">
                <a:solidFill>
                  <a:srgbClr val="000080"/>
                </a:solidFill>
                <a:latin typeface="华文中宋" panose="02010600040101010101" pitchFamily="2" charset="-122"/>
              </a:rPr>
              <a:t>          </a:t>
            </a:r>
          </a:p>
        </p:txBody>
      </p:sp>
      <p:sp>
        <p:nvSpPr>
          <p:cNvPr id="109577" name="Rectangle 9">
            <a:extLst>
              <a:ext uri="{FF2B5EF4-FFF2-40B4-BE49-F238E27FC236}">
                <a16:creationId xmlns:a16="http://schemas.microsoft.com/office/drawing/2014/main" id="{82F2B59F-3395-3DCC-7F04-C37DF3308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989138"/>
            <a:ext cx="576103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66"/>
                </a:solidFill>
              </a:rPr>
              <a:t>(1) </a:t>
            </a:r>
            <a:r>
              <a:rPr lang="zh-CN" altLang="en-US" sz="2300">
                <a:solidFill>
                  <a:srgbClr val="000066"/>
                </a:solidFill>
              </a:rPr>
              <a:t>单摆周期</a:t>
            </a:r>
            <a:r>
              <a:rPr lang="zh-CN" altLang="en-US" sz="1500">
                <a:solidFill>
                  <a:srgbClr val="000080"/>
                </a:solidFill>
              </a:rPr>
              <a:t> </a:t>
            </a:r>
            <a:r>
              <a:rPr lang="en-US" altLang="zh-CN" sz="2600" i="1"/>
              <a:t>T</a:t>
            </a:r>
            <a:r>
              <a:rPr lang="en-US" altLang="zh-CN" sz="1500" i="1">
                <a:solidFill>
                  <a:srgbClr val="000080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与摆锤的质量</a:t>
            </a:r>
            <a:r>
              <a:rPr lang="zh-CN" altLang="en-US" sz="1500">
                <a:solidFill>
                  <a:srgbClr val="000080"/>
                </a:solidFill>
              </a:rPr>
              <a:t> </a:t>
            </a:r>
            <a:r>
              <a:rPr lang="en-US" altLang="zh-CN" sz="2700" i="1"/>
              <a:t>m</a:t>
            </a:r>
            <a:r>
              <a:rPr lang="en-US" altLang="zh-CN" sz="1500" i="1">
                <a:solidFill>
                  <a:srgbClr val="000080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无关。</a:t>
            </a:r>
          </a:p>
        </p:txBody>
      </p:sp>
      <p:graphicFrame>
        <p:nvGraphicFramePr>
          <p:cNvPr id="109579" name="Object 11">
            <a:extLst>
              <a:ext uri="{FF2B5EF4-FFF2-40B4-BE49-F238E27FC236}">
                <a16:creationId xmlns:a16="http://schemas.microsoft.com/office/drawing/2014/main" id="{EB8A1C8C-32F5-9A37-9E28-B0F2910B4A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3963" y="4005263"/>
          <a:ext cx="2484437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33488" imgH="295275" progId="Equation.3">
                  <p:embed/>
                </p:oleObj>
              </mc:Choice>
              <mc:Fallback>
                <p:oleObj name="公式" r:id="rId2" imgW="2533488" imgH="29527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963" y="4005263"/>
                        <a:ext cx="2484437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Line 12">
            <a:extLst>
              <a:ext uri="{FF2B5EF4-FFF2-40B4-BE49-F238E27FC236}">
                <a16:creationId xmlns:a16="http://schemas.microsoft.com/office/drawing/2014/main" id="{F3FD7798-99D1-A3F3-08CB-E3BF3C6D86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3195638"/>
            <a:ext cx="8382000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581" name="Rectangle 13">
            <a:extLst>
              <a:ext uri="{FF2B5EF4-FFF2-40B4-BE49-F238E27FC236}">
                <a16:creationId xmlns:a16="http://schemas.microsoft.com/office/drawing/2014/main" id="{0274562E-6623-E42C-3339-DA389CF49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413125"/>
            <a:ext cx="2879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>
                <a:solidFill>
                  <a:srgbClr val="000066"/>
                </a:solidFill>
                <a:sym typeface="Symbol" panose="05050102010706020507" pitchFamily="18" charset="2"/>
              </a:rPr>
              <a:t>(4)</a:t>
            </a:r>
            <a:r>
              <a:rPr lang="en-US" altLang="zh-CN" sz="2800">
                <a:sym typeface="Symbol" panose="05050102010706020507" pitchFamily="18" charset="2"/>
              </a:rPr>
              <a:t> </a:t>
            </a:r>
            <a:r>
              <a:rPr lang="en-US" altLang="zh-CN" sz="2800" i="1">
                <a:latin typeface="华文中宋" panose="02010600040101010101" pitchFamily="2" charset="-122"/>
                <a:sym typeface="Symbol" panose="05050102010706020507" pitchFamily="18" charset="2"/>
              </a:rPr>
              <a:t></a:t>
            </a:r>
            <a:r>
              <a:rPr lang="en-US" altLang="zh-CN" i="1">
                <a:latin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较大时</a:t>
            </a:r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:</a:t>
            </a:r>
            <a:r>
              <a:rPr lang="en-US" altLang="zh-CN">
                <a:solidFill>
                  <a:srgbClr val="000080"/>
                </a:solidFill>
                <a:latin typeface="华文中宋" panose="02010600040101010101" pitchFamily="2" charset="-122"/>
              </a:rPr>
              <a:t>             </a:t>
            </a:r>
          </a:p>
        </p:txBody>
      </p:sp>
      <p:graphicFrame>
        <p:nvGraphicFramePr>
          <p:cNvPr id="109582" name="Object 14">
            <a:extLst>
              <a:ext uri="{FF2B5EF4-FFF2-40B4-BE49-F238E27FC236}">
                <a16:creationId xmlns:a16="http://schemas.microsoft.com/office/drawing/2014/main" id="{52B7D025-77DE-9EF9-0B76-71281303D9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7913" y="4724400"/>
          <a:ext cx="738187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267538" imgH="952500" progId="Equation.3">
                  <p:embed/>
                </p:oleObj>
              </mc:Choice>
              <mc:Fallback>
                <p:oleObj name="公式" r:id="rId4" imgW="7267538" imgH="9525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913" y="4724400"/>
                        <a:ext cx="7381875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87" name="Object 19">
            <a:extLst>
              <a:ext uri="{FF2B5EF4-FFF2-40B4-BE49-F238E27FC236}">
                <a16:creationId xmlns:a16="http://schemas.microsoft.com/office/drawing/2014/main" id="{D34D5381-5B81-3E39-F45D-CFA9AEE9FA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71888" y="3644900"/>
          <a:ext cx="4500562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038541" imgH="857250" progId="Equation.3">
                  <p:embed/>
                </p:oleObj>
              </mc:Choice>
              <mc:Fallback>
                <p:oleObj name="公式" r:id="rId6" imgW="4038541" imgH="85725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3644900"/>
                        <a:ext cx="4500562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588" name="Group 20">
            <a:extLst>
              <a:ext uri="{FF2B5EF4-FFF2-40B4-BE49-F238E27FC236}">
                <a16:creationId xmlns:a16="http://schemas.microsoft.com/office/drawing/2014/main" id="{C607C60C-1ACD-E575-5B09-657310B2073D}"/>
              </a:ext>
            </a:extLst>
          </p:cNvPr>
          <p:cNvGrpSpPr>
            <a:grpSpLocks/>
          </p:cNvGrpSpPr>
          <p:nvPr/>
        </p:nvGrpSpPr>
        <p:grpSpPr bwMode="auto">
          <a:xfrm>
            <a:off x="6443663" y="549275"/>
            <a:ext cx="2168525" cy="3017838"/>
            <a:chOff x="4006" y="936"/>
            <a:chExt cx="1516" cy="2179"/>
          </a:xfrm>
        </p:grpSpPr>
        <p:sp>
          <p:nvSpPr>
            <p:cNvPr id="21522" name="Arc 21">
              <a:extLst>
                <a:ext uri="{FF2B5EF4-FFF2-40B4-BE49-F238E27FC236}">
                  <a16:creationId xmlns:a16="http://schemas.microsoft.com/office/drawing/2014/main" id="{DE863B98-86F1-2F12-BDFB-761E52A7DA2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006" y="1192"/>
              <a:ext cx="1393" cy="1248"/>
            </a:xfrm>
            <a:custGeom>
              <a:avLst/>
              <a:gdLst>
                <a:gd name="T0" fmla="*/ 0 w 24109"/>
                <a:gd name="T1" fmla="*/ 0 h 21600"/>
                <a:gd name="T2" fmla="*/ 0 w 24109"/>
                <a:gd name="T3" fmla="*/ 0 h 21600"/>
                <a:gd name="T4" fmla="*/ 0 w 24109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109" h="21600" fill="none" extrusionOk="0">
                  <a:moveTo>
                    <a:pt x="0" y="3061"/>
                  </a:moveTo>
                  <a:cubicBezTo>
                    <a:pt x="3350" y="1057"/>
                    <a:pt x="7181" y="-1"/>
                    <a:pt x="11085" y="0"/>
                  </a:cubicBezTo>
                  <a:cubicBezTo>
                    <a:pt x="15785" y="0"/>
                    <a:pt x="20358" y="1533"/>
                    <a:pt x="24108" y="4368"/>
                  </a:cubicBezTo>
                </a:path>
                <a:path w="24109" h="21600" stroke="0" extrusionOk="0">
                  <a:moveTo>
                    <a:pt x="0" y="3061"/>
                  </a:moveTo>
                  <a:cubicBezTo>
                    <a:pt x="3350" y="1057"/>
                    <a:pt x="7181" y="-1"/>
                    <a:pt x="11085" y="0"/>
                  </a:cubicBezTo>
                  <a:cubicBezTo>
                    <a:pt x="15785" y="0"/>
                    <a:pt x="20358" y="1533"/>
                    <a:pt x="24108" y="4368"/>
                  </a:cubicBezTo>
                  <a:lnTo>
                    <a:pt x="11085" y="21600"/>
                  </a:lnTo>
                  <a:lnTo>
                    <a:pt x="0" y="3061"/>
                  </a:lnTo>
                  <a:close/>
                </a:path>
              </a:pathLst>
            </a:custGeom>
            <a:noFill/>
            <a:ln w="222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3" name="Line 22">
              <a:extLst>
                <a:ext uri="{FF2B5EF4-FFF2-40B4-BE49-F238E27FC236}">
                  <a16:creationId xmlns:a16="http://schemas.microsoft.com/office/drawing/2014/main" id="{4F277475-6761-839B-0957-C1A0D9B8A1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3" y="1073"/>
              <a:ext cx="0" cy="13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4" name="Line 23">
              <a:extLst>
                <a:ext uri="{FF2B5EF4-FFF2-40B4-BE49-F238E27FC236}">
                  <a16:creationId xmlns:a16="http://schemas.microsoft.com/office/drawing/2014/main" id="{47A7C0E1-37E2-2F26-5E97-F7EB58DF04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0" y="1026"/>
              <a:ext cx="521" cy="1315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5" name="Oval 24">
              <a:extLst>
                <a:ext uri="{FF2B5EF4-FFF2-40B4-BE49-F238E27FC236}">
                  <a16:creationId xmlns:a16="http://schemas.microsoft.com/office/drawing/2014/main" id="{1B673641-4754-FDEB-9799-724E4C89A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5" y="2245"/>
              <a:ext cx="113" cy="113"/>
            </a:xfrm>
            <a:prstGeom prst="ellipse">
              <a:avLst/>
            </a:prstGeom>
            <a:solidFill>
              <a:srgbClr val="00CC00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26" name="Rectangle 25">
              <a:extLst>
                <a:ext uri="{FF2B5EF4-FFF2-40B4-BE49-F238E27FC236}">
                  <a16:creationId xmlns:a16="http://schemas.microsoft.com/office/drawing/2014/main" id="{065498EA-056B-62F9-6F09-818D56D49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9" y="972"/>
              <a:ext cx="294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1527" name="Rectangle 26">
              <a:extLst>
                <a:ext uri="{FF2B5EF4-FFF2-40B4-BE49-F238E27FC236}">
                  <a16:creationId xmlns:a16="http://schemas.microsoft.com/office/drawing/2014/main" id="{ECCD0E16-5F3B-692D-F2C2-50FB02EBE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0" y="1450"/>
              <a:ext cx="129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endParaRPr kumimoji="0" lang="zh-CN" altLang="zh-CN" sz="2800" i="1">
                <a:solidFill>
                  <a:srgbClr val="000092"/>
                </a:solidFill>
              </a:endParaRPr>
            </a:p>
          </p:txBody>
        </p:sp>
        <p:sp>
          <p:nvSpPr>
            <p:cNvPr id="21528" name="Rectangle 27">
              <a:extLst>
                <a:ext uri="{FF2B5EF4-FFF2-40B4-BE49-F238E27FC236}">
                  <a16:creationId xmlns:a16="http://schemas.microsoft.com/office/drawing/2014/main" id="{50DD65CE-2CDC-AD5F-D38A-775DD1B9B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" y="2220"/>
              <a:ext cx="322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92"/>
                  </a:solidFill>
                </a:rPr>
                <a:t>m</a:t>
              </a:r>
            </a:p>
          </p:txBody>
        </p:sp>
        <p:sp>
          <p:nvSpPr>
            <p:cNvPr id="21529" name="Line 28">
              <a:extLst>
                <a:ext uri="{FF2B5EF4-FFF2-40B4-BE49-F238E27FC236}">
                  <a16:creationId xmlns:a16="http://schemas.microsoft.com/office/drawing/2014/main" id="{E0E3475A-679B-3285-C46D-59268B3C55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3" y="2340"/>
              <a:ext cx="1" cy="512"/>
            </a:xfrm>
            <a:prstGeom prst="line">
              <a:avLst/>
            </a:prstGeom>
            <a:noFill/>
            <a:ln w="34925">
              <a:solidFill>
                <a:srgbClr val="FF3300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0" name="Rectangle 29">
              <a:extLst>
                <a:ext uri="{FF2B5EF4-FFF2-40B4-BE49-F238E27FC236}">
                  <a16:creationId xmlns:a16="http://schemas.microsoft.com/office/drawing/2014/main" id="{B8331750-3996-E53F-FFC7-E3D7C5D0F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1" y="2740"/>
              <a:ext cx="571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 sz="2800" i="1"/>
                <a:t>mg  </a:t>
              </a:r>
            </a:p>
          </p:txBody>
        </p:sp>
        <p:sp>
          <p:nvSpPr>
            <p:cNvPr id="21531" name="Rectangle 30">
              <a:extLst>
                <a:ext uri="{FF2B5EF4-FFF2-40B4-BE49-F238E27FC236}">
                  <a16:creationId xmlns:a16="http://schemas.microsoft.com/office/drawing/2014/main" id="{C4FBD253-2AA5-AB09-A247-1E5623EC3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7" y="2408"/>
              <a:ext cx="289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 sz="2500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21532" name="Line 31">
              <a:extLst>
                <a:ext uri="{FF2B5EF4-FFF2-40B4-BE49-F238E27FC236}">
                  <a16:creationId xmlns:a16="http://schemas.microsoft.com/office/drawing/2014/main" id="{7C1610A1-1ABC-89C7-1637-060ED3C72A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032"/>
              <a:ext cx="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3" name="Rectangle 32">
              <a:extLst>
                <a:ext uri="{FF2B5EF4-FFF2-40B4-BE49-F238E27FC236}">
                  <a16:creationId xmlns:a16="http://schemas.microsoft.com/office/drawing/2014/main" id="{7604311A-9E71-A94A-BA35-0DC3CB91D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8" y="1268"/>
              <a:ext cx="259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 sz="2800" i="1">
                  <a:sym typeface="Symbol" panose="05050102010706020507" pitchFamily="18" charset="2"/>
                </a:rPr>
                <a:t></a:t>
              </a:r>
              <a:endParaRPr lang="en-US" altLang="zh-CN" sz="2800" i="1"/>
            </a:p>
          </p:txBody>
        </p:sp>
        <p:sp>
          <p:nvSpPr>
            <p:cNvPr id="21534" name="Freeform 33">
              <a:extLst>
                <a:ext uri="{FF2B5EF4-FFF2-40B4-BE49-F238E27FC236}">
                  <a16:creationId xmlns:a16="http://schemas.microsoft.com/office/drawing/2014/main" id="{0DD0009A-81C0-FB01-B727-5766B11C4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" y="1301"/>
              <a:ext cx="100" cy="47"/>
            </a:xfrm>
            <a:custGeom>
              <a:avLst/>
              <a:gdLst>
                <a:gd name="T0" fmla="*/ 0 w 144"/>
                <a:gd name="T1" fmla="*/ 33 h 48"/>
                <a:gd name="T2" fmla="*/ 1 w 144"/>
                <a:gd name="T3" fmla="*/ 24 h 48"/>
                <a:gd name="T4" fmla="*/ 1 w 144"/>
                <a:gd name="T5" fmla="*/ 0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" h="48">
                  <a:moveTo>
                    <a:pt x="0" y="48"/>
                  </a:moveTo>
                  <a:cubicBezTo>
                    <a:pt x="12" y="46"/>
                    <a:pt x="48" y="44"/>
                    <a:pt x="72" y="36"/>
                  </a:cubicBezTo>
                  <a:cubicBezTo>
                    <a:pt x="96" y="28"/>
                    <a:pt x="129" y="7"/>
                    <a:pt x="144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5" name="Line 34">
              <a:extLst>
                <a:ext uri="{FF2B5EF4-FFF2-40B4-BE49-F238E27FC236}">
                  <a16:creationId xmlns:a16="http://schemas.microsoft.com/office/drawing/2014/main" id="{4705131D-90C7-3DA5-280A-2B2A19BE8C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45" y="936"/>
              <a:ext cx="96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6" name="Line 35">
              <a:extLst>
                <a:ext uri="{FF2B5EF4-FFF2-40B4-BE49-F238E27FC236}">
                  <a16:creationId xmlns:a16="http://schemas.microsoft.com/office/drawing/2014/main" id="{0C850C41-0EFA-D06A-3976-A5ABF92FDD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1" y="936"/>
              <a:ext cx="96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7" name="Line 36">
              <a:extLst>
                <a:ext uri="{FF2B5EF4-FFF2-40B4-BE49-F238E27FC236}">
                  <a16:creationId xmlns:a16="http://schemas.microsoft.com/office/drawing/2014/main" id="{C2BF2CB5-7652-F8C0-7327-8AFB6AD4C1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37" y="936"/>
              <a:ext cx="96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8" name="Line 37">
              <a:extLst>
                <a:ext uri="{FF2B5EF4-FFF2-40B4-BE49-F238E27FC236}">
                  <a16:creationId xmlns:a16="http://schemas.microsoft.com/office/drawing/2014/main" id="{C982459D-6E5F-466A-F990-92200A9359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3" y="936"/>
              <a:ext cx="96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9" name="Line 38">
              <a:extLst>
                <a:ext uri="{FF2B5EF4-FFF2-40B4-BE49-F238E27FC236}">
                  <a16:creationId xmlns:a16="http://schemas.microsoft.com/office/drawing/2014/main" id="{CC1C1493-7F5D-7B40-5387-AC75BC31AC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9" y="936"/>
              <a:ext cx="96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0" name="Rectangle 39">
              <a:extLst>
                <a:ext uri="{FF2B5EF4-FFF2-40B4-BE49-F238E27FC236}">
                  <a16:creationId xmlns:a16="http://schemas.microsoft.com/office/drawing/2014/main" id="{5D5BF5AE-A587-51C0-F869-FAFEDDEED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9" y="1484"/>
              <a:ext cx="198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990000"/>
                  </a:solidFill>
                </a:rPr>
                <a:t>l</a:t>
              </a:r>
            </a:p>
          </p:txBody>
        </p:sp>
      </p:grpSp>
      <p:grpSp>
        <p:nvGrpSpPr>
          <p:cNvPr id="109611" name="Group 43">
            <a:extLst>
              <a:ext uri="{FF2B5EF4-FFF2-40B4-BE49-F238E27FC236}">
                <a16:creationId xmlns:a16="http://schemas.microsoft.com/office/drawing/2014/main" id="{F630C131-7B31-3654-516E-780800DFEA8D}"/>
              </a:ext>
            </a:extLst>
          </p:cNvPr>
          <p:cNvGrpSpPr>
            <a:grpSpLocks/>
          </p:cNvGrpSpPr>
          <p:nvPr/>
        </p:nvGrpSpPr>
        <p:grpSpPr bwMode="auto">
          <a:xfrm>
            <a:off x="319088" y="1052513"/>
            <a:ext cx="6197600" cy="519112"/>
            <a:chOff x="181" y="546"/>
            <a:chExt cx="3904" cy="327"/>
          </a:xfrm>
        </p:grpSpPr>
        <p:sp>
          <p:nvSpPr>
            <p:cNvPr id="21520" name="Rectangle 40">
              <a:extLst>
                <a:ext uri="{FF2B5EF4-FFF2-40B4-BE49-F238E27FC236}">
                  <a16:creationId xmlns:a16="http://schemas.microsoft.com/office/drawing/2014/main" id="{85C2421B-74C5-9176-821C-F4DB8E436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572"/>
              <a:ext cx="17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 sz="2100">
                  <a:latin typeface="华文中宋" panose="02010600040101010101" pitchFamily="2" charset="-122"/>
                </a:rPr>
                <a:t>★</a:t>
              </a:r>
              <a:r>
                <a:rPr lang="en-US" altLang="zh-CN">
                  <a:solidFill>
                    <a:srgbClr val="000080"/>
                  </a:solidFill>
                  <a:latin typeface="华文中宋" panose="02010600040101010101" pitchFamily="2" charset="-122"/>
                </a:rPr>
                <a:t> </a:t>
              </a:r>
              <a:r>
                <a:rPr lang="zh-CN" altLang="en-US">
                  <a:solidFill>
                    <a:srgbClr val="000066"/>
                  </a:solidFill>
                  <a:latin typeface="华文中宋" panose="02010600040101010101" pitchFamily="2" charset="-122"/>
                </a:rPr>
                <a:t>注意</a:t>
              </a:r>
              <a:r>
                <a:rPr lang="en-US" altLang="zh-CN">
                  <a:solidFill>
                    <a:srgbClr val="000066"/>
                  </a:solidFill>
                  <a:latin typeface="华文中宋" panose="02010600040101010101" pitchFamily="2" charset="-122"/>
                </a:rPr>
                <a:t>:</a:t>
              </a:r>
              <a:r>
                <a:rPr lang="en-US" altLang="zh-CN">
                  <a:solidFill>
                    <a:srgbClr val="000080"/>
                  </a:solidFill>
                  <a:latin typeface="华文中宋" panose="02010600040101010101" pitchFamily="2" charset="-122"/>
                </a:rPr>
                <a:t>               </a:t>
              </a:r>
            </a:p>
          </p:txBody>
        </p:sp>
        <p:sp>
          <p:nvSpPr>
            <p:cNvPr id="21521" name="Text Box 42">
              <a:extLst>
                <a:ext uri="{FF2B5EF4-FFF2-40B4-BE49-F238E27FC236}">
                  <a16:creationId xmlns:a16="http://schemas.microsoft.com/office/drawing/2014/main" id="{1507491B-05EA-7B5E-60C4-AE6622038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546"/>
              <a:ext cx="30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sz="2300">
                  <a:solidFill>
                    <a:srgbClr val="00007C"/>
                  </a:solidFill>
                </a:rPr>
                <a:t>初相</a:t>
              </a:r>
              <a:r>
                <a:rPr lang="zh-CN" altLang="en-US" sz="1500">
                  <a:solidFill>
                    <a:srgbClr val="00007C"/>
                  </a:solidFill>
                </a:rPr>
                <a:t> </a:t>
              </a:r>
              <a:r>
                <a:rPr lang="en-US" altLang="zh-CN" sz="2600" i="1"/>
                <a:t>φ</a:t>
              </a:r>
              <a:r>
                <a:rPr lang="en-US" altLang="zh-CN" sz="2600" i="1">
                  <a:solidFill>
                    <a:srgbClr val="00007C"/>
                  </a:solidFill>
                </a:rPr>
                <a:t> </a:t>
              </a:r>
              <a:r>
                <a:rPr lang="zh-CN" altLang="en-US" sz="2300">
                  <a:solidFill>
                    <a:srgbClr val="000066"/>
                  </a:solidFill>
                </a:rPr>
                <a:t>与角位移</a:t>
              </a:r>
              <a:r>
                <a:rPr lang="zh-CN" altLang="en-US" sz="1500">
                  <a:solidFill>
                    <a:srgbClr val="00007C"/>
                  </a:solidFill>
                </a:rPr>
                <a:t> </a:t>
              </a:r>
              <a:r>
                <a:rPr lang="en-US" altLang="zh-CN" sz="2800" i="1"/>
                <a:t>θ</a:t>
              </a:r>
              <a:r>
                <a:rPr lang="en-US" altLang="zh-CN" sz="2800" i="1">
                  <a:solidFill>
                    <a:srgbClr val="00007C"/>
                  </a:solidFill>
                </a:rPr>
                <a:t> </a:t>
              </a:r>
              <a:r>
                <a:rPr lang="zh-CN" altLang="en-US" sz="2300">
                  <a:solidFill>
                    <a:srgbClr val="000066"/>
                  </a:solidFill>
                </a:rPr>
                <a:t>的区别 ！</a:t>
              </a:r>
              <a:r>
                <a:rPr lang="zh-CN" altLang="en-US">
                  <a:solidFill>
                    <a:srgbClr val="00007C"/>
                  </a:solidFill>
                </a:rPr>
                <a:t>             </a:t>
              </a:r>
            </a:p>
          </p:txBody>
        </p:sp>
      </p:grpSp>
      <p:sp>
        <p:nvSpPr>
          <p:cNvPr id="109612" name="Rectangle 44">
            <a:extLst>
              <a:ext uri="{FF2B5EF4-FFF2-40B4-BE49-F238E27FC236}">
                <a16:creationId xmlns:a16="http://schemas.microsoft.com/office/drawing/2014/main" id="{C39EFB0B-B547-2440-22FC-4CA715F36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508250"/>
            <a:ext cx="610235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66"/>
                </a:solidFill>
              </a:rPr>
              <a:t>(2) </a:t>
            </a:r>
            <a:r>
              <a:rPr lang="zh-CN" altLang="en-US" sz="2300">
                <a:solidFill>
                  <a:srgbClr val="000066"/>
                </a:solidFill>
              </a:rPr>
              <a:t>由</a:t>
            </a:r>
            <a:r>
              <a:rPr lang="zh-CN" altLang="en-US">
                <a:solidFill>
                  <a:srgbClr val="000080"/>
                </a:solidFill>
              </a:rPr>
              <a:t> </a:t>
            </a:r>
            <a:r>
              <a:rPr lang="en-US" altLang="zh-CN" sz="2600" i="1"/>
              <a:t>T</a:t>
            </a:r>
            <a:r>
              <a:rPr lang="zh-CN" altLang="en-US">
                <a:solidFill>
                  <a:srgbClr val="000080"/>
                </a:solidFill>
              </a:rPr>
              <a:t>， </a:t>
            </a:r>
            <a:r>
              <a:rPr lang="en-US" altLang="zh-CN" sz="2600" i="1"/>
              <a:t>l</a:t>
            </a:r>
            <a:r>
              <a:rPr lang="en-US" altLang="zh-CN" sz="1500" i="1"/>
              <a:t> </a:t>
            </a:r>
            <a:r>
              <a:rPr lang="en-US" altLang="zh-CN" sz="1500" i="1">
                <a:solidFill>
                  <a:srgbClr val="000080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可测量该地的重力加速度</a:t>
            </a:r>
            <a:r>
              <a:rPr lang="zh-CN" altLang="en-US">
                <a:solidFill>
                  <a:srgbClr val="000080"/>
                </a:solidFill>
              </a:rPr>
              <a:t> </a:t>
            </a:r>
            <a:r>
              <a:rPr lang="en-US" altLang="zh-CN" sz="2700" i="1"/>
              <a:t>g</a:t>
            </a:r>
            <a:r>
              <a:rPr lang="en-US" altLang="zh-CN" sz="2700" i="1">
                <a:solidFill>
                  <a:srgbClr val="000080"/>
                </a:solidFill>
              </a:rPr>
              <a:t> </a:t>
            </a:r>
            <a:r>
              <a:rPr lang="zh-CN" altLang="en-US">
                <a:solidFill>
                  <a:srgbClr val="000080"/>
                </a:solidFill>
              </a:rPr>
              <a:t>。</a:t>
            </a:r>
          </a:p>
        </p:txBody>
      </p:sp>
      <p:sp>
        <p:nvSpPr>
          <p:cNvPr id="109613" name="Rectangle 45">
            <a:extLst>
              <a:ext uri="{FF2B5EF4-FFF2-40B4-BE49-F238E27FC236}">
                <a16:creationId xmlns:a16="http://schemas.microsoft.com/office/drawing/2014/main" id="{81646631-9637-F1DB-0A5E-EFF8C3605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" y="2997200"/>
            <a:ext cx="5391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66"/>
                </a:solidFill>
              </a:rPr>
              <a:t>(3) </a:t>
            </a:r>
            <a:r>
              <a:rPr lang="zh-CN" altLang="en-US" sz="2300">
                <a:solidFill>
                  <a:srgbClr val="000066"/>
                </a:solidFill>
              </a:rPr>
              <a:t>单摆在小角度近似下为谐振动。</a:t>
            </a:r>
          </a:p>
        </p:txBody>
      </p:sp>
      <p:grpSp>
        <p:nvGrpSpPr>
          <p:cNvPr id="109616" name="Group 48">
            <a:extLst>
              <a:ext uri="{FF2B5EF4-FFF2-40B4-BE49-F238E27FC236}">
                <a16:creationId xmlns:a16="http://schemas.microsoft.com/office/drawing/2014/main" id="{3A607398-27C7-4F65-5D04-5D2D8B782DEA}"/>
              </a:ext>
            </a:extLst>
          </p:cNvPr>
          <p:cNvGrpSpPr>
            <a:grpSpLocks/>
          </p:cNvGrpSpPr>
          <p:nvPr/>
        </p:nvGrpSpPr>
        <p:grpSpPr bwMode="auto">
          <a:xfrm>
            <a:off x="692150" y="476250"/>
            <a:ext cx="4527550" cy="444500"/>
            <a:chOff x="436" y="346"/>
            <a:chExt cx="3034" cy="325"/>
          </a:xfrm>
        </p:grpSpPr>
        <p:graphicFrame>
          <p:nvGraphicFramePr>
            <p:cNvPr id="21518" name="Object 41">
              <a:extLst>
                <a:ext uri="{FF2B5EF4-FFF2-40B4-BE49-F238E27FC236}">
                  <a16:creationId xmlns:a16="http://schemas.microsoft.com/office/drawing/2014/main" id="{CB06B563-44C1-2496-D1CB-3DB39154B6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28" y="372"/>
            <a:ext cx="1942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943379" imgH="342900" progId="Equation.3">
                    <p:embed/>
                  </p:oleObj>
                </mc:Choice>
                <mc:Fallback>
                  <p:oleObj name="公式" r:id="rId8" imgW="2943379" imgH="34290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8" y="372"/>
                          <a:ext cx="1942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9" name="Rectangle 46">
              <a:extLst>
                <a:ext uri="{FF2B5EF4-FFF2-40B4-BE49-F238E27FC236}">
                  <a16:creationId xmlns:a16="http://schemas.microsoft.com/office/drawing/2014/main" id="{4DBFD668-96B2-CBCA-2135-F1E512860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" y="346"/>
              <a:ext cx="1660" cy="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振动方程</a:t>
              </a:r>
              <a:r>
                <a:rPr lang="en-US" altLang="zh-CN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:           </a:t>
              </a:r>
            </a:p>
          </p:txBody>
        </p: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9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9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09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0"/>
                                        <p:tgtEl>
                                          <p:spTgt spid="10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0"/>
                                        <p:tgtEl>
                                          <p:spTgt spid="109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0"/>
                                        <p:tgtEl>
                                          <p:spTgt spid="109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0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09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0"/>
                                        <p:tgtEl>
                                          <p:spTgt spid="109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0"/>
                                        <p:tgtEl>
                                          <p:spTgt spid="109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2" grpId="0"/>
      <p:bldP spid="109577" grpId="0"/>
      <p:bldP spid="109581" grpId="0"/>
      <p:bldP spid="109612" grpId="0"/>
      <p:bldP spid="1096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2" name="Text Box 4">
            <a:extLst>
              <a:ext uri="{FF2B5EF4-FFF2-40B4-BE49-F238E27FC236}">
                <a16:creationId xmlns:a16="http://schemas.microsoft.com/office/drawing/2014/main" id="{850169E2-321A-275F-0C18-882593754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138" y="425450"/>
            <a:ext cx="8494712" cy="304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tx1"/>
                </a:solidFill>
              </a:rPr>
              <a:t>(3)</a:t>
            </a:r>
            <a:r>
              <a:rPr lang="zh-CN" altLang="en-US">
                <a:solidFill>
                  <a:schemeClr val="tx1"/>
                </a:solidFill>
              </a:rPr>
              <a:t>复摆</a:t>
            </a:r>
            <a:endParaRPr lang="zh-CN" altLang="en-US" sz="110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>
                <a:solidFill>
                  <a:srgbClr val="000066"/>
                </a:solidFill>
              </a:rPr>
              <a:t>      一任意形状的刚体，支在过</a:t>
            </a:r>
            <a:r>
              <a:rPr lang="en-US" altLang="zh-CN">
                <a:solidFill>
                  <a:srgbClr val="000066"/>
                </a:solidFill>
              </a:rPr>
              <a:t>0</a:t>
            </a:r>
            <a:r>
              <a:rPr lang="zh-CN" altLang="en-US">
                <a:solidFill>
                  <a:srgbClr val="000066"/>
                </a:solidFill>
              </a:rPr>
              <a:t>点的光滑水平轴上，使刚体</a:t>
            </a:r>
          </a:p>
          <a:p>
            <a:pPr eaLnBrk="1" hangingPunct="1"/>
            <a:r>
              <a:rPr lang="zh-CN" altLang="en-US">
                <a:solidFill>
                  <a:srgbClr val="000066"/>
                </a:solidFill>
              </a:rPr>
              <a:t>       偏离平衡位置后释放，刚体就在平衡位置附近来回摆动，</a:t>
            </a:r>
          </a:p>
          <a:p>
            <a:pPr eaLnBrk="1" hangingPunct="1"/>
            <a:r>
              <a:rPr lang="zh-CN" altLang="en-US">
                <a:solidFill>
                  <a:srgbClr val="000066"/>
                </a:solidFill>
              </a:rPr>
              <a:t>       这样的摆叫复摆（也叫物理摆），如图所示 。刚体质量为</a:t>
            </a:r>
          </a:p>
          <a:p>
            <a:pPr eaLnBrk="1" hangingPunct="1"/>
            <a:r>
              <a:rPr lang="zh-CN" altLang="en-US">
                <a:solidFill>
                  <a:srgbClr val="000066"/>
                </a:solidFill>
              </a:rPr>
              <a:t>       </a:t>
            </a:r>
            <a:r>
              <a:rPr lang="en-GB" altLang="zh-CN">
                <a:solidFill>
                  <a:srgbClr val="000066"/>
                </a:solidFill>
              </a:rPr>
              <a:t>m</a:t>
            </a:r>
            <a:r>
              <a:rPr lang="zh-CN" altLang="en-US">
                <a:solidFill>
                  <a:srgbClr val="000066"/>
                </a:solidFill>
              </a:rPr>
              <a:t>，质心为 </a:t>
            </a:r>
            <a:r>
              <a:rPr lang="en-US" altLang="zh-CN">
                <a:solidFill>
                  <a:srgbClr val="000066"/>
                </a:solidFill>
              </a:rPr>
              <a:t>c </a:t>
            </a:r>
            <a:r>
              <a:rPr lang="zh-CN" altLang="en-US">
                <a:solidFill>
                  <a:srgbClr val="000066"/>
                </a:solidFill>
              </a:rPr>
              <a:t>，质心至转轴的距离为</a:t>
            </a:r>
            <a:r>
              <a:rPr lang="en-US" altLang="zh-CN">
                <a:solidFill>
                  <a:srgbClr val="000066"/>
                </a:solidFill>
              </a:rPr>
              <a:t>l </a:t>
            </a:r>
            <a:r>
              <a:rPr lang="zh-CN" altLang="en-US">
                <a:solidFill>
                  <a:srgbClr val="000066"/>
                </a:solidFill>
              </a:rPr>
              <a:t>，且知刚体对该轴</a:t>
            </a:r>
          </a:p>
          <a:p>
            <a:pPr eaLnBrk="1" hangingPunct="1"/>
            <a:r>
              <a:rPr lang="zh-CN" altLang="en-US">
                <a:solidFill>
                  <a:srgbClr val="000066"/>
                </a:solidFill>
              </a:rPr>
              <a:t>       的转动惯量为  </a:t>
            </a:r>
            <a:r>
              <a:rPr lang="en-US" altLang="zh-CN">
                <a:solidFill>
                  <a:srgbClr val="000066"/>
                </a:solidFill>
              </a:rPr>
              <a:t>J</a:t>
            </a:r>
            <a:endParaRPr lang="zh-CN" altLang="en-US">
              <a:solidFill>
                <a:srgbClr val="000066"/>
              </a:solidFill>
            </a:endParaRPr>
          </a:p>
          <a:p>
            <a:pPr eaLnBrk="1" hangingPunct="1"/>
            <a:r>
              <a:rPr lang="zh-CN" altLang="en-US">
                <a:solidFill>
                  <a:srgbClr val="000066"/>
                </a:solidFill>
              </a:rPr>
              <a:t> </a:t>
            </a:r>
          </a:p>
          <a:p>
            <a:pPr eaLnBrk="1" hangingPunct="1"/>
            <a:endParaRPr lang="en-US" altLang="zh-CN">
              <a:solidFill>
                <a:srgbClr val="000066"/>
              </a:solidFill>
            </a:endParaRPr>
          </a:p>
        </p:txBody>
      </p:sp>
      <p:pic>
        <p:nvPicPr>
          <p:cNvPr id="176133" name="Picture 5" descr="FB">
            <a:extLst>
              <a:ext uri="{FF2B5EF4-FFF2-40B4-BE49-F238E27FC236}">
                <a16:creationId xmlns:a16="http://schemas.microsoft.com/office/drawing/2014/main" id="{BE5C4CD9-8597-E519-CBFB-C323AA1A8D6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982913"/>
            <a:ext cx="2317750" cy="273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6134" name="Group 6">
            <a:extLst>
              <a:ext uri="{FF2B5EF4-FFF2-40B4-BE49-F238E27FC236}">
                <a16:creationId xmlns:a16="http://schemas.microsoft.com/office/drawing/2014/main" id="{B81DD6A9-0951-9CDC-21F3-AC3465D320F0}"/>
              </a:ext>
            </a:extLst>
          </p:cNvPr>
          <p:cNvGrpSpPr>
            <a:grpSpLocks/>
          </p:cNvGrpSpPr>
          <p:nvPr/>
        </p:nvGrpSpPr>
        <p:grpSpPr bwMode="auto">
          <a:xfrm>
            <a:off x="4600575" y="3244850"/>
            <a:ext cx="2105025" cy="2520950"/>
            <a:chOff x="3969" y="754"/>
            <a:chExt cx="1507" cy="1624"/>
          </a:xfrm>
        </p:grpSpPr>
        <p:sp>
          <p:nvSpPr>
            <p:cNvPr id="176135" name="Freeform 7">
              <a:extLst>
                <a:ext uri="{FF2B5EF4-FFF2-40B4-BE49-F238E27FC236}">
                  <a16:creationId xmlns:a16="http://schemas.microsoft.com/office/drawing/2014/main" id="{C54BD2A9-F582-A2AC-4916-B58B1ACD6411}"/>
                </a:ext>
              </a:extLst>
            </p:cNvPr>
            <p:cNvSpPr>
              <a:spLocks/>
            </p:cNvSpPr>
            <p:nvPr/>
          </p:nvSpPr>
          <p:spPr bwMode="auto">
            <a:xfrm rot="1216975">
              <a:off x="3969" y="754"/>
              <a:ext cx="1507" cy="1520"/>
            </a:xfrm>
            <a:custGeom>
              <a:avLst/>
              <a:gdLst>
                <a:gd name="T0" fmla="*/ 273 w 946"/>
                <a:gd name="T1" fmla="*/ 0 h 1087"/>
                <a:gd name="T2" fmla="*/ 360 w 946"/>
                <a:gd name="T3" fmla="*/ 21 h 1087"/>
                <a:gd name="T4" fmla="*/ 405 w 946"/>
                <a:gd name="T5" fmla="*/ 36 h 1087"/>
                <a:gd name="T6" fmla="*/ 480 w 946"/>
                <a:gd name="T7" fmla="*/ 96 h 1087"/>
                <a:gd name="T8" fmla="*/ 525 w 946"/>
                <a:gd name="T9" fmla="*/ 126 h 1087"/>
                <a:gd name="T10" fmla="*/ 570 w 946"/>
                <a:gd name="T11" fmla="*/ 141 h 1087"/>
                <a:gd name="T12" fmla="*/ 615 w 946"/>
                <a:gd name="T13" fmla="*/ 186 h 1087"/>
                <a:gd name="T14" fmla="*/ 660 w 946"/>
                <a:gd name="T15" fmla="*/ 216 h 1087"/>
                <a:gd name="T16" fmla="*/ 705 w 946"/>
                <a:gd name="T17" fmla="*/ 261 h 1087"/>
                <a:gd name="T18" fmla="*/ 750 w 946"/>
                <a:gd name="T19" fmla="*/ 321 h 1087"/>
                <a:gd name="T20" fmla="*/ 795 w 946"/>
                <a:gd name="T21" fmla="*/ 351 h 1087"/>
                <a:gd name="T22" fmla="*/ 825 w 946"/>
                <a:gd name="T23" fmla="*/ 396 h 1087"/>
                <a:gd name="T24" fmla="*/ 840 w 946"/>
                <a:gd name="T25" fmla="*/ 441 h 1087"/>
                <a:gd name="T26" fmla="*/ 870 w 946"/>
                <a:gd name="T27" fmla="*/ 486 h 1087"/>
                <a:gd name="T28" fmla="*/ 885 w 946"/>
                <a:gd name="T29" fmla="*/ 531 h 1087"/>
                <a:gd name="T30" fmla="*/ 915 w 946"/>
                <a:gd name="T31" fmla="*/ 591 h 1087"/>
                <a:gd name="T32" fmla="*/ 930 w 946"/>
                <a:gd name="T33" fmla="*/ 651 h 1087"/>
                <a:gd name="T34" fmla="*/ 930 w 946"/>
                <a:gd name="T35" fmla="*/ 711 h 1087"/>
                <a:gd name="T36" fmla="*/ 945 w 946"/>
                <a:gd name="T37" fmla="*/ 756 h 1087"/>
                <a:gd name="T38" fmla="*/ 945 w 946"/>
                <a:gd name="T39" fmla="*/ 801 h 1087"/>
                <a:gd name="T40" fmla="*/ 945 w 946"/>
                <a:gd name="T41" fmla="*/ 861 h 1087"/>
                <a:gd name="T42" fmla="*/ 945 w 946"/>
                <a:gd name="T43" fmla="*/ 906 h 1087"/>
                <a:gd name="T44" fmla="*/ 930 w 946"/>
                <a:gd name="T45" fmla="*/ 951 h 1087"/>
                <a:gd name="T46" fmla="*/ 930 w 946"/>
                <a:gd name="T47" fmla="*/ 996 h 1087"/>
                <a:gd name="T48" fmla="*/ 900 w 946"/>
                <a:gd name="T49" fmla="*/ 1041 h 1087"/>
                <a:gd name="T50" fmla="*/ 855 w 946"/>
                <a:gd name="T51" fmla="*/ 1056 h 1087"/>
                <a:gd name="T52" fmla="*/ 810 w 946"/>
                <a:gd name="T53" fmla="*/ 1071 h 1087"/>
                <a:gd name="T54" fmla="*/ 765 w 946"/>
                <a:gd name="T55" fmla="*/ 1086 h 1087"/>
                <a:gd name="T56" fmla="*/ 720 w 946"/>
                <a:gd name="T57" fmla="*/ 1056 h 1087"/>
                <a:gd name="T58" fmla="*/ 675 w 946"/>
                <a:gd name="T59" fmla="*/ 1011 h 1087"/>
                <a:gd name="T60" fmla="*/ 630 w 946"/>
                <a:gd name="T61" fmla="*/ 981 h 1087"/>
                <a:gd name="T62" fmla="*/ 585 w 946"/>
                <a:gd name="T63" fmla="*/ 921 h 1087"/>
                <a:gd name="T64" fmla="*/ 540 w 946"/>
                <a:gd name="T65" fmla="*/ 891 h 1087"/>
                <a:gd name="T66" fmla="*/ 495 w 946"/>
                <a:gd name="T67" fmla="*/ 846 h 1087"/>
                <a:gd name="T68" fmla="*/ 465 w 946"/>
                <a:gd name="T69" fmla="*/ 801 h 1087"/>
                <a:gd name="T70" fmla="*/ 420 w 946"/>
                <a:gd name="T71" fmla="*/ 771 h 1087"/>
                <a:gd name="T72" fmla="*/ 375 w 946"/>
                <a:gd name="T73" fmla="*/ 726 h 1087"/>
                <a:gd name="T74" fmla="*/ 330 w 946"/>
                <a:gd name="T75" fmla="*/ 681 h 1087"/>
                <a:gd name="T76" fmla="*/ 285 w 946"/>
                <a:gd name="T77" fmla="*/ 651 h 1087"/>
                <a:gd name="T78" fmla="*/ 240 w 946"/>
                <a:gd name="T79" fmla="*/ 621 h 1087"/>
                <a:gd name="T80" fmla="*/ 195 w 946"/>
                <a:gd name="T81" fmla="*/ 576 h 1087"/>
                <a:gd name="T82" fmla="*/ 150 w 946"/>
                <a:gd name="T83" fmla="*/ 531 h 1087"/>
                <a:gd name="T84" fmla="*/ 105 w 946"/>
                <a:gd name="T85" fmla="*/ 486 h 1087"/>
                <a:gd name="T86" fmla="*/ 60 w 946"/>
                <a:gd name="T87" fmla="*/ 441 h 1087"/>
                <a:gd name="T88" fmla="*/ 45 w 946"/>
                <a:gd name="T89" fmla="*/ 396 h 1087"/>
                <a:gd name="T90" fmla="*/ 15 w 946"/>
                <a:gd name="T91" fmla="*/ 351 h 1087"/>
                <a:gd name="T92" fmla="*/ 0 w 946"/>
                <a:gd name="T93" fmla="*/ 306 h 1087"/>
                <a:gd name="T94" fmla="*/ 15 w 946"/>
                <a:gd name="T95" fmla="*/ 261 h 1087"/>
                <a:gd name="T96" fmla="*/ 45 w 946"/>
                <a:gd name="T97" fmla="*/ 216 h 1087"/>
                <a:gd name="T98" fmla="*/ 60 w 946"/>
                <a:gd name="T99" fmla="*/ 171 h 1087"/>
                <a:gd name="T100" fmla="*/ 105 w 946"/>
                <a:gd name="T101" fmla="*/ 141 h 1087"/>
                <a:gd name="T102" fmla="*/ 150 w 946"/>
                <a:gd name="T103" fmla="*/ 111 h 1087"/>
                <a:gd name="T104" fmla="*/ 195 w 946"/>
                <a:gd name="T105" fmla="*/ 81 h 1087"/>
                <a:gd name="T106" fmla="*/ 273 w 946"/>
                <a:gd name="T107" fmla="*/ 0 h 1087"/>
                <a:gd name="T108" fmla="*/ 273 w 946"/>
                <a:gd name="T109" fmla="*/ 0 h 10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46" h="1087">
                  <a:moveTo>
                    <a:pt x="273" y="0"/>
                  </a:moveTo>
                  <a:lnTo>
                    <a:pt x="360" y="21"/>
                  </a:lnTo>
                  <a:lnTo>
                    <a:pt x="405" y="36"/>
                  </a:lnTo>
                  <a:lnTo>
                    <a:pt x="480" y="96"/>
                  </a:lnTo>
                  <a:lnTo>
                    <a:pt x="525" y="126"/>
                  </a:lnTo>
                  <a:lnTo>
                    <a:pt x="570" y="141"/>
                  </a:lnTo>
                  <a:lnTo>
                    <a:pt x="615" y="186"/>
                  </a:lnTo>
                  <a:lnTo>
                    <a:pt x="660" y="216"/>
                  </a:lnTo>
                  <a:lnTo>
                    <a:pt x="705" y="261"/>
                  </a:lnTo>
                  <a:lnTo>
                    <a:pt x="750" y="321"/>
                  </a:lnTo>
                  <a:lnTo>
                    <a:pt x="795" y="351"/>
                  </a:lnTo>
                  <a:lnTo>
                    <a:pt x="825" y="396"/>
                  </a:lnTo>
                  <a:lnTo>
                    <a:pt x="840" y="441"/>
                  </a:lnTo>
                  <a:lnTo>
                    <a:pt x="870" y="486"/>
                  </a:lnTo>
                  <a:lnTo>
                    <a:pt x="885" y="531"/>
                  </a:lnTo>
                  <a:lnTo>
                    <a:pt x="915" y="591"/>
                  </a:lnTo>
                  <a:lnTo>
                    <a:pt x="930" y="651"/>
                  </a:lnTo>
                  <a:lnTo>
                    <a:pt x="930" y="711"/>
                  </a:lnTo>
                  <a:lnTo>
                    <a:pt x="945" y="756"/>
                  </a:lnTo>
                  <a:lnTo>
                    <a:pt x="945" y="801"/>
                  </a:lnTo>
                  <a:lnTo>
                    <a:pt x="945" y="861"/>
                  </a:lnTo>
                  <a:lnTo>
                    <a:pt x="945" y="906"/>
                  </a:lnTo>
                  <a:lnTo>
                    <a:pt x="930" y="951"/>
                  </a:lnTo>
                  <a:lnTo>
                    <a:pt x="930" y="996"/>
                  </a:lnTo>
                  <a:lnTo>
                    <a:pt x="900" y="1041"/>
                  </a:lnTo>
                  <a:lnTo>
                    <a:pt x="855" y="1056"/>
                  </a:lnTo>
                  <a:lnTo>
                    <a:pt x="810" y="1071"/>
                  </a:lnTo>
                  <a:lnTo>
                    <a:pt x="765" y="1086"/>
                  </a:lnTo>
                  <a:lnTo>
                    <a:pt x="720" y="1056"/>
                  </a:lnTo>
                  <a:lnTo>
                    <a:pt x="675" y="1011"/>
                  </a:lnTo>
                  <a:lnTo>
                    <a:pt x="630" y="981"/>
                  </a:lnTo>
                  <a:lnTo>
                    <a:pt x="585" y="921"/>
                  </a:lnTo>
                  <a:lnTo>
                    <a:pt x="540" y="891"/>
                  </a:lnTo>
                  <a:lnTo>
                    <a:pt x="495" y="846"/>
                  </a:lnTo>
                  <a:lnTo>
                    <a:pt x="465" y="801"/>
                  </a:lnTo>
                  <a:lnTo>
                    <a:pt x="420" y="771"/>
                  </a:lnTo>
                  <a:lnTo>
                    <a:pt x="375" y="726"/>
                  </a:lnTo>
                  <a:lnTo>
                    <a:pt x="330" y="681"/>
                  </a:lnTo>
                  <a:lnTo>
                    <a:pt x="285" y="651"/>
                  </a:lnTo>
                  <a:lnTo>
                    <a:pt x="240" y="621"/>
                  </a:lnTo>
                  <a:lnTo>
                    <a:pt x="195" y="576"/>
                  </a:lnTo>
                  <a:lnTo>
                    <a:pt x="150" y="531"/>
                  </a:lnTo>
                  <a:lnTo>
                    <a:pt x="105" y="486"/>
                  </a:lnTo>
                  <a:lnTo>
                    <a:pt x="60" y="441"/>
                  </a:lnTo>
                  <a:lnTo>
                    <a:pt x="45" y="396"/>
                  </a:lnTo>
                  <a:lnTo>
                    <a:pt x="15" y="351"/>
                  </a:lnTo>
                  <a:lnTo>
                    <a:pt x="0" y="306"/>
                  </a:lnTo>
                  <a:lnTo>
                    <a:pt x="15" y="261"/>
                  </a:lnTo>
                  <a:lnTo>
                    <a:pt x="45" y="216"/>
                  </a:lnTo>
                  <a:lnTo>
                    <a:pt x="60" y="171"/>
                  </a:lnTo>
                  <a:lnTo>
                    <a:pt x="105" y="141"/>
                  </a:lnTo>
                  <a:lnTo>
                    <a:pt x="150" y="111"/>
                  </a:lnTo>
                  <a:lnTo>
                    <a:pt x="195" y="81"/>
                  </a:lnTo>
                  <a:lnTo>
                    <a:pt x="273" y="0"/>
                  </a:lnTo>
                </a:path>
              </a:pathLst>
            </a:cu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100000">
                  <a:schemeClr val="hlink"/>
                </a:gs>
              </a:gsLst>
              <a:lin ang="18900000" scaled="1"/>
            </a:gradFill>
            <a:ln w="15875" cap="rnd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2534" name="Rectangle 8">
              <a:extLst>
                <a:ext uri="{FF2B5EF4-FFF2-40B4-BE49-F238E27FC236}">
                  <a16:creationId xmlns:a16="http://schemas.microsoft.com/office/drawing/2014/main" id="{7B4047EB-83E1-8394-DBB3-945BF9D6F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799"/>
              <a:ext cx="315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chemeClr val="tx2"/>
                  </a:solidFill>
                </a:rPr>
                <a:t>O</a:t>
              </a:r>
            </a:p>
          </p:txBody>
        </p:sp>
        <p:sp>
          <p:nvSpPr>
            <p:cNvPr id="22535" name="Rectangle 9">
              <a:extLst>
                <a:ext uri="{FF2B5EF4-FFF2-40B4-BE49-F238E27FC236}">
                  <a16:creationId xmlns:a16="http://schemas.microsoft.com/office/drawing/2014/main" id="{DDF011FC-2C9F-5BCE-0BED-A53D13492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0" y="1551"/>
              <a:ext cx="316" cy="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500" i="1">
                  <a:solidFill>
                    <a:srgbClr val="990000"/>
                  </a:solidFill>
                </a:rPr>
                <a:t>Ｃ</a:t>
              </a:r>
            </a:p>
          </p:txBody>
        </p:sp>
        <p:sp>
          <p:nvSpPr>
            <p:cNvPr id="22536" name="Line 10">
              <a:extLst>
                <a:ext uri="{FF2B5EF4-FFF2-40B4-BE49-F238E27FC236}">
                  <a16:creationId xmlns:a16="http://schemas.microsoft.com/office/drawing/2014/main" id="{9AB58562-A93C-4E3C-FBBF-CEDE6A1374A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119812">
              <a:off x="4436" y="1112"/>
              <a:ext cx="607" cy="5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7" name="Rectangle 11">
              <a:extLst>
                <a:ext uri="{FF2B5EF4-FFF2-40B4-BE49-F238E27FC236}">
                  <a16:creationId xmlns:a16="http://schemas.microsoft.com/office/drawing/2014/main" id="{61C07EAA-2DB1-911B-2B06-89E43931B8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6" y="1347"/>
              <a:ext cx="132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endParaRPr lang="zh-CN" altLang="zh-CN" sz="2800" i="1">
                <a:solidFill>
                  <a:srgbClr val="000092"/>
                </a:solidFill>
              </a:endParaRPr>
            </a:p>
          </p:txBody>
        </p:sp>
        <p:sp>
          <p:nvSpPr>
            <p:cNvPr id="22538" name="Line 12">
              <a:extLst>
                <a:ext uri="{FF2B5EF4-FFF2-40B4-BE49-F238E27FC236}">
                  <a16:creationId xmlns:a16="http://schemas.microsoft.com/office/drawing/2014/main" id="{03A2A6BB-B260-19C6-1AE6-F5B7D3789C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0" y="1045"/>
              <a:ext cx="0" cy="133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9" name="Line 13">
              <a:extLst>
                <a:ext uri="{FF2B5EF4-FFF2-40B4-BE49-F238E27FC236}">
                  <a16:creationId xmlns:a16="http://schemas.microsoft.com/office/drawing/2014/main" id="{7D591072-FC99-0E2B-C1DF-41D13DA00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8" y="1722"/>
              <a:ext cx="0" cy="566"/>
            </a:xfrm>
            <a:prstGeom prst="line">
              <a:avLst/>
            </a:prstGeom>
            <a:noFill/>
            <a:ln w="34925">
              <a:solidFill>
                <a:srgbClr val="FF3300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0" name="Text Box 14">
              <a:extLst>
                <a:ext uri="{FF2B5EF4-FFF2-40B4-BE49-F238E27FC236}">
                  <a16:creationId xmlns:a16="http://schemas.microsoft.com/office/drawing/2014/main" id="{6D432157-B350-AA46-6D91-1C17016971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1" y="1878"/>
              <a:ext cx="529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i="1"/>
                <a:t>mg</a:t>
              </a:r>
            </a:p>
          </p:txBody>
        </p:sp>
        <p:sp>
          <p:nvSpPr>
            <p:cNvPr id="22541" name="Rectangle 15">
              <a:extLst>
                <a:ext uri="{FF2B5EF4-FFF2-40B4-BE49-F238E27FC236}">
                  <a16:creationId xmlns:a16="http://schemas.microsoft.com/office/drawing/2014/main" id="{469FFC1A-DA47-ACDC-5B15-0942145D1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" y="1117"/>
              <a:ext cx="20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chemeClr val="tx2"/>
                  </a:solidFill>
                </a:rPr>
                <a:t>l</a:t>
              </a:r>
            </a:p>
          </p:txBody>
        </p:sp>
        <p:sp>
          <p:nvSpPr>
            <p:cNvPr id="22542" name="Rectangle 16">
              <a:extLst>
                <a:ext uri="{FF2B5EF4-FFF2-40B4-BE49-F238E27FC236}">
                  <a16:creationId xmlns:a16="http://schemas.microsoft.com/office/drawing/2014/main" id="{B0E08FBF-29B6-C674-D6E9-97258594F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1236"/>
              <a:ext cx="265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 sz="2800" i="1">
                  <a:sym typeface="Symbol" panose="05050102010706020507" pitchFamily="18" charset="2"/>
                </a:rPr>
                <a:t></a:t>
              </a:r>
              <a:endParaRPr lang="en-US" altLang="zh-CN" sz="2800" i="1"/>
            </a:p>
          </p:txBody>
        </p:sp>
        <p:sp>
          <p:nvSpPr>
            <p:cNvPr id="22543" name="Freeform 17">
              <a:extLst>
                <a:ext uri="{FF2B5EF4-FFF2-40B4-BE49-F238E27FC236}">
                  <a16:creationId xmlns:a16="http://schemas.microsoft.com/office/drawing/2014/main" id="{B9348A5F-11E1-2177-AB99-46127BF02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1249"/>
              <a:ext cx="115" cy="41"/>
            </a:xfrm>
            <a:custGeom>
              <a:avLst/>
              <a:gdLst>
                <a:gd name="T0" fmla="*/ 0 w 144"/>
                <a:gd name="T1" fmla="*/ 5 h 48"/>
                <a:gd name="T2" fmla="*/ 2 w 144"/>
                <a:gd name="T3" fmla="*/ 3 h 48"/>
                <a:gd name="T4" fmla="*/ 5 w 144"/>
                <a:gd name="T5" fmla="*/ 0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" h="48">
                  <a:moveTo>
                    <a:pt x="0" y="48"/>
                  </a:moveTo>
                  <a:cubicBezTo>
                    <a:pt x="12" y="46"/>
                    <a:pt x="48" y="44"/>
                    <a:pt x="72" y="36"/>
                  </a:cubicBezTo>
                  <a:cubicBezTo>
                    <a:pt x="96" y="28"/>
                    <a:pt x="129" y="7"/>
                    <a:pt x="144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625" name="Group 33">
            <a:extLst>
              <a:ext uri="{FF2B5EF4-FFF2-40B4-BE49-F238E27FC236}">
                <a16:creationId xmlns:a16="http://schemas.microsoft.com/office/drawing/2014/main" id="{97183584-BEF3-31A6-8CE2-00681B29D756}"/>
              </a:ext>
            </a:extLst>
          </p:cNvPr>
          <p:cNvGrpSpPr>
            <a:grpSpLocks/>
          </p:cNvGrpSpPr>
          <p:nvPr/>
        </p:nvGrpSpPr>
        <p:grpSpPr bwMode="auto">
          <a:xfrm>
            <a:off x="6715125" y="3357563"/>
            <a:ext cx="2105025" cy="2520950"/>
            <a:chOff x="3969" y="754"/>
            <a:chExt cx="1507" cy="1624"/>
          </a:xfrm>
        </p:grpSpPr>
        <p:sp>
          <p:nvSpPr>
            <p:cNvPr id="110598" name="Freeform 6">
              <a:extLst>
                <a:ext uri="{FF2B5EF4-FFF2-40B4-BE49-F238E27FC236}">
                  <a16:creationId xmlns:a16="http://schemas.microsoft.com/office/drawing/2014/main" id="{5BF410DC-8E0B-52F6-84CE-0D5868958820}"/>
                </a:ext>
              </a:extLst>
            </p:cNvPr>
            <p:cNvSpPr>
              <a:spLocks/>
            </p:cNvSpPr>
            <p:nvPr/>
          </p:nvSpPr>
          <p:spPr bwMode="auto">
            <a:xfrm rot="1216975">
              <a:off x="3969" y="754"/>
              <a:ext cx="1507" cy="1520"/>
            </a:xfrm>
            <a:custGeom>
              <a:avLst/>
              <a:gdLst>
                <a:gd name="T0" fmla="*/ 273 w 946"/>
                <a:gd name="T1" fmla="*/ 0 h 1087"/>
                <a:gd name="T2" fmla="*/ 360 w 946"/>
                <a:gd name="T3" fmla="*/ 21 h 1087"/>
                <a:gd name="T4" fmla="*/ 405 w 946"/>
                <a:gd name="T5" fmla="*/ 36 h 1087"/>
                <a:gd name="T6" fmla="*/ 480 w 946"/>
                <a:gd name="T7" fmla="*/ 96 h 1087"/>
                <a:gd name="T8" fmla="*/ 525 w 946"/>
                <a:gd name="T9" fmla="*/ 126 h 1087"/>
                <a:gd name="T10" fmla="*/ 570 w 946"/>
                <a:gd name="T11" fmla="*/ 141 h 1087"/>
                <a:gd name="T12" fmla="*/ 615 w 946"/>
                <a:gd name="T13" fmla="*/ 186 h 1087"/>
                <a:gd name="T14" fmla="*/ 660 w 946"/>
                <a:gd name="T15" fmla="*/ 216 h 1087"/>
                <a:gd name="T16" fmla="*/ 705 w 946"/>
                <a:gd name="T17" fmla="*/ 261 h 1087"/>
                <a:gd name="T18" fmla="*/ 750 w 946"/>
                <a:gd name="T19" fmla="*/ 321 h 1087"/>
                <a:gd name="T20" fmla="*/ 795 w 946"/>
                <a:gd name="T21" fmla="*/ 351 h 1087"/>
                <a:gd name="T22" fmla="*/ 825 w 946"/>
                <a:gd name="T23" fmla="*/ 396 h 1087"/>
                <a:gd name="T24" fmla="*/ 840 w 946"/>
                <a:gd name="T25" fmla="*/ 441 h 1087"/>
                <a:gd name="T26" fmla="*/ 870 w 946"/>
                <a:gd name="T27" fmla="*/ 486 h 1087"/>
                <a:gd name="T28" fmla="*/ 885 w 946"/>
                <a:gd name="T29" fmla="*/ 531 h 1087"/>
                <a:gd name="T30" fmla="*/ 915 w 946"/>
                <a:gd name="T31" fmla="*/ 591 h 1087"/>
                <a:gd name="T32" fmla="*/ 930 w 946"/>
                <a:gd name="T33" fmla="*/ 651 h 1087"/>
                <a:gd name="T34" fmla="*/ 930 w 946"/>
                <a:gd name="T35" fmla="*/ 711 h 1087"/>
                <a:gd name="T36" fmla="*/ 945 w 946"/>
                <a:gd name="T37" fmla="*/ 756 h 1087"/>
                <a:gd name="T38" fmla="*/ 945 w 946"/>
                <a:gd name="T39" fmla="*/ 801 h 1087"/>
                <a:gd name="T40" fmla="*/ 945 w 946"/>
                <a:gd name="T41" fmla="*/ 861 h 1087"/>
                <a:gd name="T42" fmla="*/ 945 w 946"/>
                <a:gd name="T43" fmla="*/ 906 h 1087"/>
                <a:gd name="T44" fmla="*/ 930 w 946"/>
                <a:gd name="T45" fmla="*/ 951 h 1087"/>
                <a:gd name="T46" fmla="*/ 930 w 946"/>
                <a:gd name="T47" fmla="*/ 996 h 1087"/>
                <a:gd name="T48" fmla="*/ 900 w 946"/>
                <a:gd name="T49" fmla="*/ 1041 h 1087"/>
                <a:gd name="T50" fmla="*/ 855 w 946"/>
                <a:gd name="T51" fmla="*/ 1056 h 1087"/>
                <a:gd name="T52" fmla="*/ 810 w 946"/>
                <a:gd name="T53" fmla="*/ 1071 h 1087"/>
                <a:gd name="T54" fmla="*/ 765 w 946"/>
                <a:gd name="T55" fmla="*/ 1086 h 1087"/>
                <a:gd name="T56" fmla="*/ 720 w 946"/>
                <a:gd name="T57" fmla="*/ 1056 h 1087"/>
                <a:gd name="T58" fmla="*/ 675 w 946"/>
                <a:gd name="T59" fmla="*/ 1011 h 1087"/>
                <a:gd name="T60" fmla="*/ 630 w 946"/>
                <a:gd name="T61" fmla="*/ 981 h 1087"/>
                <a:gd name="T62" fmla="*/ 585 w 946"/>
                <a:gd name="T63" fmla="*/ 921 h 1087"/>
                <a:gd name="T64" fmla="*/ 540 w 946"/>
                <a:gd name="T65" fmla="*/ 891 h 1087"/>
                <a:gd name="T66" fmla="*/ 495 w 946"/>
                <a:gd name="T67" fmla="*/ 846 h 1087"/>
                <a:gd name="T68" fmla="*/ 465 w 946"/>
                <a:gd name="T69" fmla="*/ 801 h 1087"/>
                <a:gd name="T70" fmla="*/ 420 w 946"/>
                <a:gd name="T71" fmla="*/ 771 h 1087"/>
                <a:gd name="T72" fmla="*/ 375 w 946"/>
                <a:gd name="T73" fmla="*/ 726 h 1087"/>
                <a:gd name="T74" fmla="*/ 330 w 946"/>
                <a:gd name="T75" fmla="*/ 681 h 1087"/>
                <a:gd name="T76" fmla="*/ 285 w 946"/>
                <a:gd name="T77" fmla="*/ 651 h 1087"/>
                <a:gd name="T78" fmla="*/ 240 w 946"/>
                <a:gd name="T79" fmla="*/ 621 h 1087"/>
                <a:gd name="T80" fmla="*/ 195 w 946"/>
                <a:gd name="T81" fmla="*/ 576 h 1087"/>
                <a:gd name="T82" fmla="*/ 150 w 946"/>
                <a:gd name="T83" fmla="*/ 531 h 1087"/>
                <a:gd name="T84" fmla="*/ 105 w 946"/>
                <a:gd name="T85" fmla="*/ 486 h 1087"/>
                <a:gd name="T86" fmla="*/ 60 w 946"/>
                <a:gd name="T87" fmla="*/ 441 h 1087"/>
                <a:gd name="T88" fmla="*/ 45 w 946"/>
                <a:gd name="T89" fmla="*/ 396 h 1087"/>
                <a:gd name="T90" fmla="*/ 15 w 946"/>
                <a:gd name="T91" fmla="*/ 351 h 1087"/>
                <a:gd name="T92" fmla="*/ 0 w 946"/>
                <a:gd name="T93" fmla="*/ 306 h 1087"/>
                <a:gd name="T94" fmla="*/ 15 w 946"/>
                <a:gd name="T95" fmla="*/ 261 h 1087"/>
                <a:gd name="T96" fmla="*/ 45 w 946"/>
                <a:gd name="T97" fmla="*/ 216 h 1087"/>
                <a:gd name="T98" fmla="*/ 60 w 946"/>
                <a:gd name="T99" fmla="*/ 171 h 1087"/>
                <a:gd name="T100" fmla="*/ 105 w 946"/>
                <a:gd name="T101" fmla="*/ 141 h 1087"/>
                <a:gd name="T102" fmla="*/ 150 w 946"/>
                <a:gd name="T103" fmla="*/ 111 h 1087"/>
                <a:gd name="T104" fmla="*/ 195 w 946"/>
                <a:gd name="T105" fmla="*/ 81 h 1087"/>
                <a:gd name="T106" fmla="*/ 273 w 946"/>
                <a:gd name="T107" fmla="*/ 0 h 1087"/>
                <a:gd name="T108" fmla="*/ 273 w 946"/>
                <a:gd name="T109" fmla="*/ 0 h 10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46" h="1087">
                  <a:moveTo>
                    <a:pt x="273" y="0"/>
                  </a:moveTo>
                  <a:lnTo>
                    <a:pt x="360" y="21"/>
                  </a:lnTo>
                  <a:lnTo>
                    <a:pt x="405" y="36"/>
                  </a:lnTo>
                  <a:lnTo>
                    <a:pt x="480" y="96"/>
                  </a:lnTo>
                  <a:lnTo>
                    <a:pt x="525" y="126"/>
                  </a:lnTo>
                  <a:lnTo>
                    <a:pt x="570" y="141"/>
                  </a:lnTo>
                  <a:lnTo>
                    <a:pt x="615" y="186"/>
                  </a:lnTo>
                  <a:lnTo>
                    <a:pt x="660" y="216"/>
                  </a:lnTo>
                  <a:lnTo>
                    <a:pt x="705" y="261"/>
                  </a:lnTo>
                  <a:lnTo>
                    <a:pt x="750" y="321"/>
                  </a:lnTo>
                  <a:lnTo>
                    <a:pt x="795" y="351"/>
                  </a:lnTo>
                  <a:lnTo>
                    <a:pt x="825" y="396"/>
                  </a:lnTo>
                  <a:lnTo>
                    <a:pt x="840" y="441"/>
                  </a:lnTo>
                  <a:lnTo>
                    <a:pt x="870" y="486"/>
                  </a:lnTo>
                  <a:lnTo>
                    <a:pt x="885" y="531"/>
                  </a:lnTo>
                  <a:lnTo>
                    <a:pt x="915" y="591"/>
                  </a:lnTo>
                  <a:lnTo>
                    <a:pt x="930" y="651"/>
                  </a:lnTo>
                  <a:lnTo>
                    <a:pt x="930" y="711"/>
                  </a:lnTo>
                  <a:lnTo>
                    <a:pt x="945" y="756"/>
                  </a:lnTo>
                  <a:lnTo>
                    <a:pt x="945" y="801"/>
                  </a:lnTo>
                  <a:lnTo>
                    <a:pt x="945" y="861"/>
                  </a:lnTo>
                  <a:lnTo>
                    <a:pt x="945" y="906"/>
                  </a:lnTo>
                  <a:lnTo>
                    <a:pt x="930" y="951"/>
                  </a:lnTo>
                  <a:lnTo>
                    <a:pt x="930" y="996"/>
                  </a:lnTo>
                  <a:lnTo>
                    <a:pt x="900" y="1041"/>
                  </a:lnTo>
                  <a:lnTo>
                    <a:pt x="855" y="1056"/>
                  </a:lnTo>
                  <a:lnTo>
                    <a:pt x="810" y="1071"/>
                  </a:lnTo>
                  <a:lnTo>
                    <a:pt x="765" y="1086"/>
                  </a:lnTo>
                  <a:lnTo>
                    <a:pt x="720" y="1056"/>
                  </a:lnTo>
                  <a:lnTo>
                    <a:pt x="675" y="1011"/>
                  </a:lnTo>
                  <a:lnTo>
                    <a:pt x="630" y="981"/>
                  </a:lnTo>
                  <a:lnTo>
                    <a:pt x="585" y="921"/>
                  </a:lnTo>
                  <a:lnTo>
                    <a:pt x="540" y="891"/>
                  </a:lnTo>
                  <a:lnTo>
                    <a:pt x="495" y="846"/>
                  </a:lnTo>
                  <a:lnTo>
                    <a:pt x="465" y="801"/>
                  </a:lnTo>
                  <a:lnTo>
                    <a:pt x="420" y="771"/>
                  </a:lnTo>
                  <a:lnTo>
                    <a:pt x="375" y="726"/>
                  </a:lnTo>
                  <a:lnTo>
                    <a:pt x="330" y="681"/>
                  </a:lnTo>
                  <a:lnTo>
                    <a:pt x="285" y="651"/>
                  </a:lnTo>
                  <a:lnTo>
                    <a:pt x="240" y="621"/>
                  </a:lnTo>
                  <a:lnTo>
                    <a:pt x="195" y="576"/>
                  </a:lnTo>
                  <a:lnTo>
                    <a:pt x="150" y="531"/>
                  </a:lnTo>
                  <a:lnTo>
                    <a:pt x="105" y="486"/>
                  </a:lnTo>
                  <a:lnTo>
                    <a:pt x="60" y="441"/>
                  </a:lnTo>
                  <a:lnTo>
                    <a:pt x="45" y="396"/>
                  </a:lnTo>
                  <a:lnTo>
                    <a:pt x="15" y="351"/>
                  </a:lnTo>
                  <a:lnTo>
                    <a:pt x="0" y="306"/>
                  </a:lnTo>
                  <a:lnTo>
                    <a:pt x="15" y="261"/>
                  </a:lnTo>
                  <a:lnTo>
                    <a:pt x="45" y="216"/>
                  </a:lnTo>
                  <a:lnTo>
                    <a:pt x="60" y="171"/>
                  </a:lnTo>
                  <a:lnTo>
                    <a:pt x="105" y="141"/>
                  </a:lnTo>
                  <a:lnTo>
                    <a:pt x="150" y="111"/>
                  </a:lnTo>
                  <a:lnTo>
                    <a:pt x="195" y="81"/>
                  </a:lnTo>
                  <a:lnTo>
                    <a:pt x="273" y="0"/>
                  </a:lnTo>
                </a:path>
              </a:pathLst>
            </a:cu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100000">
                  <a:schemeClr val="hlink"/>
                </a:gs>
              </a:gsLst>
              <a:lin ang="18900000" scaled="1"/>
            </a:gradFill>
            <a:ln w="15875" cap="rnd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3578" name="Rectangle 7">
              <a:extLst>
                <a:ext uri="{FF2B5EF4-FFF2-40B4-BE49-F238E27FC236}">
                  <a16:creationId xmlns:a16="http://schemas.microsoft.com/office/drawing/2014/main" id="{CA2D9617-FC99-3E0E-1508-0A7B8689D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799"/>
              <a:ext cx="315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chemeClr val="tx2"/>
                  </a:solidFill>
                </a:rPr>
                <a:t>O</a:t>
              </a:r>
            </a:p>
          </p:txBody>
        </p:sp>
        <p:sp>
          <p:nvSpPr>
            <p:cNvPr id="23579" name="Rectangle 8">
              <a:extLst>
                <a:ext uri="{FF2B5EF4-FFF2-40B4-BE49-F238E27FC236}">
                  <a16:creationId xmlns:a16="http://schemas.microsoft.com/office/drawing/2014/main" id="{ABB6305B-DE7F-4358-4930-FDE6892EF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0" y="1551"/>
              <a:ext cx="316" cy="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500" i="1">
                  <a:solidFill>
                    <a:srgbClr val="990000"/>
                  </a:solidFill>
                </a:rPr>
                <a:t>Ｃ</a:t>
              </a:r>
            </a:p>
          </p:txBody>
        </p:sp>
        <p:sp>
          <p:nvSpPr>
            <p:cNvPr id="23580" name="Line 9">
              <a:extLst>
                <a:ext uri="{FF2B5EF4-FFF2-40B4-BE49-F238E27FC236}">
                  <a16:creationId xmlns:a16="http://schemas.microsoft.com/office/drawing/2014/main" id="{1317173B-18E3-7FEC-A03B-2747D61021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119812">
              <a:off x="4436" y="1112"/>
              <a:ext cx="607" cy="5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1" name="Rectangle 10">
              <a:extLst>
                <a:ext uri="{FF2B5EF4-FFF2-40B4-BE49-F238E27FC236}">
                  <a16:creationId xmlns:a16="http://schemas.microsoft.com/office/drawing/2014/main" id="{DA74644A-2385-624D-94D6-A1FA3FC49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6" y="1347"/>
              <a:ext cx="132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endParaRPr lang="zh-CN" altLang="zh-CN" sz="2800" i="1">
                <a:solidFill>
                  <a:srgbClr val="000092"/>
                </a:solidFill>
              </a:endParaRPr>
            </a:p>
          </p:txBody>
        </p:sp>
        <p:sp>
          <p:nvSpPr>
            <p:cNvPr id="23582" name="Line 11">
              <a:extLst>
                <a:ext uri="{FF2B5EF4-FFF2-40B4-BE49-F238E27FC236}">
                  <a16:creationId xmlns:a16="http://schemas.microsoft.com/office/drawing/2014/main" id="{B681C473-1F14-E41B-9105-2E11B4A67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0" y="1045"/>
              <a:ext cx="0" cy="133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3" name="Line 12">
              <a:extLst>
                <a:ext uri="{FF2B5EF4-FFF2-40B4-BE49-F238E27FC236}">
                  <a16:creationId xmlns:a16="http://schemas.microsoft.com/office/drawing/2014/main" id="{C2435260-4FB5-3B0B-CFA3-C0BC326C5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8" y="1722"/>
              <a:ext cx="0" cy="566"/>
            </a:xfrm>
            <a:prstGeom prst="line">
              <a:avLst/>
            </a:prstGeom>
            <a:noFill/>
            <a:ln w="34925">
              <a:solidFill>
                <a:srgbClr val="FF3300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4" name="Text Box 13">
              <a:extLst>
                <a:ext uri="{FF2B5EF4-FFF2-40B4-BE49-F238E27FC236}">
                  <a16:creationId xmlns:a16="http://schemas.microsoft.com/office/drawing/2014/main" id="{5B211AA9-A083-FBC2-2A75-7A27C9371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1" y="1878"/>
              <a:ext cx="529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i="1"/>
                <a:t>mg</a:t>
              </a:r>
            </a:p>
          </p:txBody>
        </p:sp>
        <p:sp>
          <p:nvSpPr>
            <p:cNvPr id="23585" name="Rectangle 14">
              <a:extLst>
                <a:ext uri="{FF2B5EF4-FFF2-40B4-BE49-F238E27FC236}">
                  <a16:creationId xmlns:a16="http://schemas.microsoft.com/office/drawing/2014/main" id="{B6E774F3-427A-1E3D-0BA4-063DAB219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" y="1117"/>
              <a:ext cx="20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chemeClr val="tx2"/>
                  </a:solidFill>
                </a:rPr>
                <a:t>l</a:t>
              </a:r>
            </a:p>
          </p:txBody>
        </p:sp>
        <p:sp>
          <p:nvSpPr>
            <p:cNvPr id="23586" name="Rectangle 15">
              <a:extLst>
                <a:ext uri="{FF2B5EF4-FFF2-40B4-BE49-F238E27FC236}">
                  <a16:creationId xmlns:a16="http://schemas.microsoft.com/office/drawing/2014/main" id="{F0701819-7062-178E-97FF-C0D25E4C5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1236"/>
              <a:ext cx="265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 sz="2800" i="1">
                  <a:sym typeface="Symbol" panose="05050102010706020507" pitchFamily="18" charset="2"/>
                </a:rPr>
                <a:t></a:t>
              </a:r>
              <a:endParaRPr lang="en-US" altLang="zh-CN" sz="2800" i="1"/>
            </a:p>
          </p:txBody>
        </p:sp>
        <p:sp>
          <p:nvSpPr>
            <p:cNvPr id="23587" name="Freeform 16">
              <a:extLst>
                <a:ext uri="{FF2B5EF4-FFF2-40B4-BE49-F238E27FC236}">
                  <a16:creationId xmlns:a16="http://schemas.microsoft.com/office/drawing/2014/main" id="{DE6993CF-56CA-3295-184A-4CB65EE9B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1249"/>
              <a:ext cx="115" cy="41"/>
            </a:xfrm>
            <a:custGeom>
              <a:avLst/>
              <a:gdLst>
                <a:gd name="T0" fmla="*/ 0 w 144"/>
                <a:gd name="T1" fmla="*/ 5 h 48"/>
                <a:gd name="T2" fmla="*/ 2 w 144"/>
                <a:gd name="T3" fmla="*/ 3 h 48"/>
                <a:gd name="T4" fmla="*/ 5 w 144"/>
                <a:gd name="T5" fmla="*/ 0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" h="48">
                  <a:moveTo>
                    <a:pt x="0" y="48"/>
                  </a:moveTo>
                  <a:cubicBezTo>
                    <a:pt x="12" y="46"/>
                    <a:pt x="48" y="44"/>
                    <a:pt x="72" y="36"/>
                  </a:cubicBezTo>
                  <a:cubicBezTo>
                    <a:pt x="96" y="28"/>
                    <a:pt x="129" y="7"/>
                    <a:pt x="144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0610" name="Rectangle 18">
            <a:extLst>
              <a:ext uri="{FF2B5EF4-FFF2-40B4-BE49-F238E27FC236}">
                <a16:creationId xmlns:a16="http://schemas.microsoft.com/office/drawing/2014/main" id="{4432FC30-1A54-A5A4-E922-724ABFA75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5157788"/>
            <a:ext cx="2390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100">
                <a:latin typeface="华文中宋" panose="02010600040101010101" pitchFamily="2" charset="-122"/>
              </a:rPr>
              <a:t>★</a:t>
            </a:r>
            <a:r>
              <a:rPr lang="en-US" altLang="zh-CN">
                <a:solidFill>
                  <a:srgbClr val="000080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说明</a:t>
            </a:r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:                 </a:t>
            </a:r>
          </a:p>
        </p:txBody>
      </p:sp>
      <p:sp>
        <p:nvSpPr>
          <p:cNvPr id="110611" name="Rectangle 19">
            <a:extLst>
              <a:ext uri="{FF2B5EF4-FFF2-40B4-BE49-F238E27FC236}">
                <a16:creationId xmlns:a16="http://schemas.microsoft.com/office/drawing/2014/main" id="{C91EA550-1385-0F03-57F9-53AC76F0D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162550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66"/>
                </a:solidFill>
              </a:rPr>
              <a:t>(1)</a:t>
            </a:r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小角度近似下为谐振动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。</a:t>
            </a:r>
          </a:p>
        </p:txBody>
      </p:sp>
      <p:graphicFrame>
        <p:nvGraphicFramePr>
          <p:cNvPr id="110615" name="Object 23">
            <a:extLst>
              <a:ext uri="{FF2B5EF4-FFF2-40B4-BE49-F238E27FC236}">
                <a16:creationId xmlns:a16="http://schemas.microsoft.com/office/drawing/2014/main" id="{1985F3C7-C0D6-8847-258E-BD7F497EFE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2963" y="2339975"/>
          <a:ext cx="2433637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52732" imgH="914400" progId="Equation.3">
                  <p:embed/>
                </p:oleObj>
              </mc:Choice>
              <mc:Fallback>
                <p:oleObj name="公式" r:id="rId2" imgW="2752732" imgH="9144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3" y="2339975"/>
                        <a:ext cx="2433637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0643" name="Group 51">
            <a:extLst>
              <a:ext uri="{FF2B5EF4-FFF2-40B4-BE49-F238E27FC236}">
                <a16:creationId xmlns:a16="http://schemas.microsoft.com/office/drawing/2014/main" id="{247ED1DD-8C19-F802-3128-846634AC1360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027113"/>
            <a:ext cx="4464050" cy="457200"/>
            <a:chOff x="295" y="618"/>
            <a:chExt cx="2948" cy="352"/>
          </a:xfrm>
        </p:grpSpPr>
        <p:sp>
          <p:nvSpPr>
            <p:cNvPr id="23575" name="Rectangle 20">
              <a:extLst>
                <a:ext uri="{FF2B5EF4-FFF2-40B4-BE49-F238E27FC236}">
                  <a16:creationId xmlns:a16="http://schemas.microsoft.com/office/drawing/2014/main" id="{0032B0C4-466B-548C-C1B9-DA4CA77F2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618"/>
              <a:ext cx="2325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系统受力矩</a:t>
              </a:r>
              <a:r>
                <a:rPr lang="en-US" altLang="zh-CN">
                  <a:solidFill>
                    <a:srgbClr val="000066"/>
                  </a:solidFill>
                  <a:latin typeface="华文中宋" panose="02010600040101010101" pitchFamily="2" charset="-122"/>
                </a:rPr>
                <a:t>:</a:t>
              </a:r>
            </a:p>
          </p:txBody>
        </p:sp>
        <p:graphicFrame>
          <p:nvGraphicFramePr>
            <p:cNvPr id="23576" name="Object 25">
              <a:extLst>
                <a:ext uri="{FF2B5EF4-FFF2-40B4-BE49-F238E27FC236}">
                  <a16:creationId xmlns:a16="http://schemas.microsoft.com/office/drawing/2014/main" id="{794D962E-6473-AAC4-6919-29CE9B4E6A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3" y="660"/>
            <a:ext cx="1710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714603" imgH="304800" progId="Equation.3">
                    <p:embed/>
                  </p:oleObj>
                </mc:Choice>
                <mc:Fallback>
                  <p:oleObj name="公式" r:id="rId4" imgW="2714603" imgH="3048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3" y="660"/>
                          <a:ext cx="1710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0644" name="Group 52">
            <a:extLst>
              <a:ext uri="{FF2B5EF4-FFF2-40B4-BE49-F238E27FC236}">
                <a16:creationId xmlns:a16="http://schemas.microsoft.com/office/drawing/2014/main" id="{583C6669-48D3-FA0E-E7A0-11FE766CCC6A}"/>
              </a:ext>
            </a:extLst>
          </p:cNvPr>
          <p:cNvGrpSpPr>
            <a:grpSpLocks/>
          </p:cNvGrpSpPr>
          <p:nvPr/>
        </p:nvGrpSpPr>
        <p:grpSpPr bwMode="auto">
          <a:xfrm>
            <a:off x="3706813" y="4076700"/>
            <a:ext cx="2952750" cy="952500"/>
            <a:chOff x="2290" y="2638"/>
            <a:chExt cx="1905" cy="666"/>
          </a:xfrm>
        </p:grpSpPr>
        <p:graphicFrame>
          <p:nvGraphicFramePr>
            <p:cNvPr id="23573" name="Object 28">
              <a:extLst>
                <a:ext uri="{FF2B5EF4-FFF2-40B4-BE49-F238E27FC236}">
                  <a16:creationId xmlns:a16="http://schemas.microsoft.com/office/drawing/2014/main" id="{FDD391BA-6E43-69F5-D8EB-4EA641C72B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01" y="2638"/>
            <a:ext cx="1294" cy="6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390856" imgH="952500" progId="Equation.3">
                    <p:embed/>
                  </p:oleObj>
                </mc:Choice>
                <mc:Fallback>
                  <p:oleObj name="公式" r:id="rId6" imgW="2390856" imgH="9525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1" y="2638"/>
                          <a:ext cx="1294" cy="6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4" name="Rectangle 29">
              <a:extLst>
                <a:ext uri="{FF2B5EF4-FFF2-40B4-BE49-F238E27FC236}">
                  <a16:creationId xmlns:a16="http://schemas.microsoft.com/office/drawing/2014/main" id="{B1BF61CC-B5FE-DE1D-05C6-DEC63EBC0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805"/>
              <a:ext cx="1499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周期：             </a:t>
              </a:r>
            </a:p>
          </p:txBody>
        </p:sp>
      </p:grpSp>
      <p:grpSp>
        <p:nvGrpSpPr>
          <p:cNvPr id="110638" name="Group 46">
            <a:extLst>
              <a:ext uri="{FF2B5EF4-FFF2-40B4-BE49-F238E27FC236}">
                <a16:creationId xmlns:a16="http://schemas.microsoft.com/office/drawing/2014/main" id="{9A5A2E4A-C333-85B3-CC0F-D218571E45CE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4097338"/>
            <a:ext cx="3167062" cy="915987"/>
            <a:chOff x="204" y="2717"/>
            <a:chExt cx="1950" cy="577"/>
          </a:xfrm>
        </p:grpSpPr>
        <p:graphicFrame>
          <p:nvGraphicFramePr>
            <p:cNvPr id="23571" name="Object 24">
              <a:extLst>
                <a:ext uri="{FF2B5EF4-FFF2-40B4-BE49-F238E27FC236}">
                  <a16:creationId xmlns:a16="http://schemas.microsoft.com/office/drawing/2014/main" id="{3367649D-3455-F5B8-8E4A-8ACB6F1FF4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20" y="2717"/>
            <a:ext cx="1134" cy="5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828800" imgH="876300" progId="Equation.3">
                    <p:embed/>
                  </p:oleObj>
                </mc:Choice>
                <mc:Fallback>
                  <p:oleObj name="公式" r:id="rId8" imgW="1828800" imgH="8763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2717"/>
                          <a:ext cx="1134" cy="5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2" name="Rectangle 30">
              <a:extLst>
                <a:ext uri="{FF2B5EF4-FFF2-40B4-BE49-F238E27FC236}">
                  <a16:creationId xmlns:a16="http://schemas.microsoft.com/office/drawing/2014/main" id="{784E09EB-58B2-2765-A728-CD3727A8B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2859"/>
              <a:ext cx="16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角频率</a:t>
              </a:r>
              <a:r>
                <a:rPr lang="zh-CN" altLang="en-US">
                  <a:solidFill>
                    <a:srgbClr val="000066"/>
                  </a:solidFill>
                  <a:latin typeface="华文中宋" panose="02010600040101010101" pitchFamily="2" charset="-122"/>
                </a:rPr>
                <a:t>：            </a:t>
              </a:r>
            </a:p>
          </p:txBody>
        </p:sp>
      </p:grpSp>
      <p:sp>
        <p:nvSpPr>
          <p:cNvPr id="110624" name="Rectangle 32">
            <a:extLst>
              <a:ext uri="{FF2B5EF4-FFF2-40B4-BE49-F238E27FC236}">
                <a16:creationId xmlns:a16="http://schemas.microsoft.com/office/drawing/2014/main" id="{24A1FF92-3566-CB26-157C-03F1464DF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628775"/>
            <a:ext cx="22844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600" i="1">
                <a:latin typeface="华文中宋" panose="02010600040101010101" pitchFamily="2" charset="-122"/>
                <a:sym typeface="Symbol" panose="05050102010706020507" pitchFamily="18" charset="2"/>
              </a:rPr>
              <a:t></a:t>
            </a:r>
            <a:r>
              <a:rPr lang="en-US" altLang="zh-CN" sz="2600" i="1">
                <a:solidFill>
                  <a:srgbClr val="000080"/>
                </a:solidFill>
                <a:latin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200">
                <a:solidFill>
                  <a:srgbClr val="000066"/>
                </a:solidFill>
                <a:latin typeface="华文中宋" panose="02010600040101010101" pitchFamily="2" charset="-122"/>
              </a:rPr>
              <a:t>很小时</a:t>
            </a:r>
            <a:r>
              <a:rPr lang="zh-CN" altLang="en-US">
                <a:solidFill>
                  <a:srgbClr val="000080"/>
                </a:solidFill>
                <a:latin typeface="华文中宋" panose="02010600040101010101" pitchFamily="2" charset="-122"/>
              </a:rPr>
              <a:t>          </a:t>
            </a:r>
          </a:p>
        </p:txBody>
      </p:sp>
      <p:pic>
        <p:nvPicPr>
          <p:cNvPr id="110628" name="Picture 36" descr="FB">
            <a:extLst>
              <a:ext uri="{FF2B5EF4-FFF2-40B4-BE49-F238E27FC236}">
                <a16:creationId xmlns:a16="http://schemas.microsoft.com/office/drawing/2014/main" id="{7293A8E4-98DB-9509-3ED3-0AA204247E6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00" y="333375"/>
            <a:ext cx="2317750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0642" name="Group 50">
            <a:extLst>
              <a:ext uri="{FF2B5EF4-FFF2-40B4-BE49-F238E27FC236}">
                <a16:creationId xmlns:a16="http://schemas.microsoft.com/office/drawing/2014/main" id="{2ACA3701-F2C8-C077-6DF2-B9E41CBA940E}"/>
              </a:ext>
            </a:extLst>
          </p:cNvPr>
          <p:cNvGrpSpPr>
            <a:grpSpLocks/>
          </p:cNvGrpSpPr>
          <p:nvPr/>
        </p:nvGrpSpPr>
        <p:grpSpPr bwMode="auto">
          <a:xfrm>
            <a:off x="1979613" y="1412875"/>
            <a:ext cx="3457575" cy="927100"/>
            <a:chOff x="1382" y="881"/>
            <a:chExt cx="2269" cy="638"/>
          </a:xfrm>
        </p:grpSpPr>
        <p:graphicFrame>
          <p:nvGraphicFramePr>
            <p:cNvPr id="23569" name="Object 38">
              <a:extLst>
                <a:ext uri="{FF2B5EF4-FFF2-40B4-BE49-F238E27FC236}">
                  <a16:creationId xmlns:a16="http://schemas.microsoft.com/office/drawing/2014/main" id="{FFCE6D10-7AF3-22A4-0433-7E3BA7A53F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2" y="881"/>
            <a:ext cx="1180" cy="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828800" imgH="933450" progId="Equation.3">
                    <p:embed/>
                  </p:oleObj>
                </mc:Choice>
                <mc:Fallback>
                  <p:oleObj name="公式" r:id="rId11" imgW="1828800" imgH="93345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2" y="881"/>
                          <a:ext cx="1180" cy="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0" name="Object 39">
              <a:extLst>
                <a:ext uri="{FF2B5EF4-FFF2-40B4-BE49-F238E27FC236}">
                  <a16:creationId xmlns:a16="http://schemas.microsoft.com/office/drawing/2014/main" id="{159A8A33-59BC-620A-03B0-B009D5F8D2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6" y="1112"/>
            <a:ext cx="1055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505053" imgH="295275" progId="Equation.3">
                    <p:embed/>
                  </p:oleObj>
                </mc:Choice>
                <mc:Fallback>
                  <p:oleObj name="公式" r:id="rId13" imgW="1505053" imgH="295275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6" y="1112"/>
                          <a:ext cx="1055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0632" name="Group 40">
            <a:extLst>
              <a:ext uri="{FF2B5EF4-FFF2-40B4-BE49-F238E27FC236}">
                <a16:creationId xmlns:a16="http://schemas.microsoft.com/office/drawing/2014/main" id="{E17ABCF1-D1EC-519E-336A-A9396C9C0F37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500438"/>
            <a:ext cx="4679950" cy="442912"/>
            <a:chOff x="436" y="346"/>
            <a:chExt cx="2988" cy="302"/>
          </a:xfrm>
        </p:grpSpPr>
        <p:graphicFrame>
          <p:nvGraphicFramePr>
            <p:cNvPr id="23567" name="Object 41">
              <a:extLst>
                <a:ext uri="{FF2B5EF4-FFF2-40B4-BE49-F238E27FC236}">
                  <a16:creationId xmlns:a16="http://schemas.microsoft.com/office/drawing/2014/main" id="{1F4CB1FE-CCC8-0935-6BD5-F42CD4FFF2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28" y="347"/>
            <a:ext cx="1896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943379" imgH="342900" progId="Equation.3">
                    <p:embed/>
                  </p:oleObj>
                </mc:Choice>
                <mc:Fallback>
                  <p:oleObj name="公式" r:id="rId15" imgW="2943379" imgH="34290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8" y="347"/>
                          <a:ext cx="1896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8" name="Rectangle 42">
              <a:extLst>
                <a:ext uri="{FF2B5EF4-FFF2-40B4-BE49-F238E27FC236}">
                  <a16:creationId xmlns:a16="http://schemas.microsoft.com/office/drawing/2014/main" id="{EA2DB9CB-A1C2-1738-B402-7FB82B2F28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" y="346"/>
              <a:ext cx="1581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振动方程</a:t>
              </a:r>
              <a:r>
                <a:rPr lang="en-US" altLang="zh-CN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:           </a:t>
              </a:r>
            </a:p>
          </p:txBody>
        </p:sp>
      </p:grpSp>
      <p:graphicFrame>
        <p:nvGraphicFramePr>
          <p:cNvPr id="110636" name="Object 44">
            <a:extLst>
              <a:ext uri="{FF2B5EF4-FFF2-40B4-BE49-F238E27FC236}">
                <a16:creationId xmlns:a16="http://schemas.microsoft.com/office/drawing/2014/main" id="{6D17B4A3-6F6D-1F96-836A-AA1CDB23B7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6813" y="2276475"/>
          <a:ext cx="2089150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228806" imgH="914400" progId="Equation.3">
                  <p:embed/>
                </p:oleObj>
              </mc:Choice>
              <mc:Fallback>
                <p:oleObj name="公式" r:id="rId17" imgW="2228806" imgH="9144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6813" y="2276475"/>
                        <a:ext cx="2089150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40" name="Rectangle 48">
            <a:extLst>
              <a:ext uri="{FF2B5EF4-FFF2-40B4-BE49-F238E27FC236}">
                <a16:creationId xmlns:a16="http://schemas.microsoft.com/office/drawing/2014/main" id="{2BCB1DA5-AA82-9396-A7DD-28C55D516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556250"/>
            <a:ext cx="561657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66"/>
                </a:solidFill>
              </a:rPr>
              <a:t>(2) </a:t>
            </a:r>
            <a:r>
              <a:rPr lang="zh-CN" altLang="en-US" sz="2300">
                <a:solidFill>
                  <a:srgbClr val="000066"/>
                </a:solidFill>
              </a:rPr>
              <a:t>可测量物体对转轴的转动惯量</a:t>
            </a:r>
            <a:r>
              <a:rPr lang="zh-CN" altLang="en-US" sz="2700">
                <a:solidFill>
                  <a:srgbClr val="000066"/>
                </a:solidFill>
              </a:rPr>
              <a:t> </a:t>
            </a:r>
            <a:r>
              <a:rPr lang="en-US" altLang="zh-CN" sz="2700" i="1">
                <a:solidFill>
                  <a:srgbClr val="000066"/>
                </a:solidFill>
              </a:rPr>
              <a:t>J </a:t>
            </a:r>
            <a:r>
              <a:rPr lang="zh-CN" altLang="en-US">
                <a:solidFill>
                  <a:srgbClr val="000066"/>
                </a:solidFill>
              </a:rPr>
              <a:t>。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0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10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10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110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1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10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110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0"/>
                                        <p:tgtEl>
                                          <p:spTgt spid="110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1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10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0"/>
                                        <p:tgtEl>
                                          <p:spTgt spid="11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0"/>
                                        <p:tgtEl>
                                          <p:spTgt spid="110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10" grpId="0"/>
      <p:bldP spid="110611" grpId="0"/>
      <p:bldP spid="110624" grpId="0"/>
      <p:bldP spid="11064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4" name="Rectangle 4">
            <a:extLst>
              <a:ext uri="{FF2B5EF4-FFF2-40B4-BE49-F238E27FC236}">
                <a16:creationId xmlns:a16="http://schemas.microsoft.com/office/drawing/2014/main" id="{B0A3ADAB-E652-8360-FA60-B86DFE9F7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20675"/>
            <a:ext cx="5256213" cy="269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lang="en-US" altLang="zh-CN">
                <a:solidFill>
                  <a:srgbClr val="000080"/>
                </a:solidFill>
              </a:rPr>
              <a:t>          </a:t>
            </a:r>
            <a:r>
              <a:rPr lang="zh-CN" altLang="en-US">
                <a:solidFill>
                  <a:srgbClr val="000066"/>
                </a:solidFill>
              </a:rPr>
              <a:t>例</a:t>
            </a:r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3 </a:t>
            </a:r>
            <a:r>
              <a:rPr lang="zh-CN" altLang="en-US">
                <a:solidFill>
                  <a:srgbClr val="000066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劲度系数为</a:t>
            </a:r>
            <a:r>
              <a:rPr lang="zh-CN" altLang="en-US" sz="1500">
                <a:solidFill>
                  <a:srgbClr val="000080"/>
                </a:solidFill>
              </a:rPr>
              <a:t> </a:t>
            </a:r>
            <a:r>
              <a:rPr lang="en-US" altLang="zh-CN" sz="2700" i="1"/>
              <a:t>k</a:t>
            </a:r>
            <a:r>
              <a:rPr lang="en-US" altLang="zh-CN" sz="1500" i="1">
                <a:solidFill>
                  <a:srgbClr val="000080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的轻弹</a:t>
            </a:r>
          </a:p>
          <a:p>
            <a:pPr algn="just" eaLnBrk="1" hangingPunct="1">
              <a:lnSpc>
                <a:spcPct val="110000"/>
              </a:lnSpc>
            </a:pPr>
            <a:r>
              <a:rPr lang="zh-CN" altLang="en-US" sz="2300">
                <a:solidFill>
                  <a:srgbClr val="000066"/>
                </a:solidFill>
              </a:rPr>
              <a:t>簧 一端固定在墙上，另一端连结</a:t>
            </a:r>
          </a:p>
          <a:p>
            <a:pPr algn="just" eaLnBrk="1" hangingPunct="1">
              <a:lnSpc>
                <a:spcPct val="110000"/>
              </a:lnSpc>
            </a:pPr>
            <a:r>
              <a:rPr lang="zh-CN" altLang="en-US" sz="2300">
                <a:solidFill>
                  <a:srgbClr val="000066"/>
                </a:solidFill>
              </a:rPr>
              <a:t>一质量为</a:t>
            </a:r>
            <a:r>
              <a:rPr lang="zh-CN" altLang="en-US" sz="1500"/>
              <a:t> </a:t>
            </a:r>
            <a:r>
              <a:rPr lang="en-US" altLang="zh-CN" sz="2800" i="1"/>
              <a:t>m</a:t>
            </a:r>
            <a:r>
              <a:rPr lang="en-US" altLang="zh-CN" sz="2800" baseline="-25000">
                <a:solidFill>
                  <a:srgbClr val="000080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的物体，跨过一质量</a:t>
            </a:r>
          </a:p>
          <a:p>
            <a:pPr algn="just" eaLnBrk="1" hangingPunct="1">
              <a:lnSpc>
                <a:spcPct val="110000"/>
              </a:lnSpc>
            </a:pPr>
            <a:r>
              <a:rPr lang="zh-CN" altLang="en-US" sz="2300">
                <a:solidFill>
                  <a:srgbClr val="000066"/>
                </a:solidFill>
              </a:rPr>
              <a:t>为</a:t>
            </a:r>
            <a:r>
              <a:rPr lang="zh-CN" altLang="en-US" sz="1500"/>
              <a:t> </a:t>
            </a:r>
            <a:r>
              <a:rPr lang="en-US" altLang="zh-CN" i="1"/>
              <a:t>M</a:t>
            </a:r>
            <a:r>
              <a:rPr lang="en-US" altLang="zh-CN" sz="1500" i="1"/>
              <a:t> </a:t>
            </a:r>
            <a:r>
              <a:rPr lang="zh-CN" altLang="en-US" sz="2300">
                <a:solidFill>
                  <a:srgbClr val="000066"/>
                </a:solidFill>
              </a:rPr>
              <a:t>、半径为</a:t>
            </a:r>
            <a:r>
              <a:rPr lang="zh-CN" altLang="en-US" sz="1500">
                <a:solidFill>
                  <a:srgbClr val="000080"/>
                </a:solidFill>
              </a:rPr>
              <a:t> </a:t>
            </a:r>
            <a:r>
              <a:rPr lang="en-US" altLang="zh-CN" sz="2600" i="1"/>
              <a:t>R</a:t>
            </a:r>
            <a:r>
              <a:rPr lang="en-US" altLang="zh-CN" sz="1500" i="1">
                <a:solidFill>
                  <a:srgbClr val="000080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的定滑轮，平衡</a:t>
            </a:r>
          </a:p>
          <a:p>
            <a:pPr algn="just" eaLnBrk="1" hangingPunct="1">
              <a:lnSpc>
                <a:spcPct val="110000"/>
              </a:lnSpc>
            </a:pPr>
            <a:r>
              <a:rPr lang="zh-CN" altLang="en-US" sz="2300">
                <a:solidFill>
                  <a:srgbClr val="000066"/>
                </a:solidFill>
              </a:rPr>
              <a:t>时弹簧伸长</a:t>
            </a:r>
            <a:r>
              <a:rPr lang="zh-CN" altLang="en-US">
                <a:solidFill>
                  <a:srgbClr val="000080"/>
                </a:solidFill>
              </a:rPr>
              <a:t> </a:t>
            </a:r>
            <a:r>
              <a:rPr lang="en-US" altLang="zh-CN" sz="2800" i="1"/>
              <a:t>l</a:t>
            </a:r>
            <a:r>
              <a:rPr lang="en-US" altLang="zh-CN">
                <a:solidFill>
                  <a:srgbClr val="000080"/>
                </a:solidFill>
              </a:rPr>
              <a:t> </a:t>
            </a:r>
            <a:r>
              <a:rPr lang="en-US" altLang="zh-CN" sz="2300">
                <a:solidFill>
                  <a:srgbClr val="000066"/>
                </a:solidFill>
              </a:rPr>
              <a:t>(</a:t>
            </a:r>
            <a:r>
              <a:rPr lang="zh-CN" altLang="en-US" sz="2300">
                <a:solidFill>
                  <a:srgbClr val="000066"/>
                </a:solidFill>
              </a:rPr>
              <a:t>如图</a:t>
            </a:r>
            <a:r>
              <a:rPr lang="en-US" altLang="zh-CN" sz="2300">
                <a:solidFill>
                  <a:srgbClr val="000066"/>
                </a:solidFill>
              </a:rPr>
              <a:t>)</a:t>
            </a:r>
            <a:r>
              <a:rPr lang="zh-CN" altLang="en-US" sz="2300">
                <a:solidFill>
                  <a:srgbClr val="000066"/>
                </a:solidFill>
              </a:rPr>
              <a:t>。 求：该系</a:t>
            </a:r>
          </a:p>
          <a:p>
            <a:pPr algn="just" eaLnBrk="1" hangingPunct="1">
              <a:lnSpc>
                <a:spcPct val="110000"/>
              </a:lnSpc>
            </a:pPr>
            <a:r>
              <a:rPr lang="zh-CN" altLang="en-US" sz="2300">
                <a:solidFill>
                  <a:srgbClr val="000066"/>
                </a:solidFill>
              </a:rPr>
              <a:t>统的振动圆频率。</a:t>
            </a:r>
          </a:p>
        </p:txBody>
      </p:sp>
      <p:grpSp>
        <p:nvGrpSpPr>
          <p:cNvPr id="117950" name="Group 190">
            <a:extLst>
              <a:ext uri="{FF2B5EF4-FFF2-40B4-BE49-F238E27FC236}">
                <a16:creationId xmlns:a16="http://schemas.microsoft.com/office/drawing/2014/main" id="{8905C1E8-D9FA-9B74-D716-C3D86CF6D9AF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4221163"/>
            <a:ext cx="1152525" cy="1655762"/>
            <a:chOff x="4876" y="2931"/>
            <a:chExt cx="726" cy="1043"/>
          </a:xfrm>
        </p:grpSpPr>
        <p:sp>
          <p:nvSpPr>
            <p:cNvPr id="24649" name="Rectangle 152">
              <a:extLst>
                <a:ext uri="{FF2B5EF4-FFF2-40B4-BE49-F238E27FC236}">
                  <a16:creationId xmlns:a16="http://schemas.microsoft.com/office/drawing/2014/main" id="{92180FFF-EA84-2D6C-FE1A-9C25201CB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3353"/>
              <a:ext cx="267" cy="247"/>
            </a:xfrm>
            <a:prstGeom prst="rect">
              <a:avLst/>
            </a:prstGeom>
            <a:solidFill>
              <a:srgbClr val="99CCFF"/>
            </a:solidFill>
            <a:ln w="19050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50" name="Line 153">
              <a:extLst>
                <a:ext uri="{FF2B5EF4-FFF2-40B4-BE49-F238E27FC236}">
                  <a16:creationId xmlns:a16="http://schemas.microsoft.com/office/drawing/2014/main" id="{9986C75D-C51F-F59C-D1EA-41644611FAD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4792" y="3276"/>
              <a:ext cx="420" cy="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51" name="Line 154">
              <a:extLst>
                <a:ext uri="{FF2B5EF4-FFF2-40B4-BE49-F238E27FC236}">
                  <a16:creationId xmlns:a16="http://schemas.microsoft.com/office/drawing/2014/main" id="{D8FB4ABC-58A6-4304-3927-55E660B5FEC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792" y="3720"/>
              <a:ext cx="419" cy="0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52" name="Rectangle 155">
              <a:extLst>
                <a:ext uri="{FF2B5EF4-FFF2-40B4-BE49-F238E27FC236}">
                  <a16:creationId xmlns:a16="http://schemas.microsoft.com/office/drawing/2014/main" id="{2C419D00-B902-B811-5C17-519DD1777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8" y="2931"/>
              <a:ext cx="311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600" i="1">
                  <a:solidFill>
                    <a:srgbClr val="000066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sz="2600" baseline="-25000">
                  <a:solidFill>
                    <a:srgbClr val="000066"/>
                  </a:solidFill>
                  <a:ea typeface="宋体" panose="02010600030101010101" pitchFamily="2" charset="-122"/>
                </a:rPr>
                <a:t>1</a:t>
              </a:r>
              <a:endParaRPr lang="en-US" altLang="zh-CN" sz="2600" i="1">
                <a:solidFill>
                  <a:srgbClr val="00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53" name="Rectangle 156">
              <a:extLst>
                <a:ext uri="{FF2B5EF4-FFF2-40B4-BE49-F238E27FC236}">
                  <a16:creationId xmlns:a16="http://schemas.microsoft.com/office/drawing/2014/main" id="{44DBC5BF-1527-5B6C-EEF7-59B28936A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3666"/>
              <a:ext cx="545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600" i="1">
                  <a:solidFill>
                    <a:srgbClr val="000066"/>
                  </a:solidFill>
                  <a:ea typeface="宋体" panose="02010600030101010101" pitchFamily="2" charset="-122"/>
                </a:rPr>
                <a:t>mg </a:t>
              </a:r>
            </a:p>
          </p:txBody>
        </p:sp>
      </p:grpSp>
      <p:grpSp>
        <p:nvGrpSpPr>
          <p:cNvPr id="117917" name="Group 157">
            <a:extLst>
              <a:ext uri="{FF2B5EF4-FFF2-40B4-BE49-F238E27FC236}">
                <a16:creationId xmlns:a16="http://schemas.microsoft.com/office/drawing/2014/main" id="{DD85BCD0-8167-028A-A70E-453C1A379DB0}"/>
              </a:ext>
            </a:extLst>
          </p:cNvPr>
          <p:cNvGrpSpPr>
            <a:grpSpLocks/>
          </p:cNvGrpSpPr>
          <p:nvPr/>
        </p:nvGrpSpPr>
        <p:grpSpPr bwMode="auto">
          <a:xfrm>
            <a:off x="6421438" y="4205288"/>
            <a:ext cx="1606550" cy="1671637"/>
            <a:chOff x="4294" y="1117"/>
            <a:chExt cx="1012" cy="1053"/>
          </a:xfrm>
        </p:grpSpPr>
        <p:sp>
          <p:nvSpPr>
            <p:cNvPr id="24641" name="Oval 158">
              <a:extLst>
                <a:ext uri="{FF2B5EF4-FFF2-40B4-BE49-F238E27FC236}">
                  <a16:creationId xmlns:a16="http://schemas.microsoft.com/office/drawing/2014/main" id="{6D616CCF-F2DC-EB51-EDDD-C92A1E33C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2" y="1463"/>
              <a:ext cx="332" cy="315"/>
            </a:xfrm>
            <a:prstGeom prst="ellipse">
              <a:avLst/>
            </a:prstGeom>
            <a:solidFill>
              <a:srgbClr val="FFCCFF"/>
            </a:solidFill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42" name="Line 159">
              <a:extLst>
                <a:ext uri="{FF2B5EF4-FFF2-40B4-BE49-F238E27FC236}">
                  <a16:creationId xmlns:a16="http://schemas.microsoft.com/office/drawing/2014/main" id="{7FC77991-5D95-37F8-D253-918A65997E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30" y="1463"/>
              <a:ext cx="443" cy="0"/>
            </a:xfrm>
            <a:prstGeom prst="line">
              <a:avLst/>
            </a:prstGeom>
            <a:noFill/>
            <a:ln w="38100" cap="sq">
              <a:solidFill>
                <a:srgbClr val="FF3300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43" name="Line 160">
              <a:extLst>
                <a:ext uri="{FF2B5EF4-FFF2-40B4-BE49-F238E27FC236}">
                  <a16:creationId xmlns:a16="http://schemas.microsoft.com/office/drawing/2014/main" id="{ACCD4598-0654-E063-7FE2-E1BA61A377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764" y="1856"/>
              <a:ext cx="420" cy="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44" name="Rectangle 161">
              <a:extLst>
                <a:ext uri="{FF2B5EF4-FFF2-40B4-BE49-F238E27FC236}">
                  <a16:creationId xmlns:a16="http://schemas.microsoft.com/office/drawing/2014/main" id="{9C0F79E3-5B5E-06CB-4798-0BA12BA21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4" y="1117"/>
              <a:ext cx="363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600" i="1">
                  <a:solidFill>
                    <a:srgbClr val="000066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sz="2600" baseline="-25000">
                  <a:solidFill>
                    <a:srgbClr val="000066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sz="2600" i="1">
                  <a:solidFill>
                    <a:srgbClr val="000066"/>
                  </a:solidFill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24645" name="Rectangle 162">
              <a:extLst>
                <a:ext uri="{FF2B5EF4-FFF2-40B4-BE49-F238E27FC236}">
                  <a16:creationId xmlns:a16="http://schemas.microsoft.com/office/drawing/2014/main" id="{6789C230-246D-ED20-D0CF-BEF25362D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7" y="1863"/>
              <a:ext cx="311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600" i="1">
                  <a:solidFill>
                    <a:srgbClr val="000066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sz="2600" baseline="-25000">
                  <a:solidFill>
                    <a:srgbClr val="000066"/>
                  </a:solidFill>
                  <a:ea typeface="宋体" panose="02010600030101010101" pitchFamily="2" charset="-122"/>
                </a:rPr>
                <a:t>1</a:t>
              </a:r>
              <a:endParaRPr lang="en-US" altLang="zh-CN" sz="2600" i="1">
                <a:solidFill>
                  <a:srgbClr val="00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46" name="Line 163">
              <a:extLst>
                <a:ext uri="{FF2B5EF4-FFF2-40B4-BE49-F238E27FC236}">
                  <a16:creationId xmlns:a16="http://schemas.microsoft.com/office/drawing/2014/main" id="{222B8890-AA00-9145-EB14-AA09E8EA60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98" y="1492"/>
              <a:ext cx="110" cy="157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47" name="Rectangle 164">
              <a:extLst>
                <a:ext uri="{FF2B5EF4-FFF2-40B4-BE49-F238E27FC236}">
                  <a16:creationId xmlns:a16="http://schemas.microsoft.com/office/drawing/2014/main" id="{B23F918A-7334-563E-9E2D-506FBA344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8" y="1196"/>
              <a:ext cx="255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600" i="1">
                  <a:solidFill>
                    <a:srgbClr val="000066"/>
                  </a:solidFill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24648" name="Rectangle 165">
              <a:extLst>
                <a:ext uri="{FF2B5EF4-FFF2-40B4-BE49-F238E27FC236}">
                  <a16:creationId xmlns:a16="http://schemas.microsoft.com/office/drawing/2014/main" id="{4073DAA5-A535-D020-31AF-CA0639E0E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4" y="1462"/>
              <a:ext cx="332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600" i="1">
                  <a:solidFill>
                    <a:srgbClr val="000066"/>
                  </a:solidFill>
                  <a:ea typeface="宋体" panose="02010600030101010101" pitchFamily="2" charset="-122"/>
                </a:rPr>
                <a:t>M</a:t>
              </a:r>
            </a:p>
          </p:txBody>
        </p:sp>
      </p:grpSp>
      <p:grpSp>
        <p:nvGrpSpPr>
          <p:cNvPr id="117959" name="Group 199">
            <a:extLst>
              <a:ext uri="{FF2B5EF4-FFF2-40B4-BE49-F238E27FC236}">
                <a16:creationId xmlns:a16="http://schemas.microsoft.com/office/drawing/2014/main" id="{CE8DF457-D63D-839A-4A05-71CA6FEAF263}"/>
              </a:ext>
            </a:extLst>
          </p:cNvPr>
          <p:cNvGrpSpPr>
            <a:grpSpLocks/>
          </p:cNvGrpSpPr>
          <p:nvPr/>
        </p:nvGrpSpPr>
        <p:grpSpPr bwMode="auto">
          <a:xfrm>
            <a:off x="5422900" y="404813"/>
            <a:ext cx="3097213" cy="2541587"/>
            <a:chOff x="3416" y="255"/>
            <a:chExt cx="1951" cy="1601"/>
          </a:xfrm>
        </p:grpSpPr>
        <p:sp>
          <p:nvSpPr>
            <p:cNvPr id="24601" name="Line 76">
              <a:extLst>
                <a:ext uri="{FF2B5EF4-FFF2-40B4-BE49-F238E27FC236}">
                  <a16:creationId xmlns:a16="http://schemas.microsoft.com/office/drawing/2014/main" id="{983A6027-BC80-18A4-CCEA-CE0611FD9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8" y="1433"/>
              <a:ext cx="0" cy="3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02" name="Line 77">
              <a:extLst>
                <a:ext uri="{FF2B5EF4-FFF2-40B4-BE49-F238E27FC236}">
                  <a16:creationId xmlns:a16="http://schemas.microsoft.com/office/drawing/2014/main" id="{8F27FBB6-1E50-F657-DB5C-6680493C5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5" y="602"/>
              <a:ext cx="610" cy="0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03" name="Line 78">
              <a:extLst>
                <a:ext uri="{FF2B5EF4-FFF2-40B4-BE49-F238E27FC236}">
                  <a16:creationId xmlns:a16="http://schemas.microsoft.com/office/drawing/2014/main" id="{3E7F0006-B3E9-E431-C155-3421391FAF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4" y="782"/>
              <a:ext cx="5" cy="426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04" name="Rectangle 79">
              <a:extLst>
                <a:ext uri="{FF2B5EF4-FFF2-40B4-BE49-F238E27FC236}">
                  <a16:creationId xmlns:a16="http://schemas.microsoft.com/office/drawing/2014/main" id="{A13F1AEF-0C96-458E-811B-788E872F4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" y="1194"/>
              <a:ext cx="245" cy="239"/>
            </a:xfrm>
            <a:prstGeom prst="rect">
              <a:avLst/>
            </a:prstGeom>
            <a:solidFill>
              <a:srgbClr val="99CCFF"/>
            </a:solidFill>
            <a:ln w="19050" cap="sq">
              <a:solidFill>
                <a:schemeClr val="accent2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05" name="Oval 80">
              <a:extLst>
                <a:ext uri="{FF2B5EF4-FFF2-40B4-BE49-F238E27FC236}">
                  <a16:creationId xmlns:a16="http://schemas.microsoft.com/office/drawing/2014/main" id="{0A646123-EE8A-836C-6A72-5EC12793C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5" y="606"/>
              <a:ext cx="304" cy="305"/>
            </a:xfrm>
            <a:prstGeom prst="ellipse">
              <a:avLst/>
            </a:prstGeom>
            <a:solidFill>
              <a:srgbClr val="FFCCFF"/>
            </a:solidFill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06" name="Freeform 81">
              <a:extLst>
                <a:ext uri="{FF2B5EF4-FFF2-40B4-BE49-F238E27FC236}">
                  <a16:creationId xmlns:a16="http://schemas.microsoft.com/office/drawing/2014/main" id="{4920E4A3-A2D2-A829-3343-F3FAC3B21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4" y="640"/>
              <a:ext cx="100" cy="108"/>
            </a:xfrm>
            <a:custGeom>
              <a:avLst/>
              <a:gdLst>
                <a:gd name="T0" fmla="*/ 0 w 94"/>
                <a:gd name="T1" fmla="*/ 240 h 102"/>
                <a:gd name="T2" fmla="*/ 237 w 94"/>
                <a:gd name="T3" fmla="*/ 0 h 10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4" h="102">
                  <a:moveTo>
                    <a:pt x="0" y="102"/>
                  </a:moveTo>
                  <a:lnTo>
                    <a:pt x="94" y="0"/>
                  </a:lnTo>
                </a:path>
              </a:pathLst>
            </a:custGeom>
            <a:noFill/>
            <a:ln w="19050" cap="sq" cmpd="sng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07" name="Freeform 82">
              <a:extLst>
                <a:ext uri="{FF2B5EF4-FFF2-40B4-BE49-F238E27FC236}">
                  <a16:creationId xmlns:a16="http://schemas.microsoft.com/office/drawing/2014/main" id="{A339DEEB-3991-0ED1-6D71-7EFE8BD3E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" y="442"/>
              <a:ext cx="1196" cy="1115"/>
            </a:xfrm>
            <a:custGeom>
              <a:avLst/>
              <a:gdLst>
                <a:gd name="T0" fmla="*/ 0 w 1536"/>
                <a:gd name="T1" fmla="*/ 0 h 1056"/>
                <a:gd name="T2" fmla="*/ 0 w 1536"/>
                <a:gd name="T3" fmla="*/ 867 h 1056"/>
                <a:gd name="T4" fmla="*/ 36 w 1536"/>
                <a:gd name="T5" fmla="*/ 867 h 1056"/>
                <a:gd name="T6" fmla="*/ 36 w 1536"/>
                <a:gd name="T7" fmla="*/ 1196 h 1056"/>
                <a:gd name="T8" fmla="*/ 26 w 1536"/>
                <a:gd name="T9" fmla="*/ 1519 h 1056"/>
                <a:gd name="T10" fmla="*/ 26 w 1536"/>
                <a:gd name="T11" fmla="*/ 2385 h 10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36" h="1056">
                  <a:moveTo>
                    <a:pt x="0" y="0"/>
                  </a:moveTo>
                  <a:lnTo>
                    <a:pt x="0" y="384"/>
                  </a:lnTo>
                  <a:lnTo>
                    <a:pt x="1536" y="384"/>
                  </a:lnTo>
                  <a:lnTo>
                    <a:pt x="1536" y="528"/>
                  </a:lnTo>
                  <a:lnTo>
                    <a:pt x="1152" y="672"/>
                  </a:lnTo>
                  <a:lnTo>
                    <a:pt x="1152" y="1056"/>
                  </a:lnTo>
                </a:path>
              </a:pathLst>
            </a:custGeom>
            <a:noFill/>
            <a:ln w="28575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08" name="Line 83">
              <a:extLst>
                <a:ext uri="{FF2B5EF4-FFF2-40B4-BE49-F238E27FC236}">
                  <a16:creationId xmlns:a16="http://schemas.microsoft.com/office/drawing/2014/main" id="{D245CF8F-C4FF-3C11-C661-DB5CD257CC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" y="493"/>
              <a:ext cx="102" cy="101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09" name="Line 84">
              <a:extLst>
                <a:ext uri="{FF2B5EF4-FFF2-40B4-BE49-F238E27FC236}">
                  <a16:creationId xmlns:a16="http://schemas.microsoft.com/office/drawing/2014/main" id="{CBF3DCB9-FBB0-B33B-22B5-50401BE48E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" y="594"/>
              <a:ext cx="102" cy="101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10" name="Line 85">
              <a:extLst>
                <a:ext uri="{FF2B5EF4-FFF2-40B4-BE49-F238E27FC236}">
                  <a16:creationId xmlns:a16="http://schemas.microsoft.com/office/drawing/2014/main" id="{196CB97D-8D69-3A15-80DC-054FEDBF5C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" y="695"/>
              <a:ext cx="102" cy="102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11" name="Line 86">
              <a:extLst>
                <a:ext uri="{FF2B5EF4-FFF2-40B4-BE49-F238E27FC236}">
                  <a16:creationId xmlns:a16="http://schemas.microsoft.com/office/drawing/2014/main" id="{0A7ED7B1-E2B0-50A9-9EB0-7B47FDFD94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" y="797"/>
              <a:ext cx="102" cy="101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12" name="Line 87">
              <a:extLst>
                <a:ext uri="{FF2B5EF4-FFF2-40B4-BE49-F238E27FC236}">
                  <a16:creationId xmlns:a16="http://schemas.microsoft.com/office/drawing/2014/main" id="{FE34FA49-65F8-C87E-C131-A2AC606D02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67" y="861"/>
              <a:ext cx="102" cy="102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13" name="Line 88">
              <a:extLst>
                <a:ext uri="{FF2B5EF4-FFF2-40B4-BE49-F238E27FC236}">
                  <a16:creationId xmlns:a16="http://schemas.microsoft.com/office/drawing/2014/main" id="{15750FB1-F67F-008B-93E8-9AA68CCAAD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69" y="861"/>
              <a:ext cx="102" cy="102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14" name="Line 89">
              <a:extLst>
                <a:ext uri="{FF2B5EF4-FFF2-40B4-BE49-F238E27FC236}">
                  <a16:creationId xmlns:a16="http://schemas.microsoft.com/office/drawing/2014/main" id="{BF31ED58-B7D1-B54E-3FF3-70DEA6BF78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1" y="861"/>
              <a:ext cx="101" cy="102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15" name="Line 90">
              <a:extLst>
                <a:ext uri="{FF2B5EF4-FFF2-40B4-BE49-F238E27FC236}">
                  <a16:creationId xmlns:a16="http://schemas.microsoft.com/office/drawing/2014/main" id="{E46B218B-699B-A929-40D9-DE05118D0E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2" y="861"/>
              <a:ext cx="102" cy="102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16" name="Line 91">
              <a:extLst>
                <a:ext uri="{FF2B5EF4-FFF2-40B4-BE49-F238E27FC236}">
                  <a16:creationId xmlns:a16="http://schemas.microsoft.com/office/drawing/2014/main" id="{BC6841C7-B159-111D-43CE-39A86F44DA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74" y="861"/>
              <a:ext cx="101" cy="102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17" name="Line 92">
              <a:extLst>
                <a:ext uri="{FF2B5EF4-FFF2-40B4-BE49-F238E27FC236}">
                  <a16:creationId xmlns:a16="http://schemas.microsoft.com/office/drawing/2014/main" id="{E6BBE374-724B-B0E2-CD19-5557E8BF4D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75" y="861"/>
              <a:ext cx="103" cy="102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18" name="Line 93">
              <a:extLst>
                <a:ext uri="{FF2B5EF4-FFF2-40B4-BE49-F238E27FC236}">
                  <a16:creationId xmlns:a16="http://schemas.microsoft.com/office/drawing/2014/main" id="{3591C706-074F-088B-F2E4-12ED9AF8EB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78" y="861"/>
              <a:ext cx="101" cy="102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19" name="Line 95">
              <a:extLst>
                <a:ext uri="{FF2B5EF4-FFF2-40B4-BE49-F238E27FC236}">
                  <a16:creationId xmlns:a16="http://schemas.microsoft.com/office/drawing/2014/main" id="{A60793C0-FB1A-1C63-9D5E-FC52E54C6A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81" y="861"/>
              <a:ext cx="102" cy="102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20" name="Line 96">
              <a:extLst>
                <a:ext uri="{FF2B5EF4-FFF2-40B4-BE49-F238E27FC236}">
                  <a16:creationId xmlns:a16="http://schemas.microsoft.com/office/drawing/2014/main" id="{FD1E24DC-F059-D515-990F-C20E44B532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83" y="847"/>
              <a:ext cx="102" cy="102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21" name="Line 97">
              <a:extLst>
                <a:ext uri="{FF2B5EF4-FFF2-40B4-BE49-F238E27FC236}">
                  <a16:creationId xmlns:a16="http://schemas.microsoft.com/office/drawing/2014/main" id="{CA0454D8-B41F-FCF9-6E95-E48AEA2D11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89" y="847"/>
              <a:ext cx="103" cy="102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22" name="Line 102">
              <a:extLst>
                <a:ext uri="{FF2B5EF4-FFF2-40B4-BE49-F238E27FC236}">
                  <a16:creationId xmlns:a16="http://schemas.microsoft.com/office/drawing/2014/main" id="{52711F37-F404-2FF0-9340-CBD6D4C9F2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3" y="847"/>
              <a:ext cx="102" cy="102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23" name="Line 103">
              <a:extLst>
                <a:ext uri="{FF2B5EF4-FFF2-40B4-BE49-F238E27FC236}">
                  <a16:creationId xmlns:a16="http://schemas.microsoft.com/office/drawing/2014/main" id="{F23FFB47-7B45-B195-3FDD-E8CADE3E3A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1162"/>
              <a:ext cx="100" cy="102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24" name="Line 104">
              <a:extLst>
                <a:ext uri="{FF2B5EF4-FFF2-40B4-BE49-F238E27FC236}">
                  <a16:creationId xmlns:a16="http://schemas.microsoft.com/office/drawing/2014/main" id="{F2CFD71F-21FA-1B8F-851B-0D5E735860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1259"/>
              <a:ext cx="100" cy="102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25" name="Line 105">
              <a:extLst>
                <a:ext uri="{FF2B5EF4-FFF2-40B4-BE49-F238E27FC236}">
                  <a16:creationId xmlns:a16="http://schemas.microsoft.com/office/drawing/2014/main" id="{5FF270A3-2129-6C6D-99A4-F4D065F4D9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5" y="1367"/>
              <a:ext cx="100" cy="101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26" name="Line 106">
              <a:extLst>
                <a:ext uri="{FF2B5EF4-FFF2-40B4-BE49-F238E27FC236}">
                  <a16:creationId xmlns:a16="http://schemas.microsoft.com/office/drawing/2014/main" id="{8E395200-65FB-C7C0-4E94-B0A39B178F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5" y="1475"/>
              <a:ext cx="100" cy="101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27" name="Line 107">
              <a:extLst>
                <a:ext uri="{FF2B5EF4-FFF2-40B4-BE49-F238E27FC236}">
                  <a16:creationId xmlns:a16="http://schemas.microsoft.com/office/drawing/2014/main" id="{1B3D1D58-B18B-1D01-FC25-38178ED540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6" y="845"/>
              <a:ext cx="102" cy="102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28" name="Line 108">
              <a:extLst>
                <a:ext uri="{FF2B5EF4-FFF2-40B4-BE49-F238E27FC236}">
                  <a16:creationId xmlns:a16="http://schemas.microsoft.com/office/drawing/2014/main" id="{99B601B5-A91A-5B38-F40A-87AC00EC52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20" y="1051"/>
              <a:ext cx="103" cy="100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29" name="Line 109">
              <a:extLst>
                <a:ext uri="{FF2B5EF4-FFF2-40B4-BE49-F238E27FC236}">
                  <a16:creationId xmlns:a16="http://schemas.microsoft.com/office/drawing/2014/main" id="{FF199418-2D30-CD98-1C98-687C4E5D9D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19" y="890"/>
              <a:ext cx="102" cy="100"/>
            </a:xfrm>
            <a:prstGeom prst="line">
              <a:avLst/>
            </a:prstGeom>
            <a:noFill/>
            <a:ln w="1905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30" name="Freeform 110">
              <a:extLst>
                <a:ext uri="{FF2B5EF4-FFF2-40B4-BE49-F238E27FC236}">
                  <a16:creationId xmlns:a16="http://schemas.microsoft.com/office/drawing/2014/main" id="{BE4B66D7-A960-D181-7ADA-39240BCD5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" y="535"/>
              <a:ext cx="763" cy="121"/>
            </a:xfrm>
            <a:custGeom>
              <a:avLst/>
              <a:gdLst>
                <a:gd name="T0" fmla="*/ 0 w 720"/>
                <a:gd name="T1" fmla="*/ 141 h 115"/>
                <a:gd name="T2" fmla="*/ 219 w 720"/>
                <a:gd name="T3" fmla="*/ 142 h 115"/>
                <a:gd name="T4" fmla="*/ 355 w 720"/>
                <a:gd name="T5" fmla="*/ 26 h 115"/>
                <a:gd name="T6" fmla="*/ 443 w 720"/>
                <a:gd name="T7" fmla="*/ 246 h 115"/>
                <a:gd name="T8" fmla="*/ 596 w 720"/>
                <a:gd name="T9" fmla="*/ 26 h 115"/>
                <a:gd name="T10" fmla="*/ 710 w 720"/>
                <a:gd name="T11" fmla="*/ 246 h 115"/>
                <a:gd name="T12" fmla="*/ 850 w 720"/>
                <a:gd name="T13" fmla="*/ 26 h 115"/>
                <a:gd name="T14" fmla="*/ 955 w 720"/>
                <a:gd name="T15" fmla="*/ 230 h 115"/>
                <a:gd name="T16" fmla="*/ 1098 w 720"/>
                <a:gd name="T17" fmla="*/ 26 h 115"/>
                <a:gd name="T18" fmla="*/ 1209 w 720"/>
                <a:gd name="T19" fmla="*/ 221 h 115"/>
                <a:gd name="T20" fmla="*/ 1366 w 720"/>
                <a:gd name="T21" fmla="*/ 7 h 115"/>
                <a:gd name="T22" fmla="*/ 1462 w 720"/>
                <a:gd name="T23" fmla="*/ 126 h 115"/>
                <a:gd name="T24" fmla="*/ 1717 w 720"/>
                <a:gd name="T25" fmla="*/ 134 h 11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20" h="115">
                  <a:moveTo>
                    <a:pt x="0" y="66"/>
                  </a:moveTo>
                  <a:cubicBezTo>
                    <a:pt x="15" y="66"/>
                    <a:pt x="67" y="76"/>
                    <a:pt x="92" y="67"/>
                  </a:cubicBezTo>
                  <a:cubicBezTo>
                    <a:pt x="117" y="58"/>
                    <a:pt x="133" y="3"/>
                    <a:pt x="148" y="11"/>
                  </a:cubicBezTo>
                  <a:cubicBezTo>
                    <a:pt x="163" y="19"/>
                    <a:pt x="167" y="115"/>
                    <a:pt x="184" y="115"/>
                  </a:cubicBezTo>
                  <a:cubicBezTo>
                    <a:pt x="201" y="115"/>
                    <a:pt x="229" y="11"/>
                    <a:pt x="248" y="11"/>
                  </a:cubicBezTo>
                  <a:cubicBezTo>
                    <a:pt x="267" y="11"/>
                    <a:pt x="278" y="115"/>
                    <a:pt x="296" y="115"/>
                  </a:cubicBezTo>
                  <a:cubicBezTo>
                    <a:pt x="314" y="115"/>
                    <a:pt x="339" y="12"/>
                    <a:pt x="356" y="11"/>
                  </a:cubicBezTo>
                  <a:cubicBezTo>
                    <a:pt x="373" y="10"/>
                    <a:pt x="383" y="107"/>
                    <a:pt x="400" y="107"/>
                  </a:cubicBezTo>
                  <a:cubicBezTo>
                    <a:pt x="417" y="107"/>
                    <a:pt x="442" y="12"/>
                    <a:pt x="460" y="11"/>
                  </a:cubicBezTo>
                  <a:cubicBezTo>
                    <a:pt x="478" y="10"/>
                    <a:pt x="489" y="104"/>
                    <a:pt x="508" y="103"/>
                  </a:cubicBezTo>
                  <a:cubicBezTo>
                    <a:pt x="527" y="102"/>
                    <a:pt x="555" y="14"/>
                    <a:pt x="572" y="7"/>
                  </a:cubicBezTo>
                  <a:cubicBezTo>
                    <a:pt x="589" y="0"/>
                    <a:pt x="587" y="50"/>
                    <a:pt x="612" y="59"/>
                  </a:cubicBezTo>
                  <a:cubicBezTo>
                    <a:pt x="637" y="68"/>
                    <a:pt x="698" y="62"/>
                    <a:pt x="720" y="63"/>
                  </a:cubicBezTo>
                </a:path>
              </a:pathLst>
            </a:custGeom>
            <a:noFill/>
            <a:ln w="28575" cap="sq">
              <a:solidFill>
                <a:srgbClr val="9933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31" name="Rectangle 112">
              <a:extLst>
                <a:ext uri="{FF2B5EF4-FFF2-40B4-BE49-F238E27FC236}">
                  <a16:creationId xmlns:a16="http://schemas.microsoft.com/office/drawing/2014/main" id="{16EE113C-02C7-372B-44BF-04FD6CA0B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2" y="1616"/>
              <a:ext cx="245" cy="2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dash"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/>
              <a:endParaRPr lang="zh-CN" altLang="zh-CN" sz="2600">
                <a:solidFill>
                  <a:srgbClr val="000080"/>
                </a:solidFill>
              </a:endParaRPr>
            </a:p>
          </p:txBody>
        </p:sp>
        <p:sp>
          <p:nvSpPr>
            <p:cNvPr id="24632" name="Rectangle 114">
              <a:extLst>
                <a:ext uri="{FF2B5EF4-FFF2-40B4-BE49-F238E27FC236}">
                  <a16:creationId xmlns:a16="http://schemas.microsoft.com/office/drawing/2014/main" id="{C348DBD9-254E-A2EA-B5CD-238ADB3CB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" y="1117"/>
              <a:ext cx="27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600" i="1">
                  <a:solidFill>
                    <a:srgbClr val="000080"/>
                  </a:solidFill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24633" name="Line 115">
              <a:extLst>
                <a:ext uri="{FF2B5EF4-FFF2-40B4-BE49-F238E27FC236}">
                  <a16:creationId xmlns:a16="http://schemas.microsoft.com/office/drawing/2014/main" id="{C8C27487-1098-C5AD-6790-EAEECFD0B1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8" y="1434"/>
              <a:ext cx="356" cy="0"/>
            </a:xfrm>
            <a:prstGeom prst="line">
              <a:avLst/>
            </a:prstGeom>
            <a:noFill/>
            <a:ln w="158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34" name="Line 116">
              <a:extLst>
                <a:ext uri="{FF2B5EF4-FFF2-40B4-BE49-F238E27FC236}">
                  <a16:creationId xmlns:a16="http://schemas.microsoft.com/office/drawing/2014/main" id="{234A3D26-A5B0-CEE1-E36F-B3294CE56B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8" y="1843"/>
              <a:ext cx="356" cy="0"/>
            </a:xfrm>
            <a:prstGeom prst="line">
              <a:avLst/>
            </a:prstGeom>
            <a:noFill/>
            <a:ln w="158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35" name="Rectangle 119">
              <a:extLst>
                <a:ext uri="{FF2B5EF4-FFF2-40B4-BE49-F238E27FC236}">
                  <a16:creationId xmlns:a16="http://schemas.microsoft.com/office/drawing/2014/main" id="{6DBAC338-C2E3-D632-49CF-66B6E01B2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1" y="391"/>
              <a:ext cx="255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600" i="1">
                  <a:solidFill>
                    <a:srgbClr val="000080"/>
                  </a:solidFill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24636" name="Rectangle 120">
              <a:extLst>
                <a:ext uri="{FF2B5EF4-FFF2-40B4-BE49-F238E27FC236}">
                  <a16:creationId xmlns:a16="http://schemas.microsoft.com/office/drawing/2014/main" id="{C450FB12-037C-295B-5E55-556DEC538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662"/>
              <a:ext cx="305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600" i="1">
                  <a:solidFill>
                    <a:srgbClr val="000080"/>
                  </a:solidFill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24637" name="Rectangle 121">
              <a:extLst>
                <a:ext uri="{FF2B5EF4-FFF2-40B4-BE49-F238E27FC236}">
                  <a16:creationId xmlns:a16="http://schemas.microsoft.com/office/drawing/2014/main" id="{4B28D748-7A52-9D0D-66C2-463CFC9F4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1" y="255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000080"/>
                  </a:solidFill>
                  <a:ea typeface="宋体" panose="02010600030101010101" pitchFamily="2" charset="-122"/>
                </a:rPr>
                <a:t>k</a:t>
              </a:r>
            </a:p>
          </p:txBody>
        </p:sp>
        <p:sp>
          <p:nvSpPr>
            <p:cNvPr id="24638" name="Line 145">
              <a:extLst>
                <a:ext uri="{FF2B5EF4-FFF2-40B4-BE49-F238E27FC236}">
                  <a16:creationId xmlns:a16="http://schemas.microsoft.com/office/drawing/2014/main" id="{8B784EB8-8EBB-8FC5-4290-BD68275676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4" y="754"/>
              <a:ext cx="167" cy="9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9" name="Line 166">
              <a:extLst>
                <a:ext uri="{FF2B5EF4-FFF2-40B4-BE49-F238E27FC236}">
                  <a16:creationId xmlns:a16="http://schemas.microsoft.com/office/drawing/2014/main" id="{B84BDDA5-5343-99EE-E7B4-1C6FBF6925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2" y="1434"/>
              <a:ext cx="0" cy="4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640" name="Object 167">
              <a:extLst>
                <a:ext uri="{FF2B5EF4-FFF2-40B4-BE49-F238E27FC236}">
                  <a16:creationId xmlns:a16="http://schemas.microsoft.com/office/drawing/2014/main" id="{C91A730B-C1F8-4C37-8BDC-CF0EA5C0E5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53" y="1538"/>
            <a:ext cx="223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80835" imgH="482391" progId="Equation.3">
                    <p:embed/>
                  </p:oleObj>
                </mc:Choice>
                <mc:Fallback>
                  <p:oleObj name="公式" r:id="rId2" imgW="380835" imgH="482391" progId="Equation.3">
                    <p:embed/>
                    <p:pic>
                      <p:nvPicPr>
                        <p:cNvPr id="0" name="Object 1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3" y="1538"/>
                          <a:ext cx="223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7936" name="Group 176">
            <a:extLst>
              <a:ext uri="{FF2B5EF4-FFF2-40B4-BE49-F238E27FC236}">
                <a16:creationId xmlns:a16="http://schemas.microsoft.com/office/drawing/2014/main" id="{6D161E6B-B855-81F4-ACCD-C2B3818CAAEF}"/>
              </a:ext>
            </a:extLst>
          </p:cNvPr>
          <p:cNvGrpSpPr>
            <a:grpSpLocks/>
          </p:cNvGrpSpPr>
          <p:nvPr/>
        </p:nvGrpSpPr>
        <p:grpSpPr bwMode="auto">
          <a:xfrm>
            <a:off x="8172450" y="2662238"/>
            <a:ext cx="576263" cy="1944687"/>
            <a:chOff x="5012" y="1661"/>
            <a:chExt cx="363" cy="1225"/>
          </a:xfrm>
        </p:grpSpPr>
        <p:sp>
          <p:nvSpPr>
            <p:cNvPr id="24597" name="Line 122">
              <a:extLst>
                <a:ext uri="{FF2B5EF4-FFF2-40B4-BE49-F238E27FC236}">
                  <a16:creationId xmlns:a16="http://schemas.microsoft.com/office/drawing/2014/main" id="{1FDCF193-400B-4DFD-4DEB-E9771422FE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99" y="1856"/>
              <a:ext cx="4" cy="985"/>
            </a:xfrm>
            <a:prstGeom prst="line">
              <a:avLst/>
            </a:prstGeom>
            <a:noFill/>
            <a:ln w="28575" cap="sq">
              <a:solidFill>
                <a:srgbClr val="800000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598" name="Rectangle 124">
              <a:extLst>
                <a:ext uri="{FF2B5EF4-FFF2-40B4-BE49-F238E27FC236}">
                  <a16:creationId xmlns:a16="http://schemas.microsoft.com/office/drawing/2014/main" id="{6BE32EF6-2516-6D52-1B7C-B4C7E25A6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9" y="2540"/>
              <a:ext cx="23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3000" i="1">
                  <a:solidFill>
                    <a:srgbClr val="800000"/>
                  </a:solidFill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24599" name="Rectangle 125">
              <a:extLst>
                <a:ext uri="{FF2B5EF4-FFF2-40B4-BE49-F238E27FC236}">
                  <a16:creationId xmlns:a16="http://schemas.microsoft.com/office/drawing/2014/main" id="{11E55073-1C86-58B9-0751-B25AB8B16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9" y="1661"/>
              <a:ext cx="266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600" i="1">
                  <a:solidFill>
                    <a:srgbClr val="800000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24600" name="Line 175">
              <a:extLst>
                <a:ext uri="{FF2B5EF4-FFF2-40B4-BE49-F238E27FC236}">
                  <a16:creationId xmlns:a16="http://schemas.microsoft.com/office/drawing/2014/main" id="{60ED4BCC-BB5F-14DB-7A5C-C9F18D229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2" y="1842"/>
              <a:ext cx="136" cy="0"/>
            </a:xfrm>
            <a:prstGeom prst="line">
              <a:avLst/>
            </a:prstGeom>
            <a:noFill/>
            <a:ln w="15875">
              <a:solidFill>
                <a:srgbClr val="800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7943" name="Group 183">
            <a:extLst>
              <a:ext uri="{FF2B5EF4-FFF2-40B4-BE49-F238E27FC236}">
                <a16:creationId xmlns:a16="http://schemas.microsoft.com/office/drawing/2014/main" id="{CF37F95F-E5A9-AED2-8909-5373D3D935FD}"/>
              </a:ext>
            </a:extLst>
          </p:cNvPr>
          <p:cNvGrpSpPr>
            <a:grpSpLocks/>
          </p:cNvGrpSpPr>
          <p:nvPr/>
        </p:nvGrpSpPr>
        <p:grpSpPr bwMode="auto">
          <a:xfrm>
            <a:off x="7292975" y="2924175"/>
            <a:ext cx="941388" cy="873125"/>
            <a:chOff x="4466" y="1842"/>
            <a:chExt cx="593" cy="550"/>
          </a:xfrm>
        </p:grpSpPr>
        <p:sp>
          <p:nvSpPr>
            <p:cNvPr id="24592" name="Rectangle 177">
              <a:extLst>
                <a:ext uri="{FF2B5EF4-FFF2-40B4-BE49-F238E27FC236}">
                  <a16:creationId xmlns:a16="http://schemas.microsoft.com/office/drawing/2014/main" id="{8963C2AF-AAC1-A7D9-41FF-6A176BB4E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4" y="2147"/>
              <a:ext cx="245" cy="240"/>
            </a:xfrm>
            <a:prstGeom prst="rect">
              <a:avLst/>
            </a:prstGeom>
            <a:solidFill>
              <a:srgbClr val="BFDFFF"/>
            </a:solidFill>
            <a:ln w="19050">
              <a:solidFill>
                <a:schemeClr val="tx1"/>
              </a:solidFill>
              <a:prstDash val="dash"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/>
              <a:endParaRPr lang="zh-CN" altLang="zh-CN" sz="2600">
                <a:solidFill>
                  <a:srgbClr val="000080"/>
                </a:solidFill>
              </a:endParaRPr>
            </a:p>
          </p:txBody>
        </p:sp>
        <p:sp>
          <p:nvSpPr>
            <p:cNvPr id="24593" name="Line 179">
              <a:extLst>
                <a:ext uri="{FF2B5EF4-FFF2-40B4-BE49-F238E27FC236}">
                  <a16:creationId xmlns:a16="http://schemas.microsoft.com/office/drawing/2014/main" id="{E59EB2D7-AAC1-59D9-0529-116F7BB4B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" y="1842"/>
              <a:ext cx="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" name="Line 180">
              <a:extLst>
                <a:ext uri="{FF2B5EF4-FFF2-40B4-BE49-F238E27FC236}">
                  <a16:creationId xmlns:a16="http://schemas.microsoft.com/office/drawing/2014/main" id="{62C3EDFC-43F2-A0A5-2A00-CCCFDB306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0" y="2392"/>
              <a:ext cx="272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5" name="Line 181">
              <a:extLst>
                <a:ext uri="{FF2B5EF4-FFF2-40B4-BE49-F238E27FC236}">
                  <a16:creationId xmlns:a16="http://schemas.microsoft.com/office/drawing/2014/main" id="{0D7D97BD-4853-1B02-1884-7B65EBCD07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4" y="1842"/>
              <a:ext cx="0" cy="54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6" name="Text Box 182">
              <a:extLst>
                <a:ext uri="{FF2B5EF4-FFF2-40B4-BE49-F238E27FC236}">
                  <a16:creationId xmlns:a16="http://schemas.microsoft.com/office/drawing/2014/main" id="{06A98899-0340-794F-3544-1AEEBEE5B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6" y="1918"/>
              <a:ext cx="23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3000" i="1"/>
                <a:t>x</a:t>
              </a:r>
            </a:p>
          </p:txBody>
        </p:sp>
      </p:grpSp>
      <p:sp>
        <p:nvSpPr>
          <p:cNvPr id="117945" name="Rectangle 185">
            <a:extLst>
              <a:ext uri="{FF2B5EF4-FFF2-40B4-BE49-F238E27FC236}">
                <a16:creationId xmlns:a16="http://schemas.microsoft.com/office/drawing/2014/main" id="{EB10E865-BAC7-3677-132D-6285251E8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588" y="3754438"/>
            <a:ext cx="5040312" cy="1042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>
                <a:solidFill>
                  <a:srgbClr val="000080"/>
                </a:solidFill>
              </a:rPr>
              <a:t>        </a:t>
            </a:r>
            <a:r>
              <a:rPr lang="zh-CN" altLang="en-US" sz="2300">
                <a:solidFill>
                  <a:srgbClr val="000066"/>
                </a:solidFill>
              </a:rPr>
              <a:t>以平衡位置为坐标原点，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300">
                <a:solidFill>
                  <a:srgbClr val="000066"/>
                </a:solidFill>
              </a:rPr>
              <a:t>向下为正建立</a:t>
            </a:r>
            <a:r>
              <a:rPr lang="zh-CN" altLang="en-US">
                <a:solidFill>
                  <a:srgbClr val="000080"/>
                </a:solidFill>
              </a:rPr>
              <a:t> </a:t>
            </a:r>
            <a:r>
              <a:rPr lang="en-US" altLang="zh-CN" sz="2800" i="1"/>
              <a:t>x</a:t>
            </a:r>
            <a:r>
              <a:rPr lang="en-US" altLang="zh-CN" sz="2700" i="1">
                <a:solidFill>
                  <a:srgbClr val="000080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坐标 。</a:t>
            </a:r>
          </a:p>
        </p:txBody>
      </p:sp>
      <p:sp>
        <p:nvSpPr>
          <p:cNvPr id="117951" name="Text Box 191">
            <a:extLst>
              <a:ext uri="{FF2B5EF4-FFF2-40B4-BE49-F238E27FC236}">
                <a16:creationId xmlns:a16="http://schemas.microsoft.com/office/drawing/2014/main" id="{BD8AACB0-D76C-5F13-C871-9B7E4294C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330575"/>
            <a:ext cx="1327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66"/>
                </a:solidFill>
              </a:rPr>
              <a:t>解：       </a:t>
            </a:r>
          </a:p>
        </p:txBody>
      </p:sp>
      <p:graphicFrame>
        <p:nvGraphicFramePr>
          <p:cNvPr id="117952" name="Object 192">
            <a:extLst>
              <a:ext uri="{FF2B5EF4-FFF2-40B4-BE49-F238E27FC236}">
                <a16:creationId xmlns:a16="http://schemas.microsoft.com/office/drawing/2014/main" id="{7275D651-468F-89C4-29A9-712E207B10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3184525"/>
          <a:ext cx="183991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1588" imgH="123825" progId="Equation.3">
                  <p:embed/>
                </p:oleObj>
              </mc:Choice>
              <mc:Fallback>
                <p:oleObj name="Equation" r:id="rId4" imgW="571588" imgH="123825" progId="Equation.3">
                  <p:embed/>
                  <p:pic>
                    <p:nvPicPr>
                      <p:cNvPr id="0" name="Object 1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184525"/>
                        <a:ext cx="1839913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953" name="Text Box 193">
            <a:extLst>
              <a:ext uri="{FF2B5EF4-FFF2-40B4-BE49-F238E27FC236}">
                <a16:creationId xmlns:a16="http://schemas.microsoft.com/office/drawing/2014/main" id="{EF39E3FD-D67D-61A1-2A68-9380B0163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3314700"/>
            <a:ext cx="2879725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</a:rPr>
              <a:t>在平衡位置处：      </a:t>
            </a:r>
          </a:p>
        </p:txBody>
      </p:sp>
      <p:sp>
        <p:nvSpPr>
          <p:cNvPr id="117954" name="Text Box 194">
            <a:extLst>
              <a:ext uri="{FF2B5EF4-FFF2-40B4-BE49-F238E27FC236}">
                <a16:creationId xmlns:a16="http://schemas.microsoft.com/office/drawing/2014/main" id="{0AAB8FE3-1034-A1EE-6C54-5CBD6DBD8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724400"/>
            <a:ext cx="4464050" cy="102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i="1"/>
              <a:t>       m</a:t>
            </a:r>
            <a:r>
              <a:rPr lang="en-US" altLang="zh-CN">
                <a:solidFill>
                  <a:srgbClr val="00007C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运动到</a:t>
            </a:r>
            <a:r>
              <a:rPr lang="zh-CN" altLang="en-US">
                <a:solidFill>
                  <a:srgbClr val="00007C"/>
                </a:solidFill>
              </a:rPr>
              <a:t> </a:t>
            </a:r>
            <a:r>
              <a:rPr lang="en-US" altLang="zh-CN" sz="2800" i="1"/>
              <a:t>x</a:t>
            </a:r>
            <a:r>
              <a:rPr lang="en-US" altLang="zh-CN">
                <a:solidFill>
                  <a:srgbClr val="00007C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处时，分析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300">
                <a:solidFill>
                  <a:srgbClr val="000066"/>
                </a:solidFill>
              </a:rPr>
              <a:t>受力情况如图：      </a:t>
            </a:r>
          </a:p>
        </p:txBody>
      </p:sp>
      <p:grpSp>
        <p:nvGrpSpPr>
          <p:cNvPr id="117958" name="Group 198">
            <a:extLst>
              <a:ext uri="{FF2B5EF4-FFF2-40B4-BE49-F238E27FC236}">
                <a16:creationId xmlns:a16="http://schemas.microsoft.com/office/drawing/2014/main" id="{3B364A46-4ABF-042F-4511-179E9ABAEEA0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3284538"/>
            <a:ext cx="336550" cy="457200"/>
            <a:chOff x="3765" y="2131"/>
            <a:chExt cx="212" cy="288"/>
          </a:xfrm>
        </p:grpSpPr>
        <p:sp>
          <p:nvSpPr>
            <p:cNvPr id="24590" name="Oval 196">
              <a:extLst>
                <a:ext uri="{FF2B5EF4-FFF2-40B4-BE49-F238E27FC236}">
                  <a16:creationId xmlns:a16="http://schemas.microsoft.com/office/drawing/2014/main" id="{3B767B5D-9077-DD1A-83F8-28420BB4F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2198"/>
              <a:ext cx="182" cy="181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22225">
              <a:solidFill>
                <a:srgbClr val="007000"/>
              </a:solidFill>
              <a:round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591" name="Text Box 197">
              <a:extLst>
                <a:ext uri="{FF2B5EF4-FFF2-40B4-BE49-F238E27FC236}">
                  <a16:creationId xmlns:a16="http://schemas.microsoft.com/office/drawing/2014/main" id="{80F68CAD-3496-657B-B79B-3CA1B3D0DE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5" y="21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007000"/>
                  </a:solidFill>
                </a:rPr>
                <a:t>1</a:t>
              </a:r>
            </a:p>
          </p:txBody>
        </p: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7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7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17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17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7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11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117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11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11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17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7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4" grpId="0"/>
      <p:bldP spid="117945" grpId="0"/>
      <p:bldP spid="117951" grpId="0"/>
      <p:bldP spid="117953" grpId="0"/>
      <p:bldP spid="11795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4658" name="Object 2">
            <a:extLst>
              <a:ext uri="{FF2B5EF4-FFF2-40B4-BE49-F238E27FC236}">
                <a16:creationId xmlns:a16="http://schemas.microsoft.com/office/drawing/2014/main" id="{8E96A7A7-E158-B49E-84D0-57EB3D3C7F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2781300"/>
          <a:ext cx="2665412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90659" imgH="304800" progId="Equation.3">
                  <p:embed/>
                </p:oleObj>
              </mc:Choice>
              <mc:Fallback>
                <p:oleObj name="公式" r:id="rId2" imgW="990659" imgH="304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781300"/>
                        <a:ext cx="2665412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4659" name="Group 3">
            <a:extLst>
              <a:ext uri="{FF2B5EF4-FFF2-40B4-BE49-F238E27FC236}">
                <a16:creationId xmlns:a16="http://schemas.microsoft.com/office/drawing/2014/main" id="{28F264E9-8CA1-CDF8-C506-898808CCD710}"/>
              </a:ext>
            </a:extLst>
          </p:cNvPr>
          <p:cNvGrpSpPr>
            <a:grpSpLocks/>
          </p:cNvGrpSpPr>
          <p:nvPr/>
        </p:nvGrpSpPr>
        <p:grpSpPr bwMode="auto">
          <a:xfrm>
            <a:off x="7019925" y="333375"/>
            <a:ext cx="1606550" cy="3671888"/>
            <a:chOff x="4422" y="210"/>
            <a:chExt cx="1012" cy="2313"/>
          </a:xfrm>
        </p:grpSpPr>
        <p:grpSp>
          <p:nvGrpSpPr>
            <p:cNvPr id="25624" name="Group 4">
              <a:extLst>
                <a:ext uri="{FF2B5EF4-FFF2-40B4-BE49-F238E27FC236}">
                  <a16:creationId xmlns:a16="http://schemas.microsoft.com/office/drawing/2014/main" id="{7B058D0A-6C8A-95A1-C53B-952D301282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0" y="210"/>
              <a:ext cx="680" cy="1043"/>
              <a:chOff x="4831" y="346"/>
              <a:chExt cx="680" cy="1043"/>
            </a:xfrm>
          </p:grpSpPr>
          <p:sp>
            <p:nvSpPr>
              <p:cNvPr id="25634" name="Rectangle 5">
                <a:extLst>
                  <a:ext uri="{FF2B5EF4-FFF2-40B4-BE49-F238E27FC236}">
                    <a16:creationId xmlns:a16="http://schemas.microsoft.com/office/drawing/2014/main" id="{B17AEBBB-DBB8-2DA9-FF00-F7517E5D3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31" y="768"/>
                <a:ext cx="267" cy="247"/>
              </a:xfrm>
              <a:prstGeom prst="rect">
                <a:avLst/>
              </a:prstGeom>
              <a:solidFill>
                <a:srgbClr val="99CCFF"/>
              </a:solidFill>
              <a:ln w="19050" cap="sq">
                <a:solidFill>
                  <a:srgbClr val="0000CC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5635" name="Line 6">
                <a:extLst>
                  <a:ext uri="{FF2B5EF4-FFF2-40B4-BE49-F238E27FC236}">
                    <a16:creationId xmlns:a16="http://schemas.microsoft.com/office/drawing/2014/main" id="{1B2739B5-E805-CF12-74AA-F6E4C5C29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4747" y="691"/>
                <a:ext cx="420" cy="0"/>
              </a:xfrm>
              <a:prstGeom prst="line">
                <a:avLst/>
              </a:prstGeom>
              <a:noFill/>
              <a:ln w="38100" cap="sq">
                <a:solidFill>
                  <a:srgbClr val="FF0000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5636" name="Line 7">
                <a:extLst>
                  <a:ext uri="{FF2B5EF4-FFF2-40B4-BE49-F238E27FC236}">
                    <a16:creationId xmlns:a16="http://schemas.microsoft.com/office/drawing/2014/main" id="{27A6B61A-0BB7-E3B4-D96D-C9EE9E727B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4747" y="1135"/>
                <a:ext cx="419" cy="0"/>
              </a:xfrm>
              <a:prstGeom prst="line">
                <a:avLst/>
              </a:prstGeom>
              <a:noFill/>
              <a:ln w="38100" cap="sq">
                <a:solidFill>
                  <a:srgbClr val="990000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5637" name="Rectangle 8">
                <a:extLst>
                  <a:ext uri="{FF2B5EF4-FFF2-40B4-BE49-F238E27FC236}">
                    <a16:creationId xmlns:a16="http://schemas.microsoft.com/office/drawing/2014/main" id="{BD01746E-E13D-1395-92E5-EC7B533A4E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3" y="346"/>
                <a:ext cx="311" cy="3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600" i="1">
                    <a:solidFill>
                      <a:srgbClr val="000080"/>
                    </a:solidFill>
                    <a:ea typeface="宋体" panose="02010600030101010101" pitchFamily="2" charset="-122"/>
                  </a:rPr>
                  <a:t>T</a:t>
                </a:r>
                <a:r>
                  <a:rPr lang="en-US" altLang="zh-CN" sz="2600" baseline="-25000">
                    <a:solidFill>
                      <a:srgbClr val="000080"/>
                    </a:solidFill>
                    <a:ea typeface="宋体" panose="02010600030101010101" pitchFamily="2" charset="-122"/>
                  </a:rPr>
                  <a:t>1</a:t>
                </a:r>
                <a:endParaRPr lang="en-US" altLang="zh-CN" sz="2600" i="1">
                  <a:solidFill>
                    <a:srgbClr val="00008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5638" name="Rectangle 9">
                <a:extLst>
                  <a:ext uri="{FF2B5EF4-FFF2-40B4-BE49-F238E27FC236}">
                    <a16:creationId xmlns:a16="http://schemas.microsoft.com/office/drawing/2014/main" id="{F293843C-46FC-F8BD-9519-A38C40F77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2" y="1081"/>
                <a:ext cx="499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600" i="1">
                    <a:solidFill>
                      <a:srgbClr val="000080"/>
                    </a:solidFill>
                    <a:ea typeface="宋体" panose="02010600030101010101" pitchFamily="2" charset="-122"/>
                  </a:rPr>
                  <a:t>mg </a:t>
                </a:r>
              </a:p>
            </p:txBody>
          </p:sp>
        </p:grpSp>
        <p:grpSp>
          <p:nvGrpSpPr>
            <p:cNvPr id="25625" name="Group 10">
              <a:extLst>
                <a:ext uri="{FF2B5EF4-FFF2-40B4-BE49-F238E27FC236}">
                  <a16:creationId xmlns:a16="http://schemas.microsoft.com/office/drawing/2014/main" id="{80C392BB-52D5-C540-42F9-AD9839F464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2" y="1470"/>
              <a:ext cx="1012" cy="1053"/>
              <a:chOff x="4294" y="1117"/>
              <a:chExt cx="1012" cy="1053"/>
            </a:xfrm>
          </p:grpSpPr>
          <p:sp>
            <p:nvSpPr>
              <p:cNvPr id="25626" name="Oval 11">
                <a:extLst>
                  <a:ext uri="{FF2B5EF4-FFF2-40B4-BE49-F238E27FC236}">
                    <a16:creationId xmlns:a16="http://schemas.microsoft.com/office/drawing/2014/main" id="{451C5AC6-1E76-0142-9F2B-B14EAA7895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2" y="1463"/>
                <a:ext cx="332" cy="315"/>
              </a:xfrm>
              <a:prstGeom prst="ellipse">
                <a:avLst/>
              </a:prstGeom>
              <a:solidFill>
                <a:srgbClr val="FFCCFF"/>
              </a:solidFill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5627" name="Line 12">
                <a:extLst>
                  <a:ext uri="{FF2B5EF4-FFF2-40B4-BE49-F238E27FC236}">
                    <a16:creationId xmlns:a16="http://schemas.microsoft.com/office/drawing/2014/main" id="{68E9137B-C411-2B46-934F-79E8CB1525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30" y="1463"/>
                <a:ext cx="443" cy="0"/>
              </a:xfrm>
              <a:prstGeom prst="line">
                <a:avLst/>
              </a:prstGeom>
              <a:noFill/>
              <a:ln w="38100" cap="sq">
                <a:solidFill>
                  <a:srgbClr val="FF3300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5628" name="Line 13">
                <a:extLst>
                  <a:ext uri="{FF2B5EF4-FFF2-40B4-BE49-F238E27FC236}">
                    <a16:creationId xmlns:a16="http://schemas.microsoft.com/office/drawing/2014/main" id="{CBA5AB7E-2154-5837-3B52-2C676836D7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4764" y="1856"/>
                <a:ext cx="420" cy="0"/>
              </a:xfrm>
              <a:prstGeom prst="line">
                <a:avLst/>
              </a:prstGeom>
              <a:noFill/>
              <a:ln w="38100" cap="sq">
                <a:solidFill>
                  <a:srgbClr val="FF0000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5629" name="Rectangle 14">
                <a:extLst>
                  <a:ext uri="{FF2B5EF4-FFF2-40B4-BE49-F238E27FC236}">
                    <a16:creationId xmlns:a16="http://schemas.microsoft.com/office/drawing/2014/main" id="{7B5586D4-714F-72D6-4DD4-14F790507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4" y="1117"/>
                <a:ext cx="363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600" i="1">
                    <a:solidFill>
                      <a:srgbClr val="000080"/>
                    </a:solidFill>
                    <a:ea typeface="宋体" panose="02010600030101010101" pitchFamily="2" charset="-122"/>
                  </a:rPr>
                  <a:t>T</a:t>
                </a:r>
                <a:r>
                  <a:rPr lang="en-US" altLang="zh-CN" sz="2600" baseline="-25000">
                    <a:solidFill>
                      <a:srgbClr val="000080"/>
                    </a:solidFill>
                    <a:ea typeface="宋体" panose="02010600030101010101" pitchFamily="2" charset="-122"/>
                  </a:rPr>
                  <a:t>2</a:t>
                </a:r>
                <a:r>
                  <a:rPr lang="en-US" altLang="zh-CN" sz="2600" i="1">
                    <a:solidFill>
                      <a:srgbClr val="000080"/>
                    </a:solidFill>
                    <a:ea typeface="宋体" panose="02010600030101010101" pitchFamily="2" charset="-122"/>
                  </a:rPr>
                  <a:t> </a:t>
                </a:r>
              </a:p>
            </p:txBody>
          </p:sp>
          <p:sp>
            <p:nvSpPr>
              <p:cNvPr id="25630" name="Rectangle 15">
                <a:extLst>
                  <a:ext uri="{FF2B5EF4-FFF2-40B4-BE49-F238E27FC236}">
                    <a16:creationId xmlns:a16="http://schemas.microsoft.com/office/drawing/2014/main" id="{F141F119-CC13-454B-4F60-3B7DB07DE2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7" y="1863"/>
                <a:ext cx="311" cy="3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600" i="1">
                    <a:solidFill>
                      <a:srgbClr val="000080"/>
                    </a:solidFill>
                    <a:ea typeface="宋体" panose="02010600030101010101" pitchFamily="2" charset="-122"/>
                  </a:rPr>
                  <a:t>T</a:t>
                </a:r>
                <a:r>
                  <a:rPr lang="en-US" altLang="zh-CN" sz="2600" baseline="-25000">
                    <a:solidFill>
                      <a:srgbClr val="000080"/>
                    </a:solidFill>
                    <a:ea typeface="宋体" panose="02010600030101010101" pitchFamily="2" charset="-122"/>
                  </a:rPr>
                  <a:t>1</a:t>
                </a:r>
                <a:endParaRPr lang="en-US" altLang="zh-CN" sz="2600" i="1">
                  <a:solidFill>
                    <a:srgbClr val="00008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5631" name="Line 16">
                <a:extLst>
                  <a:ext uri="{FF2B5EF4-FFF2-40B4-BE49-F238E27FC236}">
                    <a16:creationId xmlns:a16="http://schemas.microsoft.com/office/drawing/2014/main" id="{86EE9400-6DD9-3ACD-D894-8C36456376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98" y="1492"/>
                <a:ext cx="110" cy="157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5632" name="Rectangle 17">
                <a:extLst>
                  <a:ext uri="{FF2B5EF4-FFF2-40B4-BE49-F238E27FC236}">
                    <a16:creationId xmlns:a16="http://schemas.microsoft.com/office/drawing/2014/main" id="{03BB43D1-64E0-267B-1074-0602AAF1F5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38" y="1196"/>
                <a:ext cx="255" cy="3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600" i="1">
                    <a:solidFill>
                      <a:srgbClr val="000080"/>
                    </a:solidFill>
                    <a:ea typeface="宋体" panose="02010600030101010101" pitchFamily="2" charset="-122"/>
                  </a:rPr>
                  <a:t>R</a:t>
                </a:r>
              </a:p>
            </p:txBody>
          </p:sp>
          <p:sp>
            <p:nvSpPr>
              <p:cNvPr id="25633" name="Rectangle 18">
                <a:extLst>
                  <a:ext uri="{FF2B5EF4-FFF2-40B4-BE49-F238E27FC236}">
                    <a16:creationId xmlns:a16="http://schemas.microsoft.com/office/drawing/2014/main" id="{877FF653-1A85-617B-9074-C10894DB0F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4" y="1462"/>
                <a:ext cx="332" cy="3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600" i="1">
                    <a:solidFill>
                      <a:srgbClr val="000080"/>
                    </a:solidFill>
                    <a:ea typeface="宋体" panose="02010600030101010101" pitchFamily="2" charset="-122"/>
                  </a:rPr>
                  <a:t>M</a:t>
                </a:r>
              </a:p>
            </p:txBody>
          </p:sp>
        </p:grpSp>
      </p:grpSp>
      <p:sp>
        <p:nvSpPr>
          <p:cNvPr id="1094675" name="Rectangle 19">
            <a:extLst>
              <a:ext uri="{FF2B5EF4-FFF2-40B4-BE49-F238E27FC236}">
                <a16:creationId xmlns:a16="http://schemas.microsoft.com/office/drawing/2014/main" id="{22D308E1-AEA9-961C-A66C-E1C4C3189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4149725"/>
            <a:ext cx="312737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000066"/>
                </a:solidFill>
                <a:latin typeface="Arial" panose="020B0604020202020204" pitchFamily="34" charset="0"/>
              </a:rPr>
              <a:t>解上面的方程组得：            </a:t>
            </a:r>
          </a:p>
        </p:txBody>
      </p:sp>
      <p:graphicFrame>
        <p:nvGraphicFramePr>
          <p:cNvPr id="1094676" name="Object 20">
            <a:extLst>
              <a:ext uri="{FF2B5EF4-FFF2-40B4-BE49-F238E27FC236}">
                <a16:creationId xmlns:a16="http://schemas.microsoft.com/office/drawing/2014/main" id="{5DA37DD0-0F4E-42C6-C66E-058E9E5485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0475" y="260350"/>
          <a:ext cx="3671888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533679" imgH="914400" progId="Equation.3">
                  <p:embed/>
                </p:oleObj>
              </mc:Choice>
              <mc:Fallback>
                <p:oleObj name="公式" r:id="rId4" imgW="3533679" imgH="9144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260350"/>
                        <a:ext cx="3671888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4677" name="Object 21">
            <a:extLst>
              <a:ext uri="{FF2B5EF4-FFF2-40B4-BE49-F238E27FC236}">
                <a16:creationId xmlns:a16="http://schemas.microsoft.com/office/drawing/2014/main" id="{7243988D-46F7-6E3B-ACCF-A7FFDD3251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1196975"/>
          <a:ext cx="3240088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43003" imgH="295275" progId="Equation.3">
                  <p:embed/>
                </p:oleObj>
              </mc:Choice>
              <mc:Fallback>
                <p:oleObj name="公式" r:id="rId6" imgW="1343003" imgH="29527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196975"/>
                        <a:ext cx="3240088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4678" name="Group 22">
            <a:extLst>
              <a:ext uri="{FF2B5EF4-FFF2-40B4-BE49-F238E27FC236}">
                <a16:creationId xmlns:a16="http://schemas.microsoft.com/office/drawing/2014/main" id="{3D194395-A7D4-796A-D68F-D2F30FF58F51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579438"/>
            <a:ext cx="336550" cy="457200"/>
            <a:chOff x="3765" y="2131"/>
            <a:chExt cx="212" cy="288"/>
          </a:xfrm>
        </p:grpSpPr>
        <p:sp>
          <p:nvSpPr>
            <p:cNvPr id="25622" name="Oval 23">
              <a:extLst>
                <a:ext uri="{FF2B5EF4-FFF2-40B4-BE49-F238E27FC236}">
                  <a16:creationId xmlns:a16="http://schemas.microsoft.com/office/drawing/2014/main" id="{D6B8E509-068F-C405-C01A-321DE92DE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2198"/>
              <a:ext cx="182" cy="181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22225">
              <a:solidFill>
                <a:srgbClr val="007000"/>
              </a:solidFill>
              <a:round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23" name="Text Box 24">
              <a:extLst>
                <a:ext uri="{FF2B5EF4-FFF2-40B4-BE49-F238E27FC236}">
                  <a16:creationId xmlns:a16="http://schemas.microsoft.com/office/drawing/2014/main" id="{E1905547-F262-2742-ABE7-94DBB21CF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5" y="21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007000"/>
                  </a:solidFill>
                </a:rPr>
                <a:t>2</a:t>
              </a:r>
            </a:p>
          </p:txBody>
        </p:sp>
      </p:grpSp>
      <p:grpSp>
        <p:nvGrpSpPr>
          <p:cNvPr id="1094681" name="Group 25">
            <a:extLst>
              <a:ext uri="{FF2B5EF4-FFF2-40B4-BE49-F238E27FC236}">
                <a16:creationId xmlns:a16="http://schemas.microsoft.com/office/drawing/2014/main" id="{669A1204-C332-E60E-FC1F-E44FE89CD84F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1539875"/>
            <a:ext cx="336550" cy="457200"/>
            <a:chOff x="3765" y="2131"/>
            <a:chExt cx="212" cy="288"/>
          </a:xfrm>
        </p:grpSpPr>
        <p:sp>
          <p:nvSpPr>
            <p:cNvPr id="25620" name="Oval 26">
              <a:extLst>
                <a:ext uri="{FF2B5EF4-FFF2-40B4-BE49-F238E27FC236}">
                  <a16:creationId xmlns:a16="http://schemas.microsoft.com/office/drawing/2014/main" id="{90F88334-FBE6-765D-7762-BD96B78FB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2198"/>
              <a:ext cx="182" cy="181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22225">
              <a:solidFill>
                <a:srgbClr val="007000"/>
              </a:solidFill>
              <a:round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21" name="Text Box 27">
              <a:extLst>
                <a:ext uri="{FF2B5EF4-FFF2-40B4-BE49-F238E27FC236}">
                  <a16:creationId xmlns:a16="http://schemas.microsoft.com/office/drawing/2014/main" id="{A64EE607-F097-AD36-95F8-15B909BD3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5" y="21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007000"/>
                  </a:solidFill>
                </a:rPr>
                <a:t>3</a:t>
              </a:r>
            </a:p>
          </p:txBody>
        </p:sp>
      </p:grpSp>
      <p:grpSp>
        <p:nvGrpSpPr>
          <p:cNvPr id="1094684" name="Group 28">
            <a:extLst>
              <a:ext uri="{FF2B5EF4-FFF2-40B4-BE49-F238E27FC236}">
                <a16:creationId xmlns:a16="http://schemas.microsoft.com/office/drawing/2014/main" id="{01CC7DD8-EBF4-EA2A-4130-A5B177B432F7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2332038"/>
            <a:ext cx="336550" cy="457200"/>
            <a:chOff x="3765" y="2131"/>
            <a:chExt cx="212" cy="288"/>
          </a:xfrm>
        </p:grpSpPr>
        <p:sp>
          <p:nvSpPr>
            <p:cNvPr id="25618" name="Oval 29">
              <a:extLst>
                <a:ext uri="{FF2B5EF4-FFF2-40B4-BE49-F238E27FC236}">
                  <a16:creationId xmlns:a16="http://schemas.microsoft.com/office/drawing/2014/main" id="{BAEAC5C0-07DF-9F1E-41E5-EFBF17DF0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2198"/>
              <a:ext cx="182" cy="181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22225">
              <a:solidFill>
                <a:srgbClr val="007000"/>
              </a:solidFill>
              <a:round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19" name="Text Box 30">
              <a:extLst>
                <a:ext uri="{FF2B5EF4-FFF2-40B4-BE49-F238E27FC236}">
                  <a16:creationId xmlns:a16="http://schemas.microsoft.com/office/drawing/2014/main" id="{72B12DA3-41B8-A500-4D2B-40C880F385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5" y="21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007000"/>
                  </a:solidFill>
                </a:rPr>
                <a:t>4</a:t>
              </a:r>
            </a:p>
          </p:txBody>
        </p:sp>
      </p:grpSp>
      <p:grpSp>
        <p:nvGrpSpPr>
          <p:cNvPr id="1094687" name="Group 31">
            <a:extLst>
              <a:ext uri="{FF2B5EF4-FFF2-40B4-BE49-F238E27FC236}">
                <a16:creationId xmlns:a16="http://schemas.microsoft.com/office/drawing/2014/main" id="{97A26178-D935-4D1F-1359-1926B83563CA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3259138"/>
            <a:ext cx="336550" cy="457200"/>
            <a:chOff x="3765" y="2131"/>
            <a:chExt cx="212" cy="288"/>
          </a:xfrm>
        </p:grpSpPr>
        <p:sp>
          <p:nvSpPr>
            <p:cNvPr id="25616" name="Oval 32">
              <a:extLst>
                <a:ext uri="{FF2B5EF4-FFF2-40B4-BE49-F238E27FC236}">
                  <a16:creationId xmlns:a16="http://schemas.microsoft.com/office/drawing/2014/main" id="{4C5A8327-C051-EE64-0BC6-5329AB4A3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2198"/>
              <a:ext cx="182" cy="181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22225">
              <a:solidFill>
                <a:srgbClr val="007000"/>
              </a:solidFill>
              <a:round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17" name="Text Box 33">
              <a:extLst>
                <a:ext uri="{FF2B5EF4-FFF2-40B4-BE49-F238E27FC236}">
                  <a16:creationId xmlns:a16="http://schemas.microsoft.com/office/drawing/2014/main" id="{3E85EA55-DEB4-FDE6-9E67-0F339A1975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5" y="21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007000"/>
                  </a:solidFill>
                </a:rPr>
                <a:t>5</a:t>
              </a:r>
            </a:p>
          </p:txBody>
        </p:sp>
      </p:grpSp>
      <p:graphicFrame>
        <p:nvGraphicFramePr>
          <p:cNvPr id="1094690" name="Object 34">
            <a:extLst>
              <a:ext uri="{FF2B5EF4-FFF2-40B4-BE49-F238E27FC236}">
                <a16:creationId xmlns:a16="http://schemas.microsoft.com/office/drawing/2014/main" id="{0FAF97EE-6867-04AF-EAF8-BE5D2D78E3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109788"/>
          <a:ext cx="2649537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38141" imgH="123825" progId="Equation.3">
                  <p:embed/>
                </p:oleObj>
              </mc:Choice>
              <mc:Fallback>
                <p:oleObj name="公式" r:id="rId8" imgW="838141" imgH="123825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109788"/>
                        <a:ext cx="2649537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4691" name="Object 35">
            <a:extLst>
              <a:ext uri="{FF2B5EF4-FFF2-40B4-BE49-F238E27FC236}">
                <a16:creationId xmlns:a16="http://schemas.microsoft.com/office/drawing/2014/main" id="{C68B56CC-EF76-136F-2E40-0D8945CA31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3789363"/>
          <a:ext cx="3505200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391047" imgH="933450" progId="Equation.3">
                  <p:embed/>
                </p:oleObj>
              </mc:Choice>
              <mc:Fallback>
                <p:oleObj name="公式" r:id="rId10" imgW="3391047" imgH="93345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789363"/>
                        <a:ext cx="3505200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4692" name="Object 36">
            <a:extLst>
              <a:ext uri="{FF2B5EF4-FFF2-40B4-BE49-F238E27FC236}">
                <a16:creationId xmlns:a16="http://schemas.microsoft.com/office/drawing/2014/main" id="{A8BE312C-6FF9-3367-F17F-6476366B6D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5084763"/>
          <a:ext cx="2665412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552553" imgH="809625" progId="Equation.3">
                  <p:embed/>
                </p:oleObj>
              </mc:Choice>
              <mc:Fallback>
                <p:oleObj name="公式" r:id="rId12" imgW="2552553" imgH="809625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084763"/>
                        <a:ext cx="2665412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4693" name="Rectangle 37">
            <a:extLst>
              <a:ext uri="{FF2B5EF4-FFF2-40B4-BE49-F238E27FC236}">
                <a16:creationId xmlns:a16="http://schemas.microsoft.com/office/drawing/2014/main" id="{A3922A35-7442-D4F4-4687-488FEC9E0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373688"/>
            <a:ext cx="3384550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  <a:latin typeface="Arial" panose="020B0604020202020204" pitchFamily="34" charset="0"/>
              </a:rPr>
              <a:t>系统的振动圆频率：                </a:t>
            </a:r>
          </a:p>
        </p:txBody>
      </p:sp>
      <p:sp>
        <p:nvSpPr>
          <p:cNvPr id="1094694" name="AutoShape 38">
            <a:extLst>
              <a:ext uri="{FF2B5EF4-FFF2-40B4-BE49-F238E27FC236}">
                <a16:creationId xmlns:a16="http://schemas.microsoft.com/office/drawing/2014/main" id="{6C865C88-3E0A-60B1-3660-E4E7EE39C02A}"/>
              </a:ext>
            </a:extLst>
          </p:cNvPr>
          <p:cNvSpPr>
            <a:spLocks/>
          </p:cNvSpPr>
          <p:nvPr/>
        </p:nvSpPr>
        <p:spPr bwMode="auto">
          <a:xfrm>
            <a:off x="754063" y="838200"/>
            <a:ext cx="288925" cy="2519363"/>
          </a:xfrm>
          <a:prstGeom prst="leftBrace">
            <a:avLst>
              <a:gd name="adj1" fmla="val 72665"/>
              <a:gd name="adj2" fmla="val 50000"/>
            </a:avLst>
          </a:prstGeom>
          <a:noFill/>
          <a:ln w="28575">
            <a:solidFill>
              <a:srgbClr val="800000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94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109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9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1094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9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09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94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094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94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09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09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09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109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109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4675" grpId="0"/>
      <p:bldP spid="1094693" grpId="0"/>
      <p:bldP spid="109469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2677F73E-3788-C81B-4797-84436A681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0"/>
            <a:ext cx="9156700" cy="145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7" name="Picture 3">
            <a:extLst>
              <a:ext uri="{FF2B5EF4-FFF2-40B4-BE49-F238E27FC236}">
                <a16:creationId xmlns:a16="http://schemas.microsoft.com/office/drawing/2014/main" id="{C87A36B5-E348-23B3-B3FA-DB0B888B1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1524000"/>
            <a:ext cx="2505075" cy="414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6324" name="Picture 4">
            <a:extLst>
              <a:ext uri="{FF2B5EF4-FFF2-40B4-BE49-F238E27FC236}">
                <a16:creationId xmlns:a16="http://schemas.microsoft.com/office/drawing/2014/main" id="{F9A956BB-D831-A7FE-E530-4081CAF23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600"/>
          <a:stretch>
            <a:fillRect/>
          </a:stretch>
        </p:blipFill>
        <p:spPr bwMode="auto">
          <a:xfrm>
            <a:off x="250825" y="1492250"/>
            <a:ext cx="5940425" cy="137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390E1C-7A98-C17F-787B-9660134E1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34" b="47031"/>
          <a:stretch>
            <a:fillRect/>
          </a:stretch>
        </p:blipFill>
        <p:spPr bwMode="auto">
          <a:xfrm>
            <a:off x="179388" y="2895600"/>
            <a:ext cx="5940425" cy="135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47C66E52-0B0B-C1F9-1F60-BBFC42F46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19"/>
          <a:stretch>
            <a:fillRect/>
          </a:stretch>
        </p:blipFill>
        <p:spPr bwMode="auto">
          <a:xfrm>
            <a:off x="1187450" y="4365625"/>
            <a:ext cx="5940425" cy="235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>
            <a:extLst>
              <a:ext uri="{FF2B5EF4-FFF2-40B4-BE49-F238E27FC236}">
                <a16:creationId xmlns:a16="http://schemas.microsoft.com/office/drawing/2014/main" id="{DA4ED32A-08E1-CC46-F7B9-677D6C775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779"/>
          <a:stretch>
            <a:fillRect/>
          </a:stretch>
        </p:blipFill>
        <p:spPr bwMode="auto">
          <a:xfrm>
            <a:off x="179388" y="260350"/>
            <a:ext cx="6515100" cy="160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7347" name="Picture 3">
            <a:extLst>
              <a:ext uri="{FF2B5EF4-FFF2-40B4-BE49-F238E27FC236}">
                <a16:creationId xmlns:a16="http://schemas.microsoft.com/office/drawing/2014/main" id="{774B2BE1-C124-1291-447C-76F4FC0C1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263900"/>
            <a:ext cx="5534025" cy="299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2" name="Picture 3">
            <a:extLst>
              <a:ext uri="{FF2B5EF4-FFF2-40B4-BE49-F238E27FC236}">
                <a16:creationId xmlns:a16="http://schemas.microsoft.com/office/drawing/2014/main" id="{486F61DE-7737-C578-A7ED-A3142822B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1341438"/>
            <a:ext cx="2505075" cy="414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9A8C25D-A118-72E2-6519-F010E9812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027"/>
          <a:stretch>
            <a:fillRect/>
          </a:stretch>
        </p:blipFill>
        <p:spPr bwMode="auto">
          <a:xfrm>
            <a:off x="179388" y="1989138"/>
            <a:ext cx="6515100" cy="976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0" name="Rectangle 4">
            <a:extLst>
              <a:ext uri="{FF2B5EF4-FFF2-40B4-BE49-F238E27FC236}">
                <a16:creationId xmlns:a16="http://schemas.microsoft.com/office/drawing/2014/main" id="{6CC4C5DC-50FD-FBA0-0E52-A8D35B40D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" y="908050"/>
            <a:ext cx="34798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</a:rPr>
              <a:t>作坐标轴</a:t>
            </a:r>
            <a:r>
              <a:rPr lang="zh-CN" altLang="en-US" sz="2300">
                <a:solidFill>
                  <a:srgbClr val="000092"/>
                </a:solidFill>
              </a:rPr>
              <a:t> </a:t>
            </a:r>
            <a:r>
              <a:rPr lang="en-US" altLang="zh-CN" sz="2600" i="1"/>
              <a:t>Ox</a:t>
            </a:r>
            <a:r>
              <a:rPr lang="zh-CN" altLang="en-US" sz="2300">
                <a:solidFill>
                  <a:srgbClr val="000092"/>
                </a:solidFill>
              </a:rPr>
              <a:t>，</a:t>
            </a:r>
          </a:p>
        </p:txBody>
      </p:sp>
      <p:sp>
        <p:nvSpPr>
          <p:cNvPr id="121865" name="Rectangle 9">
            <a:extLst>
              <a:ext uri="{FF2B5EF4-FFF2-40B4-BE49-F238E27FC236}">
                <a16:creationId xmlns:a16="http://schemas.microsoft.com/office/drawing/2014/main" id="{E32CB43D-0DEA-8F08-B7B2-EB5D51593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3375"/>
            <a:ext cx="748982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66"/>
                </a:solidFill>
                <a:latin typeface="华文中宋" panose="02010600040101010101" pitchFamily="2" charset="-122"/>
              </a:rPr>
              <a:t>四、简谐振动的旋转矢量表示法</a:t>
            </a:r>
            <a:r>
              <a:rPr lang="en-US" altLang="zh-CN" sz="2600">
                <a:solidFill>
                  <a:srgbClr val="000066"/>
                </a:solidFill>
                <a:latin typeface="华文中宋" panose="02010600040101010101" pitchFamily="2" charset="-122"/>
              </a:rPr>
              <a:t>(</a:t>
            </a:r>
            <a:r>
              <a:rPr lang="zh-CN" altLang="en-US" sz="2600">
                <a:solidFill>
                  <a:srgbClr val="000066"/>
                </a:solidFill>
                <a:latin typeface="华文中宋" panose="02010600040101010101" pitchFamily="2" charset="-122"/>
              </a:rPr>
              <a:t>矢量图解法</a:t>
            </a:r>
            <a:r>
              <a:rPr lang="en-US" altLang="zh-CN" sz="2600">
                <a:solidFill>
                  <a:srgbClr val="000066"/>
                </a:solidFill>
                <a:latin typeface="华文中宋" panose="02010600040101010101" pitchFamily="2" charset="-122"/>
              </a:rPr>
              <a:t>)</a:t>
            </a:r>
          </a:p>
        </p:txBody>
      </p:sp>
      <p:sp>
        <p:nvSpPr>
          <p:cNvPr id="121895" name="Text Box 39">
            <a:extLst>
              <a:ext uri="{FF2B5EF4-FFF2-40B4-BE49-F238E27FC236}">
                <a16:creationId xmlns:a16="http://schemas.microsoft.com/office/drawing/2014/main" id="{F2F9FA69-1AE7-D4E0-A62A-D61B6318B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" y="1412875"/>
            <a:ext cx="557053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</a:rPr>
              <a:t>以角速度</a:t>
            </a:r>
            <a:r>
              <a:rPr lang="zh-CN" altLang="en-US" sz="1000">
                <a:solidFill>
                  <a:srgbClr val="000099"/>
                </a:solidFill>
              </a:rPr>
              <a:t> </a:t>
            </a:r>
            <a:r>
              <a:rPr lang="en-US" altLang="zh-CN" sz="2600" i="1"/>
              <a:t>ω</a:t>
            </a:r>
            <a:r>
              <a:rPr lang="en-US" altLang="zh-CN" sz="2600">
                <a:solidFill>
                  <a:srgbClr val="000099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绕</a:t>
            </a:r>
            <a:r>
              <a:rPr lang="zh-CN" altLang="en-US" sz="2300">
                <a:solidFill>
                  <a:srgbClr val="000099"/>
                </a:solidFill>
              </a:rPr>
              <a:t> </a:t>
            </a:r>
            <a:r>
              <a:rPr lang="en-US" altLang="zh-CN" sz="2600" i="1"/>
              <a:t>O</a:t>
            </a:r>
            <a:r>
              <a:rPr lang="en-US" altLang="zh-CN" sz="1000">
                <a:solidFill>
                  <a:srgbClr val="000099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点</a:t>
            </a:r>
            <a:r>
              <a:rPr lang="zh-CN" altLang="en-US" sz="2300"/>
              <a:t>逆时针</a:t>
            </a:r>
            <a:r>
              <a:rPr lang="zh-CN" altLang="en-US" sz="2300">
                <a:solidFill>
                  <a:srgbClr val="000066"/>
                </a:solidFill>
              </a:rPr>
              <a:t>旋转。 </a:t>
            </a:r>
          </a:p>
        </p:txBody>
      </p:sp>
      <p:grpSp>
        <p:nvGrpSpPr>
          <p:cNvPr id="121899" name="Group 43">
            <a:extLst>
              <a:ext uri="{FF2B5EF4-FFF2-40B4-BE49-F238E27FC236}">
                <a16:creationId xmlns:a16="http://schemas.microsoft.com/office/drawing/2014/main" id="{2B83353D-419F-DD96-023C-AD37C663289A}"/>
              </a:ext>
            </a:extLst>
          </p:cNvPr>
          <p:cNvGrpSpPr>
            <a:grpSpLocks/>
          </p:cNvGrpSpPr>
          <p:nvPr/>
        </p:nvGrpSpPr>
        <p:grpSpPr bwMode="auto">
          <a:xfrm>
            <a:off x="1530350" y="2000250"/>
            <a:ext cx="3146425" cy="442913"/>
            <a:chOff x="719" y="1635"/>
            <a:chExt cx="1982" cy="279"/>
          </a:xfrm>
        </p:grpSpPr>
        <p:graphicFrame>
          <p:nvGraphicFramePr>
            <p:cNvPr id="28721" name="Object 41">
              <a:extLst>
                <a:ext uri="{FF2B5EF4-FFF2-40B4-BE49-F238E27FC236}">
                  <a16:creationId xmlns:a16="http://schemas.microsoft.com/office/drawing/2014/main" id="{2621F33D-9B86-F54A-3EA8-118DE170C40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9" y="1657"/>
            <a:ext cx="223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37956" imgH="228600" progId="Equation.3">
                    <p:embed/>
                  </p:oleObj>
                </mc:Choice>
                <mc:Fallback>
                  <p:oleObj name="公式" r:id="rId2" imgW="237956" imgH="22860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" y="1657"/>
                          <a:ext cx="223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22" name="Text Box 42">
              <a:extLst>
                <a:ext uri="{FF2B5EF4-FFF2-40B4-BE49-F238E27FC236}">
                  <a16:creationId xmlns:a16="http://schemas.microsoft.com/office/drawing/2014/main" id="{B98896A3-D629-FA47-D976-CB07BDE3B2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1635"/>
              <a:ext cx="1726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300"/>
                <a:t>— </a:t>
              </a:r>
              <a:r>
                <a:rPr lang="zh-CN" altLang="en-US" sz="2300"/>
                <a:t>旋转矢量</a:t>
              </a:r>
              <a:r>
                <a:rPr lang="zh-CN" altLang="en-US" sz="2300">
                  <a:solidFill>
                    <a:srgbClr val="000099"/>
                  </a:solidFill>
                </a:rPr>
                <a:t>              </a:t>
              </a:r>
            </a:p>
          </p:txBody>
        </p:sp>
      </p:grpSp>
      <p:sp>
        <p:nvSpPr>
          <p:cNvPr id="121900" name="Rectangle 44">
            <a:extLst>
              <a:ext uri="{FF2B5EF4-FFF2-40B4-BE49-F238E27FC236}">
                <a16:creationId xmlns:a16="http://schemas.microsoft.com/office/drawing/2014/main" id="{7261F102-88AD-147C-6A43-9C0B57501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13" y="3933825"/>
            <a:ext cx="231616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600" i="1"/>
              <a:t>P</a:t>
            </a:r>
            <a:r>
              <a:rPr lang="en-US" altLang="zh-CN" sz="1000" i="1"/>
              <a:t> </a:t>
            </a:r>
            <a:r>
              <a:rPr lang="zh-CN" altLang="en-US" sz="2300">
                <a:solidFill>
                  <a:srgbClr val="000066"/>
                </a:solidFill>
              </a:rPr>
              <a:t>点的位移：</a:t>
            </a:r>
            <a:r>
              <a:rPr lang="zh-CN" altLang="en-US" sz="2300">
                <a:solidFill>
                  <a:srgbClr val="000092"/>
                </a:solidFill>
              </a:rPr>
              <a:t>      </a:t>
            </a:r>
          </a:p>
        </p:txBody>
      </p:sp>
      <p:graphicFrame>
        <p:nvGraphicFramePr>
          <p:cNvPr id="121901" name="Object 45">
            <a:extLst>
              <a:ext uri="{FF2B5EF4-FFF2-40B4-BE49-F238E27FC236}">
                <a16:creationId xmlns:a16="http://schemas.microsoft.com/office/drawing/2014/main" id="{19D909AF-2CCC-E0F7-270F-312F95C76A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2063" y="4559300"/>
          <a:ext cx="309403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705071" imgH="276225" progId="Equation.3">
                  <p:embed/>
                </p:oleObj>
              </mc:Choice>
              <mc:Fallback>
                <p:oleObj name="公式" r:id="rId4" imgW="2705071" imgH="276225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063" y="4559300"/>
                        <a:ext cx="3094037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902" name="Text Box 46">
            <a:extLst>
              <a:ext uri="{FF2B5EF4-FFF2-40B4-BE49-F238E27FC236}">
                <a16:creationId xmlns:a16="http://schemas.microsoft.com/office/drawing/2014/main" id="{00CA94ED-1AFF-1348-E989-1FBF5AE6B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3429000"/>
            <a:ext cx="4605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</a:rPr>
              <a:t>其矢端</a:t>
            </a:r>
            <a:r>
              <a:rPr lang="zh-CN" altLang="en-US" sz="2300">
                <a:solidFill>
                  <a:srgbClr val="000092"/>
                </a:solidFill>
              </a:rPr>
              <a:t> </a:t>
            </a:r>
            <a:r>
              <a:rPr lang="en-US" altLang="zh-CN" i="1"/>
              <a:t>M</a:t>
            </a:r>
            <a:r>
              <a:rPr lang="en-US" altLang="zh-CN" sz="2300" i="1">
                <a:solidFill>
                  <a:srgbClr val="000092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在</a:t>
            </a:r>
            <a:r>
              <a:rPr lang="zh-CN" altLang="en-US" sz="2300">
                <a:solidFill>
                  <a:srgbClr val="000092"/>
                </a:solidFill>
              </a:rPr>
              <a:t> </a:t>
            </a:r>
            <a:r>
              <a:rPr lang="en-US" altLang="zh-CN" sz="2800" i="1"/>
              <a:t>x</a:t>
            </a:r>
            <a:r>
              <a:rPr lang="en-US" altLang="zh-CN" sz="2300" i="1">
                <a:solidFill>
                  <a:srgbClr val="000092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轴投影 </a:t>
            </a:r>
          </a:p>
        </p:txBody>
      </p:sp>
      <p:sp>
        <p:nvSpPr>
          <p:cNvPr id="121903" name="Text Box 47">
            <a:extLst>
              <a:ext uri="{FF2B5EF4-FFF2-40B4-BE49-F238E27FC236}">
                <a16:creationId xmlns:a16="http://schemas.microsoft.com/office/drawing/2014/main" id="{42651215-BCC6-C617-26A9-C36CE87E6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420938"/>
            <a:ext cx="4537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300">
                <a:solidFill>
                  <a:srgbClr val="000066"/>
                </a:solidFill>
              </a:rPr>
              <a:t>初始时与</a:t>
            </a:r>
            <a:r>
              <a:rPr lang="zh-CN" altLang="en-US" sz="2600">
                <a:solidFill>
                  <a:srgbClr val="000092"/>
                </a:solidFill>
              </a:rPr>
              <a:t> </a:t>
            </a:r>
            <a:r>
              <a:rPr lang="en-US" altLang="zh-CN" sz="2800" i="1"/>
              <a:t>x</a:t>
            </a:r>
            <a:r>
              <a:rPr lang="en-US" altLang="zh-CN" sz="2300" i="1">
                <a:solidFill>
                  <a:srgbClr val="000092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轴夹角为</a:t>
            </a:r>
            <a:r>
              <a:rPr lang="zh-CN" altLang="en-US" sz="2300">
                <a:solidFill>
                  <a:srgbClr val="000092"/>
                </a:solidFill>
              </a:rPr>
              <a:t> </a:t>
            </a:r>
            <a:r>
              <a:rPr lang="zh-CN" altLang="en-US" sz="2800" i="1">
                <a:sym typeface="Symbol" panose="05050102010706020507" pitchFamily="18" charset="2"/>
              </a:rPr>
              <a:t></a:t>
            </a:r>
            <a:r>
              <a:rPr lang="zh-CN" altLang="en-US" sz="2300" i="1">
                <a:solidFill>
                  <a:srgbClr val="000092"/>
                </a:solidFill>
                <a:sym typeface="Symbol" panose="05050102010706020507" pitchFamily="18" charset="2"/>
              </a:rPr>
              <a:t> </a:t>
            </a:r>
            <a:r>
              <a:rPr lang="zh-CN" altLang="en-US" sz="2300">
                <a:solidFill>
                  <a:srgbClr val="000092"/>
                </a:solidFill>
                <a:sym typeface="Symbol" panose="05050102010706020507" pitchFamily="18" charset="2"/>
              </a:rPr>
              <a:t>，</a:t>
            </a:r>
            <a:endParaRPr lang="zh-CN" altLang="en-US" sz="2300">
              <a:solidFill>
                <a:srgbClr val="000092"/>
              </a:solidFill>
            </a:endParaRPr>
          </a:p>
        </p:txBody>
      </p:sp>
      <p:sp>
        <p:nvSpPr>
          <p:cNvPr id="121904" name="Rectangle 48">
            <a:extLst>
              <a:ext uri="{FF2B5EF4-FFF2-40B4-BE49-F238E27FC236}">
                <a16:creationId xmlns:a16="http://schemas.microsoft.com/office/drawing/2014/main" id="{5D668CDA-8DE8-A47C-76E0-77ECFBB4E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613" y="2924175"/>
            <a:ext cx="5192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kumimoji="0" lang="en-US" altLang="zh-CN" sz="2800" i="1"/>
              <a:t>t</a:t>
            </a:r>
            <a:r>
              <a:rPr kumimoji="0" lang="en-US" altLang="zh-CN" sz="2300" i="1">
                <a:solidFill>
                  <a:srgbClr val="000092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时刻与</a:t>
            </a:r>
            <a:r>
              <a:rPr lang="zh-CN" altLang="en-US" sz="2300"/>
              <a:t> </a:t>
            </a:r>
            <a:r>
              <a:rPr lang="en-US" altLang="zh-CN" sz="2800" i="1"/>
              <a:t>x</a:t>
            </a:r>
            <a:r>
              <a:rPr lang="en-US" altLang="zh-CN" sz="2300" i="1">
                <a:solidFill>
                  <a:srgbClr val="000092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轴夹角为</a:t>
            </a:r>
            <a:r>
              <a:rPr lang="zh-CN" altLang="en-US" sz="2300">
                <a:solidFill>
                  <a:srgbClr val="000092"/>
                </a:solidFill>
              </a:rPr>
              <a:t> </a:t>
            </a:r>
            <a:r>
              <a:rPr lang="zh-CN" altLang="en-US" sz="2800" i="1">
                <a:sym typeface="Symbol" panose="05050102010706020507" pitchFamily="18" charset="2"/>
              </a:rPr>
              <a:t></a:t>
            </a:r>
            <a:r>
              <a:rPr lang="zh-CN" altLang="en-US" sz="1600" i="1">
                <a:sym typeface="Symbol" panose="05050102010706020507" pitchFamily="18" charset="2"/>
              </a:rPr>
              <a:t> </a:t>
            </a:r>
            <a:r>
              <a:rPr lang="en-US" altLang="zh-CN" sz="2800" i="1"/>
              <a:t>t</a:t>
            </a:r>
            <a:r>
              <a:rPr lang="en-US" altLang="zh-CN" sz="1400" i="1"/>
              <a:t> </a:t>
            </a:r>
            <a:r>
              <a:rPr lang="en-US" altLang="zh-CN" sz="2800"/>
              <a:t>+</a:t>
            </a:r>
            <a:r>
              <a:rPr lang="en-US" altLang="zh-CN" sz="900" i="1"/>
              <a:t> </a:t>
            </a:r>
            <a:r>
              <a:rPr lang="en-US" altLang="zh-CN" sz="2800" i="1">
                <a:sym typeface="Symbol" panose="05050102010706020507" pitchFamily="18" charset="2"/>
              </a:rPr>
              <a:t></a:t>
            </a:r>
            <a:r>
              <a:rPr lang="en-US" altLang="zh-CN" sz="2300">
                <a:solidFill>
                  <a:srgbClr val="000092"/>
                </a:solidFill>
              </a:rPr>
              <a:t>  </a:t>
            </a:r>
            <a:r>
              <a:rPr lang="zh-CN" altLang="en-US" sz="2300">
                <a:solidFill>
                  <a:srgbClr val="000092"/>
                </a:solidFill>
              </a:rPr>
              <a:t>。</a:t>
            </a:r>
          </a:p>
        </p:txBody>
      </p:sp>
      <p:sp>
        <p:nvSpPr>
          <p:cNvPr id="121905" name="Rectangle 49">
            <a:extLst>
              <a:ext uri="{FF2B5EF4-FFF2-40B4-BE49-F238E27FC236}">
                <a16:creationId xmlns:a16="http://schemas.microsoft.com/office/drawing/2014/main" id="{0848743D-1BB7-615A-8C2D-3FEB5A814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7563" y="882650"/>
            <a:ext cx="259556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</a:rPr>
              <a:t>其大小为</a:t>
            </a:r>
            <a:r>
              <a:rPr lang="zh-CN" altLang="en-US" sz="2300">
                <a:solidFill>
                  <a:srgbClr val="000099"/>
                </a:solidFill>
              </a:rPr>
              <a:t> </a:t>
            </a:r>
            <a:r>
              <a:rPr lang="en-US" altLang="zh-CN" sz="2600" i="1"/>
              <a:t>A</a:t>
            </a:r>
            <a:r>
              <a:rPr lang="zh-CN" altLang="en-US" sz="2300">
                <a:solidFill>
                  <a:srgbClr val="000099"/>
                </a:solidFill>
              </a:rPr>
              <a:t>，         </a:t>
            </a:r>
          </a:p>
        </p:txBody>
      </p:sp>
      <p:sp>
        <p:nvSpPr>
          <p:cNvPr id="121906" name="Text Box 50">
            <a:extLst>
              <a:ext uri="{FF2B5EF4-FFF2-40B4-BE49-F238E27FC236}">
                <a16:creationId xmlns:a16="http://schemas.microsoft.com/office/drawing/2014/main" id="{109889A0-4FFF-8115-2EDE-F337A32ED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084763"/>
            <a:ext cx="4752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600" i="1"/>
              <a:t>P</a:t>
            </a:r>
            <a:r>
              <a:rPr lang="en-US" altLang="zh-CN" sz="1000" i="1"/>
              <a:t> </a:t>
            </a:r>
            <a:r>
              <a:rPr lang="zh-CN" altLang="en-US" sz="2300">
                <a:solidFill>
                  <a:srgbClr val="800000"/>
                </a:solidFill>
              </a:rPr>
              <a:t>点的运动规律 </a:t>
            </a:r>
            <a:r>
              <a:rPr lang="en-US" altLang="zh-CN" sz="2800">
                <a:solidFill>
                  <a:srgbClr val="800000"/>
                </a:solidFill>
              </a:rPr>
              <a:t>—</a:t>
            </a:r>
            <a:r>
              <a:rPr lang="en-US" altLang="zh-CN" sz="2300">
                <a:solidFill>
                  <a:srgbClr val="800000"/>
                </a:solidFill>
              </a:rPr>
              <a:t> </a:t>
            </a:r>
            <a:r>
              <a:rPr lang="zh-CN" altLang="en-US" sz="2300"/>
              <a:t>简谐振动。       </a:t>
            </a:r>
          </a:p>
        </p:txBody>
      </p:sp>
      <p:grpSp>
        <p:nvGrpSpPr>
          <p:cNvPr id="121911" name="Group 55">
            <a:extLst>
              <a:ext uri="{FF2B5EF4-FFF2-40B4-BE49-F238E27FC236}">
                <a16:creationId xmlns:a16="http://schemas.microsoft.com/office/drawing/2014/main" id="{8E05BCEC-2953-BFD8-44C4-6735F479375C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3562350"/>
            <a:ext cx="3527425" cy="468313"/>
            <a:chOff x="3243" y="2863"/>
            <a:chExt cx="2222" cy="295"/>
          </a:xfrm>
        </p:grpSpPr>
        <p:sp>
          <p:nvSpPr>
            <p:cNvPr id="28718" name="Line 56">
              <a:extLst>
                <a:ext uri="{FF2B5EF4-FFF2-40B4-BE49-F238E27FC236}">
                  <a16:creationId xmlns:a16="http://schemas.microsoft.com/office/drawing/2014/main" id="{FA2F4D0A-0342-D30B-1D8C-268939540C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2901"/>
              <a:ext cx="2152" cy="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9" name="Rectangle 57">
              <a:extLst>
                <a:ext uri="{FF2B5EF4-FFF2-40B4-BE49-F238E27FC236}">
                  <a16:creationId xmlns:a16="http://schemas.microsoft.com/office/drawing/2014/main" id="{23A355F0-B3A8-7E70-B721-BF800512F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8" y="2871"/>
              <a:ext cx="25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808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28720" name="Rectangle 58">
              <a:extLst>
                <a:ext uri="{FF2B5EF4-FFF2-40B4-BE49-F238E27FC236}">
                  <a16:creationId xmlns:a16="http://schemas.microsoft.com/office/drawing/2014/main" id="{8F317A5B-3752-25BE-AEBF-5DEDDF7B7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7" y="2863"/>
              <a:ext cx="218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808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3000" i="1">
                  <a:solidFill>
                    <a:schemeClr val="tx1"/>
                  </a:solidFill>
                </a:rPr>
                <a:t>x</a:t>
              </a:r>
            </a:p>
          </p:txBody>
        </p:sp>
      </p:grpSp>
      <p:sp>
        <p:nvSpPr>
          <p:cNvPr id="121915" name="Rectangle 59">
            <a:extLst>
              <a:ext uri="{FF2B5EF4-FFF2-40B4-BE49-F238E27FC236}">
                <a16:creationId xmlns:a16="http://schemas.microsoft.com/office/drawing/2014/main" id="{E0BBF4BE-CBBA-9682-3944-DCB9F63AF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2813050"/>
            <a:ext cx="846138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808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/>
            <a:r>
              <a:rPr lang="en-US" altLang="zh-CN" sz="2800" i="1">
                <a:solidFill>
                  <a:srgbClr val="990000"/>
                </a:solidFill>
              </a:rPr>
              <a:t>t</a:t>
            </a:r>
            <a:r>
              <a:rPr lang="en-US" altLang="zh-CN" sz="1000" i="1">
                <a:solidFill>
                  <a:srgbClr val="990000"/>
                </a:solidFill>
              </a:rPr>
              <a:t> </a:t>
            </a:r>
            <a:r>
              <a:rPr lang="en-US" altLang="zh-CN" sz="2800">
                <a:solidFill>
                  <a:srgbClr val="990000"/>
                </a:solidFill>
              </a:rPr>
              <a:t>=</a:t>
            </a:r>
            <a:r>
              <a:rPr lang="en-US" altLang="zh-CN" sz="1000">
                <a:solidFill>
                  <a:srgbClr val="990000"/>
                </a:solidFill>
              </a:rPr>
              <a:t> </a:t>
            </a:r>
            <a:r>
              <a:rPr lang="en-US" altLang="zh-CN" sz="2800">
                <a:solidFill>
                  <a:srgbClr val="990000"/>
                </a:solidFill>
              </a:rPr>
              <a:t>0</a:t>
            </a:r>
          </a:p>
        </p:txBody>
      </p:sp>
      <p:grpSp>
        <p:nvGrpSpPr>
          <p:cNvPr id="121943" name="Group 87">
            <a:extLst>
              <a:ext uri="{FF2B5EF4-FFF2-40B4-BE49-F238E27FC236}">
                <a16:creationId xmlns:a16="http://schemas.microsoft.com/office/drawing/2014/main" id="{A977EB56-E8E5-DA64-69AF-CCA087026900}"/>
              </a:ext>
            </a:extLst>
          </p:cNvPr>
          <p:cNvGrpSpPr>
            <a:grpSpLocks/>
          </p:cNvGrpSpPr>
          <p:nvPr/>
        </p:nvGrpSpPr>
        <p:grpSpPr bwMode="auto">
          <a:xfrm>
            <a:off x="6643688" y="2997200"/>
            <a:ext cx="1422400" cy="639763"/>
            <a:chOff x="4185" y="1888"/>
            <a:chExt cx="896" cy="403"/>
          </a:xfrm>
        </p:grpSpPr>
        <p:grpSp>
          <p:nvGrpSpPr>
            <p:cNvPr id="28712" name="Group 60">
              <a:extLst>
                <a:ext uri="{FF2B5EF4-FFF2-40B4-BE49-F238E27FC236}">
                  <a16:creationId xmlns:a16="http://schemas.microsoft.com/office/drawing/2014/main" id="{4F76B3AB-80DF-43E8-BC9D-594B8FC631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5" y="1888"/>
              <a:ext cx="896" cy="379"/>
              <a:chOff x="4185" y="2507"/>
              <a:chExt cx="896" cy="379"/>
            </a:xfrm>
          </p:grpSpPr>
          <p:sp>
            <p:nvSpPr>
              <p:cNvPr id="28716" name="Line 61">
                <a:extLst>
                  <a:ext uri="{FF2B5EF4-FFF2-40B4-BE49-F238E27FC236}">
                    <a16:creationId xmlns:a16="http://schemas.microsoft.com/office/drawing/2014/main" id="{00143761-6E0B-52FE-E19F-22BB0BFD8B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5" y="2507"/>
                <a:ext cx="896" cy="379"/>
              </a:xfrm>
              <a:prstGeom prst="line">
                <a:avLst/>
              </a:prstGeom>
              <a:noFill/>
              <a:ln w="34925">
                <a:solidFill>
                  <a:srgbClr val="990000"/>
                </a:solidFill>
                <a:round/>
                <a:headEnd type="none" w="med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8717" name="Object 62">
                <a:extLst>
                  <a:ext uri="{FF2B5EF4-FFF2-40B4-BE49-F238E27FC236}">
                    <a16:creationId xmlns:a16="http://schemas.microsoft.com/office/drawing/2014/main" id="{54168C1D-AE20-6AA7-0EEC-C5ACC889C4C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7" y="2585"/>
              <a:ext cx="193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47662" imgH="85725" progId="Equation.3">
                      <p:embed/>
                    </p:oleObj>
                  </mc:Choice>
                  <mc:Fallback>
                    <p:oleObj name="Equation" r:id="rId6" imgW="47662" imgH="85725" progId="Equation.3">
                      <p:embed/>
                      <p:pic>
                        <p:nvPicPr>
                          <p:cNvPr id="0" name="Object 6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67" y="2585"/>
                            <a:ext cx="193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8713" name="Group 64">
              <a:extLst>
                <a:ext uri="{FF2B5EF4-FFF2-40B4-BE49-F238E27FC236}">
                  <a16:creationId xmlns:a16="http://schemas.microsoft.com/office/drawing/2014/main" id="{048DBA79-5558-5577-DB0D-1C71D081F9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5" y="2024"/>
              <a:ext cx="378" cy="267"/>
              <a:chOff x="4435" y="979"/>
              <a:chExt cx="378" cy="267"/>
            </a:xfrm>
          </p:grpSpPr>
          <p:sp>
            <p:nvSpPr>
              <p:cNvPr id="28714" name="Rectangle 65">
                <a:extLst>
                  <a:ext uri="{FF2B5EF4-FFF2-40B4-BE49-F238E27FC236}">
                    <a16:creationId xmlns:a16="http://schemas.microsoft.com/office/drawing/2014/main" id="{8F7A3E04-3833-5117-6ABE-1393055246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9" y="979"/>
                <a:ext cx="294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00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500" i="1">
                    <a:solidFill>
                      <a:schemeClr val="tx1"/>
                    </a:solidFill>
                    <a:sym typeface="Symbol" panose="05050102010706020507" pitchFamily="18" charset="2"/>
                  </a:rPr>
                  <a:t></a:t>
                </a:r>
                <a:endParaRPr lang="en-US" altLang="zh-CN" sz="2500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28715" name="Freeform 66">
                <a:extLst>
                  <a:ext uri="{FF2B5EF4-FFF2-40B4-BE49-F238E27FC236}">
                    <a16:creationId xmlns:a16="http://schemas.microsoft.com/office/drawing/2014/main" id="{689C7632-B633-AF80-07AA-8AC0C99157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5" y="1144"/>
                <a:ext cx="33" cy="102"/>
              </a:xfrm>
              <a:custGeom>
                <a:avLst/>
                <a:gdLst>
                  <a:gd name="T0" fmla="*/ 0 w 50"/>
                  <a:gd name="T1" fmla="*/ 0 h 144"/>
                  <a:gd name="T2" fmla="*/ 1 w 50"/>
                  <a:gd name="T3" fmla="*/ 1 h 144"/>
                  <a:gd name="T4" fmla="*/ 1 w 50"/>
                  <a:gd name="T5" fmla="*/ 1 h 1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0" h="144">
                    <a:moveTo>
                      <a:pt x="0" y="0"/>
                    </a:moveTo>
                    <a:cubicBezTo>
                      <a:pt x="7" y="12"/>
                      <a:pt x="34" y="48"/>
                      <a:pt x="42" y="72"/>
                    </a:cubicBezTo>
                    <a:cubicBezTo>
                      <a:pt x="50" y="96"/>
                      <a:pt x="47" y="129"/>
                      <a:pt x="48" y="14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21944" name="Group 88">
            <a:extLst>
              <a:ext uri="{FF2B5EF4-FFF2-40B4-BE49-F238E27FC236}">
                <a16:creationId xmlns:a16="http://schemas.microsoft.com/office/drawing/2014/main" id="{E50F73AF-600C-1E51-F3C0-37723E2B1E1A}"/>
              </a:ext>
            </a:extLst>
          </p:cNvPr>
          <p:cNvGrpSpPr>
            <a:grpSpLocks/>
          </p:cNvGrpSpPr>
          <p:nvPr/>
        </p:nvGrpSpPr>
        <p:grpSpPr bwMode="auto">
          <a:xfrm>
            <a:off x="6615113" y="2328863"/>
            <a:ext cx="1074737" cy="1270000"/>
            <a:chOff x="4167" y="1467"/>
            <a:chExt cx="677" cy="800"/>
          </a:xfrm>
        </p:grpSpPr>
        <p:sp>
          <p:nvSpPr>
            <p:cNvPr id="28707" name="Line 54">
              <a:extLst>
                <a:ext uri="{FF2B5EF4-FFF2-40B4-BE49-F238E27FC236}">
                  <a16:creationId xmlns:a16="http://schemas.microsoft.com/office/drawing/2014/main" id="{327EA647-5AA5-5D98-C0F0-AE4C151F2A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7" y="1578"/>
              <a:ext cx="677" cy="689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8708" name="Object 63">
              <a:extLst>
                <a:ext uri="{FF2B5EF4-FFF2-40B4-BE49-F238E27FC236}">
                  <a16:creationId xmlns:a16="http://schemas.microsoft.com/office/drawing/2014/main" id="{D75B0460-933A-55BB-1831-6084635D84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06" y="1467"/>
            <a:ext cx="193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7662" imgH="85725" progId="Equation.3">
                    <p:embed/>
                  </p:oleObj>
                </mc:Choice>
                <mc:Fallback>
                  <p:oleObj name="Equation" r:id="rId8" imgW="47662" imgH="85725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6" y="1467"/>
                          <a:ext cx="193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709" name="Group 67">
              <a:extLst>
                <a:ext uri="{FF2B5EF4-FFF2-40B4-BE49-F238E27FC236}">
                  <a16:creationId xmlns:a16="http://schemas.microsoft.com/office/drawing/2014/main" id="{249D080B-118B-D5AF-492E-CD1928D418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9" y="1845"/>
              <a:ext cx="596" cy="422"/>
              <a:chOff x="4179" y="819"/>
              <a:chExt cx="596" cy="422"/>
            </a:xfrm>
          </p:grpSpPr>
          <p:sp>
            <p:nvSpPr>
              <p:cNvPr id="28710" name="Rectangle 68">
                <a:extLst>
                  <a:ext uri="{FF2B5EF4-FFF2-40B4-BE49-F238E27FC236}">
                    <a16:creationId xmlns:a16="http://schemas.microsoft.com/office/drawing/2014/main" id="{60EB133D-025C-B44D-0488-173290F8E8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9" y="819"/>
                <a:ext cx="596" cy="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500" i="1">
                    <a:solidFill>
                      <a:schemeClr val="tx1"/>
                    </a:solidFill>
                    <a:sym typeface="Symbol" panose="05050102010706020507" pitchFamily="18" charset="2"/>
                  </a:rPr>
                  <a:t></a:t>
                </a:r>
                <a:r>
                  <a:rPr lang="en-US" altLang="zh-CN" sz="500" i="1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zh-CN" sz="2500" i="1">
                    <a:solidFill>
                      <a:schemeClr val="tx1"/>
                    </a:solidFill>
                  </a:rPr>
                  <a:t>t</a:t>
                </a:r>
                <a:r>
                  <a:rPr lang="en-US" altLang="zh-CN" sz="2500">
                    <a:solidFill>
                      <a:schemeClr val="tx1"/>
                    </a:solidFill>
                  </a:rPr>
                  <a:t>+</a:t>
                </a:r>
                <a:r>
                  <a:rPr lang="en-US" altLang="zh-CN" sz="2500" i="1">
                    <a:solidFill>
                      <a:schemeClr val="tx1"/>
                    </a:solidFill>
                    <a:sym typeface="Symbol" panose="05050102010706020507" pitchFamily="18" charset="2"/>
                  </a:rPr>
                  <a:t>  </a:t>
                </a:r>
                <a:endParaRPr lang="en-US" altLang="zh-CN" sz="2500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28711" name="Freeform 69">
                <a:extLst>
                  <a:ext uri="{FF2B5EF4-FFF2-40B4-BE49-F238E27FC236}">
                    <a16:creationId xmlns:a16="http://schemas.microsoft.com/office/drawing/2014/main" id="{CBBD1D72-F7E7-D1C8-D484-73BDA82ECA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0" y="1106"/>
                <a:ext cx="62" cy="135"/>
              </a:xfrm>
              <a:custGeom>
                <a:avLst/>
                <a:gdLst>
                  <a:gd name="T0" fmla="*/ 0 w 96"/>
                  <a:gd name="T1" fmla="*/ 0 h 192"/>
                  <a:gd name="T2" fmla="*/ 1 w 96"/>
                  <a:gd name="T3" fmla="*/ 1 h 192"/>
                  <a:gd name="T4" fmla="*/ 1 w 96"/>
                  <a:gd name="T5" fmla="*/ 1 h 19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" h="192">
                    <a:moveTo>
                      <a:pt x="0" y="0"/>
                    </a:moveTo>
                    <a:cubicBezTo>
                      <a:pt x="10" y="11"/>
                      <a:pt x="44" y="34"/>
                      <a:pt x="60" y="66"/>
                    </a:cubicBezTo>
                    <a:cubicBezTo>
                      <a:pt x="76" y="98"/>
                      <a:pt x="89" y="166"/>
                      <a:pt x="96" y="19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21926" name="Group 70">
            <a:extLst>
              <a:ext uri="{FF2B5EF4-FFF2-40B4-BE49-F238E27FC236}">
                <a16:creationId xmlns:a16="http://schemas.microsoft.com/office/drawing/2014/main" id="{A4A6BD13-C974-FF19-6D88-1241C31CDD7F}"/>
              </a:ext>
            </a:extLst>
          </p:cNvPr>
          <p:cNvGrpSpPr>
            <a:grpSpLocks/>
          </p:cNvGrpSpPr>
          <p:nvPr/>
        </p:nvGrpSpPr>
        <p:grpSpPr bwMode="auto">
          <a:xfrm>
            <a:off x="7864475" y="2260600"/>
            <a:ext cx="765175" cy="546100"/>
            <a:chOff x="4983" y="1317"/>
            <a:chExt cx="482" cy="344"/>
          </a:xfrm>
        </p:grpSpPr>
        <p:sp>
          <p:nvSpPr>
            <p:cNvPr id="28705" name="Rectangle 71">
              <a:extLst>
                <a:ext uri="{FF2B5EF4-FFF2-40B4-BE49-F238E27FC236}">
                  <a16:creationId xmlns:a16="http://schemas.microsoft.com/office/drawing/2014/main" id="{307D9E32-67E4-6B6D-64BC-0714E4D4C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2" y="1317"/>
              <a:ext cx="293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808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rgbClr val="006600"/>
                  </a:solidFill>
                  <a:sym typeface="Symbol" panose="05050102010706020507" pitchFamily="18" charset="2"/>
                </a:rPr>
                <a:t></a:t>
              </a:r>
              <a:endParaRPr lang="en-US" altLang="zh-CN" sz="2800" i="1">
                <a:solidFill>
                  <a:srgbClr val="006600"/>
                </a:solidFill>
              </a:endParaRPr>
            </a:p>
          </p:txBody>
        </p:sp>
        <p:sp>
          <p:nvSpPr>
            <p:cNvPr id="28706" name="Freeform 72">
              <a:extLst>
                <a:ext uri="{FF2B5EF4-FFF2-40B4-BE49-F238E27FC236}">
                  <a16:creationId xmlns:a16="http://schemas.microsoft.com/office/drawing/2014/main" id="{90E3E947-A607-3CE1-9424-06BEB485BCBF}"/>
                </a:ext>
              </a:extLst>
            </p:cNvPr>
            <p:cNvSpPr>
              <a:spLocks/>
            </p:cNvSpPr>
            <p:nvPr/>
          </p:nvSpPr>
          <p:spPr bwMode="auto">
            <a:xfrm rot="1306599">
              <a:off x="4983" y="1481"/>
              <a:ext cx="282" cy="180"/>
            </a:xfrm>
            <a:custGeom>
              <a:avLst/>
              <a:gdLst>
                <a:gd name="T0" fmla="*/ 282 w 282"/>
                <a:gd name="T1" fmla="*/ 180 h 180"/>
                <a:gd name="T2" fmla="*/ 150 w 282"/>
                <a:gd name="T3" fmla="*/ 78 h 180"/>
                <a:gd name="T4" fmla="*/ 0 w 282"/>
                <a:gd name="T5" fmla="*/ 0 h 1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2" h="180">
                  <a:moveTo>
                    <a:pt x="282" y="180"/>
                  </a:moveTo>
                  <a:cubicBezTo>
                    <a:pt x="260" y="163"/>
                    <a:pt x="197" y="108"/>
                    <a:pt x="150" y="78"/>
                  </a:cubicBezTo>
                  <a:cubicBezTo>
                    <a:pt x="103" y="48"/>
                    <a:pt x="31" y="16"/>
                    <a:pt x="0" y="0"/>
                  </a:cubicBezTo>
                </a:path>
              </a:pathLst>
            </a:custGeom>
            <a:noFill/>
            <a:ln w="31750">
              <a:solidFill>
                <a:srgbClr val="008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1929" name="Group 73">
            <a:extLst>
              <a:ext uri="{FF2B5EF4-FFF2-40B4-BE49-F238E27FC236}">
                <a16:creationId xmlns:a16="http://schemas.microsoft.com/office/drawing/2014/main" id="{4B1E4178-16AC-C00C-8A43-271B92094682}"/>
              </a:ext>
            </a:extLst>
          </p:cNvPr>
          <p:cNvGrpSpPr>
            <a:grpSpLocks/>
          </p:cNvGrpSpPr>
          <p:nvPr/>
        </p:nvGrpSpPr>
        <p:grpSpPr bwMode="auto">
          <a:xfrm>
            <a:off x="7545388" y="2046288"/>
            <a:ext cx="554037" cy="2055812"/>
            <a:chOff x="4753" y="255"/>
            <a:chExt cx="349" cy="1295"/>
          </a:xfrm>
        </p:grpSpPr>
        <p:sp>
          <p:nvSpPr>
            <p:cNvPr id="28700" name="Line 74">
              <a:extLst>
                <a:ext uri="{FF2B5EF4-FFF2-40B4-BE49-F238E27FC236}">
                  <a16:creationId xmlns:a16="http://schemas.microsoft.com/office/drawing/2014/main" id="{22529781-CCC3-8C13-A463-BC6F2C61FF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2" y="562"/>
              <a:ext cx="2" cy="689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8701" name="Group 75">
              <a:extLst>
                <a:ext uri="{FF2B5EF4-FFF2-40B4-BE49-F238E27FC236}">
                  <a16:creationId xmlns:a16="http://schemas.microsoft.com/office/drawing/2014/main" id="{F690BF99-D0CA-6B9F-9777-9EC2311E9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3" y="1224"/>
              <a:ext cx="260" cy="326"/>
              <a:chOff x="4753" y="1224"/>
              <a:chExt cx="260" cy="326"/>
            </a:xfrm>
          </p:grpSpPr>
          <p:sp>
            <p:nvSpPr>
              <p:cNvPr id="28703" name="Rectangle 76">
                <a:extLst>
                  <a:ext uri="{FF2B5EF4-FFF2-40B4-BE49-F238E27FC236}">
                    <a16:creationId xmlns:a16="http://schemas.microsoft.com/office/drawing/2014/main" id="{ECB9E9ED-93C0-BCD0-4A02-FB6E8F56C4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3" y="1255"/>
                <a:ext cx="260" cy="2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800" i="1">
                    <a:solidFill>
                      <a:srgbClr val="5C07B9"/>
                    </a:solidFill>
                  </a:rPr>
                  <a:t>P</a:t>
                </a:r>
              </a:p>
            </p:txBody>
          </p:sp>
          <p:sp>
            <p:nvSpPr>
              <p:cNvPr id="28704" name="Oval 77">
                <a:extLst>
                  <a:ext uri="{FF2B5EF4-FFF2-40B4-BE49-F238E27FC236}">
                    <a16:creationId xmlns:a16="http://schemas.microsoft.com/office/drawing/2014/main" id="{C12B080E-76FE-E36D-3FAA-D1DE9D786A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4" y="1224"/>
                <a:ext cx="44" cy="48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8702" name="Rectangle 78">
              <a:extLst>
                <a:ext uri="{FF2B5EF4-FFF2-40B4-BE49-F238E27FC236}">
                  <a16:creationId xmlns:a16="http://schemas.microsoft.com/office/drawing/2014/main" id="{54254449-9FBF-65C2-6151-ED0A6600F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9" y="255"/>
              <a:ext cx="293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808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600" i="1"/>
                <a:t>M</a:t>
              </a:r>
            </a:p>
          </p:txBody>
        </p:sp>
      </p:grpSp>
      <p:grpSp>
        <p:nvGrpSpPr>
          <p:cNvPr id="121935" name="Group 79">
            <a:extLst>
              <a:ext uri="{FF2B5EF4-FFF2-40B4-BE49-F238E27FC236}">
                <a16:creationId xmlns:a16="http://schemas.microsoft.com/office/drawing/2014/main" id="{E6A0D0A8-C220-538E-EA8A-E35BFAAB50F4}"/>
              </a:ext>
            </a:extLst>
          </p:cNvPr>
          <p:cNvGrpSpPr>
            <a:grpSpLocks/>
          </p:cNvGrpSpPr>
          <p:nvPr/>
        </p:nvGrpSpPr>
        <p:grpSpPr bwMode="auto">
          <a:xfrm>
            <a:off x="5199063" y="2097088"/>
            <a:ext cx="3694112" cy="3060700"/>
            <a:chOff x="793" y="1213"/>
            <a:chExt cx="2327" cy="1928"/>
          </a:xfrm>
        </p:grpSpPr>
        <p:sp>
          <p:nvSpPr>
            <p:cNvPr id="28698" name="Oval 80">
              <a:extLst>
                <a:ext uri="{FF2B5EF4-FFF2-40B4-BE49-F238E27FC236}">
                  <a16:creationId xmlns:a16="http://schemas.microsoft.com/office/drawing/2014/main" id="{2E95CAF8-94F7-0705-7DBB-60D45B53C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213"/>
              <a:ext cx="1872" cy="18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008000"/>
                </a:solidFill>
              </a:endParaRPr>
            </a:p>
          </p:txBody>
        </p:sp>
        <p:sp>
          <p:nvSpPr>
            <p:cNvPr id="28699" name="Text Box 81">
              <a:extLst>
                <a:ext uri="{FF2B5EF4-FFF2-40B4-BE49-F238E27FC236}">
                  <a16:creationId xmlns:a16="http://schemas.microsoft.com/office/drawing/2014/main" id="{B08740B9-1DB8-132F-5A72-EBBDDE0125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2853"/>
              <a:ext cx="8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华文中宋" panose="02010600040101010101" pitchFamily="2" charset="-122"/>
                </a:rPr>
                <a:t>参考圆     </a:t>
              </a:r>
            </a:p>
          </p:txBody>
        </p:sp>
      </p:grpSp>
      <p:grpSp>
        <p:nvGrpSpPr>
          <p:cNvPr id="121938" name="Group 82">
            <a:extLst>
              <a:ext uri="{FF2B5EF4-FFF2-40B4-BE49-F238E27FC236}">
                <a16:creationId xmlns:a16="http://schemas.microsoft.com/office/drawing/2014/main" id="{3CEBE6B9-4A76-7E70-C861-9C9A1E9D0B4B}"/>
              </a:ext>
            </a:extLst>
          </p:cNvPr>
          <p:cNvGrpSpPr>
            <a:grpSpLocks/>
          </p:cNvGrpSpPr>
          <p:nvPr/>
        </p:nvGrpSpPr>
        <p:grpSpPr bwMode="auto">
          <a:xfrm>
            <a:off x="6646863" y="3490913"/>
            <a:ext cx="1008062" cy="468312"/>
            <a:chOff x="4187" y="2818"/>
            <a:chExt cx="635" cy="295"/>
          </a:xfrm>
        </p:grpSpPr>
        <p:sp>
          <p:nvSpPr>
            <p:cNvPr id="28696" name="Rectangle 83">
              <a:extLst>
                <a:ext uri="{FF2B5EF4-FFF2-40B4-BE49-F238E27FC236}">
                  <a16:creationId xmlns:a16="http://schemas.microsoft.com/office/drawing/2014/main" id="{8CE2E931-418C-F3F5-C3B0-FFCA47E86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" y="2818"/>
              <a:ext cx="218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808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3000" i="1">
                  <a:solidFill>
                    <a:srgbClr val="5C07B9"/>
                  </a:solidFill>
                </a:rPr>
                <a:t>x</a:t>
              </a:r>
            </a:p>
          </p:txBody>
        </p:sp>
        <p:sp>
          <p:nvSpPr>
            <p:cNvPr id="28697" name="Line 84">
              <a:extLst>
                <a:ext uri="{FF2B5EF4-FFF2-40B4-BE49-F238E27FC236}">
                  <a16:creationId xmlns:a16="http://schemas.microsoft.com/office/drawing/2014/main" id="{BC99B6A4-1BD1-26AA-BD1A-61BF971FC1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7" y="2894"/>
              <a:ext cx="635" cy="0"/>
            </a:xfrm>
            <a:prstGeom prst="line">
              <a:avLst/>
            </a:prstGeom>
            <a:noFill/>
            <a:ln w="25400">
              <a:solidFill>
                <a:srgbClr val="7B0CF6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1942" name="Group 86">
            <a:extLst>
              <a:ext uri="{FF2B5EF4-FFF2-40B4-BE49-F238E27FC236}">
                <a16:creationId xmlns:a16="http://schemas.microsoft.com/office/drawing/2014/main" id="{FE718D6F-9F96-FB29-1AB3-65CB79F9FE3D}"/>
              </a:ext>
            </a:extLst>
          </p:cNvPr>
          <p:cNvGrpSpPr>
            <a:grpSpLocks/>
          </p:cNvGrpSpPr>
          <p:nvPr/>
        </p:nvGrpSpPr>
        <p:grpSpPr bwMode="auto">
          <a:xfrm>
            <a:off x="2987675" y="908050"/>
            <a:ext cx="3543300" cy="454025"/>
            <a:chOff x="1886" y="572"/>
            <a:chExt cx="2232" cy="286"/>
          </a:xfrm>
        </p:grpSpPr>
        <p:graphicFrame>
          <p:nvGraphicFramePr>
            <p:cNvPr id="28694" name="Object 11">
              <a:extLst>
                <a:ext uri="{FF2B5EF4-FFF2-40B4-BE49-F238E27FC236}">
                  <a16:creationId xmlns:a16="http://schemas.microsoft.com/office/drawing/2014/main" id="{66BC17DC-2E05-F7AA-302F-9083E31E86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05" y="572"/>
            <a:ext cx="255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95150" imgH="276225" progId="Equation.3">
                    <p:embed/>
                  </p:oleObj>
                </mc:Choice>
                <mc:Fallback>
                  <p:oleObj name="公式" r:id="rId10" imgW="295150" imgH="276225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5" y="572"/>
                          <a:ext cx="255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5" name="Rectangle 85">
              <a:extLst>
                <a:ext uri="{FF2B5EF4-FFF2-40B4-BE49-F238E27FC236}">
                  <a16:creationId xmlns:a16="http://schemas.microsoft.com/office/drawing/2014/main" id="{D18490AF-B327-08EB-5ACC-51BF57F70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6" y="579"/>
              <a:ext cx="2232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sz="2300">
                  <a:solidFill>
                    <a:srgbClr val="000066"/>
                  </a:solidFill>
                </a:rPr>
                <a:t>自原点作一矢量      ，        </a:t>
              </a:r>
            </a:p>
          </p:txBody>
        </p: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12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2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1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2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2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21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12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12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0"/>
                                        <p:tgtEl>
                                          <p:spTgt spid="12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0"/>
                                        <p:tgtEl>
                                          <p:spTgt spid="121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21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0"/>
                                        <p:tgtEl>
                                          <p:spTgt spid="121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21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12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2000"/>
                                        <p:tgtEl>
                                          <p:spTgt spid="12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12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12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2000"/>
                                        <p:tgtEl>
                                          <p:spTgt spid="121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0"/>
                                        <p:tgtEl>
                                          <p:spTgt spid="121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0" grpId="0"/>
      <p:bldP spid="121865" grpId="0"/>
      <p:bldP spid="121895" grpId="0"/>
      <p:bldP spid="121900" grpId="0"/>
      <p:bldP spid="121902" grpId="0"/>
      <p:bldP spid="121903" grpId="0"/>
      <p:bldP spid="121904" grpId="0"/>
      <p:bldP spid="121905" grpId="0"/>
      <p:bldP spid="121906" grpId="0"/>
      <p:bldP spid="1219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5">
            <a:extLst>
              <a:ext uri="{FF2B5EF4-FFF2-40B4-BE49-F238E27FC236}">
                <a16:creationId xmlns:a16="http://schemas.microsoft.com/office/drawing/2014/main" id="{BAC95DF1-FDB9-8163-D8C2-27B2A0A1C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3375"/>
            <a:ext cx="9144000" cy="1497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699" name="Picture 6">
            <a:extLst>
              <a:ext uri="{FF2B5EF4-FFF2-40B4-BE49-F238E27FC236}">
                <a16:creationId xmlns:a16="http://schemas.microsoft.com/office/drawing/2014/main" id="{DE854F6A-8FAD-C197-84AF-2F3EB5816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" y="2060575"/>
            <a:ext cx="9097963" cy="381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5">
            <a:extLst>
              <a:ext uri="{FF2B5EF4-FFF2-40B4-BE49-F238E27FC236}">
                <a16:creationId xmlns:a16="http://schemas.microsoft.com/office/drawing/2014/main" id="{801FCC4E-D8CE-60BC-2225-94DCB9732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3375"/>
            <a:ext cx="4814888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66"/>
                </a:solidFill>
                <a:latin typeface="华文中宋" panose="02010600040101010101" pitchFamily="2" charset="-122"/>
              </a:rPr>
              <a:t>五、简谐振动的能量 </a:t>
            </a:r>
          </a:p>
        </p:txBody>
      </p:sp>
      <p:sp>
        <p:nvSpPr>
          <p:cNvPr id="30723" name="Rectangle 8">
            <a:extLst>
              <a:ext uri="{FF2B5EF4-FFF2-40B4-BE49-F238E27FC236}">
                <a16:creationId xmlns:a16="http://schemas.microsoft.com/office/drawing/2014/main" id="{5621EA66-9E29-5013-081F-CEB300EC0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292600"/>
            <a:ext cx="1868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3.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总能       </a:t>
            </a:r>
          </a:p>
        </p:txBody>
      </p:sp>
      <p:graphicFrame>
        <p:nvGraphicFramePr>
          <p:cNvPr id="30724" name="Object 9">
            <a:extLst>
              <a:ext uri="{FF2B5EF4-FFF2-40B4-BE49-F238E27FC236}">
                <a16:creationId xmlns:a16="http://schemas.microsoft.com/office/drawing/2014/main" id="{7850E7B9-DA46-13A0-6667-EDD89454F3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8813" y="925513"/>
          <a:ext cx="61722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772018" imgH="733425" progId="Equation.3">
                  <p:embed/>
                </p:oleObj>
              </mc:Choice>
              <mc:Fallback>
                <p:oleObj name="公式" r:id="rId2" imgW="5772018" imgH="73342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813" y="925513"/>
                        <a:ext cx="61722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10">
            <a:extLst>
              <a:ext uri="{FF2B5EF4-FFF2-40B4-BE49-F238E27FC236}">
                <a16:creationId xmlns:a16="http://schemas.microsoft.com/office/drawing/2014/main" id="{D465AD24-70F3-7ABA-EA57-3FE5A3C7A3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2475" y="3054350"/>
          <a:ext cx="54292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876682" imgH="704850" progId="Equation.3">
                  <p:embed/>
                </p:oleObj>
              </mc:Choice>
              <mc:Fallback>
                <p:oleObj name="公式" r:id="rId4" imgW="4876682" imgH="70485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3054350"/>
                        <a:ext cx="542925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11">
            <a:extLst>
              <a:ext uri="{FF2B5EF4-FFF2-40B4-BE49-F238E27FC236}">
                <a16:creationId xmlns:a16="http://schemas.microsoft.com/office/drawing/2014/main" id="{3A3F30CF-6ECA-8826-E21A-E661CD270B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4238" y="4151313"/>
          <a:ext cx="393065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228997" imgH="704850" progId="Equation.3">
                  <p:embed/>
                </p:oleObj>
              </mc:Choice>
              <mc:Fallback>
                <p:oleObj name="公式" r:id="rId6" imgW="3228997" imgH="70485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8" y="4151313"/>
                        <a:ext cx="393065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17">
            <a:extLst>
              <a:ext uri="{FF2B5EF4-FFF2-40B4-BE49-F238E27FC236}">
                <a16:creationId xmlns:a16="http://schemas.microsoft.com/office/drawing/2014/main" id="{148E7B87-E1BF-7743-D425-DBD0405F19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81250" y="1916113"/>
          <a:ext cx="427831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676665" imgH="704850" progId="Equation.3">
                  <p:embed/>
                </p:oleObj>
              </mc:Choice>
              <mc:Fallback>
                <p:oleObj name="公式" r:id="rId8" imgW="3676665" imgH="70485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1916113"/>
                        <a:ext cx="4278313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Rectangle 19">
            <a:extLst>
              <a:ext uri="{FF2B5EF4-FFF2-40B4-BE49-F238E27FC236}">
                <a16:creationId xmlns:a16="http://schemas.microsoft.com/office/drawing/2014/main" id="{135613F0-5322-B43B-E559-5B2127746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75" y="5191125"/>
            <a:ext cx="8177213" cy="469900"/>
          </a:xfrm>
          <a:prstGeom prst="rect">
            <a:avLst/>
          </a:prstGeom>
          <a:noFill/>
          <a:ln w="12700">
            <a:solidFill>
              <a:srgbClr val="FFFFFF">
                <a:alpha val="0"/>
              </a:srgb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100">
                <a:latin typeface="华文中宋" panose="02010600040101010101" pitchFamily="2" charset="-122"/>
              </a:rPr>
              <a:t>★</a:t>
            </a:r>
            <a:r>
              <a:rPr lang="en-US" altLang="zh-CN">
                <a:solidFill>
                  <a:srgbClr val="000092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结论：</a:t>
            </a:r>
            <a:r>
              <a:rPr lang="zh-CN" altLang="en-US" sz="2300">
                <a:solidFill>
                  <a:srgbClr val="800000"/>
                </a:solidFill>
                <a:latin typeface="华文中宋" panose="02010600040101010101" pitchFamily="2" charset="-122"/>
              </a:rPr>
              <a:t>简谐振动的总能量与振幅的平方成正比且</a:t>
            </a:r>
            <a:r>
              <a:rPr lang="zh-CN" altLang="en-US" sz="2300">
                <a:latin typeface="华文中宋" panose="02010600040101010101" pitchFamily="2" charset="-122"/>
              </a:rPr>
              <a:t>守恒</a:t>
            </a:r>
            <a:r>
              <a:rPr lang="zh-CN" altLang="en-US" sz="2300">
                <a:solidFill>
                  <a:srgbClr val="800000"/>
                </a:solidFill>
                <a:latin typeface="华文中宋" panose="02010600040101010101" pitchFamily="2" charset="-122"/>
              </a:rPr>
              <a:t>。</a:t>
            </a:r>
          </a:p>
        </p:txBody>
      </p:sp>
      <p:sp>
        <p:nvSpPr>
          <p:cNvPr id="30729" name="Text Box 20">
            <a:extLst>
              <a:ext uri="{FF2B5EF4-FFF2-40B4-BE49-F238E27FC236}">
                <a16:creationId xmlns:a16="http://schemas.microsoft.com/office/drawing/2014/main" id="{C4E859AD-57EC-A01E-10EA-A23092150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28688"/>
            <a:ext cx="2278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1</a:t>
            </a:r>
            <a:r>
              <a:rPr lang="en-US" altLang="zh-CN">
                <a:solidFill>
                  <a:srgbClr val="000066"/>
                </a:solidFill>
              </a:rPr>
              <a:t>. </a:t>
            </a:r>
            <a:r>
              <a:rPr lang="zh-CN" altLang="en-US">
                <a:solidFill>
                  <a:srgbClr val="000066"/>
                </a:solidFill>
              </a:rPr>
              <a:t>动能               </a:t>
            </a:r>
          </a:p>
        </p:txBody>
      </p:sp>
      <p:sp>
        <p:nvSpPr>
          <p:cNvPr id="30730" name="Text Box 21">
            <a:extLst>
              <a:ext uri="{FF2B5EF4-FFF2-40B4-BE49-F238E27FC236}">
                <a16:creationId xmlns:a16="http://schemas.microsoft.com/office/drawing/2014/main" id="{7A9A5BC2-9B9D-1D0F-0A8F-9EB99EEE1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852738"/>
            <a:ext cx="2354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2</a:t>
            </a:r>
            <a:r>
              <a:rPr lang="en-US" altLang="zh-CN">
                <a:solidFill>
                  <a:srgbClr val="000066"/>
                </a:solidFill>
              </a:rPr>
              <a:t>. </a:t>
            </a:r>
            <a:r>
              <a:rPr lang="zh-CN" altLang="en-US">
                <a:solidFill>
                  <a:srgbClr val="000066"/>
                </a:solidFill>
              </a:rPr>
              <a:t>势能                </a:t>
            </a:r>
          </a:p>
        </p:txBody>
      </p:sp>
    </p:spTree>
  </p:cSld>
  <p:clrMapOvr>
    <a:masterClrMapping/>
  </p:clrMapOvr>
  <p:transition spd="slow">
    <p:wipe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2" name="Text Box 4">
            <a:extLst>
              <a:ext uri="{FF2B5EF4-FFF2-40B4-BE49-F238E27FC236}">
                <a16:creationId xmlns:a16="http://schemas.microsoft.com/office/drawing/2014/main" id="{D1D8C844-550B-C8AF-51A5-047BBB81F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364038"/>
            <a:ext cx="6840538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2300">
                <a:solidFill>
                  <a:srgbClr val="000066"/>
                </a:solidFill>
              </a:rPr>
              <a:t>（</a:t>
            </a:r>
            <a:r>
              <a:rPr lang="en-US" altLang="zh-CN" sz="2300">
                <a:solidFill>
                  <a:srgbClr val="000066"/>
                </a:solidFill>
              </a:rPr>
              <a:t>1</a:t>
            </a:r>
            <a:r>
              <a:rPr lang="zh-CN" altLang="en-US" sz="2300">
                <a:solidFill>
                  <a:srgbClr val="000066"/>
                </a:solidFill>
              </a:rPr>
              <a:t>）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在运动过程中</a:t>
            </a:r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,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动能和势能相互转换。</a:t>
            </a:r>
          </a:p>
        </p:txBody>
      </p:sp>
      <p:grpSp>
        <p:nvGrpSpPr>
          <p:cNvPr id="114714" name="Group 26">
            <a:extLst>
              <a:ext uri="{FF2B5EF4-FFF2-40B4-BE49-F238E27FC236}">
                <a16:creationId xmlns:a16="http://schemas.microsoft.com/office/drawing/2014/main" id="{4B62303B-7ED5-CFA6-AC45-5BFCC269ED14}"/>
              </a:ext>
            </a:extLst>
          </p:cNvPr>
          <p:cNvGrpSpPr>
            <a:grpSpLocks/>
          </p:cNvGrpSpPr>
          <p:nvPr/>
        </p:nvGrpSpPr>
        <p:grpSpPr bwMode="auto">
          <a:xfrm>
            <a:off x="1231900" y="1484313"/>
            <a:ext cx="7229475" cy="1857375"/>
            <a:chOff x="685" y="1034"/>
            <a:chExt cx="4554" cy="1170"/>
          </a:xfrm>
        </p:grpSpPr>
        <p:graphicFrame>
          <p:nvGraphicFramePr>
            <p:cNvPr id="31764" name="Object 19">
              <a:extLst>
                <a:ext uri="{FF2B5EF4-FFF2-40B4-BE49-F238E27FC236}">
                  <a16:creationId xmlns:a16="http://schemas.microsoft.com/office/drawing/2014/main" id="{13252795-FC92-16AE-24CA-C68AE4A36C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0" y="1071"/>
            <a:ext cx="1679" cy="5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057415" imgH="771525" progId="Equation.3">
                    <p:embed/>
                  </p:oleObj>
                </mc:Choice>
                <mc:Fallback>
                  <p:oleObj name="公式" r:id="rId2" imgW="3057415" imgH="77152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1071"/>
                          <a:ext cx="1679" cy="5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5" name="Freeform 8">
              <a:extLst>
                <a:ext uri="{FF2B5EF4-FFF2-40B4-BE49-F238E27FC236}">
                  <a16:creationId xmlns:a16="http://schemas.microsoft.com/office/drawing/2014/main" id="{507A9AD5-29FE-A4C0-5347-F6F677B3A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" y="1034"/>
              <a:ext cx="3004" cy="1170"/>
            </a:xfrm>
            <a:custGeom>
              <a:avLst/>
              <a:gdLst>
                <a:gd name="T0" fmla="*/ 0 w 3451"/>
                <a:gd name="T1" fmla="*/ 0 h 1226"/>
                <a:gd name="T2" fmla="*/ 32 w 3451"/>
                <a:gd name="T3" fmla="*/ 291 h 1226"/>
                <a:gd name="T4" fmla="*/ 65 w 3451"/>
                <a:gd name="T5" fmla="*/ 607 h 1226"/>
                <a:gd name="T6" fmla="*/ 99 w 3451"/>
                <a:gd name="T7" fmla="*/ 295 h 1226"/>
                <a:gd name="T8" fmla="*/ 135 w 3451"/>
                <a:gd name="T9" fmla="*/ 10 h 1226"/>
                <a:gd name="T10" fmla="*/ 170 w 3451"/>
                <a:gd name="T11" fmla="*/ 308 h 1226"/>
                <a:gd name="T12" fmla="*/ 204 w 3451"/>
                <a:gd name="T13" fmla="*/ 607 h 1226"/>
                <a:gd name="T14" fmla="*/ 241 w 3451"/>
                <a:gd name="T15" fmla="*/ 295 h 1226"/>
                <a:gd name="T16" fmla="*/ 277 w 3451"/>
                <a:gd name="T17" fmla="*/ 10 h 1226"/>
                <a:gd name="T18" fmla="*/ 308 w 3451"/>
                <a:gd name="T19" fmla="*/ 302 h 1226"/>
                <a:gd name="T20" fmla="*/ 348 w 3451"/>
                <a:gd name="T21" fmla="*/ 608 h 1226"/>
                <a:gd name="T22" fmla="*/ 384 w 3451"/>
                <a:gd name="T23" fmla="*/ 302 h 1226"/>
                <a:gd name="T24" fmla="*/ 410 w 3451"/>
                <a:gd name="T25" fmla="*/ 87 h 1226"/>
                <a:gd name="T26" fmla="*/ 431 w 3451"/>
                <a:gd name="T27" fmla="*/ 10 h 122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451" h="1226">
                  <a:moveTo>
                    <a:pt x="0" y="0"/>
                  </a:moveTo>
                  <a:cubicBezTo>
                    <a:pt x="43" y="98"/>
                    <a:pt x="169" y="381"/>
                    <a:pt x="257" y="586"/>
                  </a:cubicBezTo>
                  <a:cubicBezTo>
                    <a:pt x="346" y="789"/>
                    <a:pt x="439" y="1221"/>
                    <a:pt x="529" y="1222"/>
                  </a:cubicBezTo>
                  <a:cubicBezTo>
                    <a:pt x="620" y="1225"/>
                    <a:pt x="710" y="798"/>
                    <a:pt x="802" y="598"/>
                  </a:cubicBezTo>
                  <a:cubicBezTo>
                    <a:pt x="894" y="398"/>
                    <a:pt x="990" y="19"/>
                    <a:pt x="1082" y="23"/>
                  </a:cubicBezTo>
                  <a:cubicBezTo>
                    <a:pt x="1174" y="27"/>
                    <a:pt x="1264" y="424"/>
                    <a:pt x="1356" y="624"/>
                  </a:cubicBezTo>
                  <a:cubicBezTo>
                    <a:pt x="1448" y="824"/>
                    <a:pt x="1540" y="1226"/>
                    <a:pt x="1634" y="1222"/>
                  </a:cubicBezTo>
                  <a:cubicBezTo>
                    <a:pt x="1728" y="1218"/>
                    <a:pt x="1826" y="798"/>
                    <a:pt x="1921" y="598"/>
                  </a:cubicBezTo>
                  <a:cubicBezTo>
                    <a:pt x="2016" y="399"/>
                    <a:pt x="2116" y="24"/>
                    <a:pt x="2207" y="25"/>
                  </a:cubicBezTo>
                  <a:cubicBezTo>
                    <a:pt x="2298" y="26"/>
                    <a:pt x="2373" y="407"/>
                    <a:pt x="2469" y="607"/>
                  </a:cubicBezTo>
                  <a:cubicBezTo>
                    <a:pt x="2565" y="807"/>
                    <a:pt x="2682" y="1224"/>
                    <a:pt x="2784" y="1224"/>
                  </a:cubicBezTo>
                  <a:cubicBezTo>
                    <a:pt x="2886" y="1224"/>
                    <a:pt x="3001" y="782"/>
                    <a:pt x="3084" y="607"/>
                  </a:cubicBezTo>
                  <a:cubicBezTo>
                    <a:pt x="3167" y="432"/>
                    <a:pt x="3220" y="272"/>
                    <a:pt x="3281" y="175"/>
                  </a:cubicBezTo>
                  <a:cubicBezTo>
                    <a:pt x="3342" y="79"/>
                    <a:pt x="3416" y="57"/>
                    <a:pt x="3451" y="25"/>
                  </a:cubicBezTo>
                </a:path>
              </a:pathLst>
            </a:custGeom>
            <a:noFill/>
            <a:ln w="349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4715" name="Group 27">
            <a:extLst>
              <a:ext uri="{FF2B5EF4-FFF2-40B4-BE49-F238E27FC236}">
                <a16:creationId xmlns:a16="http://schemas.microsoft.com/office/drawing/2014/main" id="{17F0486B-C506-1F2E-A6E5-5C06D833B273}"/>
              </a:ext>
            </a:extLst>
          </p:cNvPr>
          <p:cNvGrpSpPr>
            <a:grpSpLocks/>
          </p:cNvGrpSpPr>
          <p:nvPr/>
        </p:nvGrpSpPr>
        <p:grpSpPr bwMode="auto">
          <a:xfrm>
            <a:off x="1231900" y="1541463"/>
            <a:ext cx="7372350" cy="1835150"/>
            <a:chOff x="685" y="1071"/>
            <a:chExt cx="4644" cy="1156"/>
          </a:xfrm>
        </p:grpSpPr>
        <p:graphicFrame>
          <p:nvGraphicFramePr>
            <p:cNvPr id="31762" name="Object 18">
              <a:extLst>
                <a:ext uri="{FF2B5EF4-FFF2-40B4-BE49-F238E27FC236}">
                  <a16:creationId xmlns:a16="http://schemas.microsoft.com/office/drawing/2014/main" id="{452C3497-A560-EAB2-87CB-3521BCF75E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0" y="1616"/>
            <a:ext cx="1769" cy="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3105076" imgH="771525" progId="Equation.3">
                    <p:embed/>
                  </p:oleObj>
                </mc:Choice>
                <mc:Fallback>
                  <p:oleObj name="公式" r:id="rId4" imgW="3105076" imgH="771525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1616"/>
                          <a:ext cx="1769" cy="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3" name="Freeform 13">
              <a:extLst>
                <a:ext uri="{FF2B5EF4-FFF2-40B4-BE49-F238E27FC236}">
                  <a16:creationId xmlns:a16="http://schemas.microsoft.com/office/drawing/2014/main" id="{C80EC3AB-5586-3648-AB17-F180A63DC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" y="1071"/>
              <a:ext cx="3004" cy="1156"/>
            </a:xfrm>
            <a:custGeom>
              <a:avLst/>
              <a:gdLst>
                <a:gd name="T0" fmla="*/ 0 w 3451"/>
                <a:gd name="T1" fmla="*/ 594 h 1212"/>
                <a:gd name="T2" fmla="*/ 29 w 3451"/>
                <a:gd name="T3" fmla="*/ 311 h 1212"/>
                <a:gd name="T4" fmla="*/ 67 w 3451"/>
                <a:gd name="T5" fmla="*/ 8 h 1212"/>
                <a:gd name="T6" fmla="*/ 99 w 3451"/>
                <a:gd name="T7" fmla="*/ 301 h 1212"/>
                <a:gd name="T8" fmla="*/ 135 w 3451"/>
                <a:gd name="T9" fmla="*/ 594 h 1212"/>
                <a:gd name="T10" fmla="*/ 170 w 3451"/>
                <a:gd name="T11" fmla="*/ 287 h 1212"/>
                <a:gd name="T12" fmla="*/ 203 w 3451"/>
                <a:gd name="T13" fmla="*/ 10 h 1212"/>
                <a:gd name="T14" fmla="*/ 241 w 3451"/>
                <a:gd name="T15" fmla="*/ 301 h 1212"/>
                <a:gd name="T16" fmla="*/ 277 w 3451"/>
                <a:gd name="T17" fmla="*/ 582 h 1212"/>
                <a:gd name="T18" fmla="*/ 308 w 3451"/>
                <a:gd name="T19" fmla="*/ 296 h 1212"/>
                <a:gd name="T20" fmla="*/ 353 w 3451"/>
                <a:gd name="T21" fmla="*/ 0 h 1212"/>
                <a:gd name="T22" fmla="*/ 384 w 3451"/>
                <a:gd name="T23" fmla="*/ 296 h 1212"/>
                <a:gd name="T24" fmla="*/ 410 w 3451"/>
                <a:gd name="T25" fmla="*/ 507 h 1212"/>
                <a:gd name="T26" fmla="*/ 431 w 3451"/>
                <a:gd name="T27" fmla="*/ 582 h 12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451" h="1212">
                  <a:moveTo>
                    <a:pt x="0" y="1208"/>
                  </a:moveTo>
                  <a:cubicBezTo>
                    <a:pt x="39" y="1112"/>
                    <a:pt x="143" y="832"/>
                    <a:pt x="232" y="632"/>
                  </a:cubicBezTo>
                  <a:cubicBezTo>
                    <a:pt x="321" y="432"/>
                    <a:pt x="441" y="12"/>
                    <a:pt x="536" y="8"/>
                  </a:cubicBezTo>
                  <a:cubicBezTo>
                    <a:pt x="631" y="4"/>
                    <a:pt x="711" y="410"/>
                    <a:pt x="802" y="610"/>
                  </a:cubicBezTo>
                  <a:cubicBezTo>
                    <a:pt x="893" y="810"/>
                    <a:pt x="990" y="1212"/>
                    <a:pt x="1082" y="1208"/>
                  </a:cubicBezTo>
                  <a:cubicBezTo>
                    <a:pt x="1174" y="1204"/>
                    <a:pt x="1264" y="782"/>
                    <a:pt x="1356" y="584"/>
                  </a:cubicBezTo>
                  <a:cubicBezTo>
                    <a:pt x="1448" y="386"/>
                    <a:pt x="1538" y="12"/>
                    <a:pt x="1632" y="16"/>
                  </a:cubicBezTo>
                  <a:cubicBezTo>
                    <a:pt x="1726" y="20"/>
                    <a:pt x="1825" y="416"/>
                    <a:pt x="1921" y="610"/>
                  </a:cubicBezTo>
                  <a:cubicBezTo>
                    <a:pt x="2017" y="804"/>
                    <a:pt x="2116" y="1184"/>
                    <a:pt x="2207" y="1183"/>
                  </a:cubicBezTo>
                  <a:cubicBezTo>
                    <a:pt x="2298" y="1182"/>
                    <a:pt x="2368" y="798"/>
                    <a:pt x="2469" y="601"/>
                  </a:cubicBezTo>
                  <a:cubicBezTo>
                    <a:pt x="2570" y="404"/>
                    <a:pt x="2714" y="0"/>
                    <a:pt x="2816" y="0"/>
                  </a:cubicBezTo>
                  <a:cubicBezTo>
                    <a:pt x="2918" y="0"/>
                    <a:pt x="3007" y="429"/>
                    <a:pt x="3084" y="601"/>
                  </a:cubicBezTo>
                  <a:cubicBezTo>
                    <a:pt x="3161" y="773"/>
                    <a:pt x="3220" y="936"/>
                    <a:pt x="3281" y="1033"/>
                  </a:cubicBezTo>
                  <a:cubicBezTo>
                    <a:pt x="3342" y="1129"/>
                    <a:pt x="3416" y="1151"/>
                    <a:pt x="3451" y="1183"/>
                  </a:cubicBezTo>
                </a:path>
              </a:pathLst>
            </a:custGeom>
            <a:noFill/>
            <a:ln w="34925" cap="flat">
              <a:solidFill>
                <a:srgbClr val="FF33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4713" name="Group 25">
            <a:extLst>
              <a:ext uri="{FF2B5EF4-FFF2-40B4-BE49-F238E27FC236}">
                <a16:creationId xmlns:a16="http://schemas.microsoft.com/office/drawing/2014/main" id="{EDC48026-BCA4-146D-2139-0D5E54E01A41}"/>
              </a:ext>
            </a:extLst>
          </p:cNvPr>
          <p:cNvGrpSpPr>
            <a:grpSpLocks/>
          </p:cNvGrpSpPr>
          <p:nvPr/>
        </p:nvGrpSpPr>
        <p:grpSpPr bwMode="auto">
          <a:xfrm>
            <a:off x="612775" y="447675"/>
            <a:ext cx="6221413" cy="3413125"/>
            <a:chOff x="295" y="382"/>
            <a:chExt cx="3919" cy="2150"/>
          </a:xfrm>
        </p:grpSpPr>
        <p:sp>
          <p:nvSpPr>
            <p:cNvPr id="31756" name="Line 6">
              <a:extLst>
                <a:ext uri="{FF2B5EF4-FFF2-40B4-BE49-F238E27FC236}">
                  <a16:creationId xmlns:a16="http://schemas.microsoft.com/office/drawing/2014/main" id="{88D641B9-1217-F462-C750-EDE8459FD7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" y="2215"/>
              <a:ext cx="3513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7" name="Line 7">
              <a:extLst>
                <a:ext uri="{FF2B5EF4-FFF2-40B4-BE49-F238E27FC236}">
                  <a16:creationId xmlns:a16="http://schemas.microsoft.com/office/drawing/2014/main" id="{079D1771-6B53-A2B5-7BB5-3EEAF371A4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2" y="680"/>
              <a:ext cx="0" cy="154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8" name="Text Box 9">
              <a:extLst>
                <a:ext uri="{FF2B5EF4-FFF2-40B4-BE49-F238E27FC236}">
                  <a16:creationId xmlns:a16="http://schemas.microsoft.com/office/drawing/2014/main" id="{A93C78B3-B042-B53B-C5F5-D62B848B16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7" y="2164"/>
              <a:ext cx="1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3200" i="1">
                  <a:solidFill>
                    <a:schemeClr val="tx1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31759" name="Text Box 10">
              <a:extLst>
                <a:ext uri="{FF2B5EF4-FFF2-40B4-BE49-F238E27FC236}">
                  <a16:creationId xmlns:a16="http://schemas.microsoft.com/office/drawing/2014/main" id="{3AA21202-EB1F-787C-30E1-C5A669F137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215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31760" name="Text Box 11">
              <a:extLst>
                <a:ext uri="{FF2B5EF4-FFF2-40B4-BE49-F238E27FC236}">
                  <a16:creationId xmlns:a16="http://schemas.microsoft.com/office/drawing/2014/main" id="{428A97CA-5A8E-EB23-55B9-5E12CEA54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382"/>
              <a:ext cx="13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1"/>
                  </a:solidFill>
                  <a:ea typeface="宋体" panose="02010600030101010101" pitchFamily="2" charset="-122"/>
                </a:rPr>
                <a:t>E</a:t>
              </a:r>
              <a:r>
                <a:rPr lang="en-US" altLang="zh-CN" sz="1000" i="1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2800" i="1">
                  <a:solidFill>
                    <a:schemeClr val="tx1"/>
                  </a:solidFill>
                  <a:ea typeface="宋体" panose="02010600030101010101" pitchFamily="2" charset="-122"/>
                </a:rPr>
                <a:t>/</a:t>
              </a:r>
              <a:r>
                <a:rPr lang="en-US" altLang="zh-CN" sz="1000" i="1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2800" i="1">
                  <a:solidFill>
                    <a:schemeClr val="tx1"/>
                  </a:solidFill>
                  <a:ea typeface="宋体" panose="02010600030101010101" pitchFamily="2" charset="-122"/>
                </a:rPr>
                <a:t>E</a:t>
              </a:r>
              <a:r>
                <a:rPr lang="en-US" altLang="zh-CN" sz="500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2800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k</a:t>
              </a:r>
              <a:r>
                <a:rPr lang="en-US" altLang="zh-CN" sz="2800" i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2800" i="1">
                  <a:solidFill>
                    <a:schemeClr val="tx1"/>
                  </a:solidFill>
                  <a:ea typeface="宋体" panose="02010600030101010101" pitchFamily="2" charset="-122"/>
                </a:rPr>
                <a:t>/</a:t>
              </a:r>
              <a:r>
                <a:rPr lang="en-US" altLang="zh-CN" sz="1000" i="1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2800" i="1">
                  <a:solidFill>
                    <a:schemeClr val="tx1"/>
                  </a:solidFill>
                  <a:ea typeface="宋体" panose="02010600030101010101" pitchFamily="2" charset="-122"/>
                </a:rPr>
                <a:t>E</a:t>
              </a:r>
              <a:r>
                <a:rPr lang="en-US" altLang="zh-CN" sz="500" i="1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2800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p</a:t>
              </a:r>
              <a:r>
                <a:rPr lang="en-US" altLang="zh-CN" sz="2800" i="1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         </a:t>
              </a:r>
            </a:p>
          </p:txBody>
        </p:sp>
        <p:sp>
          <p:nvSpPr>
            <p:cNvPr id="31761" name="Text Box 17">
              <a:extLst>
                <a:ext uri="{FF2B5EF4-FFF2-40B4-BE49-F238E27FC236}">
                  <a16:creationId xmlns:a16="http://schemas.microsoft.com/office/drawing/2014/main" id="{1D5519A3-8502-71AE-43CF-C7BB0AF7B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8" y="2205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000092"/>
                  </a:solidFill>
                  <a:ea typeface="宋体" panose="02010600030101010101" pitchFamily="2" charset="-122"/>
                </a:rPr>
                <a:t>T</a:t>
              </a:r>
              <a:endParaRPr lang="en-US" altLang="zh-CN" sz="2800">
                <a:solidFill>
                  <a:srgbClr val="000092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14716" name="Group 28">
            <a:extLst>
              <a:ext uri="{FF2B5EF4-FFF2-40B4-BE49-F238E27FC236}">
                <a16:creationId xmlns:a16="http://schemas.microsoft.com/office/drawing/2014/main" id="{0035C33A-72C5-DE2E-BAB6-3A0871230AA4}"/>
              </a:ext>
            </a:extLst>
          </p:cNvPr>
          <p:cNvGrpSpPr>
            <a:grpSpLocks/>
          </p:cNvGrpSpPr>
          <p:nvPr/>
        </p:nvGrpSpPr>
        <p:grpSpPr bwMode="auto">
          <a:xfrm>
            <a:off x="1231900" y="593725"/>
            <a:ext cx="5697538" cy="922338"/>
            <a:chOff x="685" y="482"/>
            <a:chExt cx="3589" cy="581"/>
          </a:xfrm>
        </p:grpSpPr>
        <p:sp>
          <p:nvSpPr>
            <p:cNvPr id="31754" name="Line 14">
              <a:extLst>
                <a:ext uri="{FF2B5EF4-FFF2-40B4-BE49-F238E27FC236}">
                  <a16:creationId xmlns:a16="http://schemas.microsoft.com/office/drawing/2014/main" id="{9966F898-2CA0-D52F-8A80-E4BE5D02B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" y="1063"/>
              <a:ext cx="3176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1755" name="Object 20">
              <a:extLst>
                <a:ext uri="{FF2B5EF4-FFF2-40B4-BE49-F238E27FC236}">
                  <a16:creationId xmlns:a16="http://schemas.microsoft.com/office/drawing/2014/main" id="{BB07D4F4-380D-3A79-1820-8CA38EBED2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34" y="482"/>
            <a:ext cx="940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371600" imgH="704850" progId="Equation.3">
                    <p:embed/>
                  </p:oleObj>
                </mc:Choice>
                <mc:Fallback>
                  <p:oleObj name="公式" r:id="rId6" imgW="1371600" imgH="70485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4" y="482"/>
                          <a:ext cx="940" cy="5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4709" name="Rectangle 21">
            <a:extLst>
              <a:ext uri="{FF2B5EF4-FFF2-40B4-BE49-F238E27FC236}">
                <a16:creationId xmlns:a16="http://schemas.microsoft.com/office/drawing/2014/main" id="{A247B3D8-6D2D-731F-9DB4-1D8BA3716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860800"/>
            <a:ext cx="2251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100">
                <a:latin typeface="华文中宋" panose="02010600040101010101" pitchFamily="2" charset="-122"/>
              </a:rPr>
              <a:t>★</a:t>
            </a:r>
            <a:r>
              <a:rPr lang="en-US" altLang="zh-CN">
                <a:solidFill>
                  <a:srgbClr val="000092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说明：        </a:t>
            </a:r>
          </a:p>
        </p:txBody>
      </p:sp>
      <p:sp>
        <p:nvSpPr>
          <p:cNvPr id="114717" name="Rectangle 29">
            <a:extLst>
              <a:ext uri="{FF2B5EF4-FFF2-40B4-BE49-F238E27FC236}">
                <a16:creationId xmlns:a16="http://schemas.microsoft.com/office/drawing/2014/main" id="{E7BA3D04-25E6-1F10-8536-AD7E5354C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868863"/>
            <a:ext cx="7416800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</a:rPr>
              <a:t>（</a:t>
            </a:r>
            <a:r>
              <a:rPr lang="en-US" altLang="zh-CN" sz="2300">
                <a:solidFill>
                  <a:srgbClr val="000066"/>
                </a:solidFill>
              </a:rPr>
              <a:t>2</a:t>
            </a:r>
            <a:r>
              <a:rPr lang="zh-CN" altLang="en-US" sz="2300">
                <a:solidFill>
                  <a:srgbClr val="000066"/>
                </a:solidFill>
              </a:rPr>
              <a:t>）总机械能保持不变</a:t>
            </a:r>
            <a:r>
              <a:rPr lang="en-US" altLang="zh-CN" sz="2300">
                <a:solidFill>
                  <a:srgbClr val="000066"/>
                </a:solidFill>
              </a:rPr>
              <a:t>, </a:t>
            </a:r>
            <a:r>
              <a:rPr lang="zh-CN" altLang="en-US" sz="2300">
                <a:solidFill>
                  <a:srgbClr val="000066"/>
                </a:solidFill>
              </a:rPr>
              <a:t>且与振幅的平方成正比。  </a:t>
            </a:r>
          </a:p>
        </p:txBody>
      </p:sp>
      <p:sp>
        <p:nvSpPr>
          <p:cNvPr id="114718" name="Rectangle 30">
            <a:extLst>
              <a:ext uri="{FF2B5EF4-FFF2-40B4-BE49-F238E27FC236}">
                <a16:creationId xmlns:a16="http://schemas.microsoft.com/office/drawing/2014/main" id="{71092792-FAA2-8C78-7D7F-474BEB13C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372100"/>
            <a:ext cx="5184775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</a:rPr>
              <a:t>（</a:t>
            </a:r>
            <a:r>
              <a:rPr lang="en-US" altLang="zh-CN" sz="2300">
                <a:solidFill>
                  <a:srgbClr val="000066"/>
                </a:solidFill>
              </a:rPr>
              <a:t>3</a:t>
            </a:r>
            <a:r>
              <a:rPr lang="zh-CN" altLang="en-US" sz="2300">
                <a:solidFill>
                  <a:srgbClr val="000066"/>
                </a:solidFill>
              </a:rPr>
              <a:t>）动能和势能的极大值相等。                  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4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0"/>
                                        <p:tgtEl>
                                          <p:spTgt spid="114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0"/>
                                        <p:tgtEl>
                                          <p:spTgt spid="114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14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1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0"/>
                                        <p:tgtEl>
                                          <p:spTgt spid="11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0"/>
                                        <p:tgtEl>
                                          <p:spTgt spid="114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114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2" grpId="0"/>
      <p:bldP spid="114709" grpId="0"/>
      <p:bldP spid="114717" grpId="0"/>
      <p:bldP spid="1147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4">
            <a:extLst>
              <a:ext uri="{FF2B5EF4-FFF2-40B4-BE49-F238E27FC236}">
                <a16:creationId xmlns:a16="http://schemas.microsoft.com/office/drawing/2014/main" id="{B84D6EC7-45F3-8883-FF6A-DCC40316A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404813"/>
            <a:ext cx="35575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4.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能量平均值</a:t>
            </a:r>
          </a:p>
        </p:txBody>
      </p:sp>
      <p:sp>
        <p:nvSpPr>
          <p:cNvPr id="32771" name="Text Box 8">
            <a:extLst>
              <a:ext uri="{FF2B5EF4-FFF2-40B4-BE49-F238E27FC236}">
                <a16:creationId xmlns:a16="http://schemas.microsoft.com/office/drawing/2014/main" id="{46F5C414-047E-98CB-387A-883B47F84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4510088"/>
            <a:ext cx="7632700" cy="1016000"/>
          </a:xfrm>
          <a:prstGeom prst="rect">
            <a:avLst/>
          </a:prstGeom>
          <a:noFill/>
          <a:ln w="12700">
            <a:solidFill>
              <a:srgbClr val="FFFFFF">
                <a:alpha val="0"/>
              </a:srgbClr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en-US" altLang="zh-CN" sz="2300">
                <a:solidFill>
                  <a:srgbClr val="800000"/>
                </a:solidFill>
                <a:latin typeface="华文中宋" panose="02010600040101010101" pitchFamily="2" charset="-122"/>
              </a:rPr>
              <a:t>       </a:t>
            </a:r>
            <a:r>
              <a:rPr lang="zh-CN" altLang="en-US" sz="2300">
                <a:solidFill>
                  <a:srgbClr val="800000"/>
                </a:solidFill>
                <a:latin typeface="华文中宋" panose="02010600040101010101" pitchFamily="2" charset="-122"/>
              </a:rPr>
              <a:t>简谐振动系统的动能和势能在一个周期内的平均   </a:t>
            </a:r>
          </a:p>
          <a:p>
            <a:pPr algn="just">
              <a:lnSpc>
                <a:spcPct val="130000"/>
              </a:lnSpc>
            </a:pPr>
            <a:r>
              <a:rPr lang="zh-CN" altLang="en-US" sz="2300">
                <a:solidFill>
                  <a:srgbClr val="800000"/>
                </a:solidFill>
                <a:latin typeface="华文中宋" panose="02010600040101010101" pitchFamily="2" charset="-122"/>
              </a:rPr>
              <a:t>值相等</a:t>
            </a:r>
            <a:r>
              <a:rPr lang="en-US" altLang="zh-CN" sz="2300">
                <a:solidFill>
                  <a:srgbClr val="800000"/>
                </a:solidFill>
                <a:latin typeface="华文中宋" panose="02010600040101010101" pitchFamily="2" charset="-122"/>
              </a:rPr>
              <a:t>, </a:t>
            </a:r>
            <a:r>
              <a:rPr lang="zh-CN" altLang="en-US" sz="2300">
                <a:solidFill>
                  <a:srgbClr val="800000"/>
                </a:solidFill>
                <a:latin typeface="华文中宋" panose="02010600040101010101" pitchFamily="2" charset="-122"/>
              </a:rPr>
              <a:t>且等于总能量的一半。</a:t>
            </a:r>
          </a:p>
        </p:txBody>
      </p:sp>
      <p:sp>
        <p:nvSpPr>
          <p:cNvPr id="32772" name="Rectangle 9">
            <a:extLst>
              <a:ext uri="{FF2B5EF4-FFF2-40B4-BE49-F238E27FC236}">
                <a16:creationId xmlns:a16="http://schemas.microsoft.com/office/drawing/2014/main" id="{2120648B-3FC1-EFB7-57BF-E97DD42B6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078288"/>
            <a:ext cx="572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华文中宋" panose="02010600040101010101" pitchFamily="2" charset="-122"/>
                <a:sym typeface="Symbol" panose="05050102010706020507" pitchFamily="18" charset="2"/>
              </a:rPr>
              <a:t>★</a:t>
            </a:r>
            <a:r>
              <a:rPr lang="en-US" altLang="zh-CN">
                <a:solidFill>
                  <a:srgbClr val="000092"/>
                </a:solidFill>
                <a:latin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  <a:sym typeface="Symbol" panose="05050102010706020507" pitchFamily="18" charset="2"/>
              </a:rPr>
              <a:t>结论</a:t>
            </a:r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  <a:sym typeface="Symbol" panose="05050102010706020507" pitchFamily="18" charset="2"/>
              </a:rPr>
              <a:t>:</a:t>
            </a:r>
            <a:r>
              <a:rPr lang="en-US" altLang="zh-CN">
                <a:solidFill>
                  <a:srgbClr val="000092"/>
                </a:solidFill>
                <a:latin typeface="华文中宋" panose="02010600040101010101" pitchFamily="2" charset="-122"/>
              </a:rPr>
              <a:t>  </a:t>
            </a:r>
            <a:r>
              <a:rPr lang="zh-CN" altLang="en-US">
                <a:latin typeface="华文中宋" panose="02010600040101010101" pitchFamily="2" charset="-122"/>
              </a:rPr>
              <a:t>简谐振动的重要特征：</a:t>
            </a:r>
            <a:r>
              <a:rPr lang="zh-CN" altLang="en-US">
                <a:solidFill>
                  <a:srgbClr val="800000"/>
                </a:solidFill>
                <a:latin typeface="华文中宋" panose="02010600040101010101" pitchFamily="2" charset="-122"/>
              </a:rPr>
              <a:t>            </a:t>
            </a:r>
          </a:p>
        </p:txBody>
      </p:sp>
      <p:grpSp>
        <p:nvGrpSpPr>
          <p:cNvPr id="32773" name="Group 20">
            <a:extLst>
              <a:ext uri="{FF2B5EF4-FFF2-40B4-BE49-F238E27FC236}">
                <a16:creationId xmlns:a16="http://schemas.microsoft.com/office/drawing/2014/main" id="{0268104A-5822-B6D3-3A69-E73DAF664B64}"/>
              </a:ext>
            </a:extLst>
          </p:cNvPr>
          <p:cNvGrpSpPr>
            <a:grpSpLocks/>
          </p:cNvGrpSpPr>
          <p:nvPr/>
        </p:nvGrpSpPr>
        <p:grpSpPr bwMode="auto">
          <a:xfrm>
            <a:off x="1562100" y="981075"/>
            <a:ext cx="6715125" cy="857250"/>
            <a:chOff x="984" y="618"/>
            <a:chExt cx="4230" cy="540"/>
          </a:xfrm>
        </p:grpSpPr>
        <p:graphicFrame>
          <p:nvGraphicFramePr>
            <p:cNvPr id="32781" name="Object 5">
              <a:extLst>
                <a:ext uri="{FF2B5EF4-FFF2-40B4-BE49-F238E27FC236}">
                  <a16:creationId xmlns:a16="http://schemas.microsoft.com/office/drawing/2014/main" id="{92E57640-8CD3-382C-888F-DC540B0D8B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84" y="618"/>
            <a:ext cx="4230" cy="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6410332" imgH="704850" progId="Equation.3">
                    <p:embed/>
                  </p:oleObj>
                </mc:Choice>
                <mc:Fallback>
                  <p:oleObj name="公式" r:id="rId2" imgW="6410332" imgH="70485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4" y="618"/>
                          <a:ext cx="4230" cy="5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2" name="Object 6">
              <a:extLst>
                <a:ext uri="{FF2B5EF4-FFF2-40B4-BE49-F238E27FC236}">
                  <a16:creationId xmlns:a16="http://schemas.microsoft.com/office/drawing/2014/main" id="{9B5081E4-4E75-3D49-43A0-AB8C8E37FC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2" y="831"/>
            <a:ext cx="72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4151" imgH="215619" progId="Equation.3">
                    <p:embed/>
                  </p:oleObj>
                </mc:Choice>
                <mc:Fallback>
                  <p:oleObj name="Equation" r:id="rId4" imgW="114151" imgH="215619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831"/>
                          <a:ext cx="72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3" name="Line 13">
              <a:extLst>
                <a:ext uri="{FF2B5EF4-FFF2-40B4-BE49-F238E27FC236}">
                  <a16:creationId xmlns:a16="http://schemas.microsoft.com/office/drawing/2014/main" id="{1C5CC38F-C94E-FFB0-2831-B8F53DB225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0" y="780"/>
              <a:ext cx="136" cy="0"/>
            </a:xfrm>
            <a:prstGeom prst="line">
              <a:avLst/>
            </a:prstGeom>
            <a:noFill/>
            <a:ln w="19050">
              <a:solidFill>
                <a:srgbClr val="03037D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774" name="Group 22">
            <a:extLst>
              <a:ext uri="{FF2B5EF4-FFF2-40B4-BE49-F238E27FC236}">
                <a16:creationId xmlns:a16="http://schemas.microsoft.com/office/drawing/2014/main" id="{028BE280-D5C4-40FB-C122-2951FF23F2CB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2141538"/>
            <a:ext cx="6878638" cy="838200"/>
            <a:chOff x="930" y="1349"/>
            <a:chExt cx="4333" cy="528"/>
          </a:xfrm>
        </p:grpSpPr>
        <p:graphicFrame>
          <p:nvGraphicFramePr>
            <p:cNvPr id="32779" name="Object 7">
              <a:extLst>
                <a:ext uri="{FF2B5EF4-FFF2-40B4-BE49-F238E27FC236}">
                  <a16:creationId xmlns:a16="http://schemas.microsoft.com/office/drawing/2014/main" id="{9B693D32-AC8D-CB59-E616-5F68656A9E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0" y="1349"/>
            <a:ext cx="4333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6057988" imgH="704850" progId="Equation.3">
                    <p:embed/>
                  </p:oleObj>
                </mc:Choice>
                <mc:Fallback>
                  <p:oleObj name="公式" r:id="rId6" imgW="6057988" imgH="70485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1349"/>
                          <a:ext cx="4333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0" name="Line 14">
              <a:extLst>
                <a:ext uri="{FF2B5EF4-FFF2-40B4-BE49-F238E27FC236}">
                  <a16:creationId xmlns:a16="http://schemas.microsoft.com/office/drawing/2014/main" id="{595FA300-DE00-B31D-DB14-A51ECCEC5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" y="1487"/>
              <a:ext cx="139" cy="0"/>
            </a:xfrm>
            <a:prstGeom prst="line">
              <a:avLst/>
            </a:prstGeom>
            <a:noFill/>
            <a:ln w="19050">
              <a:solidFill>
                <a:srgbClr val="03037D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775" name="Group 25">
            <a:extLst>
              <a:ext uri="{FF2B5EF4-FFF2-40B4-BE49-F238E27FC236}">
                <a16:creationId xmlns:a16="http://schemas.microsoft.com/office/drawing/2014/main" id="{02B63C69-50D7-BCD2-8254-6909572C5D3E}"/>
              </a:ext>
            </a:extLst>
          </p:cNvPr>
          <p:cNvGrpSpPr>
            <a:grpSpLocks/>
          </p:cNvGrpSpPr>
          <p:nvPr/>
        </p:nvGrpSpPr>
        <p:grpSpPr bwMode="auto">
          <a:xfrm>
            <a:off x="1236663" y="3044825"/>
            <a:ext cx="4064000" cy="865188"/>
            <a:chOff x="779" y="1918"/>
            <a:chExt cx="2560" cy="545"/>
          </a:xfrm>
        </p:grpSpPr>
        <p:graphicFrame>
          <p:nvGraphicFramePr>
            <p:cNvPr id="32776" name="Object 15">
              <a:extLst>
                <a:ext uri="{FF2B5EF4-FFF2-40B4-BE49-F238E27FC236}">
                  <a16:creationId xmlns:a16="http://schemas.microsoft.com/office/drawing/2014/main" id="{17BBC1A9-2522-9787-17F2-AE27373C2A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9" y="1918"/>
            <a:ext cx="2560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3762456" imgH="704850" progId="Equation.3">
                    <p:embed/>
                  </p:oleObj>
                </mc:Choice>
                <mc:Fallback>
                  <p:oleObj name="公式" r:id="rId8" imgW="3762456" imgH="70485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9" y="1918"/>
                          <a:ext cx="2560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77" name="Line 23">
              <a:extLst>
                <a:ext uri="{FF2B5EF4-FFF2-40B4-BE49-F238E27FC236}">
                  <a16:creationId xmlns:a16="http://schemas.microsoft.com/office/drawing/2014/main" id="{B22021E7-6DA5-D436-737F-C798B6C29A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2069"/>
              <a:ext cx="136" cy="0"/>
            </a:xfrm>
            <a:prstGeom prst="line">
              <a:avLst/>
            </a:prstGeom>
            <a:noFill/>
            <a:ln w="22225">
              <a:solidFill>
                <a:srgbClr val="800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8" name="Line 24">
              <a:extLst>
                <a:ext uri="{FF2B5EF4-FFF2-40B4-BE49-F238E27FC236}">
                  <a16:creationId xmlns:a16="http://schemas.microsoft.com/office/drawing/2014/main" id="{8C20AB88-1160-BF2E-4C15-B36A538255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2069"/>
              <a:ext cx="136" cy="0"/>
            </a:xfrm>
            <a:prstGeom prst="line">
              <a:avLst/>
            </a:prstGeom>
            <a:noFill/>
            <a:ln w="22225">
              <a:solidFill>
                <a:srgbClr val="800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wipe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6">
            <a:extLst>
              <a:ext uri="{FF2B5EF4-FFF2-40B4-BE49-F238E27FC236}">
                <a16:creationId xmlns:a16="http://schemas.microsoft.com/office/drawing/2014/main" id="{6A5C9D9D-67EB-93E9-345F-D5E41ABC2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22225"/>
            <a:ext cx="9144000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795" name="Picture 7">
            <a:extLst>
              <a:ext uri="{FF2B5EF4-FFF2-40B4-BE49-F238E27FC236}">
                <a16:creationId xmlns:a16="http://schemas.microsoft.com/office/drawing/2014/main" id="{DCA346D1-AEB7-39CE-4E39-086F4048E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238" y="2254250"/>
            <a:ext cx="2171700" cy="295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80" name="Picture 8">
            <a:extLst>
              <a:ext uri="{FF2B5EF4-FFF2-40B4-BE49-F238E27FC236}">
                <a16:creationId xmlns:a16="http://schemas.microsoft.com/office/drawing/2014/main" id="{28B75833-4298-1420-36A8-9EF01CBFA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2525"/>
            <a:ext cx="91440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81" name="Picture 9">
            <a:extLst>
              <a:ext uri="{FF2B5EF4-FFF2-40B4-BE49-F238E27FC236}">
                <a16:creationId xmlns:a16="http://schemas.microsoft.com/office/drawing/2014/main" id="{ADF2ED0F-2B73-9919-C8D5-9985D9E0D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1568450"/>
            <a:ext cx="1560513" cy="59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82" name="Picture 10">
            <a:extLst>
              <a:ext uri="{FF2B5EF4-FFF2-40B4-BE49-F238E27FC236}">
                <a16:creationId xmlns:a16="http://schemas.microsoft.com/office/drawing/2014/main" id="{919A030E-FA32-F97B-B6EB-EA33CC2BF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165350"/>
            <a:ext cx="6464300" cy="318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83" name="Picture 11">
            <a:extLst>
              <a:ext uri="{FF2B5EF4-FFF2-40B4-BE49-F238E27FC236}">
                <a16:creationId xmlns:a16="http://schemas.microsoft.com/office/drawing/2014/main" id="{4647E736-3CA8-FD01-F634-09BCFC7D6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5843588"/>
            <a:ext cx="1338263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84" name="Picture 12">
            <a:extLst>
              <a:ext uri="{FF2B5EF4-FFF2-40B4-BE49-F238E27FC236}">
                <a16:creationId xmlns:a16="http://schemas.microsoft.com/office/drawing/2014/main" id="{7BAC9FEB-0719-DECC-DB43-874298C4B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25" y="5473700"/>
            <a:ext cx="498316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6" name="Rectangle 4">
            <a:extLst>
              <a:ext uri="{FF2B5EF4-FFF2-40B4-BE49-F238E27FC236}">
                <a16:creationId xmlns:a16="http://schemas.microsoft.com/office/drawing/2014/main" id="{EFC12910-B647-954C-D23F-489657550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981075"/>
            <a:ext cx="669766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66"/>
                </a:solidFill>
                <a:latin typeface="华文中宋" panose="02010600040101010101" pitchFamily="2" charset="-122"/>
              </a:rPr>
              <a:t>一、</a:t>
            </a:r>
            <a:r>
              <a:rPr lang="zh-CN" altLang="en-US" sz="2600">
                <a:latin typeface="华文中宋" panose="02010600040101010101" pitchFamily="2" charset="-122"/>
              </a:rPr>
              <a:t>同振向、同频率</a:t>
            </a:r>
            <a:r>
              <a:rPr lang="zh-CN" altLang="en-US" sz="2600">
                <a:solidFill>
                  <a:srgbClr val="000066"/>
                </a:solidFill>
                <a:latin typeface="华文中宋" panose="02010600040101010101" pitchFamily="2" charset="-122"/>
              </a:rPr>
              <a:t>谐振动的合成</a:t>
            </a:r>
            <a:r>
              <a:rPr lang="zh-CN" altLang="en-US" sz="2600">
                <a:solidFill>
                  <a:srgbClr val="000080"/>
                </a:solidFill>
                <a:latin typeface="华文中宋" panose="02010600040101010101" pitchFamily="2" charset="-122"/>
              </a:rPr>
              <a:t>          </a:t>
            </a:r>
          </a:p>
        </p:txBody>
      </p:sp>
      <p:graphicFrame>
        <p:nvGraphicFramePr>
          <p:cNvPr id="125957" name="Object 5">
            <a:extLst>
              <a:ext uri="{FF2B5EF4-FFF2-40B4-BE49-F238E27FC236}">
                <a16:creationId xmlns:a16="http://schemas.microsoft.com/office/drawing/2014/main" id="{67C3B500-E875-777D-DB75-2BB166D6F5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3963" y="1498600"/>
          <a:ext cx="3700462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28997" imgH="304800" progId="Equation.3">
                  <p:embed/>
                </p:oleObj>
              </mc:Choice>
              <mc:Fallback>
                <p:oleObj name="公式" r:id="rId2" imgW="3228997" imgH="304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63" y="1498600"/>
                        <a:ext cx="3700462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8" name="Object 6">
            <a:extLst>
              <a:ext uri="{FF2B5EF4-FFF2-40B4-BE49-F238E27FC236}">
                <a16:creationId xmlns:a16="http://schemas.microsoft.com/office/drawing/2014/main" id="{DB5DD328-BABA-3C38-D677-AA5DE19120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9650" y="1498600"/>
          <a:ext cx="369252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95724" imgH="304800" progId="Equation.3">
                  <p:embed/>
                </p:oleObj>
              </mc:Choice>
              <mc:Fallback>
                <p:oleObj name="公式" r:id="rId4" imgW="3295724" imgH="304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9650" y="1498600"/>
                        <a:ext cx="369252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83" name="Rectangle 31">
            <a:extLst>
              <a:ext uri="{FF2B5EF4-FFF2-40B4-BE49-F238E27FC236}">
                <a16:creationId xmlns:a16="http://schemas.microsoft.com/office/drawing/2014/main" id="{1B9F8B5D-0F72-5408-3DBD-38CCB3966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65113"/>
            <a:ext cx="7921625" cy="5715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/>
          <a:p>
            <a:pPr eaLnBrk="1" hangingPunct="1">
              <a:defRPr/>
            </a:pPr>
            <a:r>
              <a:rPr lang="en-US" altLang="zh-CN" sz="3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§7</a:t>
            </a:r>
            <a:r>
              <a:rPr lang="zh-CN" altLang="en-US" sz="3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－</a:t>
            </a:r>
            <a:r>
              <a:rPr lang="en-US" altLang="zh-CN" sz="3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2</a:t>
            </a:r>
            <a:r>
              <a:rPr lang="en-US" altLang="zh-CN" sz="3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3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简谐振动的合成 </a:t>
            </a:r>
          </a:p>
        </p:txBody>
      </p:sp>
      <p:sp>
        <p:nvSpPr>
          <p:cNvPr id="125985" name="Text Box 33">
            <a:extLst>
              <a:ext uri="{FF2B5EF4-FFF2-40B4-BE49-F238E27FC236}">
                <a16:creationId xmlns:a16="http://schemas.microsoft.com/office/drawing/2014/main" id="{AB731798-3C8E-4DBA-272F-2CD48E10D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989138"/>
            <a:ext cx="3382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66"/>
                </a:solidFill>
              </a:rPr>
              <a:t>1. </a:t>
            </a:r>
            <a:r>
              <a:rPr lang="zh-CN" altLang="en-US">
                <a:solidFill>
                  <a:srgbClr val="000066"/>
                </a:solidFill>
              </a:rPr>
              <a:t>数学分析法            </a:t>
            </a:r>
          </a:p>
        </p:txBody>
      </p:sp>
      <p:graphicFrame>
        <p:nvGraphicFramePr>
          <p:cNvPr id="125986" name="Object 34">
            <a:extLst>
              <a:ext uri="{FF2B5EF4-FFF2-40B4-BE49-F238E27FC236}">
                <a16:creationId xmlns:a16="http://schemas.microsoft.com/office/drawing/2014/main" id="{2630912A-5FBA-458C-A28F-4E680110B8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6463" y="2413000"/>
          <a:ext cx="7697787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962856" imgH="304800" progId="Equation.3">
                  <p:embed/>
                </p:oleObj>
              </mc:Choice>
              <mc:Fallback>
                <p:oleObj name="公式" r:id="rId6" imgW="6962856" imgH="3048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463" y="2413000"/>
                        <a:ext cx="7697787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87" name="Object 35">
            <a:extLst>
              <a:ext uri="{FF2B5EF4-FFF2-40B4-BE49-F238E27FC236}">
                <a16:creationId xmlns:a16="http://schemas.microsoft.com/office/drawing/2014/main" id="{629B8414-0775-A74B-A955-4417D7A15D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3009900"/>
          <a:ext cx="50609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543403" imgH="304800" progId="Equation.3">
                  <p:embed/>
                </p:oleObj>
              </mc:Choice>
              <mc:Fallback>
                <p:oleObj name="公式" r:id="rId8" imgW="4543403" imgH="3048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009900"/>
                        <a:ext cx="50609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89" name="Object 37">
            <a:extLst>
              <a:ext uri="{FF2B5EF4-FFF2-40B4-BE49-F238E27FC236}">
                <a16:creationId xmlns:a16="http://schemas.microsoft.com/office/drawing/2014/main" id="{086BCE02-51F8-6532-F471-AB9CC590EA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6163" y="4103688"/>
          <a:ext cx="50387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933876" imgH="342900" progId="Equation.3">
                  <p:embed/>
                </p:oleObj>
              </mc:Choice>
              <mc:Fallback>
                <p:oleObj name="公式" r:id="rId10" imgW="4933876" imgH="3429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163" y="4103688"/>
                        <a:ext cx="503872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90" name="Object 38">
            <a:extLst>
              <a:ext uri="{FF2B5EF4-FFF2-40B4-BE49-F238E27FC236}">
                <a16:creationId xmlns:a16="http://schemas.microsoft.com/office/drawing/2014/main" id="{B097C176-753B-EE8E-18E0-FBCCA51F03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4575" y="4722813"/>
          <a:ext cx="5256213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029200" imgH="342900" progId="Equation.3">
                  <p:embed/>
                </p:oleObj>
              </mc:Choice>
              <mc:Fallback>
                <p:oleObj name="公式" r:id="rId12" imgW="5029200" imgH="3429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575" y="4722813"/>
                        <a:ext cx="5256213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91" name="Text Box 39">
            <a:extLst>
              <a:ext uri="{FF2B5EF4-FFF2-40B4-BE49-F238E27FC236}">
                <a16:creationId xmlns:a16="http://schemas.microsoft.com/office/drawing/2014/main" id="{6C9347C2-D44A-37B5-1F1C-95ACB2194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4364038"/>
            <a:ext cx="1944687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</a:rPr>
              <a:t>则上式得     </a:t>
            </a:r>
          </a:p>
        </p:txBody>
      </p:sp>
      <p:graphicFrame>
        <p:nvGraphicFramePr>
          <p:cNvPr id="125992" name="Object 40">
            <a:extLst>
              <a:ext uri="{FF2B5EF4-FFF2-40B4-BE49-F238E27FC236}">
                <a16:creationId xmlns:a16="http://schemas.microsoft.com/office/drawing/2014/main" id="{0B69F6DB-DA7C-0EBC-BB54-8FC65CCD76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8338" y="5380038"/>
          <a:ext cx="57753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305285" imgH="266700" progId="Equation.3">
                  <p:embed/>
                </p:oleObj>
              </mc:Choice>
              <mc:Fallback>
                <p:oleObj name="公式" r:id="rId14" imgW="5305285" imgH="2667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8" y="5380038"/>
                        <a:ext cx="577532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93" name="Object 41">
            <a:extLst>
              <a:ext uri="{FF2B5EF4-FFF2-40B4-BE49-F238E27FC236}">
                <a16:creationId xmlns:a16="http://schemas.microsoft.com/office/drawing/2014/main" id="{F9BDEBCC-E3E1-D116-FC91-C8808D5670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5391150"/>
          <a:ext cx="2592387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486179" imgH="276225" progId="Equation.3">
                  <p:embed/>
                </p:oleObj>
              </mc:Choice>
              <mc:Fallback>
                <p:oleObj name="公式" r:id="rId16" imgW="2486179" imgH="276225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5391150"/>
                        <a:ext cx="2592387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5994" name="Group 42">
            <a:extLst>
              <a:ext uri="{FF2B5EF4-FFF2-40B4-BE49-F238E27FC236}">
                <a16:creationId xmlns:a16="http://schemas.microsoft.com/office/drawing/2014/main" id="{1459FE96-1A88-9965-1749-F7C5C0B62B75}"/>
              </a:ext>
            </a:extLst>
          </p:cNvPr>
          <p:cNvGrpSpPr>
            <a:grpSpLocks/>
          </p:cNvGrpSpPr>
          <p:nvPr/>
        </p:nvGrpSpPr>
        <p:grpSpPr bwMode="auto">
          <a:xfrm>
            <a:off x="6323013" y="4076700"/>
            <a:ext cx="336550" cy="457200"/>
            <a:chOff x="3765" y="2131"/>
            <a:chExt cx="212" cy="288"/>
          </a:xfrm>
        </p:grpSpPr>
        <p:sp>
          <p:nvSpPr>
            <p:cNvPr id="34838" name="Oval 43">
              <a:extLst>
                <a:ext uri="{FF2B5EF4-FFF2-40B4-BE49-F238E27FC236}">
                  <a16:creationId xmlns:a16="http://schemas.microsoft.com/office/drawing/2014/main" id="{8841814B-E3E8-2654-CE38-DFDAAE76F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2198"/>
              <a:ext cx="182" cy="181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22225">
              <a:solidFill>
                <a:srgbClr val="007000"/>
              </a:solidFill>
              <a:round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39" name="Text Box 44">
              <a:extLst>
                <a:ext uri="{FF2B5EF4-FFF2-40B4-BE49-F238E27FC236}">
                  <a16:creationId xmlns:a16="http://schemas.microsoft.com/office/drawing/2014/main" id="{F30EE04B-2330-845D-1ED1-D0DF6ADFDE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5" y="21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006600"/>
                  </a:solidFill>
                </a:rPr>
                <a:t>1</a:t>
              </a:r>
            </a:p>
          </p:txBody>
        </p:sp>
      </p:grpSp>
      <p:grpSp>
        <p:nvGrpSpPr>
          <p:cNvPr id="125997" name="Group 45">
            <a:extLst>
              <a:ext uri="{FF2B5EF4-FFF2-40B4-BE49-F238E27FC236}">
                <a16:creationId xmlns:a16="http://schemas.microsoft.com/office/drawing/2014/main" id="{CD30FC8F-5F15-B031-8EEE-61C6139DE924}"/>
              </a:ext>
            </a:extLst>
          </p:cNvPr>
          <p:cNvGrpSpPr>
            <a:grpSpLocks/>
          </p:cNvGrpSpPr>
          <p:nvPr/>
        </p:nvGrpSpPr>
        <p:grpSpPr bwMode="auto">
          <a:xfrm>
            <a:off x="6300788" y="4676775"/>
            <a:ext cx="336550" cy="457200"/>
            <a:chOff x="3765" y="2131"/>
            <a:chExt cx="212" cy="288"/>
          </a:xfrm>
        </p:grpSpPr>
        <p:sp>
          <p:nvSpPr>
            <p:cNvPr id="34836" name="Oval 46">
              <a:extLst>
                <a:ext uri="{FF2B5EF4-FFF2-40B4-BE49-F238E27FC236}">
                  <a16:creationId xmlns:a16="http://schemas.microsoft.com/office/drawing/2014/main" id="{DBFBCC6F-C3C9-CAB4-CF10-0A9A510D7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2198"/>
              <a:ext cx="182" cy="181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22225">
              <a:solidFill>
                <a:srgbClr val="007000"/>
              </a:solidFill>
              <a:round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37" name="Text Box 47">
              <a:extLst>
                <a:ext uri="{FF2B5EF4-FFF2-40B4-BE49-F238E27FC236}">
                  <a16:creationId xmlns:a16="http://schemas.microsoft.com/office/drawing/2014/main" id="{B113099A-D86C-0D65-47C4-829289128D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5" y="21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006600"/>
                  </a:solidFill>
                </a:rPr>
                <a:t>2</a:t>
              </a:r>
            </a:p>
          </p:txBody>
        </p:sp>
      </p:grpSp>
      <p:graphicFrame>
        <p:nvGraphicFramePr>
          <p:cNvPr id="126000" name="Object 48">
            <a:extLst>
              <a:ext uri="{FF2B5EF4-FFF2-40B4-BE49-F238E27FC236}">
                <a16:creationId xmlns:a16="http://schemas.microsoft.com/office/drawing/2014/main" id="{69DDC209-BDC1-A0A7-E97D-28CBD0AFD9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3570288"/>
          <a:ext cx="51117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495741" imgH="304800" progId="Equation.3">
                  <p:embed/>
                </p:oleObj>
              </mc:Choice>
              <mc:Fallback>
                <p:oleObj name="公式" r:id="rId18" imgW="4495741" imgH="3048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570288"/>
                        <a:ext cx="51117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6002" name="Group 50">
            <a:extLst>
              <a:ext uri="{FF2B5EF4-FFF2-40B4-BE49-F238E27FC236}">
                <a16:creationId xmlns:a16="http://schemas.microsoft.com/office/drawing/2014/main" id="{2EE700A1-EDA2-94FC-9F16-45788B69F519}"/>
              </a:ext>
            </a:extLst>
          </p:cNvPr>
          <p:cNvGrpSpPr>
            <a:grpSpLocks/>
          </p:cNvGrpSpPr>
          <p:nvPr/>
        </p:nvGrpSpPr>
        <p:grpSpPr bwMode="auto">
          <a:xfrm>
            <a:off x="385763" y="4283075"/>
            <a:ext cx="914400" cy="719138"/>
            <a:chOff x="243" y="2955"/>
            <a:chExt cx="576" cy="453"/>
          </a:xfrm>
        </p:grpSpPr>
        <p:sp>
          <p:nvSpPr>
            <p:cNvPr id="34834" name="Text Box 36">
              <a:extLst>
                <a:ext uri="{FF2B5EF4-FFF2-40B4-BE49-F238E27FC236}">
                  <a16:creationId xmlns:a16="http://schemas.microsoft.com/office/drawing/2014/main" id="{8C6BD9E4-5769-E125-1153-2D48E222C6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" y="3029"/>
              <a:ext cx="576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sz="2300">
                  <a:solidFill>
                    <a:srgbClr val="000066"/>
                  </a:solidFill>
                </a:rPr>
                <a:t>令      </a:t>
              </a:r>
            </a:p>
          </p:txBody>
        </p:sp>
        <p:sp>
          <p:nvSpPr>
            <p:cNvPr id="34835" name="AutoShape 49">
              <a:extLst>
                <a:ext uri="{FF2B5EF4-FFF2-40B4-BE49-F238E27FC236}">
                  <a16:creationId xmlns:a16="http://schemas.microsoft.com/office/drawing/2014/main" id="{08D6CF8F-525F-B996-96B4-1446791C7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" y="2955"/>
              <a:ext cx="90" cy="453"/>
            </a:xfrm>
            <a:prstGeom prst="leftBrace">
              <a:avLst>
                <a:gd name="adj1" fmla="val 41944"/>
                <a:gd name="adj2" fmla="val 50000"/>
              </a:avLst>
            </a:prstGeom>
            <a:noFill/>
            <a:ln w="28575">
              <a:solidFill>
                <a:srgbClr val="000084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25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2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25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0"/>
                                        <p:tgtEl>
                                          <p:spTgt spid="125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12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126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2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0"/>
                                        <p:tgtEl>
                                          <p:spTgt spid="1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0"/>
                                        <p:tgtEl>
                                          <p:spTgt spid="1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5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1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0"/>
                                        <p:tgtEl>
                                          <p:spTgt spid="1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12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6" grpId="0"/>
      <p:bldP spid="125983" grpId="0"/>
      <p:bldP spid="125985" grpId="0"/>
      <p:bldP spid="12599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44" name="Object 4">
            <a:extLst>
              <a:ext uri="{FF2B5EF4-FFF2-40B4-BE49-F238E27FC236}">
                <a16:creationId xmlns:a16="http://schemas.microsoft.com/office/drawing/2014/main" id="{2BFD6217-6CF8-0FA9-EADA-F8E932C588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8913" y="404813"/>
          <a:ext cx="32115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05071" imgH="276225" progId="Equation.3">
                  <p:embed/>
                </p:oleObj>
              </mc:Choice>
              <mc:Fallback>
                <p:oleObj name="公式" r:id="rId2" imgW="2705071" imgH="27622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913" y="404813"/>
                        <a:ext cx="32115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5" name="Object 5">
            <a:extLst>
              <a:ext uri="{FF2B5EF4-FFF2-40B4-BE49-F238E27FC236}">
                <a16:creationId xmlns:a16="http://schemas.microsoft.com/office/drawing/2014/main" id="{E35EA48C-2A5B-D054-D777-98E23AF65E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0913" y="4398963"/>
          <a:ext cx="537527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791244" imgH="800100" progId="Equation.3">
                  <p:embed/>
                </p:oleObj>
              </mc:Choice>
              <mc:Fallback>
                <p:oleObj name="公式" r:id="rId4" imgW="4791244" imgH="800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913" y="4398963"/>
                        <a:ext cx="5375275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6" name="Object 6">
            <a:extLst>
              <a:ext uri="{FF2B5EF4-FFF2-40B4-BE49-F238E27FC236}">
                <a16:creationId xmlns:a16="http://schemas.microsoft.com/office/drawing/2014/main" id="{A58E2587-4EB5-C63D-1C39-B8AC6ACA74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2938463"/>
          <a:ext cx="5891213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181556" imgH="495300" progId="Equation.3">
                  <p:embed/>
                </p:oleObj>
              </mc:Choice>
              <mc:Fallback>
                <p:oleObj name="公式" r:id="rId6" imgW="6181556" imgH="495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938463"/>
                        <a:ext cx="5891213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66" name="Text Box 26">
            <a:extLst>
              <a:ext uri="{FF2B5EF4-FFF2-40B4-BE49-F238E27FC236}">
                <a16:creationId xmlns:a16="http://schemas.microsoft.com/office/drawing/2014/main" id="{E95565C4-B61B-7872-0735-DFE2E3145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8" y="908050"/>
            <a:ext cx="2127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100"/>
              <a:t>★</a:t>
            </a:r>
            <a:r>
              <a:rPr lang="en-US" altLang="zh-CN">
                <a:solidFill>
                  <a:srgbClr val="000092"/>
                </a:solidFill>
              </a:rPr>
              <a:t> </a:t>
            </a:r>
            <a:r>
              <a:rPr lang="zh-CN" altLang="en-US">
                <a:solidFill>
                  <a:srgbClr val="000066"/>
                </a:solidFill>
              </a:rPr>
              <a:t>结论：</a:t>
            </a:r>
            <a:r>
              <a:rPr lang="zh-CN" altLang="en-US">
                <a:solidFill>
                  <a:srgbClr val="000092"/>
                </a:solidFill>
              </a:rPr>
              <a:t>         </a:t>
            </a:r>
          </a:p>
        </p:txBody>
      </p:sp>
      <p:sp>
        <p:nvSpPr>
          <p:cNvPr id="163867" name="Text Box 27">
            <a:extLst>
              <a:ext uri="{FF2B5EF4-FFF2-40B4-BE49-F238E27FC236}">
                <a16:creationId xmlns:a16="http://schemas.microsoft.com/office/drawing/2014/main" id="{0F06084D-9D3E-7D33-80F4-96E780416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341438"/>
            <a:ext cx="7129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66"/>
                </a:solidFill>
              </a:rPr>
              <a:t>(1) </a:t>
            </a:r>
            <a:r>
              <a:rPr lang="zh-CN" altLang="en-US" sz="2300">
                <a:solidFill>
                  <a:srgbClr val="000066"/>
                </a:solidFill>
              </a:rPr>
              <a:t>同振向同频率谐振动的合成仍为谐振动。</a:t>
            </a:r>
            <a:r>
              <a:rPr lang="zh-CN" altLang="en-US">
                <a:solidFill>
                  <a:srgbClr val="000066"/>
                </a:solidFill>
              </a:rPr>
              <a:t>      </a:t>
            </a:r>
          </a:p>
        </p:txBody>
      </p:sp>
      <p:sp>
        <p:nvSpPr>
          <p:cNvPr id="163868" name="Text Box 28">
            <a:extLst>
              <a:ext uri="{FF2B5EF4-FFF2-40B4-BE49-F238E27FC236}">
                <a16:creationId xmlns:a16="http://schemas.microsoft.com/office/drawing/2014/main" id="{54803504-47DB-BC16-9C28-F0D38C347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773238"/>
            <a:ext cx="720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66"/>
                </a:solidFill>
              </a:rPr>
              <a:t>(2) </a:t>
            </a:r>
            <a:r>
              <a:rPr lang="zh-CN" altLang="en-US" sz="2300">
                <a:solidFill>
                  <a:srgbClr val="000066"/>
                </a:solidFill>
              </a:rPr>
              <a:t>合振动的频率与两分振动的频率相同。             </a:t>
            </a:r>
          </a:p>
        </p:txBody>
      </p:sp>
      <p:sp>
        <p:nvSpPr>
          <p:cNvPr id="163869" name="Text Box 29">
            <a:extLst>
              <a:ext uri="{FF2B5EF4-FFF2-40B4-BE49-F238E27FC236}">
                <a16:creationId xmlns:a16="http://schemas.microsoft.com/office/drawing/2014/main" id="{6170EA85-CF4D-C5D1-4A79-99D176861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205038"/>
            <a:ext cx="5472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66"/>
                </a:solidFill>
              </a:rPr>
              <a:t>(3) </a:t>
            </a:r>
            <a:r>
              <a:rPr lang="zh-CN" altLang="en-US" sz="2300">
                <a:solidFill>
                  <a:srgbClr val="000066"/>
                </a:solidFill>
              </a:rPr>
              <a:t>合振动</a:t>
            </a:r>
            <a:r>
              <a:rPr lang="zh-CN" altLang="en-US" sz="2300"/>
              <a:t>振幅</a:t>
            </a:r>
            <a:r>
              <a:rPr lang="zh-CN" altLang="en-US" sz="2300">
                <a:solidFill>
                  <a:srgbClr val="000066"/>
                </a:solidFill>
              </a:rPr>
              <a:t>和</a:t>
            </a:r>
            <a:r>
              <a:rPr lang="zh-CN" altLang="en-US" sz="2300"/>
              <a:t>初相</a:t>
            </a:r>
            <a:r>
              <a:rPr lang="zh-CN" altLang="en-US" sz="2300">
                <a:solidFill>
                  <a:srgbClr val="000066"/>
                </a:solidFill>
              </a:rPr>
              <a:t>由下式决定：</a:t>
            </a:r>
            <a:r>
              <a:rPr lang="zh-CN" altLang="en-US" sz="2300">
                <a:solidFill>
                  <a:srgbClr val="000080"/>
                </a:solidFill>
              </a:rPr>
              <a:t>               </a:t>
            </a:r>
          </a:p>
        </p:txBody>
      </p:sp>
      <p:sp>
        <p:nvSpPr>
          <p:cNvPr id="163870" name="AutoShape 30">
            <a:extLst>
              <a:ext uri="{FF2B5EF4-FFF2-40B4-BE49-F238E27FC236}">
                <a16:creationId xmlns:a16="http://schemas.microsoft.com/office/drawing/2014/main" id="{F42B24B4-9BF7-D7F9-14AD-8444005DAC05}"/>
              </a:ext>
            </a:extLst>
          </p:cNvPr>
          <p:cNvSpPr>
            <a:spLocks/>
          </p:cNvSpPr>
          <p:nvPr/>
        </p:nvSpPr>
        <p:spPr bwMode="auto">
          <a:xfrm>
            <a:off x="1908175" y="3357563"/>
            <a:ext cx="215900" cy="1366837"/>
          </a:xfrm>
          <a:prstGeom prst="leftBrace">
            <a:avLst>
              <a:gd name="adj1" fmla="val 52757"/>
              <a:gd name="adj2" fmla="val 50000"/>
            </a:avLst>
          </a:prstGeom>
          <a:noFill/>
          <a:ln w="28575">
            <a:solidFill>
              <a:srgbClr val="800000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3871" name="Object 31">
            <a:extLst>
              <a:ext uri="{FF2B5EF4-FFF2-40B4-BE49-F238E27FC236}">
                <a16:creationId xmlns:a16="http://schemas.microsoft.com/office/drawing/2014/main" id="{72377674-A5FC-FA50-F993-3E339F5A4E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3068638"/>
          <a:ext cx="1439862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14412" imgH="419100" progId="Equation.3">
                  <p:embed/>
                </p:oleObj>
              </mc:Choice>
              <mc:Fallback>
                <p:oleObj name="公式" r:id="rId8" imgW="1714412" imgH="4191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068638"/>
                        <a:ext cx="1439862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2" name="Object 32">
            <a:extLst>
              <a:ext uri="{FF2B5EF4-FFF2-40B4-BE49-F238E27FC236}">
                <a16:creationId xmlns:a16="http://schemas.microsoft.com/office/drawing/2014/main" id="{5AC6CC58-5A74-F2B2-0945-FAB6D9AC68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4652963"/>
          <a:ext cx="935037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95335" imgH="323850" progId="Equation.3">
                  <p:embed/>
                </p:oleObj>
              </mc:Choice>
              <mc:Fallback>
                <p:oleObj name="公式" r:id="rId10" imgW="895335" imgH="32385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652963"/>
                        <a:ext cx="935037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3" name="Text Box 33">
            <a:extLst>
              <a:ext uri="{FF2B5EF4-FFF2-40B4-BE49-F238E27FC236}">
                <a16:creationId xmlns:a16="http://schemas.microsoft.com/office/drawing/2014/main" id="{EDD3E6C2-1854-65B9-EC46-6ABFF217F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6550" y="3141663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6600"/>
                </a:solidFill>
                <a:ea typeface="新宋体" panose="02010609030101010101" pitchFamily="49" charset="-122"/>
              </a:rPr>
              <a:t>(7-17)   </a:t>
            </a:r>
          </a:p>
        </p:txBody>
      </p:sp>
      <p:sp>
        <p:nvSpPr>
          <p:cNvPr id="163874" name="Text Box 34">
            <a:extLst>
              <a:ext uri="{FF2B5EF4-FFF2-40B4-BE49-F238E27FC236}">
                <a16:creationId xmlns:a16="http://schemas.microsoft.com/office/drawing/2014/main" id="{BE0FCA02-0173-40BC-05C8-01DE30D11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25" y="404813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6600"/>
                </a:solidFill>
                <a:ea typeface="新宋体" panose="02010609030101010101" pitchFamily="49" charset="-122"/>
              </a:rPr>
              <a:t>(7-16)   </a:t>
            </a:r>
          </a:p>
        </p:txBody>
      </p:sp>
      <p:sp>
        <p:nvSpPr>
          <p:cNvPr id="163875" name="Text Box 35">
            <a:extLst>
              <a:ext uri="{FF2B5EF4-FFF2-40B4-BE49-F238E27FC236}">
                <a16:creationId xmlns:a16="http://schemas.microsoft.com/office/drawing/2014/main" id="{C8DA80F8-D837-851B-A11C-D895AF0D3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4581525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6600"/>
                </a:solidFill>
                <a:ea typeface="新宋体" panose="02010609030101010101" pitchFamily="49" charset="-122"/>
              </a:rPr>
              <a:t>(7-18)  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6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63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0"/>
                                        <p:tgtEl>
                                          <p:spTgt spid="163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0"/>
                                        <p:tgtEl>
                                          <p:spTgt spid="163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0"/>
                                        <p:tgtEl>
                                          <p:spTgt spid="163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63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0"/>
                                        <p:tgtEl>
                                          <p:spTgt spid="16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63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0"/>
                                        <p:tgtEl>
                                          <p:spTgt spid="16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3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63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6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6" grpId="0"/>
      <p:bldP spid="163867" grpId="0"/>
      <p:bldP spid="163868" grpId="0"/>
      <p:bldP spid="163869" grpId="0"/>
      <p:bldP spid="163870" grpId="0" animBg="1"/>
      <p:bldP spid="163873" grpId="0"/>
      <p:bldP spid="163874" grpId="0"/>
      <p:bldP spid="16387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86" name="Text Box 22">
            <a:extLst>
              <a:ext uri="{FF2B5EF4-FFF2-40B4-BE49-F238E27FC236}">
                <a16:creationId xmlns:a16="http://schemas.microsoft.com/office/drawing/2014/main" id="{3980C6D8-AF53-50B6-8B48-5CD917038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20675"/>
            <a:ext cx="2811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2</a:t>
            </a:r>
            <a:r>
              <a:rPr lang="en-US" altLang="zh-CN">
                <a:solidFill>
                  <a:srgbClr val="000066"/>
                </a:solidFill>
              </a:rPr>
              <a:t>. </a:t>
            </a:r>
            <a:r>
              <a:rPr lang="zh-CN" altLang="en-US">
                <a:solidFill>
                  <a:srgbClr val="000066"/>
                </a:solidFill>
              </a:rPr>
              <a:t>旋转矢量法          </a:t>
            </a:r>
          </a:p>
        </p:txBody>
      </p:sp>
      <p:graphicFrame>
        <p:nvGraphicFramePr>
          <p:cNvPr id="164887" name="Object 23">
            <a:extLst>
              <a:ext uri="{FF2B5EF4-FFF2-40B4-BE49-F238E27FC236}">
                <a16:creationId xmlns:a16="http://schemas.microsoft.com/office/drawing/2014/main" id="{FE6B821C-C793-9149-138D-8A78B80454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749300"/>
          <a:ext cx="223202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76462" imgH="342900" progId="Equation.3">
                  <p:embed/>
                </p:oleObj>
              </mc:Choice>
              <mc:Fallback>
                <p:oleObj name="公式" r:id="rId2" imgW="1876462" imgH="3429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749300"/>
                        <a:ext cx="2232025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894" name="Group 30">
            <a:extLst>
              <a:ext uri="{FF2B5EF4-FFF2-40B4-BE49-F238E27FC236}">
                <a16:creationId xmlns:a16="http://schemas.microsoft.com/office/drawing/2014/main" id="{DC7A6353-C703-9EA7-D68E-7D53A844E425}"/>
              </a:ext>
            </a:extLst>
          </p:cNvPr>
          <p:cNvGrpSpPr>
            <a:grpSpLocks/>
          </p:cNvGrpSpPr>
          <p:nvPr/>
        </p:nvGrpSpPr>
        <p:grpSpPr bwMode="auto">
          <a:xfrm>
            <a:off x="5795963" y="692150"/>
            <a:ext cx="3038475" cy="2693988"/>
            <a:chOff x="3470" y="300"/>
            <a:chExt cx="2008" cy="1804"/>
          </a:xfrm>
        </p:grpSpPr>
        <p:grpSp>
          <p:nvGrpSpPr>
            <p:cNvPr id="36882" name="Group 4">
              <a:extLst>
                <a:ext uri="{FF2B5EF4-FFF2-40B4-BE49-F238E27FC236}">
                  <a16:creationId xmlns:a16="http://schemas.microsoft.com/office/drawing/2014/main" id="{C07A8734-F137-53A5-2EF0-C48288712A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00"/>
              <a:ext cx="2008" cy="1804"/>
              <a:chOff x="3698" y="758"/>
              <a:chExt cx="1782" cy="1289"/>
            </a:xfrm>
          </p:grpSpPr>
          <p:sp>
            <p:nvSpPr>
              <p:cNvPr id="36889" name="Line 5">
                <a:extLst>
                  <a:ext uri="{FF2B5EF4-FFF2-40B4-BE49-F238E27FC236}">
                    <a16:creationId xmlns:a16="http://schemas.microsoft.com/office/drawing/2014/main" id="{73D4F4B3-F1A6-2F50-42F4-C923B1F35A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3" y="1838"/>
                <a:ext cx="1525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90" name="Line 6">
                <a:extLst>
                  <a:ext uri="{FF2B5EF4-FFF2-40B4-BE49-F238E27FC236}">
                    <a16:creationId xmlns:a16="http://schemas.microsoft.com/office/drawing/2014/main" id="{249552AA-6BA9-6832-68A1-B831B79B70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66" y="1124"/>
                <a:ext cx="348" cy="713"/>
              </a:xfrm>
              <a:prstGeom prst="line">
                <a:avLst/>
              </a:prstGeom>
              <a:noFill/>
              <a:ln w="31750">
                <a:solidFill>
                  <a:srgbClr val="990000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91" name="Line 7">
                <a:extLst>
                  <a:ext uri="{FF2B5EF4-FFF2-40B4-BE49-F238E27FC236}">
                    <a16:creationId xmlns:a16="http://schemas.microsoft.com/office/drawing/2014/main" id="{3FBF5AB0-0E11-C082-B0A6-907DD0226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78" y="1596"/>
                <a:ext cx="912" cy="240"/>
              </a:xfrm>
              <a:prstGeom prst="line">
                <a:avLst/>
              </a:prstGeom>
              <a:noFill/>
              <a:ln w="31750">
                <a:solidFill>
                  <a:srgbClr val="990000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92" name="Rectangle 8">
                <a:extLst>
                  <a:ext uri="{FF2B5EF4-FFF2-40B4-BE49-F238E27FC236}">
                    <a16:creationId xmlns:a16="http://schemas.microsoft.com/office/drawing/2014/main" id="{143FAE9C-A260-CACE-2886-B6F0A50B15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3" y="1036"/>
                <a:ext cx="301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r>
                  <a:rPr lang="en-US" altLang="zh-CN" sz="2600" i="1">
                    <a:solidFill>
                      <a:srgbClr val="800000"/>
                    </a:solidFill>
                  </a:rPr>
                  <a:t>A</a:t>
                </a:r>
                <a:r>
                  <a:rPr lang="en-US" altLang="zh-CN" sz="2600" baseline="-25000">
                    <a:solidFill>
                      <a:srgbClr val="800000"/>
                    </a:solidFill>
                  </a:rPr>
                  <a:t>2</a:t>
                </a:r>
              </a:p>
            </p:txBody>
          </p:sp>
          <p:sp>
            <p:nvSpPr>
              <p:cNvPr id="36893" name="Rectangle 9">
                <a:extLst>
                  <a:ext uri="{FF2B5EF4-FFF2-40B4-BE49-F238E27FC236}">
                    <a16:creationId xmlns:a16="http://schemas.microsoft.com/office/drawing/2014/main" id="{67518361-E214-4200-AE5B-93987FF11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1" y="1478"/>
                <a:ext cx="301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r>
                  <a:rPr lang="en-US" altLang="zh-CN" sz="2600" i="1">
                    <a:solidFill>
                      <a:srgbClr val="800000"/>
                    </a:solidFill>
                  </a:rPr>
                  <a:t>A</a:t>
                </a:r>
                <a:r>
                  <a:rPr lang="en-US" altLang="zh-CN" sz="2600" baseline="-25000">
                    <a:solidFill>
                      <a:srgbClr val="800000"/>
                    </a:solidFill>
                  </a:rPr>
                  <a:t>1</a:t>
                </a:r>
              </a:p>
            </p:txBody>
          </p:sp>
          <p:sp>
            <p:nvSpPr>
              <p:cNvPr id="36894" name="Rectangle 10">
                <a:extLst>
                  <a:ext uri="{FF2B5EF4-FFF2-40B4-BE49-F238E27FC236}">
                    <a16:creationId xmlns:a16="http://schemas.microsoft.com/office/drawing/2014/main" id="{068342D9-FEF7-C913-D0E2-6E4CAA27B1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6" y="1813"/>
                <a:ext cx="204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r>
                  <a:rPr lang="en-US" altLang="zh-CN" sz="2600" i="1">
                    <a:solidFill>
                      <a:schemeClr val="tx2"/>
                    </a:solidFill>
                  </a:rPr>
                  <a:t>x</a:t>
                </a:r>
              </a:p>
            </p:txBody>
          </p:sp>
          <p:sp>
            <p:nvSpPr>
              <p:cNvPr id="36895" name="Rectangle 11">
                <a:extLst>
                  <a:ext uri="{FF2B5EF4-FFF2-40B4-BE49-F238E27FC236}">
                    <a16:creationId xmlns:a16="http://schemas.microsoft.com/office/drawing/2014/main" id="{10C2CEC2-53B1-158B-A294-AF036AA94F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8" y="1813"/>
                <a:ext cx="242" cy="2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r>
                  <a:rPr lang="en-US" altLang="zh-CN" sz="2500" i="1">
                    <a:solidFill>
                      <a:schemeClr val="tx2"/>
                    </a:solidFill>
                  </a:rPr>
                  <a:t>O</a:t>
                </a:r>
              </a:p>
            </p:txBody>
          </p:sp>
          <p:sp>
            <p:nvSpPr>
              <p:cNvPr id="36896" name="Line 12">
                <a:extLst>
                  <a:ext uri="{FF2B5EF4-FFF2-40B4-BE49-F238E27FC236}">
                    <a16:creationId xmlns:a16="http://schemas.microsoft.com/office/drawing/2014/main" id="{49E9165D-B129-6B30-EE83-2E712AD2DA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00" y="892"/>
                <a:ext cx="912" cy="24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97" name="Line 13">
                <a:extLst>
                  <a:ext uri="{FF2B5EF4-FFF2-40B4-BE49-F238E27FC236}">
                    <a16:creationId xmlns:a16="http://schemas.microsoft.com/office/drawing/2014/main" id="{A488D735-EB08-792A-E7B7-A1B55C0C98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62" y="911"/>
                <a:ext cx="347" cy="695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98" name="Rectangle 14">
                <a:extLst>
                  <a:ext uri="{FF2B5EF4-FFF2-40B4-BE49-F238E27FC236}">
                    <a16:creationId xmlns:a16="http://schemas.microsoft.com/office/drawing/2014/main" id="{03DE0909-0231-25FD-794E-1FB35961F4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7" y="758"/>
                <a:ext cx="237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 defTabSz="7620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r>
                  <a:rPr lang="en-US" altLang="zh-CN" sz="2600" i="1"/>
                  <a:t>A</a:t>
                </a:r>
              </a:p>
            </p:txBody>
          </p:sp>
          <p:sp>
            <p:nvSpPr>
              <p:cNvPr id="36899" name="Line 15">
                <a:extLst>
                  <a:ext uri="{FF2B5EF4-FFF2-40B4-BE49-F238E27FC236}">
                    <a16:creationId xmlns:a16="http://schemas.microsoft.com/office/drawing/2014/main" id="{40BD93E8-883A-D09D-9F31-3D25A2BF5F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9" y="888"/>
                <a:ext cx="0" cy="963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900" name="Line 16">
                <a:extLst>
                  <a:ext uri="{FF2B5EF4-FFF2-40B4-BE49-F238E27FC236}">
                    <a16:creationId xmlns:a16="http://schemas.microsoft.com/office/drawing/2014/main" id="{4CF08CAF-94BA-C6D5-0175-C8D950572E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4" y="1202"/>
                <a:ext cx="0" cy="636"/>
              </a:xfrm>
              <a:prstGeom prst="line">
                <a:avLst/>
              </a:prstGeom>
              <a:noFill/>
              <a:ln w="19050">
                <a:solidFill>
                  <a:srgbClr val="800000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901" name="Line 17">
                <a:extLst>
                  <a:ext uri="{FF2B5EF4-FFF2-40B4-BE49-F238E27FC236}">
                    <a16:creationId xmlns:a16="http://schemas.microsoft.com/office/drawing/2014/main" id="{2FCECB3D-115A-C3D5-49B5-2B033410F5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77" y="1601"/>
                <a:ext cx="0" cy="254"/>
              </a:xfrm>
              <a:prstGeom prst="line">
                <a:avLst/>
              </a:prstGeom>
              <a:noFill/>
              <a:ln w="19050">
                <a:solidFill>
                  <a:srgbClr val="800000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902" name="Text Box 18">
                <a:extLst>
                  <a:ext uri="{FF2B5EF4-FFF2-40B4-BE49-F238E27FC236}">
                    <a16:creationId xmlns:a16="http://schemas.microsoft.com/office/drawing/2014/main" id="{7BB91FD5-C6CF-09F5-1677-AFD4740A1D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3" y="1813"/>
                <a:ext cx="364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r>
                  <a:rPr lang="en-US" altLang="zh-CN" sz="2600" i="1">
                    <a:solidFill>
                      <a:srgbClr val="800000"/>
                    </a:solidFill>
                  </a:rPr>
                  <a:t>x</a:t>
                </a:r>
                <a:r>
                  <a:rPr lang="en-US" altLang="zh-CN" sz="2600" baseline="-25000">
                    <a:solidFill>
                      <a:srgbClr val="800000"/>
                    </a:solidFill>
                  </a:rPr>
                  <a:t>2</a:t>
                </a:r>
              </a:p>
            </p:txBody>
          </p:sp>
          <p:sp>
            <p:nvSpPr>
              <p:cNvPr id="36903" name="Text Box 19">
                <a:extLst>
                  <a:ext uri="{FF2B5EF4-FFF2-40B4-BE49-F238E27FC236}">
                    <a16:creationId xmlns:a16="http://schemas.microsoft.com/office/drawing/2014/main" id="{B15C4C4B-16EB-A5D1-68A6-7D8748BCBB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0" y="1813"/>
                <a:ext cx="364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r>
                  <a:rPr lang="en-US" altLang="zh-CN" sz="2600" i="1">
                    <a:solidFill>
                      <a:srgbClr val="800000"/>
                    </a:solidFill>
                  </a:rPr>
                  <a:t>x</a:t>
                </a:r>
                <a:r>
                  <a:rPr lang="en-US" altLang="zh-CN" sz="2600" baseline="-25000">
                    <a:solidFill>
                      <a:srgbClr val="800000"/>
                    </a:solidFill>
                  </a:rPr>
                  <a:t>1</a:t>
                </a:r>
              </a:p>
            </p:txBody>
          </p:sp>
          <p:sp>
            <p:nvSpPr>
              <p:cNvPr id="36904" name="Text Box 20">
                <a:extLst>
                  <a:ext uri="{FF2B5EF4-FFF2-40B4-BE49-F238E27FC236}">
                    <a16:creationId xmlns:a16="http://schemas.microsoft.com/office/drawing/2014/main" id="{909EAC36-EF00-4CA0-D9C3-734CDB85A7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7" y="1813"/>
                <a:ext cx="338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r>
                  <a:rPr lang="en-US" altLang="zh-CN" sz="2600" i="1"/>
                  <a:t>x</a:t>
                </a:r>
                <a:endParaRPr lang="en-US" altLang="zh-CN" sz="2600"/>
              </a:p>
            </p:txBody>
          </p:sp>
          <p:sp>
            <p:nvSpPr>
              <p:cNvPr id="36905" name="Line 21">
                <a:extLst>
                  <a:ext uri="{FF2B5EF4-FFF2-40B4-BE49-F238E27FC236}">
                    <a16:creationId xmlns:a16="http://schemas.microsoft.com/office/drawing/2014/main" id="{B44EB22E-8DAA-0F8E-7BC6-4E25419C8D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78" y="856"/>
                <a:ext cx="1286" cy="97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6883" name="Freeform 24">
              <a:extLst>
                <a:ext uri="{FF2B5EF4-FFF2-40B4-BE49-F238E27FC236}">
                  <a16:creationId xmlns:a16="http://schemas.microsoft.com/office/drawing/2014/main" id="{52139BD5-7CD1-5605-977A-876DD2EF3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" y="1616"/>
              <a:ext cx="54" cy="181"/>
            </a:xfrm>
            <a:custGeom>
              <a:avLst/>
              <a:gdLst>
                <a:gd name="T0" fmla="*/ 0 w 54"/>
                <a:gd name="T1" fmla="*/ 0 h 181"/>
                <a:gd name="T2" fmla="*/ 46 w 54"/>
                <a:gd name="T3" fmla="*/ 91 h 181"/>
                <a:gd name="T4" fmla="*/ 46 w 54"/>
                <a:gd name="T5" fmla="*/ 181 h 1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" h="181">
                  <a:moveTo>
                    <a:pt x="0" y="0"/>
                  </a:moveTo>
                  <a:cubicBezTo>
                    <a:pt x="19" y="30"/>
                    <a:pt x="38" y="61"/>
                    <a:pt x="46" y="91"/>
                  </a:cubicBezTo>
                  <a:cubicBezTo>
                    <a:pt x="54" y="121"/>
                    <a:pt x="46" y="166"/>
                    <a:pt x="46" y="181"/>
                  </a:cubicBezTo>
                </a:path>
              </a:pathLst>
            </a:custGeom>
            <a:noFill/>
            <a:ln w="19050" cap="flat" cmpd="sng">
              <a:solidFill>
                <a:srgbClr val="800000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6884" name="Object 25">
              <a:extLst>
                <a:ext uri="{FF2B5EF4-FFF2-40B4-BE49-F238E27FC236}">
                  <a16:creationId xmlns:a16="http://schemas.microsoft.com/office/drawing/2014/main" id="{467957CC-749A-A077-8A9B-85B0A29DB6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0" y="1570"/>
            <a:ext cx="28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342812" imgH="304800" progId="Equation.3">
                    <p:embed/>
                  </p:oleObj>
                </mc:Choice>
                <mc:Fallback>
                  <p:oleObj name="公式" r:id="rId4" imgW="342812" imgH="3048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0" y="1570"/>
                          <a:ext cx="28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5" name="Object 26">
              <a:extLst>
                <a:ext uri="{FF2B5EF4-FFF2-40B4-BE49-F238E27FC236}">
                  <a16:creationId xmlns:a16="http://schemas.microsoft.com/office/drawing/2014/main" id="{495588C5-69BB-BA7B-7C9F-F1E2C90914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6" y="1208"/>
            <a:ext cx="304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361876" imgH="304800" progId="Equation.3">
                    <p:embed/>
                  </p:oleObj>
                </mc:Choice>
                <mc:Fallback>
                  <p:oleObj name="公式" r:id="rId6" imgW="361876" imgH="30480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6" y="1208"/>
                          <a:ext cx="304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6" name="Freeform 27">
              <a:extLst>
                <a:ext uri="{FF2B5EF4-FFF2-40B4-BE49-F238E27FC236}">
                  <a16:creationId xmlns:a16="http://schemas.microsoft.com/office/drawing/2014/main" id="{CDD75F27-9D48-59C3-E80F-A42C79A7B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1570"/>
              <a:ext cx="106" cy="227"/>
            </a:xfrm>
            <a:custGeom>
              <a:avLst/>
              <a:gdLst>
                <a:gd name="T0" fmla="*/ 0 w 106"/>
                <a:gd name="T1" fmla="*/ 0 h 227"/>
                <a:gd name="T2" fmla="*/ 91 w 106"/>
                <a:gd name="T3" fmla="*/ 91 h 227"/>
                <a:gd name="T4" fmla="*/ 91 w 106"/>
                <a:gd name="T5" fmla="*/ 227 h 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6" h="227">
                  <a:moveTo>
                    <a:pt x="0" y="0"/>
                  </a:moveTo>
                  <a:cubicBezTo>
                    <a:pt x="38" y="26"/>
                    <a:pt x="76" y="53"/>
                    <a:pt x="91" y="91"/>
                  </a:cubicBezTo>
                  <a:cubicBezTo>
                    <a:pt x="106" y="129"/>
                    <a:pt x="91" y="204"/>
                    <a:pt x="91" y="227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6887" name="Object 28">
              <a:extLst>
                <a:ext uri="{FF2B5EF4-FFF2-40B4-BE49-F238E27FC236}">
                  <a16:creationId xmlns:a16="http://schemas.microsoft.com/office/drawing/2014/main" id="{74A872BF-50F2-E430-8951-7826ACAE73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62" y="1434"/>
            <a:ext cx="22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37956" imgH="190500" progId="Equation.3">
                    <p:embed/>
                  </p:oleObj>
                </mc:Choice>
                <mc:Fallback>
                  <p:oleObj name="公式" r:id="rId8" imgW="237956" imgH="1905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2" y="1434"/>
                          <a:ext cx="22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8" name="Freeform 29">
              <a:extLst>
                <a:ext uri="{FF2B5EF4-FFF2-40B4-BE49-F238E27FC236}">
                  <a16:creationId xmlns:a16="http://schemas.microsoft.com/office/drawing/2014/main" id="{433E7863-DCAF-F827-53B5-07D3F17CD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1616"/>
              <a:ext cx="136" cy="181"/>
            </a:xfrm>
            <a:custGeom>
              <a:avLst/>
              <a:gdLst>
                <a:gd name="T0" fmla="*/ 0 w 136"/>
                <a:gd name="T1" fmla="*/ 0 h 181"/>
                <a:gd name="T2" fmla="*/ 91 w 136"/>
                <a:gd name="T3" fmla="*/ 91 h 181"/>
                <a:gd name="T4" fmla="*/ 136 w 136"/>
                <a:gd name="T5" fmla="*/ 181 h 1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6" h="181">
                  <a:moveTo>
                    <a:pt x="0" y="0"/>
                  </a:moveTo>
                  <a:cubicBezTo>
                    <a:pt x="34" y="30"/>
                    <a:pt x="68" y="61"/>
                    <a:pt x="91" y="91"/>
                  </a:cubicBezTo>
                  <a:cubicBezTo>
                    <a:pt x="114" y="121"/>
                    <a:pt x="129" y="166"/>
                    <a:pt x="136" y="181"/>
                  </a:cubicBezTo>
                </a:path>
              </a:pathLst>
            </a:custGeom>
            <a:noFill/>
            <a:ln w="19050" cap="flat" cmpd="sng">
              <a:solidFill>
                <a:srgbClr val="800000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4915" name="Group 51">
            <a:extLst>
              <a:ext uri="{FF2B5EF4-FFF2-40B4-BE49-F238E27FC236}">
                <a16:creationId xmlns:a16="http://schemas.microsoft.com/office/drawing/2014/main" id="{320DD243-2BBC-F4F2-53FA-FDCFAE731AE5}"/>
              </a:ext>
            </a:extLst>
          </p:cNvPr>
          <p:cNvGrpSpPr>
            <a:grpSpLocks/>
          </p:cNvGrpSpPr>
          <p:nvPr/>
        </p:nvGrpSpPr>
        <p:grpSpPr bwMode="auto">
          <a:xfrm>
            <a:off x="690563" y="1254125"/>
            <a:ext cx="3881437" cy="519113"/>
            <a:chOff x="435" y="845"/>
            <a:chExt cx="2528" cy="327"/>
          </a:xfrm>
        </p:grpSpPr>
        <p:sp>
          <p:nvSpPr>
            <p:cNvPr id="36880" name="Text Box 31">
              <a:extLst>
                <a:ext uri="{FF2B5EF4-FFF2-40B4-BE49-F238E27FC236}">
                  <a16:creationId xmlns:a16="http://schemas.microsoft.com/office/drawing/2014/main" id="{E8290A70-5391-9BD8-CD90-7C87FA68C7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" y="845"/>
              <a:ext cx="230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/>
                <a:t>t</a:t>
              </a:r>
              <a:r>
                <a:rPr kumimoji="0" lang="en-US" altLang="zh-CN" sz="2800"/>
                <a:t> </a:t>
              </a:r>
              <a:r>
                <a:rPr lang="en-US" altLang="zh-CN" sz="2800"/>
                <a:t>= 0</a:t>
              </a:r>
              <a:r>
                <a:rPr lang="en-US" altLang="zh-CN">
                  <a:solidFill>
                    <a:srgbClr val="000092"/>
                  </a:solidFill>
                </a:rPr>
                <a:t> </a:t>
              </a:r>
              <a:r>
                <a:rPr lang="zh-CN" altLang="en-US" sz="2300">
                  <a:solidFill>
                    <a:srgbClr val="000066"/>
                  </a:solidFill>
                </a:rPr>
                <a:t>时刻的矢量图</a:t>
              </a:r>
              <a:r>
                <a:rPr lang="zh-CN" altLang="en-US">
                  <a:solidFill>
                    <a:srgbClr val="000080"/>
                  </a:solidFill>
                </a:rPr>
                <a:t>             </a:t>
              </a:r>
            </a:p>
          </p:txBody>
        </p:sp>
        <p:sp>
          <p:nvSpPr>
            <p:cNvPr id="36881" name="Line 32">
              <a:extLst>
                <a:ext uri="{FF2B5EF4-FFF2-40B4-BE49-F238E27FC236}">
                  <a16:creationId xmlns:a16="http://schemas.microsoft.com/office/drawing/2014/main" id="{6280D46D-5BB5-87B7-1346-44829946F4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3" y="1026"/>
              <a:ext cx="590" cy="0"/>
            </a:xfrm>
            <a:prstGeom prst="line">
              <a:avLst/>
            </a:prstGeom>
            <a:noFill/>
            <a:ln w="57150">
              <a:solidFill>
                <a:srgbClr val="EB2FD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64903" name="Object 39">
            <a:extLst>
              <a:ext uri="{FF2B5EF4-FFF2-40B4-BE49-F238E27FC236}">
                <a16:creationId xmlns:a16="http://schemas.microsoft.com/office/drawing/2014/main" id="{93C04DC3-CA01-45EF-B955-95C64D43EB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000" y="2492375"/>
          <a:ext cx="487362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791244" imgH="800100" progId="Equation.3">
                  <p:embed/>
                </p:oleObj>
              </mc:Choice>
              <mc:Fallback>
                <p:oleObj name="公式" r:id="rId10" imgW="4791244" imgH="8001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2492375"/>
                        <a:ext cx="4873625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904" name="Object 40">
            <a:extLst>
              <a:ext uri="{FF2B5EF4-FFF2-40B4-BE49-F238E27FC236}">
                <a16:creationId xmlns:a16="http://schemas.microsoft.com/office/drawing/2014/main" id="{805EA627-057A-C3B7-7CFB-0BD7FF07AD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2775" y="1844675"/>
          <a:ext cx="55435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486400" imgH="428625" progId="Equation.3">
                  <p:embed/>
                </p:oleObj>
              </mc:Choice>
              <mc:Fallback>
                <p:oleObj name="公式" r:id="rId12" imgW="5486400" imgH="428625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" y="1844675"/>
                        <a:ext cx="554355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908" name="Text Box 44">
            <a:extLst>
              <a:ext uri="{FF2B5EF4-FFF2-40B4-BE49-F238E27FC236}">
                <a16:creationId xmlns:a16="http://schemas.microsoft.com/office/drawing/2014/main" id="{5F58585A-8D22-F7E8-03B3-370FB2A94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3429000"/>
            <a:ext cx="3124200" cy="466725"/>
          </a:xfrm>
          <a:prstGeom prst="rect">
            <a:avLst/>
          </a:prstGeom>
          <a:noFill/>
          <a:ln w="9525">
            <a:solidFill>
              <a:srgbClr val="FFFFFF">
                <a:alpha val="0"/>
              </a:srgb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3.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相位差 </a:t>
            </a:r>
          </a:p>
        </p:txBody>
      </p:sp>
      <p:graphicFrame>
        <p:nvGraphicFramePr>
          <p:cNvPr id="164909" name="Object 45">
            <a:extLst>
              <a:ext uri="{FF2B5EF4-FFF2-40B4-BE49-F238E27FC236}">
                <a16:creationId xmlns:a16="http://schemas.microsoft.com/office/drawing/2014/main" id="{9EEF64B0-4A65-9C2D-B703-87F3D7FFA6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622800"/>
          <a:ext cx="457993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076671" imgH="304800" progId="Equation.3">
                  <p:embed/>
                </p:oleObj>
              </mc:Choice>
              <mc:Fallback>
                <p:oleObj name="公式" r:id="rId14" imgW="4076671" imgH="3048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622800"/>
                        <a:ext cx="4579937" cy="4429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910" name="Text Box 46">
            <a:extLst>
              <a:ext uri="{FF2B5EF4-FFF2-40B4-BE49-F238E27FC236}">
                <a16:creationId xmlns:a16="http://schemas.microsoft.com/office/drawing/2014/main" id="{77EA72ED-567B-4F7A-0E78-2FBA7358B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5265738"/>
            <a:ext cx="6108700" cy="452437"/>
          </a:xfrm>
          <a:prstGeom prst="rect">
            <a:avLst/>
          </a:prstGeom>
          <a:noFill/>
          <a:ln w="9525">
            <a:solidFill>
              <a:srgbClr val="FFFFFF">
                <a:alpha val="0"/>
              </a:srgb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两同频率谐振动的</a:t>
            </a:r>
            <a:r>
              <a:rPr lang="zh-CN" altLang="en-US" sz="2300">
                <a:latin typeface="华文中宋" panose="02010600040101010101" pitchFamily="2" charset="-122"/>
              </a:rPr>
              <a:t>相位差</a:t>
            </a:r>
            <a:r>
              <a:rPr lang="zh-CN" altLang="en-US" sz="2300">
                <a:solidFill>
                  <a:srgbClr val="000080"/>
                </a:solidFill>
                <a:latin typeface="华文中宋" panose="02010600040101010101" pitchFamily="2" charset="-122"/>
              </a:rPr>
              <a:t>：</a:t>
            </a:r>
            <a:endParaRPr lang="zh-CN" altLang="en-US" sz="2300" baseline="-25000">
              <a:solidFill>
                <a:srgbClr val="000080"/>
              </a:solidFill>
              <a:latin typeface="华文中宋" panose="02010600040101010101" pitchFamily="2" charset="-122"/>
            </a:endParaRPr>
          </a:p>
        </p:txBody>
      </p:sp>
      <p:graphicFrame>
        <p:nvGraphicFramePr>
          <p:cNvPr id="164911" name="Object 47">
            <a:extLst>
              <a:ext uri="{FF2B5EF4-FFF2-40B4-BE49-F238E27FC236}">
                <a16:creationId xmlns:a16="http://schemas.microsoft.com/office/drawing/2014/main" id="{FDA195CA-7DC0-323C-A9E1-B80545BEDF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5289550"/>
          <a:ext cx="266541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743200" imgH="342900" progId="Equation.3">
                  <p:embed/>
                </p:oleObj>
              </mc:Choice>
              <mc:Fallback>
                <p:oleObj name="公式" r:id="rId16" imgW="2743200" imgH="34290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5289550"/>
                        <a:ext cx="2665412" cy="4413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912" name="Object 48">
            <a:extLst>
              <a:ext uri="{FF2B5EF4-FFF2-40B4-BE49-F238E27FC236}">
                <a16:creationId xmlns:a16="http://schemas.microsoft.com/office/drawing/2014/main" id="{BE425F94-7402-2E80-BAE7-885608B53C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9650" y="3954463"/>
          <a:ext cx="35623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295724" imgH="304800" progId="Equation.3">
                  <p:embed/>
                </p:oleObj>
              </mc:Choice>
              <mc:Fallback>
                <p:oleObj name="公式" r:id="rId18" imgW="3295724" imgH="3048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9650" y="3954463"/>
                        <a:ext cx="3562350" cy="4429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913" name="Object 49">
            <a:extLst>
              <a:ext uri="{FF2B5EF4-FFF2-40B4-BE49-F238E27FC236}">
                <a16:creationId xmlns:a16="http://schemas.microsoft.com/office/drawing/2014/main" id="{A68BF4D0-DAC0-637B-E1DF-4AD20CD83B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18063" y="3973513"/>
          <a:ext cx="349885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228997" imgH="304800" progId="Equation.3">
                  <p:embed/>
                </p:oleObj>
              </mc:Choice>
              <mc:Fallback>
                <p:oleObj name="公式" r:id="rId20" imgW="3228997" imgH="3048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063" y="3973513"/>
                        <a:ext cx="3498850" cy="4302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914" name="Object 50">
            <a:extLst>
              <a:ext uri="{FF2B5EF4-FFF2-40B4-BE49-F238E27FC236}">
                <a16:creationId xmlns:a16="http://schemas.microsoft.com/office/drawing/2014/main" id="{308661AF-29F4-E74E-2ED8-8C7CE19394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4614863"/>
          <a:ext cx="18716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419262" imgH="304800" progId="Equation.3">
                  <p:embed/>
                </p:oleObj>
              </mc:Choice>
              <mc:Fallback>
                <p:oleObj name="公式" r:id="rId22" imgW="1419262" imgH="30480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4614863"/>
                        <a:ext cx="18716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916" name="Text Box 52">
            <a:extLst>
              <a:ext uri="{FF2B5EF4-FFF2-40B4-BE49-F238E27FC236}">
                <a16:creationId xmlns:a16="http://schemas.microsoft.com/office/drawing/2014/main" id="{FFC429C8-B3E0-2014-020A-8D8917FF8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5265738"/>
            <a:ext cx="167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(</a:t>
            </a:r>
            <a:r>
              <a:rPr lang="zh-CN" altLang="en-US"/>
              <a:t>初相差</a:t>
            </a:r>
            <a:r>
              <a:rPr lang="en-US" altLang="zh-CN"/>
              <a:t>)  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64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64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64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4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164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164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64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164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64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0"/>
                                        <p:tgtEl>
                                          <p:spTgt spid="164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64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0"/>
                                        <p:tgtEl>
                                          <p:spTgt spid="164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164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16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86" grpId="0"/>
      <p:bldP spid="164908" grpId="0" animBg="1"/>
      <p:bldP spid="164910" grpId="0" animBg="1"/>
      <p:bldP spid="16491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23" name="Text Box 47">
            <a:extLst>
              <a:ext uri="{FF2B5EF4-FFF2-40B4-BE49-F238E27FC236}">
                <a16:creationId xmlns:a16="http://schemas.microsoft.com/office/drawing/2014/main" id="{D5A5413E-3F51-1B78-AF88-E5B804565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8" y="333375"/>
            <a:ext cx="3744912" cy="466725"/>
          </a:xfrm>
          <a:prstGeom prst="rect">
            <a:avLst/>
          </a:prstGeom>
          <a:noFill/>
          <a:ln w="9525">
            <a:solidFill>
              <a:srgbClr val="FFFFFF">
                <a:alpha val="0"/>
              </a:srgb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4.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同相和反相  </a:t>
            </a:r>
          </a:p>
        </p:txBody>
      </p:sp>
      <p:grpSp>
        <p:nvGrpSpPr>
          <p:cNvPr id="101532" name="Group 156">
            <a:extLst>
              <a:ext uri="{FF2B5EF4-FFF2-40B4-BE49-F238E27FC236}">
                <a16:creationId xmlns:a16="http://schemas.microsoft.com/office/drawing/2014/main" id="{2274167A-CE8C-3E40-5094-6D96F406E9D4}"/>
              </a:ext>
            </a:extLst>
          </p:cNvPr>
          <p:cNvGrpSpPr>
            <a:grpSpLocks/>
          </p:cNvGrpSpPr>
          <p:nvPr/>
        </p:nvGrpSpPr>
        <p:grpSpPr bwMode="auto">
          <a:xfrm>
            <a:off x="5741988" y="260350"/>
            <a:ext cx="3243262" cy="2305050"/>
            <a:chOff x="3617" y="255"/>
            <a:chExt cx="2043" cy="1452"/>
          </a:xfrm>
        </p:grpSpPr>
        <p:sp>
          <p:nvSpPr>
            <p:cNvPr id="37941" name="Rectangle 64">
              <a:extLst>
                <a:ext uri="{FF2B5EF4-FFF2-40B4-BE49-F238E27FC236}">
                  <a16:creationId xmlns:a16="http://schemas.microsoft.com/office/drawing/2014/main" id="{BA11AE72-303C-3C69-F65F-95FF84733B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433" y="1026"/>
              <a:ext cx="227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600" i="1">
                  <a:solidFill>
                    <a:schemeClr val="tx1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37942" name="Rectangle 65">
              <a:extLst>
                <a:ext uri="{FF2B5EF4-FFF2-40B4-BE49-F238E27FC236}">
                  <a16:creationId xmlns:a16="http://schemas.microsoft.com/office/drawing/2014/main" id="{3E9E1527-6F1B-4413-DEE8-0D0DE883D7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17" y="255"/>
              <a:ext cx="209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600" i="1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37943" name="Rectangle 66">
              <a:extLst>
                <a:ext uri="{FF2B5EF4-FFF2-40B4-BE49-F238E27FC236}">
                  <a16:creationId xmlns:a16="http://schemas.microsoft.com/office/drawing/2014/main" id="{CDE6342B-35B7-969A-3024-1828E32494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21" y="932"/>
              <a:ext cx="22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3200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37944" name="Freeform 67">
              <a:extLst>
                <a:ext uri="{FF2B5EF4-FFF2-40B4-BE49-F238E27FC236}">
                  <a16:creationId xmlns:a16="http://schemas.microsoft.com/office/drawing/2014/main" id="{671DD0B2-DF85-02AE-263C-849F02D1C28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00" y="920"/>
              <a:ext cx="747" cy="17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086"/>
                  </a:moveTo>
                  <a:lnTo>
                    <a:pt x="225" y="18477"/>
                  </a:lnTo>
                  <a:lnTo>
                    <a:pt x="437" y="17868"/>
                  </a:lnTo>
                  <a:lnTo>
                    <a:pt x="662" y="17259"/>
                  </a:lnTo>
                  <a:lnTo>
                    <a:pt x="887" y="16684"/>
                  </a:lnTo>
                  <a:lnTo>
                    <a:pt x="1099" y="16074"/>
                  </a:lnTo>
                  <a:lnTo>
                    <a:pt x="1325" y="15465"/>
                  </a:lnTo>
                  <a:lnTo>
                    <a:pt x="1550" y="14890"/>
                  </a:lnTo>
                  <a:lnTo>
                    <a:pt x="1762" y="14281"/>
                  </a:lnTo>
                  <a:lnTo>
                    <a:pt x="1987" y="13706"/>
                  </a:lnTo>
                  <a:lnTo>
                    <a:pt x="2225" y="13164"/>
                  </a:lnTo>
                  <a:lnTo>
                    <a:pt x="2450" y="12589"/>
                  </a:lnTo>
                  <a:lnTo>
                    <a:pt x="2675" y="12014"/>
                  </a:lnTo>
                  <a:lnTo>
                    <a:pt x="2887" y="11472"/>
                  </a:lnTo>
                  <a:lnTo>
                    <a:pt x="3113" y="10863"/>
                  </a:lnTo>
                  <a:lnTo>
                    <a:pt x="3338" y="10355"/>
                  </a:lnTo>
                  <a:lnTo>
                    <a:pt x="3550" y="9780"/>
                  </a:lnTo>
                  <a:lnTo>
                    <a:pt x="3775" y="9272"/>
                  </a:lnTo>
                  <a:lnTo>
                    <a:pt x="4000" y="8731"/>
                  </a:lnTo>
                  <a:lnTo>
                    <a:pt x="4225" y="8223"/>
                  </a:lnTo>
                  <a:lnTo>
                    <a:pt x="4437" y="7716"/>
                  </a:lnTo>
                  <a:lnTo>
                    <a:pt x="4662" y="7242"/>
                  </a:lnTo>
                  <a:lnTo>
                    <a:pt x="4887" y="6802"/>
                  </a:lnTo>
                  <a:lnTo>
                    <a:pt x="5113" y="6328"/>
                  </a:lnTo>
                  <a:lnTo>
                    <a:pt x="5338" y="5888"/>
                  </a:lnTo>
                  <a:lnTo>
                    <a:pt x="5550" y="5415"/>
                  </a:lnTo>
                  <a:lnTo>
                    <a:pt x="5762" y="4975"/>
                  </a:lnTo>
                  <a:lnTo>
                    <a:pt x="5974" y="4569"/>
                  </a:lnTo>
                  <a:lnTo>
                    <a:pt x="6199" y="4162"/>
                  </a:lnTo>
                  <a:lnTo>
                    <a:pt x="6424" y="3756"/>
                  </a:lnTo>
                  <a:lnTo>
                    <a:pt x="6636" y="3418"/>
                  </a:lnTo>
                  <a:lnTo>
                    <a:pt x="6861" y="3046"/>
                  </a:lnTo>
                  <a:lnTo>
                    <a:pt x="7086" y="2707"/>
                  </a:lnTo>
                  <a:lnTo>
                    <a:pt x="7285" y="2437"/>
                  </a:lnTo>
                  <a:lnTo>
                    <a:pt x="7510" y="2098"/>
                  </a:lnTo>
                  <a:lnTo>
                    <a:pt x="7735" y="1794"/>
                  </a:lnTo>
                  <a:lnTo>
                    <a:pt x="7960" y="1591"/>
                  </a:lnTo>
                  <a:lnTo>
                    <a:pt x="8159" y="1320"/>
                  </a:lnTo>
                  <a:lnTo>
                    <a:pt x="8371" y="1083"/>
                  </a:lnTo>
                  <a:lnTo>
                    <a:pt x="8583" y="846"/>
                  </a:lnTo>
                  <a:lnTo>
                    <a:pt x="8808" y="677"/>
                  </a:lnTo>
                  <a:lnTo>
                    <a:pt x="9020" y="508"/>
                  </a:lnTo>
                  <a:lnTo>
                    <a:pt x="9232" y="372"/>
                  </a:lnTo>
                  <a:lnTo>
                    <a:pt x="9444" y="271"/>
                  </a:lnTo>
                  <a:lnTo>
                    <a:pt x="9642" y="135"/>
                  </a:lnTo>
                  <a:lnTo>
                    <a:pt x="9854" y="102"/>
                  </a:lnTo>
                  <a:lnTo>
                    <a:pt x="10079" y="34"/>
                  </a:lnTo>
                  <a:lnTo>
                    <a:pt x="10291" y="0"/>
                  </a:lnTo>
                  <a:lnTo>
                    <a:pt x="10503" y="34"/>
                  </a:lnTo>
                  <a:lnTo>
                    <a:pt x="10702" y="34"/>
                  </a:lnTo>
                  <a:lnTo>
                    <a:pt x="10914" y="102"/>
                  </a:lnTo>
                  <a:lnTo>
                    <a:pt x="11126" y="203"/>
                  </a:lnTo>
                  <a:lnTo>
                    <a:pt x="11338" y="305"/>
                  </a:lnTo>
                  <a:lnTo>
                    <a:pt x="11563" y="541"/>
                  </a:lnTo>
                  <a:lnTo>
                    <a:pt x="11788" y="745"/>
                  </a:lnTo>
                  <a:lnTo>
                    <a:pt x="12000" y="981"/>
                  </a:lnTo>
                  <a:lnTo>
                    <a:pt x="12225" y="1252"/>
                  </a:lnTo>
                  <a:lnTo>
                    <a:pt x="12450" y="1591"/>
                  </a:lnTo>
                  <a:lnTo>
                    <a:pt x="12689" y="1895"/>
                  </a:lnTo>
                  <a:lnTo>
                    <a:pt x="12914" y="2267"/>
                  </a:lnTo>
                  <a:lnTo>
                    <a:pt x="13152" y="2707"/>
                  </a:lnTo>
                  <a:lnTo>
                    <a:pt x="13377" y="3080"/>
                  </a:lnTo>
                  <a:lnTo>
                    <a:pt x="13616" y="3519"/>
                  </a:lnTo>
                  <a:lnTo>
                    <a:pt x="13841" y="3959"/>
                  </a:lnTo>
                  <a:lnTo>
                    <a:pt x="14066" y="4433"/>
                  </a:lnTo>
                  <a:lnTo>
                    <a:pt x="14291" y="4941"/>
                  </a:lnTo>
                  <a:lnTo>
                    <a:pt x="14530" y="5448"/>
                  </a:lnTo>
                  <a:lnTo>
                    <a:pt x="14755" y="5990"/>
                  </a:lnTo>
                  <a:lnTo>
                    <a:pt x="14993" y="6497"/>
                  </a:lnTo>
                  <a:lnTo>
                    <a:pt x="15219" y="7039"/>
                  </a:lnTo>
                  <a:lnTo>
                    <a:pt x="15444" y="7614"/>
                  </a:lnTo>
                  <a:lnTo>
                    <a:pt x="15682" y="8190"/>
                  </a:lnTo>
                  <a:lnTo>
                    <a:pt x="15894" y="8765"/>
                  </a:lnTo>
                  <a:lnTo>
                    <a:pt x="16106" y="9340"/>
                  </a:lnTo>
                  <a:lnTo>
                    <a:pt x="16318" y="9915"/>
                  </a:lnTo>
                  <a:lnTo>
                    <a:pt x="16530" y="10457"/>
                  </a:lnTo>
                  <a:lnTo>
                    <a:pt x="16742" y="11032"/>
                  </a:lnTo>
                  <a:lnTo>
                    <a:pt x="16954" y="11641"/>
                  </a:lnTo>
                  <a:lnTo>
                    <a:pt x="17152" y="12183"/>
                  </a:lnTo>
                  <a:lnTo>
                    <a:pt x="17351" y="12724"/>
                  </a:lnTo>
                  <a:lnTo>
                    <a:pt x="17550" y="13299"/>
                  </a:lnTo>
                  <a:lnTo>
                    <a:pt x="17735" y="13841"/>
                  </a:lnTo>
                  <a:lnTo>
                    <a:pt x="17934" y="14382"/>
                  </a:lnTo>
                  <a:lnTo>
                    <a:pt x="18119" y="14924"/>
                  </a:lnTo>
                  <a:lnTo>
                    <a:pt x="18291" y="15431"/>
                  </a:lnTo>
                  <a:lnTo>
                    <a:pt x="18464" y="15905"/>
                  </a:lnTo>
                  <a:lnTo>
                    <a:pt x="18636" y="16413"/>
                  </a:lnTo>
                  <a:lnTo>
                    <a:pt x="18795" y="16853"/>
                  </a:lnTo>
                  <a:lnTo>
                    <a:pt x="18954" y="17327"/>
                  </a:lnTo>
                  <a:lnTo>
                    <a:pt x="19099" y="17733"/>
                  </a:lnTo>
                  <a:lnTo>
                    <a:pt x="19258" y="18139"/>
                  </a:lnTo>
                  <a:lnTo>
                    <a:pt x="19391" y="18511"/>
                  </a:lnTo>
                  <a:lnTo>
                    <a:pt x="19523" y="18883"/>
                  </a:lnTo>
                  <a:lnTo>
                    <a:pt x="19642" y="19188"/>
                  </a:lnTo>
                  <a:lnTo>
                    <a:pt x="19775" y="19459"/>
                  </a:lnTo>
                  <a:lnTo>
                    <a:pt x="19881" y="19763"/>
                  </a:lnTo>
                  <a:lnTo>
                    <a:pt x="19987" y="19966"/>
                  </a:ln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5" name="Freeform 68">
              <a:extLst>
                <a:ext uri="{FF2B5EF4-FFF2-40B4-BE49-F238E27FC236}">
                  <a16:creationId xmlns:a16="http://schemas.microsoft.com/office/drawing/2014/main" id="{2BB4E851-9711-9800-F7F9-D71B58E1665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540" y="1092"/>
              <a:ext cx="757" cy="15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99" y="630"/>
                  </a:lnTo>
                  <a:lnTo>
                    <a:pt x="399" y="1261"/>
                  </a:lnTo>
                  <a:lnTo>
                    <a:pt x="598" y="1856"/>
                  </a:lnTo>
                  <a:lnTo>
                    <a:pt x="798" y="2487"/>
                  </a:lnTo>
                  <a:lnTo>
                    <a:pt x="984" y="3152"/>
                  </a:lnTo>
                  <a:lnTo>
                    <a:pt x="1184" y="3748"/>
                  </a:lnTo>
                  <a:lnTo>
                    <a:pt x="1383" y="4343"/>
                  </a:lnTo>
                  <a:lnTo>
                    <a:pt x="1583" y="4939"/>
                  </a:lnTo>
                  <a:lnTo>
                    <a:pt x="1782" y="5569"/>
                  </a:lnTo>
                  <a:lnTo>
                    <a:pt x="1981" y="6165"/>
                  </a:lnTo>
                  <a:lnTo>
                    <a:pt x="2181" y="6725"/>
                  </a:lnTo>
                  <a:lnTo>
                    <a:pt x="2380" y="7285"/>
                  </a:lnTo>
                  <a:lnTo>
                    <a:pt x="2567" y="7881"/>
                  </a:lnTo>
                  <a:lnTo>
                    <a:pt x="2766" y="8476"/>
                  </a:lnTo>
                  <a:lnTo>
                    <a:pt x="2966" y="9037"/>
                  </a:lnTo>
                  <a:lnTo>
                    <a:pt x="3165" y="9597"/>
                  </a:lnTo>
                  <a:lnTo>
                    <a:pt x="3364" y="10123"/>
                  </a:lnTo>
                  <a:lnTo>
                    <a:pt x="3564" y="10648"/>
                  </a:lnTo>
                  <a:lnTo>
                    <a:pt x="3763" y="11208"/>
                  </a:lnTo>
                  <a:lnTo>
                    <a:pt x="3963" y="11734"/>
                  </a:lnTo>
                  <a:lnTo>
                    <a:pt x="4162" y="12224"/>
                  </a:lnTo>
                  <a:lnTo>
                    <a:pt x="4361" y="12715"/>
                  </a:lnTo>
                  <a:lnTo>
                    <a:pt x="4573" y="13170"/>
                  </a:lnTo>
                  <a:lnTo>
                    <a:pt x="4785" y="13660"/>
                  </a:lnTo>
                  <a:lnTo>
                    <a:pt x="4972" y="14116"/>
                  </a:lnTo>
                  <a:lnTo>
                    <a:pt x="5171" y="14571"/>
                  </a:lnTo>
                  <a:lnTo>
                    <a:pt x="5371" y="15026"/>
                  </a:lnTo>
                  <a:lnTo>
                    <a:pt x="5570" y="15412"/>
                  </a:lnTo>
                  <a:lnTo>
                    <a:pt x="5782" y="15832"/>
                  </a:lnTo>
                  <a:lnTo>
                    <a:pt x="5981" y="16182"/>
                  </a:lnTo>
                  <a:lnTo>
                    <a:pt x="6181" y="16602"/>
                  </a:lnTo>
                  <a:lnTo>
                    <a:pt x="6380" y="16953"/>
                  </a:lnTo>
                  <a:lnTo>
                    <a:pt x="6579" y="17268"/>
                  </a:lnTo>
                  <a:lnTo>
                    <a:pt x="6791" y="17618"/>
                  </a:lnTo>
                  <a:lnTo>
                    <a:pt x="6991" y="17933"/>
                  </a:lnTo>
                  <a:lnTo>
                    <a:pt x="7202" y="18179"/>
                  </a:lnTo>
                  <a:lnTo>
                    <a:pt x="7402" y="18459"/>
                  </a:lnTo>
                  <a:lnTo>
                    <a:pt x="7614" y="18739"/>
                  </a:lnTo>
                  <a:lnTo>
                    <a:pt x="7813" y="18949"/>
                  </a:lnTo>
                  <a:lnTo>
                    <a:pt x="8025" y="19159"/>
                  </a:lnTo>
                  <a:lnTo>
                    <a:pt x="8237" y="19335"/>
                  </a:lnTo>
                  <a:lnTo>
                    <a:pt x="8436" y="19475"/>
                  </a:lnTo>
                  <a:lnTo>
                    <a:pt x="8648" y="19650"/>
                  </a:lnTo>
                  <a:lnTo>
                    <a:pt x="8860" y="19755"/>
                  </a:lnTo>
                  <a:lnTo>
                    <a:pt x="9059" y="19860"/>
                  </a:lnTo>
                  <a:lnTo>
                    <a:pt x="9271" y="19895"/>
                  </a:lnTo>
                  <a:lnTo>
                    <a:pt x="9483" y="19965"/>
                  </a:lnTo>
                  <a:lnTo>
                    <a:pt x="9695" y="19965"/>
                  </a:lnTo>
                  <a:lnTo>
                    <a:pt x="9907" y="19965"/>
                  </a:lnTo>
                  <a:lnTo>
                    <a:pt x="10118" y="19930"/>
                  </a:lnTo>
                  <a:lnTo>
                    <a:pt x="10330" y="19825"/>
                  </a:lnTo>
                  <a:lnTo>
                    <a:pt x="10555" y="19720"/>
                  </a:lnTo>
                  <a:lnTo>
                    <a:pt x="10791" y="19545"/>
                  </a:lnTo>
                  <a:lnTo>
                    <a:pt x="11016" y="19335"/>
                  </a:lnTo>
                  <a:lnTo>
                    <a:pt x="11240" y="19124"/>
                  </a:lnTo>
                  <a:lnTo>
                    <a:pt x="11477" y="18844"/>
                  </a:lnTo>
                  <a:lnTo>
                    <a:pt x="11713" y="18564"/>
                  </a:lnTo>
                  <a:lnTo>
                    <a:pt x="11963" y="18249"/>
                  </a:lnTo>
                  <a:lnTo>
                    <a:pt x="12212" y="17898"/>
                  </a:lnTo>
                  <a:lnTo>
                    <a:pt x="12461" y="17513"/>
                  </a:lnTo>
                  <a:lnTo>
                    <a:pt x="12710" y="17128"/>
                  </a:lnTo>
                  <a:lnTo>
                    <a:pt x="12960" y="16743"/>
                  </a:lnTo>
                  <a:lnTo>
                    <a:pt x="13196" y="16252"/>
                  </a:lnTo>
                  <a:lnTo>
                    <a:pt x="13445" y="15797"/>
                  </a:lnTo>
                  <a:lnTo>
                    <a:pt x="13707" y="15342"/>
                  </a:lnTo>
                  <a:lnTo>
                    <a:pt x="13956" y="14851"/>
                  </a:lnTo>
                  <a:lnTo>
                    <a:pt x="14206" y="14361"/>
                  </a:lnTo>
                  <a:lnTo>
                    <a:pt x="14442" y="13800"/>
                  </a:lnTo>
                  <a:lnTo>
                    <a:pt x="14692" y="13310"/>
                  </a:lnTo>
                  <a:lnTo>
                    <a:pt x="14953" y="12750"/>
                  </a:lnTo>
                  <a:lnTo>
                    <a:pt x="15202" y="12224"/>
                  </a:lnTo>
                  <a:lnTo>
                    <a:pt x="15452" y="11629"/>
                  </a:lnTo>
                  <a:lnTo>
                    <a:pt x="15688" y="11103"/>
                  </a:lnTo>
                  <a:lnTo>
                    <a:pt x="15925" y="10578"/>
                  </a:lnTo>
                  <a:lnTo>
                    <a:pt x="16150" y="10053"/>
                  </a:lnTo>
                  <a:lnTo>
                    <a:pt x="16386" y="9457"/>
                  </a:lnTo>
                  <a:lnTo>
                    <a:pt x="16611" y="8897"/>
                  </a:lnTo>
                  <a:lnTo>
                    <a:pt x="16847" y="8371"/>
                  </a:lnTo>
                  <a:lnTo>
                    <a:pt x="17072" y="7811"/>
                  </a:lnTo>
                  <a:lnTo>
                    <a:pt x="17283" y="7285"/>
                  </a:lnTo>
                  <a:lnTo>
                    <a:pt x="17495" y="6760"/>
                  </a:lnTo>
                  <a:lnTo>
                    <a:pt x="17720" y="6235"/>
                  </a:lnTo>
                  <a:lnTo>
                    <a:pt x="17919" y="5744"/>
                  </a:lnTo>
                  <a:lnTo>
                    <a:pt x="18118" y="5219"/>
                  </a:lnTo>
                  <a:lnTo>
                    <a:pt x="18305" y="4729"/>
                  </a:lnTo>
                  <a:lnTo>
                    <a:pt x="18492" y="4273"/>
                  </a:lnTo>
                  <a:lnTo>
                    <a:pt x="18679" y="3853"/>
                  </a:lnTo>
                  <a:lnTo>
                    <a:pt x="18854" y="3398"/>
                  </a:lnTo>
                  <a:lnTo>
                    <a:pt x="19016" y="2977"/>
                  </a:lnTo>
                  <a:lnTo>
                    <a:pt x="19178" y="2627"/>
                  </a:lnTo>
                  <a:lnTo>
                    <a:pt x="19340" y="2277"/>
                  </a:lnTo>
                  <a:lnTo>
                    <a:pt x="19489" y="1891"/>
                  </a:lnTo>
                  <a:lnTo>
                    <a:pt x="19614" y="1646"/>
                  </a:lnTo>
                  <a:lnTo>
                    <a:pt x="19751" y="1331"/>
                  </a:lnTo>
                  <a:lnTo>
                    <a:pt x="19875" y="1051"/>
                  </a:lnTo>
                  <a:lnTo>
                    <a:pt x="19988" y="841"/>
                  </a:ln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6" name="Freeform 69">
              <a:extLst>
                <a:ext uri="{FF2B5EF4-FFF2-40B4-BE49-F238E27FC236}">
                  <a16:creationId xmlns:a16="http://schemas.microsoft.com/office/drawing/2014/main" id="{9B7A0DC2-DB5E-9872-B88A-A87D442C336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07" y="754"/>
              <a:ext cx="748" cy="34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101"/>
                  </a:moveTo>
                  <a:lnTo>
                    <a:pt x="225" y="18502"/>
                  </a:lnTo>
                  <a:lnTo>
                    <a:pt x="437" y="17889"/>
                  </a:lnTo>
                  <a:lnTo>
                    <a:pt x="662" y="17290"/>
                  </a:lnTo>
                  <a:lnTo>
                    <a:pt x="887" y="16662"/>
                  </a:lnTo>
                  <a:lnTo>
                    <a:pt x="1099" y="16077"/>
                  </a:lnTo>
                  <a:lnTo>
                    <a:pt x="1325" y="15492"/>
                  </a:lnTo>
                  <a:lnTo>
                    <a:pt x="1550" y="14893"/>
                  </a:lnTo>
                  <a:lnTo>
                    <a:pt x="1762" y="14308"/>
                  </a:lnTo>
                  <a:lnTo>
                    <a:pt x="1987" y="13738"/>
                  </a:lnTo>
                  <a:lnTo>
                    <a:pt x="2225" y="13153"/>
                  </a:lnTo>
                  <a:lnTo>
                    <a:pt x="2450" y="12582"/>
                  </a:lnTo>
                  <a:lnTo>
                    <a:pt x="2675" y="12026"/>
                  </a:lnTo>
                  <a:lnTo>
                    <a:pt x="2887" y="11455"/>
                  </a:lnTo>
                  <a:lnTo>
                    <a:pt x="3113" y="10884"/>
                  </a:lnTo>
                  <a:lnTo>
                    <a:pt x="3338" y="10342"/>
                  </a:lnTo>
                  <a:lnTo>
                    <a:pt x="3550" y="9815"/>
                  </a:lnTo>
                  <a:lnTo>
                    <a:pt x="3775" y="9287"/>
                  </a:lnTo>
                  <a:lnTo>
                    <a:pt x="4000" y="8759"/>
                  </a:lnTo>
                  <a:lnTo>
                    <a:pt x="4225" y="8231"/>
                  </a:lnTo>
                  <a:lnTo>
                    <a:pt x="4437" y="7732"/>
                  </a:lnTo>
                  <a:lnTo>
                    <a:pt x="4662" y="7247"/>
                  </a:lnTo>
                  <a:lnTo>
                    <a:pt x="4887" y="6805"/>
                  </a:lnTo>
                  <a:lnTo>
                    <a:pt x="5113" y="6334"/>
                  </a:lnTo>
                  <a:lnTo>
                    <a:pt x="5338" y="5892"/>
                  </a:lnTo>
                  <a:lnTo>
                    <a:pt x="5550" y="5421"/>
                  </a:lnTo>
                  <a:lnTo>
                    <a:pt x="5762" y="4993"/>
                  </a:lnTo>
                  <a:lnTo>
                    <a:pt x="5974" y="4579"/>
                  </a:lnTo>
                  <a:lnTo>
                    <a:pt x="6199" y="4165"/>
                  </a:lnTo>
                  <a:lnTo>
                    <a:pt x="6424" y="3780"/>
                  </a:lnTo>
                  <a:lnTo>
                    <a:pt x="6636" y="3409"/>
                  </a:lnTo>
                  <a:lnTo>
                    <a:pt x="6861" y="3067"/>
                  </a:lnTo>
                  <a:lnTo>
                    <a:pt x="7086" y="2725"/>
                  </a:lnTo>
                  <a:lnTo>
                    <a:pt x="7285" y="2411"/>
                  </a:lnTo>
                  <a:lnTo>
                    <a:pt x="7510" y="2097"/>
                  </a:lnTo>
                  <a:lnTo>
                    <a:pt x="7735" y="1826"/>
                  </a:lnTo>
                  <a:lnTo>
                    <a:pt x="7960" y="1555"/>
                  </a:lnTo>
                  <a:lnTo>
                    <a:pt x="8159" y="1298"/>
                  </a:lnTo>
                  <a:lnTo>
                    <a:pt x="8371" y="1056"/>
                  </a:lnTo>
                  <a:lnTo>
                    <a:pt x="8583" y="842"/>
                  </a:lnTo>
                  <a:lnTo>
                    <a:pt x="8808" y="670"/>
                  </a:lnTo>
                  <a:lnTo>
                    <a:pt x="9020" y="499"/>
                  </a:lnTo>
                  <a:lnTo>
                    <a:pt x="9232" y="385"/>
                  </a:lnTo>
                  <a:lnTo>
                    <a:pt x="9444" y="243"/>
                  </a:lnTo>
                  <a:lnTo>
                    <a:pt x="9642" y="128"/>
                  </a:lnTo>
                  <a:lnTo>
                    <a:pt x="9854" y="86"/>
                  </a:lnTo>
                  <a:lnTo>
                    <a:pt x="10079" y="14"/>
                  </a:lnTo>
                  <a:lnTo>
                    <a:pt x="10291" y="0"/>
                  </a:lnTo>
                  <a:lnTo>
                    <a:pt x="10503" y="14"/>
                  </a:lnTo>
                  <a:lnTo>
                    <a:pt x="10702" y="14"/>
                  </a:lnTo>
                  <a:lnTo>
                    <a:pt x="10914" y="86"/>
                  </a:lnTo>
                  <a:lnTo>
                    <a:pt x="11126" y="214"/>
                  </a:lnTo>
                  <a:lnTo>
                    <a:pt x="11338" y="328"/>
                  </a:lnTo>
                  <a:lnTo>
                    <a:pt x="11563" y="514"/>
                  </a:lnTo>
                  <a:lnTo>
                    <a:pt x="11788" y="756"/>
                  </a:lnTo>
                  <a:lnTo>
                    <a:pt x="12000" y="984"/>
                  </a:lnTo>
                  <a:lnTo>
                    <a:pt x="12225" y="1255"/>
                  </a:lnTo>
                  <a:lnTo>
                    <a:pt x="12450" y="1555"/>
                  </a:lnTo>
                  <a:lnTo>
                    <a:pt x="12689" y="1912"/>
                  </a:lnTo>
                  <a:lnTo>
                    <a:pt x="12914" y="2268"/>
                  </a:lnTo>
                  <a:lnTo>
                    <a:pt x="13152" y="2696"/>
                  </a:lnTo>
                  <a:lnTo>
                    <a:pt x="13377" y="3096"/>
                  </a:lnTo>
                  <a:lnTo>
                    <a:pt x="13616" y="3524"/>
                  </a:lnTo>
                  <a:lnTo>
                    <a:pt x="13841" y="3980"/>
                  </a:lnTo>
                  <a:lnTo>
                    <a:pt x="14066" y="4451"/>
                  </a:lnTo>
                  <a:lnTo>
                    <a:pt x="14291" y="4936"/>
                  </a:lnTo>
                  <a:lnTo>
                    <a:pt x="14530" y="5464"/>
                  </a:lnTo>
                  <a:lnTo>
                    <a:pt x="14755" y="6006"/>
                  </a:lnTo>
                  <a:lnTo>
                    <a:pt x="14993" y="6519"/>
                  </a:lnTo>
                  <a:lnTo>
                    <a:pt x="15219" y="7061"/>
                  </a:lnTo>
                  <a:lnTo>
                    <a:pt x="15444" y="7632"/>
                  </a:lnTo>
                  <a:lnTo>
                    <a:pt x="15682" y="8188"/>
                  </a:lnTo>
                  <a:lnTo>
                    <a:pt x="15894" y="8773"/>
                  </a:lnTo>
                  <a:lnTo>
                    <a:pt x="16106" y="9358"/>
                  </a:lnTo>
                  <a:lnTo>
                    <a:pt x="16318" y="9914"/>
                  </a:lnTo>
                  <a:lnTo>
                    <a:pt x="16530" y="10471"/>
                  </a:lnTo>
                  <a:lnTo>
                    <a:pt x="16742" y="11041"/>
                  </a:lnTo>
                  <a:lnTo>
                    <a:pt x="16954" y="11626"/>
                  </a:lnTo>
                  <a:lnTo>
                    <a:pt x="17152" y="12183"/>
                  </a:lnTo>
                  <a:lnTo>
                    <a:pt x="17351" y="12753"/>
                  </a:lnTo>
                  <a:lnTo>
                    <a:pt x="17550" y="13295"/>
                  </a:lnTo>
                  <a:lnTo>
                    <a:pt x="17735" y="13852"/>
                  </a:lnTo>
                  <a:lnTo>
                    <a:pt x="17934" y="14394"/>
                  </a:lnTo>
                  <a:lnTo>
                    <a:pt x="18119" y="14936"/>
                  </a:lnTo>
                  <a:lnTo>
                    <a:pt x="18291" y="15435"/>
                  </a:lnTo>
                  <a:lnTo>
                    <a:pt x="18464" y="15949"/>
                  </a:lnTo>
                  <a:lnTo>
                    <a:pt x="18636" y="16419"/>
                  </a:lnTo>
                  <a:lnTo>
                    <a:pt x="18795" y="16862"/>
                  </a:lnTo>
                  <a:lnTo>
                    <a:pt x="18954" y="17332"/>
                  </a:lnTo>
                  <a:lnTo>
                    <a:pt x="19099" y="17746"/>
                  </a:lnTo>
                  <a:lnTo>
                    <a:pt x="19258" y="18146"/>
                  </a:lnTo>
                  <a:lnTo>
                    <a:pt x="19391" y="18545"/>
                  </a:lnTo>
                  <a:lnTo>
                    <a:pt x="19523" y="18887"/>
                  </a:lnTo>
                  <a:lnTo>
                    <a:pt x="19642" y="19187"/>
                  </a:lnTo>
                  <a:lnTo>
                    <a:pt x="19775" y="19515"/>
                  </a:lnTo>
                  <a:lnTo>
                    <a:pt x="19881" y="19772"/>
                  </a:lnTo>
                  <a:lnTo>
                    <a:pt x="19987" y="19986"/>
                  </a:lnTo>
                </a:path>
              </a:pathLst>
            </a:custGeom>
            <a:noFill/>
            <a:ln w="38100" cmpd="sng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7" name="Freeform 70">
              <a:extLst>
                <a:ext uri="{FF2B5EF4-FFF2-40B4-BE49-F238E27FC236}">
                  <a16:creationId xmlns:a16="http://schemas.microsoft.com/office/drawing/2014/main" id="{710AE140-35A7-7874-8ABB-693923F8B56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547" y="1085"/>
              <a:ext cx="750" cy="30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99" y="620"/>
                  </a:lnTo>
                  <a:lnTo>
                    <a:pt x="399" y="1255"/>
                  </a:lnTo>
                  <a:lnTo>
                    <a:pt x="598" y="1875"/>
                  </a:lnTo>
                  <a:lnTo>
                    <a:pt x="798" y="2524"/>
                  </a:lnTo>
                  <a:lnTo>
                    <a:pt x="984" y="3144"/>
                  </a:lnTo>
                  <a:lnTo>
                    <a:pt x="1184" y="3734"/>
                  </a:lnTo>
                  <a:lnTo>
                    <a:pt x="1383" y="4354"/>
                  </a:lnTo>
                  <a:lnTo>
                    <a:pt x="1583" y="4959"/>
                  </a:lnTo>
                  <a:lnTo>
                    <a:pt x="1782" y="5565"/>
                  </a:lnTo>
                  <a:lnTo>
                    <a:pt x="1981" y="6155"/>
                  </a:lnTo>
                  <a:lnTo>
                    <a:pt x="2181" y="6745"/>
                  </a:lnTo>
                  <a:lnTo>
                    <a:pt x="2380" y="7292"/>
                  </a:lnTo>
                  <a:lnTo>
                    <a:pt x="2567" y="7897"/>
                  </a:lnTo>
                  <a:lnTo>
                    <a:pt x="2766" y="8472"/>
                  </a:lnTo>
                  <a:lnTo>
                    <a:pt x="2966" y="9033"/>
                  </a:lnTo>
                  <a:lnTo>
                    <a:pt x="3165" y="9594"/>
                  </a:lnTo>
                  <a:lnTo>
                    <a:pt x="3364" y="10140"/>
                  </a:lnTo>
                  <a:lnTo>
                    <a:pt x="3564" y="10672"/>
                  </a:lnTo>
                  <a:lnTo>
                    <a:pt x="3763" y="11203"/>
                  </a:lnTo>
                  <a:lnTo>
                    <a:pt x="3963" y="11720"/>
                  </a:lnTo>
                  <a:lnTo>
                    <a:pt x="4162" y="12236"/>
                  </a:lnTo>
                  <a:lnTo>
                    <a:pt x="4361" y="12708"/>
                  </a:lnTo>
                  <a:lnTo>
                    <a:pt x="4573" y="13196"/>
                  </a:lnTo>
                  <a:lnTo>
                    <a:pt x="4785" y="13653"/>
                  </a:lnTo>
                  <a:lnTo>
                    <a:pt x="4972" y="14140"/>
                  </a:lnTo>
                  <a:lnTo>
                    <a:pt x="5171" y="14583"/>
                  </a:lnTo>
                  <a:lnTo>
                    <a:pt x="5371" y="15011"/>
                  </a:lnTo>
                  <a:lnTo>
                    <a:pt x="5570" y="15439"/>
                  </a:lnTo>
                  <a:lnTo>
                    <a:pt x="5782" y="15838"/>
                  </a:lnTo>
                  <a:lnTo>
                    <a:pt x="5981" y="16207"/>
                  </a:lnTo>
                  <a:lnTo>
                    <a:pt x="6181" y="16605"/>
                  </a:lnTo>
                  <a:lnTo>
                    <a:pt x="6380" y="16959"/>
                  </a:lnTo>
                  <a:lnTo>
                    <a:pt x="6579" y="17299"/>
                  </a:lnTo>
                  <a:lnTo>
                    <a:pt x="6791" y="17609"/>
                  </a:lnTo>
                  <a:lnTo>
                    <a:pt x="6991" y="17919"/>
                  </a:lnTo>
                  <a:lnTo>
                    <a:pt x="7202" y="18185"/>
                  </a:lnTo>
                  <a:lnTo>
                    <a:pt x="7402" y="18480"/>
                  </a:lnTo>
                  <a:lnTo>
                    <a:pt x="7614" y="18731"/>
                  </a:lnTo>
                  <a:lnTo>
                    <a:pt x="7813" y="18952"/>
                  </a:lnTo>
                  <a:lnTo>
                    <a:pt x="8025" y="19159"/>
                  </a:lnTo>
                  <a:lnTo>
                    <a:pt x="8237" y="19336"/>
                  </a:lnTo>
                  <a:lnTo>
                    <a:pt x="8436" y="19483"/>
                  </a:lnTo>
                  <a:lnTo>
                    <a:pt x="8648" y="19646"/>
                  </a:lnTo>
                  <a:lnTo>
                    <a:pt x="8860" y="19764"/>
                  </a:lnTo>
                  <a:lnTo>
                    <a:pt x="9059" y="19867"/>
                  </a:lnTo>
                  <a:lnTo>
                    <a:pt x="9271" y="19911"/>
                  </a:lnTo>
                  <a:lnTo>
                    <a:pt x="9483" y="19956"/>
                  </a:lnTo>
                  <a:lnTo>
                    <a:pt x="9695" y="19956"/>
                  </a:lnTo>
                  <a:lnTo>
                    <a:pt x="9907" y="19985"/>
                  </a:lnTo>
                  <a:lnTo>
                    <a:pt x="10118" y="19941"/>
                  </a:lnTo>
                  <a:lnTo>
                    <a:pt x="10330" y="19823"/>
                  </a:lnTo>
                  <a:lnTo>
                    <a:pt x="10555" y="19720"/>
                  </a:lnTo>
                  <a:lnTo>
                    <a:pt x="10791" y="19557"/>
                  </a:lnTo>
                  <a:lnTo>
                    <a:pt x="11016" y="19336"/>
                  </a:lnTo>
                  <a:lnTo>
                    <a:pt x="11240" y="19129"/>
                  </a:lnTo>
                  <a:lnTo>
                    <a:pt x="11477" y="18849"/>
                  </a:lnTo>
                  <a:lnTo>
                    <a:pt x="11713" y="18554"/>
                  </a:lnTo>
                  <a:lnTo>
                    <a:pt x="11963" y="18244"/>
                  </a:lnTo>
                  <a:lnTo>
                    <a:pt x="12212" y="17904"/>
                  </a:lnTo>
                  <a:lnTo>
                    <a:pt x="12461" y="17520"/>
                  </a:lnTo>
                  <a:lnTo>
                    <a:pt x="12710" y="17137"/>
                  </a:lnTo>
                  <a:lnTo>
                    <a:pt x="12960" y="16738"/>
                  </a:lnTo>
                  <a:lnTo>
                    <a:pt x="13196" y="16280"/>
                  </a:lnTo>
                  <a:lnTo>
                    <a:pt x="13445" y="15823"/>
                  </a:lnTo>
                  <a:lnTo>
                    <a:pt x="13707" y="15351"/>
                  </a:lnTo>
                  <a:lnTo>
                    <a:pt x="13956" y="14834"/>
                  </a:lnTo>
                  <a:lnTo>
                    <a:pt x="14206" y="14362"/>
                  </a:lnTo>
                  <a:lnTo>
                    <a:pt x="14442" y="13830"/>
                  </a:lnTo>
                  <a:lnTo>
                    <a:pt x="14692" y="13314"/>
                  </a:lnTo>
                  <a:lnTo>
                    <a:pt x="14953" y="12768"/>
                  </a:lnTo>
                  <a:lnTo>
                    <a:pt x="15202" y="12236"/>
                  </a:lnTo>
                  <a:lnTo>
                    <a:pt x="15452" y="11661"/>
                  </a:lnTo>
                  <a:lnTo>
                    <a:pt x="15688" y="11114"/>
                  </a:lnTo>
                  <a:lnTo>
                    <a:pt x="15925" y="10583"/>
                  </a:lnTo>
                  <a:lnTo>
                    <a:pt x="16150" y="10037"/>
                  </a:lnTo>
                  <a:lnTo>
                    <a:pt x="16386" y="9461"/>
                  </a:lnTo>
                  <a:lnTo>
                    <a:pt x="16611" y="8900"/>
                  </a:lnTo>
                  <a:lnTo>
                    <a:pt x="16847" y="8369"/>
                  </a:lnTo>
                  <a:lnTo>
                    <a:pt x="17072" y="7823"/>
                  </a:lnTo>
                  <a:lnTo>
                    <a:pt x="17283" y="7292"/>
                  </a:lnTo>
                  <a:lnTo>
                    <a:pt x="17495" y="6760"/>
                  </a:lnTo>
                  <a:lnTo>
                    <a:pt x="17720" y="6244"/>
                  </a:lnTo>
                  <a:lnTo>
                    <a:pt x="17919" y="5727"/>
                  </a:lnTo>
                  <a:lnTo>
                    <a:pt x="18118" y="5210"/>
                  </a:lnTo>
                  <a:lnTo>
                    <a:pt x="18305" y="4738"/>
                  </a:lnTo>
                  <a:lnTo>
                    <a:pt x="18492" y="4295"/>
                  </a:lnTo>
                  <a:lnTo>
                    <a:pt x="18679" y="3852"/>
                  </a:lnTo>
                  <a:lnTo>
                    <a:pt x="18854" y="3395"/>
                  </a:lnTo>
                  <a:lnTo>
                    <a:pt x="19016" y="2982"/>
                  </a:lnTo>
                  <a:lnTo>
                    <a:pt x="19178" y="2613"/>
                  </a:lnTo>
                  <a:lnTo>
                    <a:pt x="19340" y="2244"/>
                  </a:lnTo>
                  <a:lnTo>
                    <a:pt x="19489" y="1904"/>
                  </a:lnTo>
                  <a:lnTo>
                    <a:pt x="19614" y="1609"/>
                  </a:lnTo>
                  <a:lnTo>
                    <a:pt x="19751" y="1314"/>
                  </a:lnTo>
                  <a:lnTo>
                    <a:pt x="19875" y="1048"/>
                  </a:lnTo>
                  <a:lnTo>
                    <a:pt x="19988" y="841"/>
                  </a:lnTo>
                </a:path>
              </a:pathLst>
            </a:custGeom>
            <a:noFill/>
            <a:ln w="38100" cmpd="sng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8" name="Line 71">
              <a:extLst>
                <a:ext uri="{FF2B5EF4-FFF2-40B4-BE49-F238E27FC236}">
                  <a16:creationId xmlns:a16="http://schemas.microsoft.com/office/drawing/2014/main" id="{F8FB7106-6907-4572-70FD-D62DBB19F15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00" y="1089"/>
              <a:ext cx="16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9" name="Line 72">
              <a:extLst>
                <a:ext uri="{FF2B5EF4-FFF2-40B4-BE49-F238E27FC236}">
                  <a16:creationId xmlns:a16="http://schemas.microsoft.com/office/drawing/2014/main" id="{07807329-A04D-1A6A-6FF9-26F4FC6EF3A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87" y="346"/>
              <a:ext cx="1" cy="13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0" name="Rectangle 78">
              <a:extLst>
                <a:ext uri="{FF2B5EF4-FFF2-40B4-BE49-F238E27FC236}">
                  <a16:creationId xmlns:a16="http://schemas.microsoft.com/office/drawing/2014/main" id="{A0A4ACE5-B0CF-0D81-779F-F0E386BB69B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18" y="501"/>
              <a:ext cx="24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600" i="1">
                  <a:solidFill>
                    <a:srgbClr val="008000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sz="2600" baseline="-25000">
                  <a:solidFill>
                    <a:srgbClr val="008000"/>
                  </a:solidFill>
                  <a:ea typeface="宋体" panose="02010600030101010101" pitchFamily="2" charset="-122"/>
                </a:rPr>
                <a:t>1</a:t>
              </a:r>
              <a:endParaRPr lang="en-US" altLang="zh-CN" sz="2600">
                <a:solidFill>
                  <a:srgbClr val="008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7951" name="Rectangle 79">
              <a:extLst>
                <a:ext uri="{FF2B5EF4-FFF2-40B4-BE49-F238E27FC236}">
                  <a16:creationId xmlns:a16="http://schemas.microsoft.com/office/drawing/2014/main" id="{2321D264-2554-1A19-CA70-2DB1B0ABC43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18" y="664"/>
              <a:ext cx="218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600" i="1">
                  <a:solidFill>
                    <a:schemeClr val="accent2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sz="2600" baseline="-25000">
                  <a:solidFill>
                    <a:schemeClr val="accent2"/>
                  </a:solidFill>
                  <a:ea typeface="宋体" panose="02010600030101010101" pitchFamily="2" charset="-122"/>
                </a:rPr>
                <a:t>2</a:t>
              </a:r>
              <a:endParaRPr lang="en-US" altLang="zh-CN" sz="260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01468" name="Rectangle 92">
            <a:extLst>
              <a:ext uri="{FF2B5EF4-FFF2-40B4-BE49-F238E27FC236}">
                <a16:creationId xmlns:a16="http://schemas.microsoft.com/office/drawing/2014/main" id="{93CB9603-EF9A-5764-D8B5-20ACC19B0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828675"/>
            <a:ext cx="1987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80"/>
                </a:solidFill>
              </a:rPr>
              <a:t>(1) </a:t>
            </a:r>
            <a:r>
              <a:rPr lang="zh-CN" altLang="en-US">
                <a:solidFill>
                  <a:srgbClr val="000080"/>
                </a:solidFill>
              </a:rPr>
              <a:t>同相：      </a:t>
            </a:r>
          </a:p>
        </p:txBody>
      </p:sp>
      <p:sp>
        <p:nvSpPr>
          <p:cNvPr id="101469" name="Rectangle 93">
            <a:extLst>
              <a:ext uri="{FF2B5EF4-FFF2-40B4-BE49-F238E27FC236}">
                <a16:creationId xmlns:a16="http://schemas.microsoft.com/office/drawing/2014/main" id="{E431BA89-30DD-DC8E-1F0B-6DAE02A30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420938"/>
            <a:ext cx="6088062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</a:rPr>
              <a:t>两振动步调相同，振动加强，</a:t>
            </a:r>
            <a:r>
              <a:rPr lang="zh-CN" altLang="en-US" sz="2300"/>
              <a:t>同相</a:t>
            </a:r>
            <a:r>
              <a:rPr lang="zh-CN" altLang="en-US" sz="2300">
                <a:solidFill>
                  <a:srgbClr val="000080"/>
                </a:solidFill>
              </a:rPr>
              <a:t>。                 </a:t>
            </a:r>
          </a:p>
        </p:txBody>
      </p:sp>
      <p:grpSp>
        <p:nvGrpSpPr>
          <p:cNvPr id="101482" name="Group 106">
            <a:extLst>
              <a:ext uri="{FF2B5EF4-FFF2-40B4-BE49-F238E27FC236}">
                <a16:creationId xmlns:a16="http://schemas.microsoft.com/office/drawing/2014/main" id="{FBF123F5-B79B-7787-EEB6-3C872B219F48}"/>
              </a:ext>
            </a:extLst>
          </p:cNvPr>
          <p:cNvGrpSpPr>
            <a:grpSpLocks/>
          </p:cNvGrpSpPr>
          <p:nvPr/>
        </p:nvGrpSpPr>
        <p:grpSpPr bwMode="auto">
          <a:xfrm>
            <a:off x="6011863" y="333375"/>
            <a:ext cx="2386012" cy="2016125"/>
            <a:chOff x="3917" y="1616"/>
            <a:chExt cx="1503" cy="1270"/>
          </a:xfrm>
        </p:grpSpPr>
        <p:grpSp>
          <p:nvGrpSpPr>
            <p:cNvPr id="37936" name="Group 101">
              <a:extLst>
                <a:ext uri="{FF2B5EF4-FFF2-40B4-BE49-F238E27FC236}">
                  <a16:creationId xmlns:a16="http://schemas.microsoft.com/office/drawing/2014/main" id="{0410BA5B-FF25-09FD-681E-EB2218DB01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17" y="1888"/>
              <a:ext cx="1503" cy="998"/>
              <a:chOff x="3917" y="1888"/>
              <a:chExt cx="1503" cy="998"/>
            </a:xfrm>
          </p:grpSpPr>
          <p:sp>
            <p:nvSpPr>
              <p:cNvPr id="37939" name="Freeform 96">
                <a:extLst>
                  <a:ext uri="{FF2B5EF4-FFF2-40B4-BE49-F238E27FC236}">
                    <a16:creationId xmlns:a16="http://schemas.microsoft.com/office/drawing/2014/main" id="{97BEE10E-3A96-B8D0-2EE9-D9D198529A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649" y="2387"/>
                <a:ext cx="771" cy="49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199" y="620"/>
                    </a:lnTo>
                    <a:lnTo>
                      <a:pt x="399" y="1255"/>
                    </a:lnTo>
                    <a:lnTo>
                      <a:pt x="598" y="1875"/>
                    </a:lnTo>
                    <a:lnTo>
                      <a:pt x="798" y="2524"/>
                    </a:lnTo>
                    <a:lnTo>
                      <a:pt x="984" y="3144"/>
                    </a:lnTo>
                    <a:lnTo>
                      <a:pt x="1184" y="3734"/>
                    </a:lnTo>
                    <a:lnTo>
                      <a:pt x="1383" y="4354"/>
                    </a:lnTo>
                    <a:lnTo>
                      <a:pt x="1583" y="4959"/>
                    </a:lnTo>
                    <a:lnTo>
                      <a:pt x="1782" y="5565"/>
                    </a:lnTo>
                    <a:lnTo>
                      <a:pt x="1981" y="6155"/>
                    </a:lnTo>
                    <a:lnTo>
                      <a:pt x="2181" y="6745"/>
                    </a:lnTo>
                    <a:lnTo>
                      <a:pt x="2380" y="7292"/>
                    </a:lnTo>
                    <a:lnTo>
                      <a:pt x="2567" y="7897"/>
                    </a:lnTo>
                    <a:lnTo>
                      <a:pt x="2766" y="8472"/>
                    </a:lnTo>
                    <a:lnTo>
                      <a:pt x="2966" y="9033"/>
                    </a:lnTo>
                    <a:lnTo>
                      <a:pt x="3165" y="9594"/>
                    </a:lnTo>
                    <a:lnTo>
                      <a:pt x="3364" y="10140"/>
                    </a:lnTo>
                    <a:lnTo>
                      <a:pt x="3564" y="10672"/>
                    </a:lnTo>
                    <a:lnTo>
                      <a:pt x="3763" y="11203"/>
                    </a:lnTo>
                    <a:lnTo>
                      <a:pt x="3963" y="11720"/>
                    </a:lnTo>
                    <a:lnTo>
                      <a:pt x="4162" y="12236"/>
                    </a:lnTo>
                    <a:lnTo>
                      <a:pt x="4361" y="12708"/>
                    </a:lnTo>
                    <a:lnTo>
                      <a:pt x="4573" y="13196"/>
                    </a:lnTo>
                    <a:lnTo>
                      <a:pt x="4785" y="13653"/>
                    </a:lnTo>
                    <a:lnTo>
                      <a:pt x="4972" y="14140"/>
                    </a:lnTo>
                    <a:lnTo>
                      <a:pt x="5171" y="14583"/>
                    </a:lnTo>
                    <a:lnTo>
                      <a:pt x="5371" y="15011"/>
                    </a:lnTo>
                    <a:lnTo>
                      <a:pt x="5570" y="15439"/>
                    </a:lnTo>
                    <a:lnTo>
                      <a:pt x="5782" y="15838"/>
                    </a:lnTo>
                    <a:lnTo>
                      <a:pt x="5981" y="16207"/>
                    </a:lnTo>
                    <a:lnTo>
                      <a:pt x="6181" y="16605"/>
                    </a:lnTo>
                    <a:lnTo>
                      <a:pt x="6380" y="16959"/>
                    </a:lnTo>
                    <a:lnTo>
                      <a:pt x="6579" y="17299"/>
                    </a:lnTo>
                    <a:lnTo>
                      <a:pt x="6791" y="17609"/>
                    </a:lnTo>
                    <a:lnTo>
                      <a:pt x="6991" y="17919"/>
                    </a:lnTo>
                    <a:lnTo>
                      <a:pt x="7202" y="18185"/>
                    </a:lnTo>
                    <a:lnTo>
                      <a:pt x="7402" y="18480"/>
                    </a:lnTo>
                    <a:lnTo>
                      <a:pt x="7614" y="18731"/>
                    </a:lnTo>
                    <a:lnTo>
                      <a:pt x="7813" y="18952"/>
                    </a:lnTo>
                    <a:lnTo>
                      <a:pt x="8025" y="19159"/>
                    </a:lnTo>
                    <a:lnTo>
                      <a:pt x="8237" y="19336"/>
                    </a:lnTo>
                    <a:lnTo>
                      <a:pt x="8436" y="19483"/>
                    </a:lnTo>
                    <a:lnTo>
                      <a:pt x="8648" y="19646"/>
                    </a:lnTo>
                    <a:lnTo>
                      <a:pt x="8860" y="19764"/>
                    </a:lnTo>
                    <a:lnTo>
                      <a:pt x="9059" y="19867"/>
                    </a:lnTo>
                    <a:lnTo>
                      <a:pt x="9271" y="19911"/>
                    </a:lnTo>
                    <a:lnTo>
                      <a:pt x="9483" y="19956"/>
                    </a:lnTo>
                    <a:lnTo>
                      <a:pt x="9695" y="19956"/>
                    </a:lnTo>
                    <a:lnTo>
                      <a:pt x="9907" y="19985"/>
                    </a:lnTo>
                    <a:lnTo>
                      <a:pt x="10118" y="19941"/>
                    </a:lnTo>
                    <a:lnTo>
                      <a:pt x="10330" y="19823"/>
                    </a:lnTo>
                    <a:lnTo>
                      <a:pt x="10555" y="19720"/>
                    </a:lnTo>
                    <a:lnTo>
                      <a:pt x="10791" y="19557"/>
                    </a:lnTo>
                    <a:lnTo>
                      <a:pt x="11016" y="19336"/>
                    </a:lnTo>
                    <a:lnTo>
                      <a:pt x="11240" y="19129"/>
                    </a:lnTo>
                    <a:lnTo>
                      <a:pt x="11477" y="18849"/>
                    </a:lnTo>
                    <a:lnTo>
                      <a:pt x="11713" y="18554"/>
                    </a:lnTo>
                    <a:lnTo>
                      <a:pt x="11963" y="18244"/>
                    </a:lnTo>
                    <a:lnTo>
                      <a:pt x="12212" y="17904"/>
                    </a:lnTo>
                    <a:lnTo>
                      <a:pt x="12461" y="17520"/>
                    </a:lnTo>
                    <a:lnTo>
                      <a:pt x="12710" y="17137"/>
                    </a:lnTo>
                    <a:lnTo>
                      <a:pt x="12960" y="16738"/>
                    </a:lnTo>
                    <a:lnTo>
                      <a:pt x="13196" y="16280"/>
                    </a:lnTo>
                    <a:lnTo>
                      <a:pt x="13445" y="15823"/>
                    </a:lnTo>
                    <a:lnTo>
                      <a:pt x="13707" y="15351"/>
                    </a:lnTo>
                    <a:lnTo>
                      <a:pt x="13956" y="14834"/>
                    </a:lnTo>
                    <a:lnTo>
                      <a:pt x="14206" y="14362"/>
                    </a:lnTo>
                    <a:lnTo>
                      <a:pt x="14442" y="13830"/>
                    </a:lnTo>
                    <a:lnTo>
                      <a:pt x="14692" y="13314"/>
                    </a:lnTo>
                    <a:lnTo>
                      <a:pt x="14953" y="12768"/>
                    </a:lnTo>
                    <a:lnTo>
                      <a:pt x="15202" y="12236"/>
                    </a:lnTo>
                    <a:lnTo>
                      <a:pt x="15452" y="11661"/>
                    </a:lnTo>
                    <a:lnTo>
                      <a:pt x="15688" y="11114"/>
                    </a:lnTo>
                    <a:lnTo>
                      <a:pt x="15925" y="10583"/>
                    </a:lnTo>
                    <a:lnTo>
                      <a:pt x="16150" y="10037"/>
                    </a:lnTo>
                    <a:lnTo>
                      <a:pt x="16386" y="9461"/>
                    </a:lnTo>
                    <a:lnTo>
                      <a:pt x="16611" y="8900"/>
                    </a:lnTo>
                    <a:lnTo>
                      <a:pt x="16847" y="8369"/>
                    </a:lnTo>
                    <a:lnTo>
                      <a:pt x="17072" y="7823"/>
                    </a:lnTo>
                    <a:lnTo>
                      <a:pt x="17283" y="7292"/>
                    </a:lnTo>
                    <a:lnTo>
                      <a:pt x="17495" y="6760"/>
                    </a:lnTo>
                    <a:lnTo>
                      <a:pt x="17720" y="6244"/>
                    </a:lnTo>
                    <a:lnTo>
                      <a:pt x="17919" y="5727"/>
                    </a:lnTo>
                    <a:lnTo>
                      <a:pt x="18118" y="5210"/>
                    </a:lnTo>
                    <a:lnTo>
                      <a:pt x="18305" y="4738"/>
                    </a:lnTo>
                    <a:lnTo>
                      <a:pt x="18492" y="4295"/>
                    </a:lnTo>
                    <a:lnTo>
                      <a:pt x="18679" y="3852"/>
                    </a:lnTo>
                    <a:lnTo>
                      <a:pt x="18854" y="3395"/>
                    </a:lnTo>
                    <a:lnTo>
                      <a:pt x="19016" y="2982"/>
                    </a:lnTo>
                    <a:lnTo>
                      <a:pt x="19178" y="2613"/>
                    </a:lnTo>
                    <a:lnTo>
                      <a:pt x="19340" y="2244"/>
                    </a:lnTo>
                    <a:lnTo>
                      <a:pt x="19489" y="1904"/>
                    </a:lnTo>
                    <a:lnTo>
                      <a:pt x="19614" y="1609"/>
                    </a:lnTo>
                    <a:lnTo>
                      <a:pt x="19751" y="1314"/>
                    </a:lnTo>
                    <a:lnTo>
                      <a:pt x="19875" y="1048"/>
                    </a:lnTo>
                    <a:lnTo>
                      <a:pt x="19988" y="841"/>
                    </a:lnTo>
                  </a:path>
                </a:pathLst>
              </a:custGeom>
              <a:noFill/>
              <a:ln w="38100" cap="flat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40" name="Freeform 97">
                <a:extLst>
                  <a:ext uri="{FF2B5EF4-FFF2-40B4-BE49-F238E27FC236}">
                    <a16:creationId xmlns:a16="http://schemas.microsoft.com/office/drawing/2014/main" id="{8F9A6488-9C69-DA63-EDFE-2440E011D0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17" y="1888"/>
                <a:ext cx="748" cy="524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101"/>
                    </a:moveTo>
                    <a:lnTo>
                      <a:pt x="225" y="18502"/>
                    </a:lnTo>
                    <a:lnTo>
                      <a:pt x="437" y="17889"/>
                    </a:lnTo>
                    <a:lnTo>
                      <a:pt x="662" y="17290"/>
                    </a:lnTo>
                    <a:lnTo>
                      <a:pt x="887" y="16662"/>
                    </a:lnTo>
                    <a:lnTo>
                      <a:pt x="1099" y="16077"/>
                    </a:lnTo>
                    <a:lnTo>
                      <a:pt x="1325" y="15492"/>
                    </a:lnTo>
                    <a:lnTo>
                      <a:pt x="1550" y="14893"/>
                    </a:lnTo>
                    <a:lnTo>
                      <a:pt x="1762" y="14308"/>
                    </a:lnTo>
                    <a:lnTo>
                      <a:pt x="1987" y="13738"/>
                    </a:lnTo>
                    <a:lnTo>
                      <a:pt x="2225" y="13153"/>
                    </a:lnTo>
                    <a:lnTo>
                      <a:pt x="2450" y="12582"/>
                    </a:lnTo>
                    <a:lnTo>
                      <a:pt x="2675" y="12026"/>
                    </a:lnTo>
                    <a:lnTo>
                      <a:pt x="2887" y="11455"/>
                    </a:lnTo>
                    <a:lnTo>
                      <a:pt x="3113" y="10884"/>
                    </a:lnTo>
                    <a:lnTo>
                      <a:pt x="3338" y="10342"/>
                    </a:lnTo>
                    <a:lnTo>
                      <a:pt x="3550" y="9815"/>
                    </a:lnTo>
                    <a:lnTo>
                      <a:pt x="3775" y="9287"/>
                    </a:lnTo>
                    <a:lnTo>
                      <a:pt x="4000" y="8759"/>
                    </a:lnTo>
                    <a:lnTo>
                      <a:pt x="4225" y="8231"/>
                    </a:lnTo>
                    <a:lnTo>
                      <a:pt x="4437" y="7732"/>
                    </a:lnTo>
                    <a:lnTo>
                      <a:pt x="4662" y="7247"/>
                    </a:lnTo>
                    <a:lnTo>
                      <a:pt x="4887" y="6805"/>
                    </a:lnTo>
                    <a:lnTo>
                      <a:pt x="5113" y="6334"/>
                    </a:lnTo>
                    <a:lnTo>
                      <a:pt x="5338" y="5892"/>
                    </a:lnTo>
                    <a:lnTo>
                      <a:pt x="5550" y="5421"/>
                    </a:lnTo>
                    <a:lnTo>
                      <a:pt x="5762" y="4993"/>
                    </a:lnTo>
                    <a:lnTo>
                      <a:pt x="5974" y="4579"/>
                    </a:lnTo>
                    <a:lnTo>
                      <a:pt x="6199" y="4165"/>
                    </a:lnTo>
                    <a:lnTo>
                      <a:pt x="6424" y="3780"/>
                    </a:lnTo>
                    <a:lnTo>
                      <a:pt x="6636" y="3409"/>
                    </a:lnTo>
                    <a:lnTo>
                      <a:pt x="6861" y="3067"/>
                    </a:lnTo>
                    <a:lnTo>
                      <a:pt x="7086" y="2725"/>
                    </a:lnTo>
                    <a:lnTo>
                      <a:pt x="7285" y="2411"/>
                    </a:lnTo>
                    <a:lnTo>
                      <a:pt x="7510" y="2097"/>
                    </a:lnTo>
                    <a:lnTo>
                      <a:pt x="7735" y="1826"/>
                    </a:lnTo>
                    <a:lnTo>
                      <a:pt x="7960" y="1555"/>
                    </a:lnTo>
                    <a:lnTo>
                      <a:pt x="8159" y="1298"/>
                    </a:lnTo>
                    <a:lnTo>
                      <a:pt x="8371" y="1056"/>
                    </a:lnTo>
                    <a:lnTo>
                      <a:pt x="8583" y="842"/>
                    </a:lnTo>
                    <a:lnTo>
                      <a:pt x="8808" y="670"/>
                    </a:lnTo>
                    <a:lnTo>
                      <a:pt x="9020" y="499"/>
                    </a:lnTo>
                    <a:lnTo>
                      <a:pt x="9232" y="385"/>
                    </a:lnTo>
                    <a:lnTo>
                      <a:pt x="9444" y="243"/>
                    </a:lnTo>
                    <a:lnTo>
                      <a:pt x="9642" y="128"/>
                    </a:lnTo>
                    <a:lnTo>
                      <a:pt x="9854" y="86"/>
                    </a:lnTo>
                    <a:lnTo>
                      <a:pt x="10079" y="14"/>
                    </a:lnTo>
                    <a:lnTo>
                      <a:pt x="10291" y="0"/>
                    </a:lnTo>
                    <a:lnTo>
                      <a:pt x="10503" y="14"/>
                    </a:lnTo>
                    <a:lnTo>
                      <a:pt x="10702" y="14"/>
                    </a:lnTo>
                    <a:lnTo>
                      <a:pt x="10914" y="86"/>
                    </a:lnTo>
                    <a:lnTo>
                      <a:pt x="11126" y="214"/>
                    </a:lnTo>
                    <a:lnTo>
                      <a:pt x="11338" y="328"/>
                    </a:lnTo>
                    <a:lnTo>
                      <a:pt x="11563" y="514"/>
                    </a:lnTo>
                    <a:lnTo>
                      <a:pt x="11788" y="756"/>
                    </a:lnTo>
                    <a:lnTo>
                      <a:pt x="12000" y="984"/>
                    </a:lnTo>
                    <a:lnTo>
                      <a:pt x="12225" y="1255"/>
                    </a:lnTo>
                    <a:lnTo>
                      <a:pt x="12450" y="1555"/>
                    </a:lnTo>
                    <a:lnTo>
                      <a:pt x="12689" y="1912"/>
                    </a:lnTo>
                    <a:lnTo>
                      <a:pt x="12914" y="2268"/>
                    </a:lnTo>
                    <a:lnTo>
                      <a:pt x="13152" y="2696"/>
                    </a:lnTo>
                    <a:lnTo>
                      <a:pt x="13377" y="3096"/>
                    </a:lnTo>
                    <a:lnTo>
                      <a:pt x="13616" y="3524"/>
                    </a:lnTo>
                    <a:lnTo>
                      <a:pt x="13841" y="3980"/>
                    </a:lnTo>
                    <a:lnTo>
                      <a:pt x="14066" y="4451"/>
                    </a:lnTo>
                    <a:lnTo>
                      <a:pt x="14291" y="4936"/>
                    </a:lnTo>
                    <a:lnTo>
                      <a:pt x="14530" y="5464"/>
                    </a:lnTo>
                    <a:lnTo>
                      <a:pt x="14755" y="6006"/>
                    </a:lnTo>
                    <a:lnTo>
                      <a:pt x="14993" y="6519"/>
                    </a:lnTo>
                    <a:lnTo>
                      <a:pt x="15219" y="7061"/>
                    </a:lnTo>
                    <a:lnTo>
                      <a:pt x="15444" y="7632"/>
                    </a:lnTo>
                    <a:lnTo>
                      <a:pt x="15682" y="8188"/>
                    </a:lnTo>
                    <a:lnTo>
                      <a:pt x="15894" y="8773"/>
                    </a:lnTo>
                    <a:lnTo>
                      <a:pt x="16106" y="9358"/>
                    </a:lnTo>
                    <a:lnTo>
                      <a:pt x="16318" y="9914"/>
                    </a:lnTo>
                    <a:lnTo>
                      <a:pt x="16530" y="10471"/>
                    </a:lnTo>
                    <a:lnTo>
                      <a:pt x="16742" y="11041"/>
                    </a:lnTo>
                    <a:lnTo>
                      <a:pt x="16954" y="11626"/>
                    </a:lnTo>
                    <a:lnTo>
                      <a:pt x="17152" y="12183"/>
                    </a:lnTo>
                    <a:lnTo>
                      <a:pt x="17351" y="12753"/>
                    </a:lnTo>
                    <a:lnTo>
                      <a:pt x="17550" y="13295"/>
                    </a:lnTo>
                    <a:lnTo>
                      <a:pt x="17735" y="13852"/>
                    </a:lnTo>
                    <a:lnTo>
                      <a:pt x="17934" y="14394"/>
                    </a:lnTo>
                    <a:lnTo>
                      <a:pt x="18119" y="14936"/>
                    </a:lnTo>
                    <a:lnTo>
                      <a:pt x="18291" y="15435"/>
                    </a:lnTo>
                    <a:lnTo>
                      <a:pt x="18464" y="15949"/>
                    </a:lnTo>
                    <a:lnTo>
                      <a:pt x="18636" y="16419"/>
                    </a:lnTo>
                    <a:lnTo>
                      <a:pt x="18795" y="16862"/>
                    </a:lnTo>
                    <a:lnTo>
                      <a:pt x="18954" y="17332"/>
                    </a:lnTo>
                    <a:lnTo>
                      <a:pt x="19099" y="17746"/>
                    </a:lnTo>
                    <a:lnTo>
                      <a:pt x="19258" y="18146"/>
                    </a:lnTo>
                    <a:lnTo>
                      <a:pt x="19391" y="18545"/>
                    </a:lnTo>
                    <a:lnTo>
                      <a:pt x="19523" y="18887"/>
                    </a:lnTo>
                    <a:lnTo>
                      <a:pt x="19642" y="19187"/>
                    </a:lnTo>
                    <a:lnTo>
                      <a:pt x="19775" y="19515"/>
                    </a:lnTo>
                    <a:lnTo>
                      <a:pt x="19881" y="19772"/>
                    </a:lnTo>
                    <a:lnTo>
                      <a:pt x="19987" y="19986"/>
                    </a:lnTo>
                  </a:path>
                </a:pathLst>
              </a:custGeom>
              <a:noFill/>
              <a:ln w="38100" cap="flat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37" name="Rectangle 98">
              <a:extLst>
                <a:ext uri="{FF2B5EF4-FFF2-40B4-BE49-F238E27FC236}">
                  <a16:creationId xmlns:a16="http://schemas.microsoft.com/office/drawing/2014/main" id="{CF65BB86-996A-5FF5-CE1D-D9D780AB25F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49" y="1870"/>
              <a:ext cx="680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zh-CN" altLang="en-US"/>
                <a:t>同相  </a:t>
              </a:r>
            </a:p>
          </p:txBody>
        </p:sp>
        <p:sp>
          <p:nvSpPr>
            <p:cNvPr id="37938" name="Rectangle 104">
              <a:extLst>
                <a:ext uri="{FF2B5EF4-FFF2-40B4-BE49-F238E27FC236}">
                  <a16:creationId xmlns:a16="http://schemas.microsoft.com/office/drawing/2014/main" id="{A664FDF8-6DE0-C8F1-5C1C-B8E51160CD3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6" y="1616"/>
              <a:ext cx="218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ea typeface="宋体" panose="02010600030101010101" pitchFamily="2" charset="-122"/>
                </a:rPr>
                <a:t>x</a:t>
              </a:r>
              <a:endParaRPr lang="en-US" altLang="zh-CN" sz="2800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01488" name="Object 112">
            <a:extLst>
              <a:ext uri="{FF2B5EF4-FFF2-40B4-BE49-F238E27FC236}">
                <a16:creationId xmlns:a16="http://schemas.microsoft.com/office/drawing/2014/main" id="{7105D031-915A-0F25-89C4-0D9F68F1A2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916113"/>
          <a:ext cx="266382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48050" imgH="342900" progId="Equation.3">
                  <p:embed/>
                </p:oleObj>
              </mc:Choice>
              <mc:Fallback>
                <p:oleObj name="公式" r:id="rId2" imgW="2448050" imgH="342900" progId="Equation.3">
                  <p:embed/>
                  <p:pic>
                    <p:nvPicPr>
                      <p:cNvPr id="0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916113"/>
                        <a:ext cx="2663825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89" name="Object 113">
            <a:extLst>
              <a:ext uri="{FF2B5EF4-FFF2-40B4-BE49-F238E27FC236}">
                <a16:creationId xmlns:a16="http://schemas.microsoft.com/office/drawing/2014/main" id="{FE462A0E-E1D5-7459-C9C7-F8A7466848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9588" y="1412875"/>
          <a:ext cx="3224212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190868" imgH="276225" progId="Equation.3">
                  <p:embed/>
                </p:oleObj>
              </mc:Choice>
              <mc:Fallback>
                <p:oleObj name="公式" r:id="rId4" imgW="3190868" imgH="276225" progId="Equation.3">
                  <p:embed/>
                  <p:pic>
                    <p:nvPicPr>
                      <p:cNvPr id="0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588" y="1412875"/>
                        <a:ext cx="3224212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90" name="Text Box 114">
            <a:extLst>
              <a:ext uri="{FF2B5EF4-FFF2-40B4-BE49-F238E27FC236}">
                <a16:creationId xmlns:a16="http://schemas.microsoft.com/office/drawing/2014/main" id="{D0FA498D-EB55-4AD5-7F6D-5B9E1C26A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1893888"/>
            <a:ext cx="2303462" cy="455612"/>
          </a:xfrm>
          <a:prstGeom prst="rect">
            <a:avLst/>
          </a:prstGeom>
          <a:noFill/>
          <a:ln w="12700">
            <a:solidFill>
              <a:srgbClr val="FFFFFF">
                <a:alpha val="0"/>
              </a:srgbClr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300">
                <a:latin typeface="华文中宋" panose="02010600040101010101" pitchFamily="2" charset="-122"/>
              </a:rPr>
              <a:t>合振幅最大   </a:t>
            </a:r>
          </a:p>
        </p:txBody>
      </p:sp>
      <p:graphicFrame>
        <p:nvGraphicFramePr>
          <p:cNvPr id="101491" name="Object 115">
            <a:extLst>
              <a:ext uri="{FF2B5EF4-FFF2-40B4-BE49-F238E27FC236}">
                <a16:creationId xmlns:a16="http://schemas.microsoft.com/office/drawing/2014/main" id="{70290391-E99F-7DAA-4871-32A240547B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9263" y="835025"/>
          <a:ext cx="3573462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152738" imgH="304800" progId="Equation.3">
                  <p:embed/>
                </p:oleObj>
              </mc:Choice>
              <mc:Fallback>
                <p:oleObj name="公式" r:id="rId6" imgW="3152738" imgH="304800" progId="Equation.3">
                  <p:embed/>
                  <p:pic>
                    <p:nvPicPr>
                      <p:cNvPr id="0" name="Object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263" y="835025"/>
                        <a:ext cx="3573462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1494" name="Group 118">
            <a:extLst>
              <a:ext uri="{FF2B5EF4-FFF2-40B4-BE49-F238E27FC236}">
                <a16:creationId xmlns:a16="http://schemas.microsoft.com/office/drawing/2014/main" id="{A6F66721-D4DC-D968-C557-E67F05F3876C}"/>
              </a:ext>
            </a:extLst>
          </p:cNvPr>
          <p:cNvGrpSpPr>
            <a:grpSpLocks/>
          </p:cNvGrpSpPr>
          <p:nvPr/>
        </p:nvGrpSpPr>
        <p:grpSpPr bwMode="auto">
          <a:xfrm>
            <a:off x="5711825" y="2636838"/>
            <a:ext cx="3108325" cy="1782762"/>
            <a:chOff x="3744" y="2829"/>
            <a:chExt cx="1958" cy="1100"/>
          </a:xfrm>
        </p:grpSpPr>
        <p:sp>
          <p:nvSpPr>
            <p:cNvPr id="37925" name="Rectangle 119">
              <a:extLst>
                <a:ext uri="{FF2B5EF4-FFF2-40B4-BE49-F238E27FC236}">
                  <a16:creationId xmlns:a16="http://schemas.microsoft.com/office/drawing/2014/main" id="{2CA22C04-19A6-519F-6531-7299CFDDB6D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6" y="3625"/>
              <a:ext cx="21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600" i="1">
                  <a:solidFill>
                    <a:srgbClr val="000092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sz="2600" baseline="-25000">
                  <a:solidFill>
                    <a:srgbClr val="000092"/>
                  </a:solidFill>
                  <a:ea typeface="宋体" panose="02010600030101010101" pitchFamily="2" charset="-122"/>
                </a:rPr>
                <a:t>2</a:t>
              </a:r>
              <a:endParaRPr lang="en-US" altLang="zh-CN" sz="2600">
                <a:solidFill>
                  <a:srgbClr val="00009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7926" name="Freeform 120">
              <a:extLst>
                <a:ext uri="{FF2B5EF4-FFF2-40B4-BE49-F238E27FC236}">
                  <a16:creationId xmlns:a16="http://schemas.microsoft.com/office/drawing/2014/main" id="{45D1B946-82B0-DDAB-4C59-E000D4ED580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35" y="3249"/>
              <a:ext cx="747" cy="30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101"/>
                  </a:moveTo>
                  <a:lnTo>
                    <a:pt x="225" y="18502"/>
                  </a:lnTo>
                  <a:lnTo>
                    <a:pt x="437" y="17889"/>
                  </a:lnTo>
                  <a:lnTo>
                    <a:pt x="662" y="17290"/>
                  </a:lnTo>
                  <a:lnTo>
                    <a:pt x="887" y="16662"/>
                  </a:lnTo>
                  <a:lnTo>
                    <a:pt x="1099" y="16077"/>
                  </a:lnTo>
                  <a:lnTo>
                    <a:pt x="1325" y="15492"/>
                  </a:lnTo>
                  <a:lnTo>
                    <a:pt x="1550" y="14893"/>
                  </a:lnTo>
                  <a:lnTo>
                    <a:pt x="1762" y="14308"/>
                  </a:lnTo>
                  <a:lnTo>
                    <a:pt x="1987" y="13738"/>
                  </a:lnTo>
                  <a:lnTo>
                    <a:pt x="2225" y="13153"/>
                  </a:lnTo>
                  <a:lnTo>
                    <a:pt x="2450" y="12582"/>
                  </a:lnTo>
                  <a:lnTo>
                    <a:pt x="2675" y="12026"/>
                  </a:lnTo>
                  <a:lnTo>
                    <a:pt x="2887" y="11455"/>
                  </a:lnTo>
                  <a:lnTo>
                    <a:pt x="3113" y="10884"/>
                  </a:lnTo>
                  <a:lnTo>
                    <a:pt x="3338" y="10342"/>
                  </a:lnTo>
                  <a:lnTo>
                    <a:pt x="3550" y="9815"/>
                  </a:lnTo>
                  <a:lnTo>
                    <a:pt x="3775" y="9287"/>
                  </a:lnTo>
                  <a:lnTo>
                    <a:pt x="4000" y="8759"/>
                  </a:lnTo>
                  <a:lnTo>
                    <a:pt x="4225" y="8231"/>
                  </a:lnTo>
                  <a:lnTo>
                    <a:pt x="4437" y="7732"/>
                  </a:lnTo>
                  <a:lnTo>
                    <a:pt x="4662" y="7247"/>
                  </a:lnTo>
                  <a:lnTo>
                    <a:pt x="4887" y="6805"/>
                  </a:lnTo>
                  <a:lnTo>
                    <a:pt x="5113" y="6334"/>
                  </a:lnTo>
                  <a:lnTo>
                    <a:pt x="5338" y="5892"/>
                  </a:lnTo>
                  <a:lnTo>
                    <a:pt x="5550" y="5421"/>
                  </a:lnTo>
                  <a:lnTo>
                    <a:pt x="5762" y="4993"/>
                  </a:lnTo>
                  <a:lnTo>
                    <a:pt x="5974" y="4579"/>
                  </a:lnTo>
                  <a:lnTo>
                    <a:pt x="6199" y="4165"/>
                  </a:lnTo>
                  <a:lnTo>
                    <a:pt x="6424" y="3780"/>
                  </a:lnTo>
                  <a:lnTo>
                    <a:pt x="6636" y="3409"/>
                  </a:lnTo>
                  <a:lnTo>
                    <a:pt x="6861" y="3067"/>
                  </a:lnTo>
                  <a:lnTo>
                    <a:pt x="7086" y="2725"/>
                  </a:lnTo>
                  <a:lnTo>
                    <a:pt x="7285" y="2411"/>
                  </a:lnTo>
                  <a:lnTo>
                    <a:pt x="7510" y="2097"/>
                  </a:lnTo>
                  <a:lnTo>
                    <a:pt x="7735" y="1826"/>
                  </a:lnTo>
                  <a:lnTo>
                    <a:pt x="7960" y="1555"/>
                  </a:lnTo>
                  <a:lnTo>
                    <a:pt x="8159" y="1298"/>
                  </a:lnTo>
                  <a:lnTo>
                    <a:pt x="8371" y="1056"/>
                  </a:lnTo>
                  <a:lnTo>
                    <a:pt x="8583" y="842"/>
                  </a:lnTo>
                  <a:lnTo>
                    <a:pt x="8808" y="670"/>
                  </a:lnTo>
                  <a:lnTo>
                    <a:pt x="9020" y="499"/>
                  </a:lnTo>
                  <a:lnTo>
                    <a:pt x="9232" y="385"/>
                  </a:lnTo>
                  <a:lnTo>
                    <a:pt x="9444" y="243"/>
                  </a:lnTo>
                  <a:lnTo>
                    <a:pt x="9642" y="128"/>
                  </a:lnTo>
                  <a:lnTo>
                    <a:pt x="9854" y="86"/>
                  </a:lnTo>
                  <a:lnTo>
                    <a:pt x="10079" y="14"/>
                  </a:lnTo>
                  <a:lnTo>
                    <a:pt x="10291" y="0"/>
                  </a:lnTo>
                  <a:lnTo>
                    <a:pt x="10503" y="14"/>
                  </a:lnTo>
                  <a:lnTo>
                    <a:pt x="10702" y="14"/>
                  </a:lnTo>
                  <a:lnTo>
                    <a:pt x="10914" y="86"/>
                  </a:lnTo>
                  <a:lnTo>
                    <a:pt x="11126" y="214"/>
                  </a:lnTo>
                  <a:lnTo>
                    <a:pt x="11338" y="328"/>
                  </a:lnTo>
                  <a:lnTo>
                    <a:pt x="11563" y="514"/>
                  </a:lnTo>
                  <a:lnTo>
                    <a:pt x="11788" y="756"/>
                  </a:lnTo>
                  <a:lnTo>
                    <a:pt x="12000" y="984"/>
                  </a:lnTo>
                  <a:lnTo>
                    <a:pt x="12225" y="1255"/>
                  </a:lnTo>
                  <a:lnTo>
                    <a:pt x="12450" y="1555"/>
                  </a:lnTo>
                  <a:lnTo>
                    <a:pt x="12689" y="1912"/>
                  </a:lnTo>
                  <a:lnTo>
                    <a:pt x="12914" y="2268"/>
                  </a:lnTo>
                  <a:lnTo>
                    <a:pt x="13152" y="2696"/>
                  </a:lnTo>
                  <a:lnTo>
                    <a:pt x="13377" y="3096"/>
                  </a:lnTo>
                  <a:lnTo>
                    <a:pt x="13616" y="3524"/>
                  </a:lnTo>
                  <a:lnTo>
                    <a:pt x="13841" y="3980"/>
                  </a:lnTo>
                  <a:lnTo>
                    <a:pt x="14066" y="4451"/>
                  </a:lnTo>
                  <a:lnTo>
                    <a:pt x="14291" y="4936"/>
                  </a:lnTo>
                  <a:lnTo>
                    <a:pt x="14530" y="5464"/>
                  </a:lnTo>
                  <a:lnTo>
                    <a:pt x="14755" y="6006"/>
                  </a:lnTo>
                  <a:lnTo>
                    <a:pt x="14993" y="6519"/>
                  </a:lnTo>
                  <a:lnTo>
                    <a:pt x="15219" y="7061"/>
                  </a:lnTo>
                  <a:lnTo>
                    <a:pt x="15444" y="7632"/>
                  </a:lnTo>
                  <a:lnTo>
                    <a:pt x="15682" y="8188"/>
                  </a:lnTo>
                  <a:lnTo>
                    <a:pt x="15894" y="8773"/>
                  </a:lnTo>
                  <a:lnTo>
                    <a:pt x="16106" y="9358"/>
                  </a:lnTo>
                  <a:lnTo>
                    <a:pt x="16318" y="9914"/>
                  </a:lnTo>
                  <a:lnTo>
                    <a:pt x="16530" y="10471"/>
                  </a:lnTo>
                  <a:lnTo>
                    <a:pt x="16742" y="11041"/>
                  </a:lnTo>
                  <a:lnTo>
                    <a:pt x="16954" y="11626"/>
                  </a:lnTo>
                  <a:lnTo>
                    <a:pt x="17152" y="12183"/>
                  </a:lnTo>
                  <a:lnTo>
                    <a:pt x="17351" y="12753"/>
                  </a:lnTo>
                  <a:lnTo>
                    <a:pt x="17550" y="13295"/>
                  </a:lnTo>
                  <a:lnTo>
                    <a:pt x="17735" y="13852"/>
                  </a:lnTo>
                  <a:lnTo>
                    <a:pt x="17934" y="14394"/>
                  </a:lnTo>
                  <a:lnTo>
                    <a:pt x="18119" y="14936"/>
                  </a:lnTo>
                  <a:lnTo>
                    <a:pt x="18291" y="15435"/>
                  </a:lnTo>
                  <a:lnTo>
                    <a:pt x="18464" y="15949"/>
                  </a:lnTo>
                  <a:lnTo>
                    <a:pt x="18636" y="16419"/>
                  </a:lnTo>
                  <a:lnTo>
                    <a:pt x="18795" y="16862"/>
                  </a:lnTo>
                  <a:lnTo>
                    <a:pt x="18954" y="17332"/>
                  </a:lnTo>
                  <a:lnTo>
                    <a:pt x="19099" y="17746"/>
                  </a:lnTo>
                  <a:lnTo>
                    <a:pt x="19258" y="18146"/>
                  </a:lnTo>
                  <a:lnTo>
                    <a:pt x="19391" y="18545"/>
                  </a:lnTo>
                  <a:lnTo>
                    <a:pt x="19523" y="18887"/>
                  </a:lnTo>
                  <a:lnTo>
                    <a:pt x="19642" y="19187"/>
                  </a:lnTo>
                  <a:lnTo>
                    <a:pt x="19775" y="19515"/>
                  </a:lnTo>
                  <a:lnTo>
                    <a:pt x="19881" y="19772"/>
                  </a:lnTo>
                  <a:lnTo>
                    <a:pt x="19987" y="19986"/>
                  </a:lnTo>
                </a:path>
              </a:pathLst>
            </a:custGeom>
            <a:noFill/>
            <a:ln w="38100" cmpd="sng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7" name="Freeform 121">
              <a:extLst>
                <a:ext uri="{FF2B5EF4-FFF2-40B4-BE49-F238E27FC236}">
                  <a16:creationId xmlns:a16="http://schemas.microsoft.com/office/drawing/2014/main" id="{00255EF4-6CEF-6F08-22AA-6BBA87C9969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674" y="3539"/>
              <a:ext cx="701" cy="25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99" y="620"/>
                  </a:lnTo>
                  <a:lnTo>
                    <a:pt x="399" y="1255"/>
                  </a:lnTo>
                  <a:lnTo>
                    <a:pt x="598" y="1875"/>
                  </a:lnTo>
                  <a:lnTo>
                    <a:pt x="798" y="2524"/>
                  </a:lnTo>
                  <a:lnTo>
                    <a:pt x="984" y="3144"/>
                  </a:lnTo>
                  <a:lnTo>
                    <a:pt x="1184" y="3734"/>
                  </a:lnTo>
                  <a:lnTo>
                    <a:pt x="1383" y="4354"/>
                  </a:lnTo>
                  <a:lnTo>
                    <a:pt x="1583" y="4959"/>
                  </a:lnTo>
                  <a:lnTo>
                    <a:pt x="1782" y="5565"/>
                  </a:lnTo>
                  <a:lnTo>
                    <a:pt x="1981" y="6155"/>
                  </a:lnTo>
                  <a:lnTo>
                    <a:pt x="2181" y="6745"/>
                  </a:lnTo>
                  <a:lnTo>
                    <a:pt x="2380" y="7292"/>
                  </a:lnTo>
                  <a:lnTo>
                    <a:pt x="2567" y="7897"/>
                  </a:lnTo>
                  <a:lnTo>
                    <a:pt x="2766" y="8472"/>
                  </a:lnTo>
                  <a:lnTo>
                    <a:pt x="2966" y="9033"/>
                  </a:lnTo>
                  <a:lnTo>
                    <a:pt x="3165" y="9594"/>
                  </a:lnTo>
                  <a:lnTo>
                    <a:pt x="3364" y="10140"/>
                  </a:lnTo>
                  <a:lnTo>
                    <a:pt x="3564" y="10672"/>
                  </a:lnTo>
                  <a:lnTo>
                    <a:pt x="3763" y="11203"/>
                  </a:lnTo>
                  <a:lnTo>
                    <a:pt x="3963" y="11720"/>
                  </a:lnTo>
                  <a:lnTo>
                    <a:pt x="4162" y="12236"/>
                  </a:lnTo>
                  <a:lnTo>
                    <a:pt x="4361" y="12708"/>
                  </a:lnTo>
                  <a:lnTo>
                    <a:pt x="4573" y="13196"/>
                  </a:lnTo>
                  <a:lnTo>
                    <a:pt x="4785" y="13653"/>
                  </a:lnTo>
                  <a:lnTo>
                    <a:pt x="4972" y="14140"/>
                  </a:lnTo>
                  <a:lnTo>
                    <a:pt x="5171" y="14583"/>
                  </a:lnTo>
                  <a:lnTo>
                    <a:pt x="5371" y="15011"/>
                  </a:lnTo>
                  <a:lnTo>
                    <a:pt x="5570" y="15439"/>
                  </a:lnTo>
                  <a:lnTo>
                    <a:pt x="5782" y="15838"/>
                  </a:lnTo>
                  <a:lnTo>
                    <a:pt x="5981" y="16207"/>
                  </a:lnTo>
                  <a:lnTo>
                    <a:pt x="6181" y="16605"/>
                  </a:lnTo>
                  <a:lnTo>
                    <a:pt x="6380" y="16959"/>
                  </a:lnTo>
                  <a:lnTo>
                    <a:pt x="6579" y="17299"/>
                  </a:lnTo>
                  <a:lnTo>
                    <a:pt x="6791" y="17609"/>
                  </a:lnTo>
                  <a:lnTo>
                    <a:pt x="6991" y="17919"/>
                  </a:lnTo>
                  <a:lnTo>
                    <a:pt x="7202" y="18185"/>
                  </a:lnTo>
                  <a:lnTo>
                    <a:pt x="7402" y="18480"/>
                  </a:lnTo>
                  <a:lnTo>
                    <a:pt x="7614" y="18731"/>
                  </a:lnTo>
                  <a:lnTo>
                    <a:pt x="7813" y="18952"/>
                  </a:lnTo>
                  <a:lnTo>
                    <a:pt x="8025" y="19159"/>
                  </a:lnTo>
                  <a:lnTo>
                    <a:pt x="8237" y="19336"/>
                  </a:lnTo>
                  <a:lnTo>
                    <a:pt x="8436" y="19483"/>
                  </a:lnTo>
                  <a:lnTo>
                    <a:pt x="8648" y="19646"/>
                  </a:lnTo>
                  <a:lnTo>
                    <a:pt x="8860" y="19764"/>
                  </a:lnTo>
                  <a:lnTo>
                    <a:pt x="9059" y="19867"/>
                  </a:lnTo>
                  <a:lnTo>
                    <a:pt x="9271" y="19911"/>
                  </a:lnTo>
                  <a:lnTo>
                    <a:pt x="9483" y="19956"/>
                  </a:lnTo>
                  <a:lnTo>
                    <a:pt x="9695" y="19956"/>
                  </a:lnTo>
                  <a:lnTo>
                    <a:pt x="9907" y="19985"/>
                  </a:lnTo>
                  <a:lnTo>
                    <a:pt x="10118" y="19941"/>
                  </a:lnTo>
                  <a:lnTo>
                    <a:pt x="10330" y="19823"/>
                  </a:lnTo>
                  <a:lnTo>
                    <a:pt x="10555" y="19720"/>
                  </a:lnTo>
                  <a:lnTo>
                    <a:pt x="10791" y="19557"/>
                  </a:lnTo>
                  <a:lnTo>
                    <a:pt x="11016" y="19336"/>
                  </a:lnTo>
                  <a:lnTo>
                    <a:pt x="11240" y="19129"/>
                  </a:lnTo>
                  <a:lnTo>
                    <a:pt x="11477" y="18849"/>
                  </a:lnTo>
                  <a:lnTo>
                    <a:pt x="11713" y="18554"/>
                  </a:lnTo>
                  <a:lnTo>
                    <a:pt x="11963" y="18244"/>
                  </a:lnTo>
                  <a:lnTo>
                    <a:pt x="12212" y="17904"/>
                  </a:lnTo>
                  <a:lnTo>
                    <a:pt x="12461" y="17520"/>
                  </a:lnTo>
                  <a:lnTo>
                    <a:pt x="12710" y="17137"/>
                  </a:lnTo>
                  <a:lnTo>
                    <a:pt x="12960" y="16738"/>
                  </a:lnTo>
                  <a:lnTo>
                    <a:pt x="13196" y="16280"/>
                  </a:lnTo>
                  <a:lnTo>
                    <a:pt x="13445" y="15823"/>
                  </a:lnTo>
                  <a:lnTo>
                    <a:pt x="13707" y="15351"/>
                  </a:lnTo>
                  <a:lnTo>
                    <a:pt x="13956" y="14834"/>
                  </a:lnTo>
                  <a:lnTo>
                    <a:pt x="14206" y="14362"/>
                  </a:lnTo>
                  <a:lnTo>
                    <a:pt x="14442" y="13830"/>
                  </a:lnTo>
                  <a:lnTo>
                    <a:pt x="14692" y="13314"/>
                  </a:lnTo>
                  <a:lnTo>
                    <a:pt x="14953" y="12768"/>
                  </a:lnTo>
                  <a:lnTo>
                    <a:pt x="15202" y="12236"/>
                  </a:lnTo>
                  <a:lnTo>
                    <a:pt x="15452" y="11661"/>
                  </a:lnTo>
                  <a:lnTo>
                    <a:pt x="15688" y="11114"/>
                  </a:lnTo>
                  <a:lnTo>
                    <a:pt x="15925" y="10583"/>
                  </a:lnTo>
                  <a:lnTo>
                    <a:pt x="16150" y="10037"/>
                  </a:lnTo>
                  <a:lnTo>
                    <a:pt x="16386" y="9461"/>
                  </a:lnTo>
                  <a:lnTo>
                    <a:pt x="16611" y="8900"/>
                  </a:lnTo>
                  <a:lnTo>
                    <a:pt x="16847" y="8369"/>
                  </a:lnTo>
                  <a:lnTo>
                    <a:pt x="17072" y="7823"/>
                  </a:lnTo>
                  <a:lnTo>
                    <a:pt x="17283" y="7292"/>
                  </a:lnTo>
                  <a:lnTo>
                    <a:pt x="17495" y="6760"/>
                  </a:lnTo>
                  <a:lnTo>
                    <a:pt x="17720" y="6244"/>
                  </a:lnTo>
                  <a:lnTo>
                    <a:pt x="17919" y="5727"/>
                  </a:lnTo>
                  <a:lnTo>
                    <a:pt x="18118" y="5210"/>
                  </a:lnTo>
                  <a:lnTo>
                    <a:pt x="18305" y="4738"/>
                  </a:lnTo>
                  <a:lnTo>
                    <a:pt x="18492" y="4295"/>
                  </a:lnTo>
                  <a:lnTo>
                    <a:pt x="18679" y="3852"/>
                  </a:lnTo>
                  <a:lnTo>
                    <a:pt x="18854" y="3395"/>
                  </a:lnTo>
                  <a:lnTo>
                    <a:pt x="19016" y="2982"/>
                  </a:lnTo>
                  <a:lnTo>
                    <a:pt x="19178" y="2613"/>
                  </a:lnTo>
                  <a:lnTo>
                    <a:pt x="19340" y="2244"/>
                  </a:lnTo>
                  <a:lnTo>
                    <a:pt x="19489" y="1904"/>
                  </a:lnTo>
                  <a:lnTo>
                    <a:pt x="19614" y="1609"/>
                  </a:lnTo>
                  <a:lnTo>
                    <a:pt x="19751" y="1314"/>
                  </a:lnTo>
                  <a:lnTo>
                    <a:pt x="19875" y="1048"/>
                  </a:lnTo>
                  <a:lnTo>
                    <a:pt x="19988" y="841"/>
                  </a:lnTo>
                </a:path>
              </a:pathLst>
            </a:custGeom>
            <a:noFill/>
            <a:ln w="38100" cmpd="sng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8" name="Rectangle 122">
              <a:extLst>
                <a:ext uri="{FF2B5EF4-FFF2-40B4-BE49-F238E27FC236}">
                  <a16:creationId xmlns:a16="http://schemas.microsoft.com/office/drawing/2014/main" id="{BDB96011-6E83-FBE5-3DA1-B9A6CBDA8D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44" y="2829"/>
              <a:ext cx="217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600" i="1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37929" name="Rectangle 123">
              <a:extLst>
                <a:ext uri="{FF2B5EF4-FFF2-40B4-BE49-F238E27FC236}">
                  <a16:creationId xmlns:a16="http://schemas.microsoft.com/office/drawing/2014/main" id="{0136D17E-2BA7-84EF-F917-AD3F8701855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87" y="3385"/>
              <a:ext cx="22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37930" name="Freeform 124">
              <a:extLst>
                <a:ext uri="{FF2B5EF4-FFF2-40B4-BE49-F238E27FC236}">
                  <a16:creationId xmlns:a16="http://schemas.microsoft.com/office/drawing/2014/main" id="{904D3A85-BA05-F2D1-0B9D-7361CE36E55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28" y="3535"/>
              <a:ext cx="748" cy="17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880"/>
                  </a:moveTo>
                  <a:lnTo>
                    <a:pt x="225" y="1489"/>
                  </a:lnTo>
                  <a:lnTo>
                    <a:pt x="437" y="2098"/>
                  </a:lnTo>
                  <a:lnTo>
                    <a:pt x="662" y="2707"/>
                  </a:lnTo>
                  <a:lnTo>
                    <a:pt x="887" y="3283"/>
                  </a:lnTo>
                  <a:lnTo>
                    <a:pt x="1099" y="3892"/>
                  </a:lnTo>
                  <a:lnTo>
                    <a:pt x="1325" y="4501"/>
                  </a:lnTo>
                  <a:lnTo>
                    <a:pt x="1550" y="5076"/>
                  </a:lnTo>
                  <a:lnTo>
                    <a:pt x="1762" y="5685"/>
                  </a:lnTo>
                  <a:lnTo>
                    <a:pt x="1987" y="6261"/>
                  </a:lnTo>
                  <a:lnTo>
                    <a:pt x="2225" y="6802"/>
                  </a:lnTo>
                  <a:lnTo>
                    <a:pt x="2450" y="7377"/>
                  </a:lnTo>
                  <a:lnTo>
                    <a:pt x="2675" y="7953"/>
                  </a:lnTo>
                  <a:lnTo>
                    <a:pt x="2887" y="8494"/>
                  </a:lnTo>
                  <a:lnTo>
                    <a:pt x="3113" y="9103"/>
                  </a:lnTo>
                  <a:lnTo>
                    <a:pt x="3338" y="9611"/>
                  </a:lnTo>
                  <a:lnTo>
                    <a:pt x="3550" y="10186"/>
                  </a:lnTo>
                  <a:lnTo>
                    <a:pt x="3775" y="10694"/>
                  </a:lnTo>
                  <a:lnTo>
                    <a:pt x="4000" y="11235"/>
                  </a:lnTo>
                  <a:lnTo>
                    <a:pt x="4225" y="11743"/>
                  </a:lnTo>
                  <a:lnTo>
                    <a:pt x="4437" y="12250"/>
                  </a:lnTo>
                  <a:lnTo>
                    <a:pt x="4662" y="12724"/>
                  </a:lnTo>
                  <a:lnTo>
                    <a:pt x="4887" y="13164"/>
                  </a:lnTo>
                  <a:lnTo>
                    <a:pt x="5113" y="13638"/>
                  </a:lnTo>
                  <a:lnTo>
                    <a:pt x="5338" y="14078"/>
                  </a:lnTo>
                  <a:lnTo>
                    <a:pt x="5550" y="14552"/>
                  </a:lnTo>
                  <a:lnTo>
                    <a:pt x="5762" y="14992"/>
                  </a:lnTo>
                  <a:lnTo>
                    <a:pt x="5974" y="15398"/>
                  </a:lnTo>
                  <a:lnTo>
                    <a:pt x="6199" y="15804"/>
                  </a:lnTo>
                  <a:lnTo>
                    <a:pt x="6424" y="16210"/>
                  </a:lnTo>
                  <a:lnTo>
                    <a:pt x="6636" y="16548"/>
                  </a:lnTo>
                  <a:lnTo>
                    <a:pt x="6861" y="16920"/>
                  </a:lnTo>
                  <a:lnTo>
                    <a:pt x="7086" y="17259"/>
                  </a:lnTo>
                  <a:lnTo>
                    <a:pt x="7285" y="17530"/>
                  </a:lnTo>
                  <a:lnTo>
                    <a:pt x="7510" y="17868"/>
                  </a:lnTo>
                  <a:lnTo>
                    <a:pt x="7735" y="18173"/>
                  </a:lnTo>
                  <a:lnTo>
                    <a:pt x="7960" y="18376"/>
                  </a:lnTo>
                  <a:lnTo>
                    <a:pt x="8159" y="18646"/>
                  </a:lnTo>
                  <a:lnTo>
                    <a:pt x="8371" y="18883"/>
                  </a:lnTo>
                  <a:lnTo>
                    <a:pt x="8583" y="19120"/>
                  </a:lnTo>
                  <a:lnTo>
                    <a:pt x="8808" y="19289"/>
                  </a:lnTo>
                  <a:lnTo>
                    <a:pt x="9020" y="19459"/>
                  </a:lnTo>
                  <a:lnTo>
                    <a:pt x="9232" y="19594"/>
                  </a:lnTo>
                  <a:lnTo>
                    <a:pt x="9444" y="19695"/>
                  </a:lnTo>
                  <a:lnTo>
                    <a:pt x="9642" y="19831"/>
                  </a:lnTo>
                  <a:lnTo>
                    <a:pt x="9854" y="19865"/>
                  </a:lnTo>
                  <a:lnTo>
                    <a:pt x="10079" y="19932"/>
                  </a:lnTo>
                  <a:lnTo>
                    <a:pt x="10291" y="19966"/>
                  </a:lnTo>
                  <a:lnTo>
                    <a:pt x="10503" y="19932"/>
                  </a:lnTo>
                  <a:lnTo>
                    <a:pt x="10702" y="19932"/>
                  </a:lnTo>
                  <a:lnTo>
                    <a:pt x="10914" y="19865"/>
                  </a:lnTo>
                  <a:lnTo>
                    <a:pt x="11126" y="19763"/>
                  </a:lnTo>
                  <a:lnTo>
                    <a:pt x="11338" y="19662"/>
                  </a:lnTo>
                  <a:lnTo>
                    <a:pt x="11563" y="19425"/>
                  </a:lnTo>
                  <a:lnTo>
                    <a:pt x="11788" y="19222"/>
                  </a:lnTo>
                  <a:lnTo>
                    <a:pt x="12000" y="18985"/>
                  </a:lnTo>
                  <a:lnTo>
                    <a:pt x="12225" y="18714"/>
                  </a:lnTo>
                  <a:lnTo>
                    <a:pt x="12450" y="18376"/>
                  </a:lnTo>
                  <a:lnTo>
                    <a:pt x="12689" y="18071"/>
                  </a:lnTo>
                  <a:lnTo>
                    <a:pt x="12914" y="17699"/>
                  </a:lnTo>
                  <a:lnTo>
                    <a:pt x="13152" y="17259"/>
                  </a:lnTo>
                  <a:lnTo>
                    <a:pt x="13377" y="16887"/>
                  </a:lnTo>
                  <a:lnTo>
                    <a:pt x="13616" y="16447"/>
                  </a:lnTo>
                  <a:lnTo>
                    <a:pt x="13841" y="16007"/>
                  </a:lnTo>
                  <a:lnTo>
                    <a:pt x="14066" y="15533"/>
                  </a:lnTo>
                  <a:lnTo>
                    <a:pt x="14291" y="15025"/>
                  </a:lnTo>
                  <a:lnTo>
                    <a:pt x="14530" y="14518"/>
                  </a:lnTo>
                  <a:lnTo>
                    <a:pt x="14755" y="13976"/>
                  </a:lnTo>
                  <a:lnTo>
                    <a:pt x="14993" y="13469"/>
                  </a:lnTo>
                  <a:lnTo>
                    <a:pt x="15219" y="12927"/>
                  </a:lnTo>
                  <a:lnTo>
                    <a:pt x="15444" y="12352"/>
                  </a:lnTo>
                  <a:lnTo>
                    <a:pt x="15682" y="11777"/>
                  </a:lnTo>
                  <a:lnTo>
                    <a:pt x="15894" y="11201"/>
                  </a:lnTo>
                  <a:lnTo>
                    <a:pt x="16106" y="10626"/>
                  </a:lnTo>
                  <a:lnTo>
                    <a:pt x="16318" y="10051"/>
                  </a:lnTo>
                  <a:lnTo>
                    <a:pt x="16530" y="9509"/>
                  </a:lnTo>
                  <a:lnTo>
                    <a:pt x="16742" y="8934"/>
                  </a:lnTo>
                  <a:lnTo>
                    <a:pt x="16954" y="8325"/>
                  </a:lnTo>
                  <a:lnTo>
                    <a:pt x="17152" y="7783"/>
                  </a:lnTo>
                  <a:lnTo>
                    <a:pt x="17351" y="7242"/>
                  </a:lnTo>
                  <a:lnTo>
                    <a:pt x="17550" y="6667"/>
                  </a:lnTo>
                  <a:lnTo>
                    <a:pt x="17735" y="6125"/>
                  </a:lnTo>
                  <a:lnTo>
                    <a:pt x="17934" y="5584"/>
                  </a:lnTo>
                  <a:lnTo>
                    <a:pt x="18119" y="5042"/>
                  </a:lnTo>
                  <a:lnTo>
                    <a:pt x="18291" y="4535"/>
                  </a:lnTo>
                  <a:lnTo>
                    <a:pt x="18464" y="4061"/>
                  </a:lnTo>
                  <a:lnTo>
                    <a:pt x="18636" y="3553"/>
                  </a:lnTo>
                  <a:lnTo>
                    <a:pt x="18795" y="3113"/>
                  </a:lnTo>
                  <a:lnTo>
                    <a:pt x="18954" y="2640"/>
                  </a:lnTo>
                  <a:lnTo>
                    <a:pt x="19099" y="2234"/>
                  </a:lnTo>
                  <a:lnTo>
                    <a:pt x="19258" y="1827"/>
                  </a:lnTo>
                  <a:lnTo>
                    <a:pt x="19391" y="1455"/>
                  </a:lnTo>
                  <a:lnTo>
                    <a:pt x="19523" y="1083"/>
                  </a:lnTo>
                  <a:lnTo>
                    <a:pt x="19642" y="778"/>
                  </a:lnTo>
                  <a:lnTo>
                    <a:pt x="19775" y="508"/>
                  </a:lnTo>
                  <a:lnTo>
                    <a:pt x="19881" y="203"/>
                  </a:lnTo>
                  <a:lnTo>
                    <a:pt x="19987" y="0"/>
                  </a:ln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1" name="Freeform 125">
              <a:extLst>
                <a:ext uri="{FF2B5EF4-FFF2-40B4-BE49-F238E27FC236}">
                  <a16:creationId xmlns:a16="http://schemas.microsoft.com/office/drawing/2014/main" id="{D52F9FCA-1808-AF8D-4453-A7EF5EEA4D4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668" y="3395"/>
              <a:ext cx="707" cy="14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965"/>
                  </a:moveTo>
                  <a:lnTo>
                    <a:pt x="199" y="19335"/>
                  </a:lnTo>
                  <a:lnTo>
                    <a:pt x="399" y="18704"/>
                  </a:lnTo>
                  <a:lnTo>
                    <a:pt x="598" y="18109"/>
                  </a:lnTo>
                  <a:lnTo>
                    <a:pt x="798" y="17478"/>
                  </a:lnTo>
                  <a:lnTo>
                    <a:pt x="984" y="16813"/>
                  </a:lnTo>
                  <a:lnTo>
                    <a:pt x="1184" y="16217"/>
                  </a:lnTo>
                  <a:lnTo>
                    <a:pt x="1383" y="15622"/>
                  </a:lnTo>
                  <a:lnTo>
                    <a:pt x="1583" y="15026"/>
                  </a:lnTo>
                  <a:lnTo>
                    <a:pt x="1782" y="14396"/>
                  </a:lnTo>
                  <a:lnTo>
                    <a:pt x="1981" y="13800"/>
                  </a:lnTo>
                  <a:lnTo>
                    <a:pt x="2181" y="13240"/>
                  </a:lnTo>
                  <a:lnTo>
                    <a:pt x="2380" y="12680"/>
                  </a:lnTo>
                  <a:lnTo>
                    <a:pt x="2567" y="12084"/>
                  </a:lnTo>
                  <a:lnTo>
                    <a:pt x="2766" y="11489"/>
                  </a:lnTo>
                  <a:lnTo>
                    <a:pt x="2966" y="10928"/>
                  </a:lnTo>
                  <a:lnTo>
                    <a:pt x="3165" y="10368"/>
                  </a:lnTo>
                  <a:lnTo>
                    <a:pt x="3364" y="9842"/>
                  </a:lnTo>
                  <a:lnTo>
                    <a:pt x="3564" y="9317"/>
                  </a:lnTo>
                  <a:lnTo>
                    <a:pt x="3763" y="8757"/>
                  </a:lnTo>
                  <a:lnTo>
                    <a:pt x="3963" y="8231"/>
                  </a:lnTo>
                  <a:lnTo>
                    <a:pt x="4162" y="7741"/>
                  </a:lnTo>
                  <a:lnTo>
                    <a:pt x="4361" y="7250"/>
                  </a:lnTo>
                  <a:lnTo>
                    <a:pt x="4573" y="6795"/>
                  </a:lnTo>
                  <a:lnTo>
                    <a:pt x="4785" y="6305"/>
                  </a:lnTo>
                  <a:lnTo>
                    <a:pt x="4972" y="5849"/>
                  </a:lnTo>
                  <a:lnTo>
                    <a:pt x="5171" y="5394"/>
                  </a:lnTo>
                  <a:lnTo>
                    <a:pt x="5371" y="4939"/>
                  </a:lnTo>
                  <a:lnTo>
                    <a:pt x="5570" y="4553"/>
                  </a:lnTo>
                  <a:lnTo>
                    <a:pt x="5782" y="4133"/>
                  </a:lnTo>
                  <a:lnTo>
                    <a:pt x="5981" y="3783"/>
                  </a:lnTo>
                  <a:lnTo>
                    <a:pt x="6181" y="3363"/>
                  </a:lnTo>
                  <a:lnTo>
                    <a:pt x="6380" y="3012"/>
                  </a:lnTo>
                  <a:lnTo>
                    <a:pt x="6579" y="2697"/>
                  </a:lnTo>
                  <a:lnTo>
                    <a:pt x="6791" y="2347"/>
                  </a:lnTo>
                  <a:lnTo>
                    <a:pt x="6991" y="2032"/>
                  </a:lnTo>
                  <a:lnTo>
                    <a:pt x="7202" y="1786"/>
                  </a:lnTo>
                  <a:lnTo>
                    <a:pt x="7402" y="1506"/>
                  </a:lnTo>
                  <a:lnTo>
                    <a:pt x="7614" y="1226"/>
                  </a:lnTo>
                  <a:lnTo>
                    <a:pt x="7813" y="1016"/>
                  </a:lnTo>
                  <a:lnTo>
                    <a:pt x="8025" y="806"/>
                  </a:lnTo>
                  <a:lnTo>
                    <a:pt x="8237" y="630"/>
                  </a:lnTo>
                  <a:lnTo>
                    <a:pt x="8436" y="490"/>
                  </a:lnTo>
                  <a:lnTo>
                    <a:pt x="8648" y="315"/>
                  </a:lnTo>
                  <a:lnTo>
                    <a:pt x="8860" y="210"/>
                  </a:lnTo>
                  <a:lnTo>
                    <a:pt x="9059" y="105"/>
                  </a:lnTo>
                  <a:lnTo>
                    <a:pt x="9271" y="70"/>
                  </a:lnTo>
                  <a:lnTo>
                    <a:pt x="9483" y="0"/>
                  </a:lnTo>
                  <a:lnTo>
                    <a:pt x="9695" y="0"/>
                  </a:lnTo>
                  <a:lnTo>
                    <a:pt x="9907" y="0"/>
                  </a:lnTo>
                  <a:lnTo>
                    <a:pt x="10118" y="35"/>
                  </a:lnTo>
                  <a:lnTo>
                    <a:pt x="10330" y="140"/>
                  </a:lnTo>
                  <a:lnTo>
                    <a:pt x="10555" y="245"/>
                  </a:lnTo>
                  <a:lnTo>
                    <a:pt x="10791" y="420"/>
                  </a:lnTo>
                  <a:lnTo>
                    <a:pt x="11016" y="630"/>
                  </a:lnTo>
                  <a:lnTo>
                    <a:pt x="11240" y="841"/>
                  </a:lnTo>
                  <a:lnTo>
                    <a:pt x="11477" y="1121"/>
                  </a:lnTo>
                  <a:lnTo>
                    <a:pt x="11713" y="1401"/>
                  </a:lnTo>
                  <a:lnTo>
                    <a:pt x="11963" y="1716"/>
                  </a:lnTo>
                  <a:lnTo>
                    <a:pt x="12212" y="2067"/>
                  </a:lnTo>
                  <a:lnTo>
                    <a:pt x="12461" y="2452"/>
                  </a:lnTo>
                  <a:lnTo>
                    <a:pt x="12710" y="2837"/>
                  </a:lnTo>
                  <a:lnTo>
                    <a:pt x="12960" y="3222"/>
                  </a:lnTo>
                  <a:lnTo>
                    <a:pt x="13196" y="3713"/>
                  </a:lnTo>
                  <a:lnTo>
                    <a:pt x="13445" y="4168"/>
                  </a:lnTo>
                  <a:lnTo>
                    <a:pt x="13707" y="4623"/>
                  </a:lnTo>
                  <a:lnTo>
                    <a:pt x="13956" y="5114"/>
                  </a:lnTo>
                  <a:lnTo>
                    <a:pt x="14206" y="5604"/>
                  </a:lnTo>
                  <a:lnTo>
                    <a:pt x="14442" y="6165"/>
                  </a:lnTo>
                  <a:lnTo>
                    <a:pt x="14692" y="6655"/>
                  </a:lnTo>
                  <a:lnTo>
                    <a:pt x="14953" y="7215"/>
                  </a:lnTo>
                  <a:lnTo>
                    <a:pt x="15202" y="7741"/>
                  </a:lnTo>
                  <a:lnTo>
                    <a:pt x="15452" y="8336"/>
                  </a:lnTo>
                  <a:lnTo>
                    <a:pt x="15688" y="8862"/>
                  </a:lnTo>
                  <a:lnTo>
                    <a:pt x="15925" y="9387"/>
                  </a:lnTo>
                  <a:lnTo>
                    <a:pt x="16150" y="9912"/>
                  </a:lnTo>
                  <a:lnTo>
                    <a:pt x="16386" y="10508"/>
                  </a:lnTo>
                  <a:lnTo>
                    <a:pt x="16611" y="11068"/>
                  </a:lnTo>
                  <a:lnTo>
                    <a:pt x="16847" y="11594"/>
                  </a:lnTo>
                  <a:lnTo>
                    <a:pt x="17072" y="12154"/>
                  </a:lnTo>
                  <a:lnTo>
                    <a:pt x="17283" y="12680"/>
                  </a:lnTo>
                  <a:lnTo>
                    <a:pt x="17495" y="13205"/>
                  </a:lnTo>
                  <a:lnTo>
                    <a:pt x="17720" y="13730"/>
                  </a:lnTo>
                  <a:lnTo>
                    <a:pt x="17919" y="14221"/>
                  </a:lnTo>
                  <a:lnTo>
                    <a:pt x="18118" y="14746"/>
                  </a:lnTo>
                  <a:lnTo>
                    <a:pt x="18305" y="15236"/>
                  </a:lnTo>
                  <a:lnTo>
                    <a:pt x="18492" y="15692"/>
                  </a:lnTo>
                  <a:lnTo>
                    <a:pt x="18679" y="16112"/>
                  </a:lnTo>
                  <a:lnTo>
                    <a:pt x="18854" y="16567"/>
                  </a:lnTo>
                  <a:lnTo>
                    <a:pt x="19016" y="16988"/>
                  </a:lnTo>
                  <a:lnTo>
                    <a:pt x="19178" y="17338"/>
                  </a:lnTo>
                  <a:lnTo>
                    <a:pt x="19340" y="17688"/>
                  </a:lnTo>
                  <a:lnTo>
                    <a:pt x="19489" y="18074"/>
                  </a:lnTo>
                  <a:lnTo>
                    <a:pt x="19614" y="18319"/>
                  </a:lnTo>
                  <a:lnTo>
                    <a:pt x="19751" y="18634"/>
                  </a:lnTo>
                  <a:lnTo>
                    <a:pt x="19875" y="18914"/>
                  </a:lnTo>
                  <a:lnTo>
                    <a:pt x="19988" y="19124"/>
                  </a:ln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2" name="Line 126">
              <a:extLst>
                <a:ext uri="{FF2B5EF4-FFF2-40B4-BE49-F238E27FC236}">
                  <a16:creationId xmlns:a16="http://schemas.microsoft.com/office/drawing/2014/main" id="{CD645A4D-47F8-6522-7DF1-4CBE2862FBA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37" y="3536"/>
              <a:ext cx="16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3" name="Line 127">
              <a:extLst>
                <a:ext uri="{FF2B5EF4-FFF2-40B4-BE49-F238E27FC236}">
                  <a16:creationId xmlns:a16="http://schemas.microsoft.com/office/drawing/2014/main" id="{0834BA06-4894-1D21-CD7A-F3A933AB89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28" y="2947"/>
              <a:ext cx="2" cy="9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4" name="Rectangle 128">
              <a:extLst>
                <a:ext uri="{FF2B5EF4-FFF2-40B4-BE49-F238E27FC236}">
                  <a16:creationId xmlns:a16="http://schemas.microsoft.com/office/drawing/2014/main" id="{9B5D835B-9997-1889-05E5-9D116AED2F5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41" y="2950"/>
              <a:ext cx="247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600" i="1">
                  <a:solidFill>
                    <a:srgbClr val="008000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sz="2600" baseline="-25000">
                  <a:solidFill>
                    <a:srgbClr val="008000"/>
                  </a:solidFill>
                  <a:ea typeface="宋体" panose="02010600030101010101" pitchFamily="2" charset="-122"/>
                </a:rPr>
                <a:t>1</a:t>
              </a:r>
              <a:endParaRPr lang="en-US" altLang="zh-CN" sz="2600">
                <a:solidFill>
                  <a:srgbClr val="008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7935" name="Rectangle 129">
              <a:extLst>
                <a:ext uri="{FF2B5EF4-FFF2-40B4-BE49-F238E27FC236}">
                  <a16:creationId xmlns:a16="http://schemas.microsoft.com/office/drawing/2014/main" id="{10194ED3-94FE-DABA-2A63-2C37544037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534" y="3532"/>
              <a:ext cx="168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600" i="1">
                  <a:solidFill>
                    <a:schemeClr val="tx1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</p:grpSp>
      <p:sp>
        <p:nvSpPr>
          <p:cNvPr id="101506" name="Rectangle 130">
            <a:extLst>
              <a:ext uri="{FF2B5EF4-FFF2-40B4-BE49-F238E27FC236}">
                <a16:creationId xmlns:a16="http://schemas.microsoft.com/office/drawing/2014/main" id="{D2777584-DC6A-3AF3-8B5D-37225A1AE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2997200"/>
            <a:ext cx="213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66"/>
                </a:solidFill>
              </a:rPr>
              <a:t>(2) </a:t>
            </a:r>
            <a:r>
              <a:rPr lang="zh-CN" altLang="en-US">
                <a:solidFill>
                  <a:srgbClr val="000066"/>
                </a:solidFill>
              </a:rPr>
              <a:t>反相：</a:t>
            </a:r>
            <a:r>
              <a:rPr lang="zh-CN" altLang="en-US">
                <a:solidFill>
                  <a:srgbClr val="000080"/>
                </a:solidFill>
              </a:rPr>
              <a:t>        </a:t>
            </a:r>
          </a:p>
        </p:txBody>
      </p:sp>
      <p:sp>
        <p:nvSpPr>
          <p:cNvPr id="101507" name="Rectangle 131">
            <a:extLst>
              <a:ext uri="{FF2B5EF4-FFF2-40B4-BE49-F238E27FC236}">
                <a16:creationId xmlns:a16="http://schemas.microsoft.com/office/drawing/2014/main" id="{20EEAF34-4A9B-86F7-5FC4-9D3F7FB04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797425"/>
            <a:ext cx="5953125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</a:rPr>
              <a:t>两振动步调相反，振动减弱，</a:t>
            </a:r>
            <a:r>
              <a:rPr lang="zh-CN" altLang="en-US" sz="2300"/>
              <a:t>反相</a:t>
            </a:r>
            <a:r>
              <a:rPr lang="zh-CN" altLang="en-US" sz="2300">
                <a:solidFill>
                  <a:srgbClr val="000080"/>
                </a:solidFill>
              </a:rPr>
              <a:t>。               </a:t>
            </a:r>
          </a:p>
        </p:txBody>
      </p:sp>
      <p:grpSp>
        <p:nvGrpSpPr>
          <p:cNvPr id="101508" name="Group 132">
            <a:extLst>
              <a:ext uri="{FF2B5EF4-FFF2-40B4-BE49-F238E27FC236}">
                <a16:creationId xmlns:a16="http://schemas.microsoft.com/office/drawing/2014/main" id="{FD35FD57-C869-521C-A8E4-7A0229277D5A}"/>
              </a:ext>
            </a:extLst>
          </p:cNvPr>
          <p:cNvGrpSpPr>
            <a:grpSpLocks/>
          </p:cNvGrpSpPr>
          <p:nvPr/>
        </p:nvGrpSpPr>
        <p:grpSpPr bwMode="auto">
          <a:xfrm>
            <a:off x="6013450" y="3016250"/>
            <a:ext cx="2274888" cy="901700"/>
            <a:chOff x="3942" y="3044"/>
            <a:chExt cx="1433" cy="568"/>
          </a:xfrm>
        </p:grpSpPr>
        <p:sp>
          <p:nvSpPr>
            <p:cNvPr id="37921" name="Rectangle 133">
              <a:extLst>
                <a:ext uri="{FF2B5EF4-FFF2-40B4-BE49-F238E27FC236}">
                  <a16:creationId xmlns:a16="http://schemas.microsoft.com/office/drawing/2014/main" id="{E46803C3-C974-4F61-A52B-1565057CAB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19" y="3044"/>
              <a:ext cx="66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zh-CN" altLang="en-US"/>
                <a:t>反相</a:t>
              </a:r>
            </a:p>
          </p:txBody>
        </p:sp>
        <p:sp>
          <p:nvSpPr>
            <p:cNvPr id="37922" name="Freeform 134">
              <a:extLst>
                <a:ext uri="{FF2B5EF4-FFF2-40B4-BE49-F238E27FC236}">
                  <a16:creationId xmlns:a16="http://schemas.microsoft.com/office/drawing/2014/main" id="{A3000943-F7DE-28EE-27A3-DACE416B5AD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42" y="3465"/>
              <a:ext cx="707" cy="5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965"/>
                  </a:moveTo>
                  <a:lnTo>
                    <a:pt x="199" y="19335"/>
                  </a:lnTo>
                  <a:lnTo>
                    <a:pt x="399" y="18704"/>
                  </a:lnTo>
                  <a:lnTo>
                    <a:pt x="598" y="18109"/>
                  </a:lnTo>
                  <a:lnTo>
                    <a:pt x="798" y="17478"/>
                  </a:lnTo>
                  <a:lnTo>
                    <a:pt x="984" y="16813"/>
                  </a:lnTo>
                  <a:lnTo>
                    <a:pt x="1184" y="16217"/>
                  </a:lnTo>
                  <a:lnTo>
                    <a:pt x="1383" y="15622"/>
                  </a:lnTo>
                  <a:lnTo>
                    <a:pt x="1583" y="15026"/>
                  </a:lnTo>
                  <a:lnTo>
                    <a:pt x="1782" y="14396"/>
                  </a:lnTo>
                  <a:lnTo>
                    <a:pt x="1981" y="13800"/>
                  </a:lnTo>
                  <a:lnTo>
                    <a:pt x="2181" y="13240"/>
                  </a:lnTo>
                  <a:lnTo>
                    <a:pt x="2380" y="12680"/>
                  </a:lnTo>
                  <a:lnTo>
                    <a:pt x="2567" y="12084"/>
                  </a:lnTo>
                  <a:lnTo>
                    <a:pt x="2766" y="11489"/>
                  </a:lnTo>
                  <a:lnTo>
                    <a:pt x="2966" y="10928"/>
                  </a:lnTo>
                  <a:lnTo>
                    <a:pt x="3165" y="10368"/>
                  </a:lnTo>
                  <a:lnTo>
                    <a:pt x="3364" y="9842"/>
                  </a:lnTo>
                  <a:lnTo>
                    <a:pt x="3564" y="9317"/>
                  </a:lnTo>
                  <a:lnTo>
                    <a:pt x="3763" y="8757"/>
                  </a:lnTo>
                  <a:lnTo>
                    <a:pt x="3963" y="8231"/>
                  </a:lnTo>
                  <a:lnTo>
                    <a:pt x="4162" y="7741"/>
                  </a:lnTo>
                  <a:lnTo>
                    <a:pt x="4361" y="7250"/>
                  </a:lnTo>
                  <a:lnTo>
                    <a:pt x="4573" y="6795"/>
                  </a:lnTo>
                  <a:lnTo>
                    <a:pt x="4785" y="6305"/>
                  </a:lnTo>
                  <a:lnTo>
                    <a:pt x="4972" y="5849"/>
                  </a:lnTo>
                  <a:lnTo>
                    <a:pt x="5171" y="5394"/>
                  </a:lnTo>
                  <a:lnTo>
                    <a:pt x="5371" y="4939"/>
                  </a:lnTo>
                  <a:lnTo>
                    <a:pt x="5570" y="4553"/>
                  </a:lnTo>
                  <a:lnTo>
                    <a:pt x="5782" y="4133"/>
                  </a:lnTo>
                  <a:lnTo>
                    <a:pt x="5981" y="3783"/>
                  </a:lnTo>
                  <a:lnTo>
                    <a:pt x="6181" y="3363"/>
                  </a:lnTo>
                  <a:lnTo>
                    <a:pt x="6380" y="3012"/>
                  </a:lnTo>
                  <a:lnTo>
                    <a:pt x="6579" y="2697"/>
                  </a:lnTo>
                  <a:lnTo>
                    <a:pt x="6791" y="2347"/>
                  </a:lnTo>
                  <a:lnTo>
                    <a:pt x="6991" y="2032"/>
                  </a:lnTo>
                  <a:lnTo>
                    <a:pt x="7202" y="1786"/>
                  </a:lnTo>
                  <a:lnTo>
                    <a:pt x="7402" y="1506"/>
                  </a:lnTo>
                  <a:lnTo>
                    <a:pt x="7614" y="1226"/>
                  </a:lnTo>
                  <a:lnTo>
                    <a:pt x="7813" y="1016"/>
                  </a:lnTo>
                  <a:lnTo>
                    <a:pt x="8025" y="806"/>
                  </a:lnTo>
                  <a:lnTo>
                    <a:pt x="8237" y="630"/>
                  </a:lnTo>
                  <a:lnTo>
                    <a:pt x="8436" y="490"/>
                  </a:lnTo>
                  <a:lnTo>
                    <a:pt x="8648" y="315"/>
                  </a:lnTo>
                  <a:lnTo>
                    <a:pt x="8860" y="210"/>
                  </a:lnTo>
                  <a:lnTo>
                    <a:pt x="9059" y="105"/>
                  </a:lnTo>
                  <a:lnTo>
                    <a:pt x="9271" y="70"/>
                  </a:lnTo>
                  <a:lnTo>
                    <a:pt x="9483" y="0"/>
                  </a:lnTo>
                  <a:lnTo>
                    <a:pt x="9695" y="0"/>
                  </a:lnTo>
                  <a:lnTo>
                    <a:pt x="9907" y="0"/>
                  </a:lnTo>
                  <a:lnTo>
                    <a:pt x="10118" y="35"/>
                  </a:lnTo>
                  <a:lnTo>
                    <a:pt x="10330" y="140"/>
                  </a:lnTo>
                  <a:lnTo>
                    <a:pt x="10555" y="245"/>
                  </a:lnTo>
                  <a:lnTo>
                    <a:pt x="10791" y="420"/>
                  </a:lnTo>
                  <a:lnTo>
                    <a:pt x="11016" y="630"/>
                  </a:lnTo>
                  <a:lnTo>
                    <a:pt x="11240" y="841"/>
                  </a:lnTo>
                  <a:lnTo>
                    <a:pt x="11477" y="1121"/>
                  </a:lnTo>
                  <a:lnTo>
                    <a:pt x="11713" y="1401"/>
                  </a:lnTo>
                  <a:lnTo>
                    <a:pt x="11963" y="1716"/>
                  </a:lnTo>
                  <a:lnTo>
                    <a:pt x="12212" y="2067"/>
                  </a:lnTo>
                  <a:lnTo>
                    <a:pt x="12461" y="2452"/>
                  </a:lnTo>
                  <a:lnTo>
                    <a:pt x="12710" y="2837"/>
                  </a:lnTo>
                  <a:lnTo>
                    <a:pt x="12960" y="3222"/>
                  </a:lnTo>
                  <a:lnTo>
                    <a:pt x="13196" y="3713"/>
                  </a:lnTo>
                  <a:lnTo>
                    <a:pt x="13445" y="4168"/>
                  </a:lnTo>
                  <a:lnTo>
                    <a:pt x="13707" y="4623"/>
                  </a:lnTo>
                  <a:lnTo>
                    <a:pt x="13956" y="5114"/>
                  </a:lnTo>
                  <a:lnTo>
                    <a:pt x="14206" y="5604"/>
                  </a:lnTo>
                  <a:lnTo>
                    <a:pt x="14442" y="6165"/>
                  </a:lnTo>
                  <a:lnTo>
                    <a:pt x="14692" y="6655"/>
                  </a:lnTo>
                  <a:lnTo>
                    <a:pt x="14953" y="7215"/>
                  </a:lnTo>
                  <a:lnTo>
                    <a:pt x="15202" y="7741"/>
                  </a:lnTo>
                  <a:lnTo>
                    <a:pt x="15452" y="8336"/>
                  </a:lnTo>
                  <a:lnTo>
                    <a:pt x="15688" y="8862"/>
                  </a:lnTo>
                  <a:lnTo>
                    <a:pt x="15925" y="9387"/>
                  </a:lnTo>
                  <a:lnTo>
                    <a:pt x="16150" y="9912"/>
                  </a:lnTo>
                  <a:lnTo>
                    <a:pt x="16386" y="10508"/>
                  </a:lnTo>
                  <a:lnTo>
                    <a:pt x="16611" y="11068"/>
                  </a:lnTo>
                  <a:lnTo>
                    <a:pt x="16847" y="11594"/>
                  </a:lnTo>
                  <a:lnTo>
                    <a:pt x="17072" y="12154"/>
                  </a:lnTo>
                  <a:lnTo>
                    <a:pt x="17283" y="12680"/>
                  </a:lnTo>
                  <a:lnTo>
                    <a:pt x="17495" y="13205"/>
                  </a:lnTo>
                  <a:lnTo>
                    <a:pt x="17720" y="13730"/>
                  </a:lnTo>
                  <a:lnTo>
                    <a:pt x="17919" y="14221"/>
                  </a:lnTo>
                  <a:lnTo>
                    <a:pt x="18118" y="14746"/>
                  </a:lnTo>
                  <a:lnTo>
                    <a:pt x="18305" y="15236"/>
                  </a:lnTo>
                  <a:lnTo>
                    <a:pt x="18492" y="15692"/>
                  </a:lnTo>
                  <a:lnTo>
                    <a:pt x="18679" y="16112"/>
                  </a:lnTo>
                  <a:lnTo>
                    <a:pt x="18854" y="16567"/>
                  </a:lnTo>
                  <a:lnTo>
                    <a:pt x="19016" y="16988"/>
                  </a:lnTo>
                  <a:lnTo>
                    <a:pt x="19178" y="17338"/>
                  </a:lnTo>
                  <a:lnTo>
                    <a:pt x="19340" y="17688"/>
                  </a:lnTo>
                  <a:lnTo>
                    <a:pt x="19489" y="18074"/>
                  </a:lnTo>
                  <a:lnTo>
                    <a:pt x="19614" y="18319"/>
                  </a:lnTo>
                  <a:lnTo>
                    <a:pt x="19751" y="18634"/>
                  </a:lnTo>
                  <a:lnTo>
                    <a:pt x="19875" y="18914"/>
                  </a:lnTo>
                  <a:lnTo>
                    <a:pt x="19988" y="19124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3" name="Freeform 135">
              <a:extLst>
                <a:ext uri="{FF2B5EF4-FFF2-40B4-BE49-F238E27FC236}">
                  <a16:creationId xmlns:a16="http://schemas.microsoft.com/office/drawing/2014/main" id="{75273F9D-69CC-D61B-EBAC-F1FEC226294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672" y="3532"/>
              <a:ext cx="703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880"/>
                  </a:moveTo>
                  <a:lnTo>
                    <a:pt x="225" y="1489"/>
                  </a:lnTo>
                  <a:lnTo>
                    <a:pt x="437" y="2098"/>
                  </a:lnTo>
                  <a:lnTo>
                    <a:pt x="662" y="2707"/>
                  </a:lnTo>
                  <a:lnTo>
                    <a:pt x="887" y="3283"/>
                  </a:lnTo>
                  <a:lnTo>
                    <a:pt x="1099" y="3892"/>
                  </a:lnTo>
                  <a:lnTo>
                    <a:pt x="1325" y="4501"/>
                  </a:lnTo>
                  <a:lnTo>
                    <a:pt x="1550" y="5076"/>
                  </a:lnTo>
                  <a:lnTo>
                    <a:pt x="1762" y="5685"/>
                  </a:lnTo>
                  <a:lnTo>
                    <a:pt x="1987" y="6261"/>
                  </a:lnTo>
                  <a:lnTo>
                    <a:pt x="2225" y="6802"/>
                  </a:lnTo>
                  <a:lnTo>
                    <a:pt x="2450" y="7377"/>
                  </a:lnTo>
                  <a:lnTo>
                    <a:pt x="2675" y="7953"/>
                  </a:lnTo>
                  <a:lnTo>
                    <a:pt x="2887" y="8494"/>
                  </a:lnTo>
                  <a:lnTo>
                    <a:pt x="3113" y="9103"/>
                  </a:lnTo>
                  <a:lnTo>
                    <a:pt x="3338" y="9611"/>
                  </a:lnTo>
                  <a:lnTo>
                    <a:pt x="3550" y="10186"/>
                  </a:lnTo>
                  <a:lnTo>
                    <a:pt x="3775" y="10694"/>
                  </a:lnTo>
                  <a:lnTo>
                    <a:pt x="4000" y="11235"/>
                  </a:lnTo>
                  <a:lnTo>
                    <a:pt x="4225" y="11743"/>
                  </a:lnTo>
                  <a:lnTo>
                    <a:pt x="4437" y="12250"/>
                  </a:lnTo>
                  <a:lnTo>
                    <a:pt x="4662" y="12724"/>
                  </a:lnTo>
                  <a:lnTo>
                    <a:pt x="4887" y="13164"/>
                  </a:lnTo>
                  <a:lnTo>
                    <a:pt x="5113" y="13638"/>
                  </a:lnTo>
                  <a:lnTo>
                    <a:pt x="5338" y="14078"/>
                  </a:lnTo>
                  <a:lnTo>
                    <a:pt x="5550" y="14552"/>
                  </a:lnTo>
                  <a:lnTo>
                    <a:pt x="5762" y="14992"/>
                  </a:lnTo>
                  <a:lnTo>
                    <a:pt x="5974" y="15398"/>
                  </a:lnTo>
                  <a:lnTo>
                    <a:pt x="6199" y="15804"/>
                  </a:lnTo>
                  <a:lnTo>
                    <a:pt x="6424" y="16210"/>
                  </a:lnTo>
                  <a:lnTo>
                    <a:pt x="6636" y="16548"/>
                  </a:lnTo>
                  <a:lnTo>
                    <a:pt x="6861" y="16920"/>
                  </a:lnTo>
                  <a:lnTo>
                    <a:pt x="7086" y="17259"/>
                  </a:lnTo>
                  <a:lnTo>
                    <a:pt x="7285" y="17530"/>
                  </a:lnTo>
                  <a:lnTo>
                    <a:pt x="7510" y="17868"/>
                  </a:lnTo>
                  <a:lnTo>
                    <a:pt x="7735" y="18173"/>
                  </a:lnTo>
                  <a:lnTo>
                    <a:pt x="7960" y="18376"/>
                  </a:lnTo>
                  <a:lnTo>
                    <a:pt x="8159" y="18646"/>
                  </a:lnTo>
                  <a:lnTo>
                    <a:pt x="8371" y="18883"/>
                  </a:lnTo>
                  <a:lnTo>
                    <a:pt x="8583" y="19120"/>
                  </a:lnTo>
                  <a:lnTo>
                    <a:pt x="8808" y="19289"/>
                  </a:lnTo>
                  <a:lnTo>
                    <a:pt x="9020" y="19459"/>
                  </a:lnTo>
                  <a:lnTo>
                    <a:pt x="9232" y="19594"/>
                  </a:lnTo>
                  <a:lnTo>
                    <a:pt x="9444" y="19695"/>
                  </a:lnTo>
                  <a:lnTo>
                    <a:pt x="9642" y="19831"/>
                  </a:lnTo>
                  <a:lnTo>
                    <a:pt x="9854" y="19865"/>
                  </a:lnTo>
                  <a:lnTo>
                    <a:pt x="10079" y="19932"/>
                  </a:lnTo>
                  <a:lnTo>
                    <a:pt x="10291" y="19966"/>
                  </a:lnTo>
                  <a:lnTo>
                    <a:pt x="10503" y="19932"/>
                  </a:lnTo>
                  <a:lnTo>
                    <a:pt x="10702" y="19932"/>
                  </a:lnTo>
                  <a:lnTo>
                    <a:pt x="10914" y="19865"/>
                  </a:lnTo>
                  <a:lnTo>
                    <a:pt x="11126" y="19763"/>
                  </a:lnTo>
                  <a:lnTo>
                    <a:pt x="11338" y="19662"/>
                  </a:lnTo>
                  <a:lnTo>
                    <a:pt x="11563" y="19425"/>
                  </a:lnTo>
                  <a:lnTo>
                    <a:pt x="11788" y="19222"/>
                  </a:lnTo>
                  <a:lnTo>
                    <a:pt x="12000" y="18985"/>
                  </a:lnTo>
                  <a:lnTo>
                    <a:pt x="12225" y="18714"/>
                  </a:lnTo>
                  <a:lnTo>
                    <a:pt x="12450" y="18376"/>
                  </a:lnTo>
                  <a:lnTo>
                    <a:pt x="12689" y="18071"/>
                  </a:lnTo>
                  <a:lnTo>
                    <a:pt x="12914" y="17699"/>
                  </a:lnTo>
                  <a:lnTo>
                    <a:pt x="13152" y="17259"/>
                  </a:lnTo>
                  <a:lnTo>
                    <a:pt x="13377" y="16887"/>
                  </a:lnTo>
                  <a:lnTo>
                    <a:pt x="13616" y="16447"/>
                  </a:lnTo>
                  <a:lnTo>
                    <a:pt x="13841" y="16007"/>
                  </a:lnTo>
                  <a:lnTo>
                    <a:pt x="14066" y="15533"/>
                  </a:lnTo>
                  <a:lnTo>
                    <a:pt x="14291" y="15025"/>
                  </a:lnTo>
                  <a:lnTo>
                    <a:pt x="14530" y="14518"/>
                  </a:lnTo>
                  <a:lnTo>
                    <a:pt x="14755" y="13976"/>
                  </a:lnTo>
                  <a:lnTo>
                    <a:pt x="14993" y="13469"/>
                  </a:lnTo>
                  <a:lnTo>
                    <a:pt x="15219" y="12927"/>
                  </a:lnTo>
                  <a:lnTo>
                    <a:pt x="15444" y="12352"/>
                  </a:lnTo>
                  <a:lnTo>
                    <a:pt x="15682" y="11777"/>
                  </a:lnTo>
                  <a:lnTo>
                    <a:pt x="15894" y="11201"/>
                  </a:lnTo>
                  <a:lnTo>
                    <a:pt x="16106" y="10626"/>
                  </a:lnTo>
                  <a:lnTo>
                    <a:pt x="16318" y="10051"/>
                  </a:lnTo>
                  <a:lnTo>
                    <a:pt x="16530" y="9509"/>
                  </a:lnTo>
                  <a:lnTo>
                    <a:pt x="16742" y="8934"/>
                  </a:lnTo>
                  <a:lnTo>
                    <a:pt x="16954" y="8325"/>
                  </a:lnTo>
                  <a:lnTo>
                    <a:pt x="17152" y="7783"/>
                  </a:lnTo>
                  <a:lnTo>
                    <a:pt x="17351" y="7242"/>
                  </a:lnTo>
                  <a:lnTo>
                    <a:pt x="17550" y="6667"/>
                  </a:lnTo>
                  <a:lnTo>
                    <a:pt x="17735" y="6125"/>
                  </a:lnTo>
                  <a:lnTo>
                    <a:pt x="17934" y="5584"/>
                  </a:lnTo>
                  <a:lnTo>
                    <a:pt x="18119" y="5042"/>
                  </a:lnTo>
                  <a:lnTo>
                    <a:pt x="18291" y="4535"/>
                  </a:lnTo>
                  <a:lnTo>
                    <a:pt x="18464" y="4061"/>
                  </a:lnTo>
                  <a:lnTo>
                    <a:pt x="18636" y="3553"/>
                  </a:lnTo>
                  <a:lnTo>
                    <a:pt x="18795" y="3113"/>
                  </a:lnTo>
                  <a:lnTo>
                    <a:pt x="18954" y="2640"/>
                  </a:lnTo>
                  <a:lnTo>
                    <a:pt x="19099" y="2234"/>
                  </a:lnTo>
                  <a:lnTo>
                    <a:pt x="19258" y="1827"/>
                  </a:lnTo>
                  <a:lnTo>
                    <a:pt x="19391" y="1455"/>
                  </a:lnTo>
                  <a:lnTo>
                    <a:pt x="19523" y="1083"/>
                  </a:lnTo>
                  <a:lnTo>
                    <a:pt x="19642" y="778"/>
                  </a:lnTo>
                  <a:lnTo>
                    <a:pt x="19775" y="508"/>
                  </a:lnTo>
                  <a:lnTo>
                    <a:pt x="19881" y="203"/>
                  </a:lnTo>
                  <a:lnTo>
                    <a:pt x="19987" y="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4" name="Rectangle 136">
              <a:extLst>
                <a:ext uri="{FF2B5EF4-FFF2-40B4-BE49-F238E27FC236}">
                  <a16:creationId xmlns:a16="http://schemas.microsoft.com/office/drawing/2014/main" id="{F0B3162B-C50F-E00B-D050-5F3280525F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66" y="3223"/>
              <a:ext cx="247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ea typeface="宋体" panose="02010600030101010101" pitchFamily="2" charset="-122"/>
                </a:rPr>
                <a:t>x</a:t>
              </a:r>
              <a:endParaRPr lang="en-US" altLang="zh-CN" sz="2800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01513" name="Object 137">
            <a:extLst>
              <a:ext uri="{FF2B5EF4-FFF2-40B4-BE49-F238E27FC236}">
                <a16:creationId xmlns:a16="http://schemas.microsoft.com/office/drawing/2014/main" id="{DC759D22-1EFC-1BC0-079F-C28608EC4F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2997200"/>
          <a:ext cx="41767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895556" imgH="304800" progId="Equation.3">
                  <p:embed/>
                </p:oleObj>
              </mc:Choice>
              <mc:Fallback>
                <p:oleObj name="公式" r:id="rId8" imgW="3895556" imgH="304800" progId="Equation.3">
                  <p:embed/>
                  <p:pic>
                    <p:nvPicPr>
                      <p:cNvPr id="0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997200"/>
                        <a:ext cx="41767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514" name="Object 138">
            <a:extLst>
              <a:ext uri="{FF2B5EF4-FFF2-40B4-BE49-F238E27FC236}">
                <a16:creationId xmlns:a16="http://schemas.microsoft.com/office/drawing/2014/main" id="{956B038D-6AEF-FB87-663F-9569A2786D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9588" y="3644900"/>
          <a:ext cx="33686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190868" imgH="276225" progId="Equation.3">
                  <p:embed/>
                </p:oleObj>
              </mc:Choice>
              <mc:Fallback>
                <p:oleObj name="公式" r:id="rId10" imgW="3190868" imgH="276225" progId="Equation.3">
                  <p:embed/>
                  <p:pic>
                    <p:nvPicPr>
                      <p:cNvPr id="0" name="Object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588" y="3644900"/>
                        <a:ext cx="33686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515" name="Object 139">
            <a:extLst>
              <a:ext uri="{FF2B5EF4-FFF2-40B4-BE49-F238E27FC236}">
                <a16:creationId xmlns:a16="http://schemas.microsoft.com/office/drawing/2014/main" id="{38CD19AD-B9D7-9056-9E29-349A7DD549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4076700"/>
          <a:ext cx="273685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95335" imgH="123825" progId="Equation.3">
                  <p:embed/>
                </p:oleObj>
              </mc:Choice>
              <mc:Fallback>
                <p:oleObj name="Equation" r:id="rId12" imgW="895335" imgH="123825" progId="Equation.3">
                  <p:embed/>
                  <p:pic>
                    <p:nvPicPr>
                      <p:cNvPr id="0" name="Object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076700"/>
                        <a:ext cx="2736850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516" name="Text Box 140">
            <a:extLst>
              <a:ext uri="{FF2B5EF4-FFF2-40B4-BE49-F238E27FC236}">
                <a16:creationId xmlns:a16="http://schemas.microsoft.com/office/drawing/2014/main" id="{B3A8CDB0-72A0-42B3-185D-B6FDE0800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4197350"/>
            <a:ext cx="2433637" cy="455613"/>
          </a:xfrm>
          <a:prstGeom prst="rect">
            <a:avLst/>
          </a:prstGeom>
          <a:noFill/>
          <a:ln w="12700">
            <a:solidFill>
              <a:srgbClr val="FFFFFF">
                <a:alpha val="0"/>
              </a:srgbClr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300">
                <a:latin typeface="华文中宋" panose="02010600040101010101" pitchFamily="2" charset="-122"/>
              </a:rPr>
              <a:t>合振幅最小</a:t>
            </a:r>
          </a:p>
        </p:txBody>
      </p:sp>
      <p:sp>
        <p:nvSpPr>
          <p:cNvPr id="101517" name="Text Box 141">
            <a:extLst>
              <a:ext uri="{FF2B5EF4-FFF2-40B4-BE49-F238E27FC236}">
                <a16:creationId xmlns:a16="http://schemas.microsoft.com/office/drawing/2014/main" id="{8FD1184C-F617-DC84-C817-58AA3181C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300663"/>
            <a:ext cx="43211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300">
                <a:solidFill>
                  <a:srgbClr val="000066"/>
                </a:solidFill>
              </a:rPr>
              <a:t>当</a:t>
            </a:r>
            <a:r>
              <a:rPr lang="zh-CN" altLang="en-US">
                <a:solidFill>
                  <a:srgbClr val="000092"/>
                </a:solidFill>
              </a:rPr>
              <a:t>  </a:t>
            </a:r>
            <a:r>
              <a:rPr lang="en-US" altLang="zh-CN" sz="3000" i="1">
                <a:solidFill>
                  <a:srgbClr val="800000"/>
                </a:solidFill>
              </a:rPr>
              <a:t>A</a:t>
            </a:r>
            <a:r>
              <a:rPr lang="en-US" altLang="zh-CN" sz="3200" baseline="-25000">
                <a:solidFill>
                  <a:srgbClr val="800000"/>
                </a:solidFill>
              </a:rPr>
              <a:t>1 </a:t>
            </a:r>
            <a:r>
              <a:rPr lang="en-US" altLang="zh-CN" sz="3000">
                <a:solidFill>
                  <a:srgbClr val="800000"/>
                </a:solidFill>
              </a:rPr>
              <a:t>= </a:t>
            </a:r>
            <a:r>
              <a:rPr lang="en-US" altLang="zh-CN" sz="3000" i="1">
                <a:solidFill>
                  <a:srgbClr val="800000"/>
                </a:solidFill>
              </a:rPr>
              <a:t>A</a:t>
            </a:r>
            <a:r>
              <a:rPr lang="en-US" altLang="zh-CN" sz="3200" baseline="-25000">
                <a:solidFill>
                  <a:srgbClr val="800000"/>
                </a:solidFill>
              </a:rPr>
              <a:t>2</a:t>
            </a:r>
            <a:r>
              <a:rPr lang="en-US" altLang="zh-CN" sz="2800" baseline="-25000">
                <a:solidFill>
                  <a:srgbClr val="000092"/>
                </a:solidFill>
              </a:rPr>
              <a:t>  </a:t>
            </a:r>
            <a:r>
              <a:rPr lang="zh-CN" altLang="en-US" sz="2300">
                <a:solidFill>
                  <a:srgbClr val="000066"/>
                </a:solidFill>
              </a:rPr>
              <a:t>时，</a:t>
            </a:r>
            <a:r>
              <a:rPr lang="zh-CN" altLang="en-US" sz="2300"/>
              <a:t>静止</a:t>
            </a:r>
            <a:r>
              <a:rPr lang="zh-CN" altLang="en-US" sz="2300">
                <a:solidFill>
                  <a:srgbClr val="000080"/>
                </a:solidFill>
              </a:rPr>
              <a:t>。</a:t>
            </a:r>
          </a:p>
        </p:txBody>
      </p:sp>
      <p:grpSp>
        <p:nvGrpSpPr>
          <p:cNvPr id="101530" name="Group 154">
            <a:extLst>
              <a:ext uri="{FF2B5EF4-FFF2-40B4-BE49-F238E27FC236}">
                <a16:creationId xmlns:a16="http://schemas.microsoft.com/office/drawing/2014/main" id="{2942E0C0-2363-62AD-A210-73A18F96EAE9}"/>
              </a:ext>
            </a:extLst>
          </p:cNvPr>
          <p:cNvGrpSpPr>
            <a:grpSpLocks/>
          </p:cNvGrpSpPr>
          <p:nvPr/>
        </p:nvGrpSpPr>
        <p:grpSpPr bwMode="auto">
          <a:xfrm>
            <a:off x="5740400" y="4437063"/>
            <a:ext cx="3092450" cy="1439862"/>
            <a:chOff x="3616" y="3158"/>
            <a:chExt cx="1948" cy="907"/>
          </a:xfrm>
        </p:grpSpPr>
        <p:sp>
          <p:nvSpPr>
            <p:cNvPr id="37910" name="Rectangle 143">
              <a:extLst>
                <a:ext uri="{FF2B5EF4-FFF2-40B4-BE49-F238E27FC236}">
                  <a16:creationId xmlns:a16="http://schemas.microsoft.com/office/drawing/2014/main" id="{2D7E6105-13FD-2057-3C07-F5D4746F74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48" y="3755"/>
              <a:ext cx="21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600" i="1">
                  <a:solidFill>
                    <a:srgbClr val="000092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sz="2600" baseline="-25000">
                  <a:solidFill>
                    <a:srgbClr val="000092"/>
                  </a:solidFill>
                  <a:ea typeface="宋体" panose="02010600030101010101" pitchFamily="2" charset="-122"/>
                </a:rPr>
                <a:t>2</a:t>
              </a:r>
              <a:endParaRPr lang="en-US" altLang="zh-CN" sz="2600">
                <a:solidFill>
                  <a:srgbClr val="00009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7911" name="Freeform 144">
              <a:extLst>
                <a:ext uri="{FF2B5EF4-FFF2-40B4-BE49-F238E27FC236}">
                  <a16:creationId xmlns:a16="http://schemas.microsoft.com/office/drawing/2014/main" id="{F68B0957-E695-251A-8CC3-1F761A73F88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97" y="3499"/>
              <a:ext cx="747" cy="1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101"/>
                  </a:moveTo>
                  <a:lnTo>
                    <a:pt x="225" y="18502"/>
                  </a:lnTo>
                  <a:lnTo>
                    <a:pt x="437" y="17889"/>
                  </a:lnTo>
                  <a:lnTo>
                    <a:pt x="662" y="17290"/>
                  </a:lnTo>
                  <a:lnTo>
                    <a:pt x="887" y="16662"/>
                  </a:lnTo>
                  <a:lnTo>
                    <a:pt x="1099" y="16077"/>
                  </a:lnTo>
                  <a:lnTo>
                    <a:pt x="1325" y="15492"/>
                  </a:lnTo>
                  <a:lnTo>
                    <a:pt x="1550" y="14893"/>
                  </a:lnTo>
                  <a:lnTo>
                    <a:pt x="1762" y="14308"/>
                  </a:lnTo>
                  <a:lnTo>
                    <a:pt x="1987" y="13738"/>
                  </a:lnTo>
                  <a:lnTo>
                    <a:pt x="2225" y="13153"/>
                  </a:lnTo>
                  <a:lnTo>
                    <a:pt x="2450" y="12582"/>
                  </a:lnTo>
                  <a:lnTo>
                    <a:pt x="2675" y="12026"/>
                  </a:lnTo>
                  <a:lnTo>
                    <a:pt x="2887" y="11455"/>
                  </a:lnTo>
                  <a:lnTo>
                    <a:pt x="3113" y="10884"/>
                  </a:lnTo>
                  <a:lnTo>
                    <a:pt x="3338" y="10342"/>
                  </a:lnTo>
                  <a:lnTo>
                    <a:pt x="3550" y="9815"/>
                  </a:lnTo>
                  <a:lnTo>
                    <a:pt x="3775" y="9287"/>
                  </a:lnTo>
                  <a:lnTo>
                    <a:pt x="4000" y="8759"/>
                  </a:lnTo>
                  <a:lnTo>
                    <a:pt x="4225" y="8231"/>
                  </a:lnTo>
                  <a:lnTo>
                    <a:pt x="4437" y="7732"/>
                  </a:lnTo>
                  <a:lnTo>
                    <a:pt x="4662" y="7247"/>
                  </a:lnTo>
                  <a:lnTo>
                    <a:pt x="4887" y="6805"/>
                  </a:lnTo>
                  <a:lnTo>
                    <a:pt x="5113" y="6334"/>
                  </a:lnTo>
                  <a:lnTo>
                    <a:pt x="5338" y="5892"/>
                  </a:lnTo>
                  <a:lnTo>
                    <a:pt x="5550" y="5421"/>
                  </a:lnTo>
                  <a:lnTo>
                    <a:pt x="5762" y="4993"/>
                  </a:lnTo>
                  <a:lnTo>
                    <a:pt x="5974" y="4579"/>
                  </a:lnTo>
                  <a:lnTo>
                    <a:pt x="6199" y="4165"/>
                  </a:lnTo>
                  <a:lnTo>
                    <a:pt x="6424" y="3780"/>
                  </a:lnTo>
                  <a:lnTo>
                    <a:pt x="6636" y="3409"/>
                  </a:lnTo>
                  <a:lnTo>
                    <a:pt x="6861" y="3067"/>
                  </a:lnTo>
                  <a:lnTo>
                    <a:pt x="7086" y="2725"/>
                  </a:lnTo>
                  <a:lnTo>
                    <a:pt x="7285" y="2411"/>
                  </a:lnTo>
                  <a:lnTo>
                    <a:pt x="7510" y="2097"/>
                  </a:lnTo>
                  <a:lnTo>
                    <a:pt x="7735" y="1826"/>
                  </a:lnTo>
                  <a:lnTo>
                    <a:pt x="7960" y="1555"/>
                  </a:lnTo>
                  <a:lnTo>
                    <a:pt x="8159" y="1298"/>
                  </a:lnTo>
                  <a:lnTo>
                    <a:pt x="8371" y="1056"/>
                  </a:lnTo>
                  <a:lnTo>
                    <a:pt x="8583" y="842"/>
                  </a:lnTo>
                  <a:lnTo>
                    <a:pt x="8808" y="670"/>
                  </a:lnTo>
                  <a:lnTo>
                    <a:pt x="9020" y="499"/>
                  </a:lnTo>
                  <a:lnTo>
                    <a:pt x="9232" y="385"/>
                  </a:lnTo>
                  <a:lnTo>
                    <a:pt x="9444" y="243"/>
                  </a:lnTo>
                  <a:lnTo>
                    <a:pt x="9642" y="128"/>
                  </a:lnTo>
                  <a:lnTo>
                    <a:pt x="9854" y="86"/>
                  </a:lnTo>
                  <a:lnTo>
                    <a:pt x="10079" y="14"/>
                  </a:lnTo>
                  <a:lnTo>
                    <a:pt x="10291" y="0"/>
                  </a:lnTo>
                  <a:lnTo>
                    <a:pt x="10503" y="14"/>
                  </a:lnTo>
                  <a:lnTo>
                    <a:pt x="10702" y="14"/>
                  </a:lnTo>
                  <a:lnTo>
                    <a:pt x="10914" y="86"/>
                  </a:lnTo>
                  <a:lnTo>
                    <a:pt x="11126" y="214"/>
                  </a:lnTo>
                  <a:lnTo>
                    <a:pt x="11338" y="328"/>
                  </a:lnTo>
                  <a:lnTo>
                    <a:pt x="11563" y="514"/>
                  </a:lnTo>
                  <a:lnTo>
                    <a:pt x="11788" y="756"/>
                  </a:lnTo>
                  <a:lnTo>
                    <a:pt x="12000" y="984"/>
                  </a:lnTo>
                  <a:lnTo>
                    <a:pt x="12225" y="1255"/>
                  </a:lnTo>
                  <a:lnTo>
                    <a:pt x="12450" y="1555"/>
                  </a:lnTo>
                  <a:lnTo>
                    <a:pt x="12689" y="1912"/>
                  </a:lnTo>
                  <a:lnTo>
                    <a:pt x="12914" y="2268"/>
                  </a:lnTo>
                  <a:lnTo>
                    <a:pt x="13152" y="2696"/>
                  </a:lnTo>
                  <a:lnTo>
                    <a:pt x="13377" y="3096"/>
                  </a:lnTo>
                  <a:lnTo>
                    <a:pt x="13616" y="3524"/>
                  </a:lnTo>
                  <a:lnTo>
                    <a:pt x="13841" y="3980"/>
                  </a:lnTo>
                  <a:lnTo>
                    <a:pt x="14066" y="4451"/>
                  </a:lnTo>
                  <a:lnTo>
                    <a:pt x="14291" y="4936"/>
                  </a:lnTo>
                  <a:lnTo>
                    <a:pt x="14530" y="5464"/>
                  </a:lnTo>
                  <a:lnTo>
                    <a:pt x="14755" y="6006"/>
                  </a:lnTo>
                  <a:lnTo>
                    <a:pt x="14993" y="6519"/>
                  </a:lnTo>
                  <a:lnTo>
                    <a:pt x="15219" y="7061"/>
                  </a:lnTo>
                  <a:lnTo>
                    <a:pt x="15444" y="7632"/>
                  </a:lnTo>
                  <a:lnTo>
                    <a:pt x="15682" y="8188"/>
                  </a:lnTo>
                  <a:lnTo>
                    <a:pt x="15894" y="8773"/>
                  </a:lnTo>
                  <a:lnTo>
                    <a:pt x="16106" y="9358"/>
                  </a:lnTo>
                  <a:lnTo>
                    <a:pt x="16318" y="9914"/>
                  </a:lnTo>
                  <a:lnTo>
                    <a:pt x="16530" y="10471"/>
                  </a:lnTo>
                  <a:lnTo>
                    <a:pt x="16742" y="11041"/>
                  </a:lnTo>
                  <a:lnTo>
                    <a:pt x="16954" y="11626"/>
                  </a:lnTo>
                  <a:lnTo>
                    <a:pt x="17152" y="12183"/>
                  </a:lnTo>
                  <a:lnTo>
                    <a:pt x="17351" y="12753"/>
                  </a:lnTo>
                  <a:lnTo>
                    <a:pt x="17550" y="13295"/>
                  </a:lnTo>
                  <a:lnTo>
                    <a:pt x="17735" y="13852"/>
                  </a:lnTo>
                  <a:lnTo>
                    <a:pt x="17934" y="14394"/>
                  </a:lnTo>
                  <a:lnTo>
                    <a:pt x="18119" y="14936"/>
                  </a:lnTo>
                  <a:lnTo>
                    <a:pt x="18291" y="15435"/>
                  </a:lnTo>
                  <a:lnTo>
                    <a:pt x="18464" y="15949"/>
                  </a:lnTo>
                  <a:lnTo>
                    <a:pt x="18636" y="16419"/>
                  </a:lnTo>
                  <a:lnTo>
                    <a:pt x="18795" y="16862"/>
                  </a:lnTo>
                  <a:lnTo>
                    <a:pt x="18954" y="17332"/>
                  </a:lnTo>
                  <a:lnTo>
                    <a:pt x="19099" y="17746"/>
                  </a:lnTo>
                  <a:lnTo>
                    <a:pt x="19258" y="18146"/>
                  </a:lnTo>
                  <a:lnTo>
                    <a:pt x="19391" y="18545"/>
                  </a:lnTo>
                  <a:lnTo>
                    <a:pt x="19523" y="18887"/>
                  </a:lnTo>
                  <a:lnTo>
                    <a:pt x="19642" y="19187"/>
                  </a:lnTo>
                  <a:lnTo>
                    <a:pt x="19775" y="19515"/>
                  </a:lnTo>
                  <a:lnTo>
                    <a:pt x="19881" y="19772"/>
                  </a:lnTo>
                  <a:lnTo>
                    <a:pt x="19987" y="19986"/>
                  </a:lnTo>
                </a:path>
              </a:pathLst>
            </a:custGeom>
            <a:noFill/>
            <a:ln w="38100" cmpd="sng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2" name="Freeform 145">
              <a:extLst>
                <a:ext uri="{FF2B5EF4-FFF2-40B4-BE49-F238E27FC236}">
                  <a16:creationId xmlns:a16="http://schemas.microsoft.com/office/drawing/2014/main" id="{7B804FDD-A8DC-C72D-B662-48A74ADCB0D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520" y="3658"/>
              <a:ext cx="701" cy="17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99" y="620"/>
                  </a:lnTo>
                  <a:lnTo>
                    <a:pt x="399" y="1255"/>
                  </a:lnTo>
                  <a:lnTo>
                    <a:pt x="598" y="1875"/>
                  </a:lnTo>
                  <a:lnTo>
                    <a:pt x="798" y="2524"/>
                  </a:lnTo>
                  <a:lnTo>
                    <a:pt x="984" y="3144"/>
                  </a:lnTo>
                  <a:lnTo>
                    <a:pt x="1184" y="3734"/>
                  </a:lnTo>
                  <a:lnTo>
                    <a:pt x="1383" y="4354"/>
                  </a:lnTo>
                  <a:lnTo>
                    <a:pt x="1583" y="4959"/>
                  </a:lnTo>
                  <a:lnTo>
                    <a:pt x="1782" y="5565"/>
                  </a:lnTo>
                  <a:lnTo>
                    <a:pt x="1981" y="6155"/>
                  </a:lnTo>
                  <a:lnTo>
                    <a:pt x="2181" y="6745"/>
                  </a:lnTo>
                  <a:lnTo>
                    <a:pt x="2380" y="7292"/>
                  </a:lnTo>
                  <a:lnTo>
                    <a:pt x="2567" y="7897"/>
                  </a:lnTo>
                  <a:lnTo>
                    <a:pt x="2766" y="8472"/>
                  </a:lnTo>
                  <a:lnTo>
                    <a:pt x="2966" y="9033"/>
                  </a:lnTo>
                  <a:lnTo>
                    <a:pt x="3165" y="9594"/>
                  </a:lnTo>
                  <a:lnTo>
                    <a:pt x="3364" y="10140"/>
                  </a:lnTo>
                  <a:lnTo>
                    <a:pt x="3564" y="10672"/>
                  </a:lnTo>
                  <a:lnTo>
                    <a:pt x="3763" y="11203"/>
                  </a:lnTo>
                  <a:lnTo>
                    <a:pt x="3963" y="11720"/>
                  </a:lnTo>
                  <a:lnTo>
                    <a:pt x="4162" y="12236"/>
                  </a:lnTo>
                  <a:lnTo>
                    <a:pt x="4361" y="12708"/>
                  </a:lnTo>
                  <a:lnTo>
                    <a:pt x="4573" y="13196"/>
                  </a:lnTo>
                  <a:lnTo>
                    <a:pt x="4785" y="13653"/>
                  </a:lnTo>
                  <a:lnTo>
                    <a:pt x="4972" y="14140"/>
                  </a:lnTo>
                  <a:lnTo>
                    <a:pt x="5171" y="14583"/>
                  </a:lnTo>
                  <a:lnTo>
                    <a:pt x="5371" y="15011"/>
                  </a:lnTo>
                  <a:lnTo>
                    <a:pt x="5570" y="15439"/>
                  </a:lnTo>
                  <a:lnTo>
                    <a:pt x="5782" y="15838"/>
                  </a:lnTo>
                  <a:lnTo>
                    <a:pt x="5981" y="16207"/>
                  </a:lnTo>
                  <a:lnTo>
                    <a:pt x="6181" y="16605"/>
                  </a:lnTo>
                  <a:lnTo>
                    <a:pt x="6380" y="16959"/>
                  </a:lnTo>
                  <a:lnTo>
                    <a:pt x="6579" y="17299"/>
                  </a:lnTo>
                  <a:lnTo>
                    <a:pt x="6791" y="17609"/>
                  </a:lnTo>
                  <a:lnTo>
                    <a:pt x="6991" y="17919"/>
                  </a:lnTo>
                  <a:lnTo>
                    <a:pt x="7202" y="18185"/>
                  </a:lnTo>
                  <a:lnTo>
                    <a:pt x="7402" y="18480"/>
                  </a:lnTo>
                  <a:lnTo>
                    <a:pt x="7614" y="18731"/>
                  </a:lnTo>
                  <a:lnTo>
                    <a:pt x="7813" y="18952"/>
                  </a:lnTo>
                  <a:lnTo>
                    <a:pt x="8025" y="19159"/>
                  </a:lnTo>
                  <a:lnTo>
                    <a:pt x="8237" y="19336"/>
                  </a:lnTo>
                  <a:lnTo>
                    <a:pt x="8436" y="19483"/>
                  </a:lnTo>
                  <a:lnTo>
                    <a:pt x="8648" y="19646"/>
                  </a:lnTo>
                  <a:lnTo>
                    <a:pt x="8860" y="19764"/>
                  </a:lnTo>
                  <a:lnTo>
                    <a:pt x="9059" y="19867"/>
                  </a:lnTo>
                  <a:lnTo>
                    <a:pt x="9271" y="19911"/>
                  </a:lnTo>
                  <a:lnTo>
                    <a:pt x="9483" y="19956"/>
                  </a:lnTo>
                  <a:lnTo>
                    <a:pt x="9695" y="19956"/>
                  </a:lnTo>
                  <a:lnTo>
                    <a:pt x="9907" y="19985"/>
                  </a:lnTo>
                  <a:lnTo>
                    <a:pt x="10118" y="19941"/>
                  </a:lnTo>
                  <a:lnTo>
                    <a:pt x="10330" y="19823"/>
                  </a:lnTo>
                  <a:lnTo>
                    <a:pt x="10555" y="19720"/>
                  </a:lnTo>
                  <a:lnTo>
                    <a:pt x="10791" y="19557"/>
                  </a:lnTo>
                  <a:lnTo>
                    <a:pt x="11016" y="19336"/>
                  </a:lnTo>
                  <a:lnTo>
                    <a:pt x="11240" y="19129"/>
                  </a:lnTo>
                  <a:lnTo>
                    <a:pt x="11477" y="18849"/>
                  </a:lnTo>
                  <a:lnTo>
                    <a:pt x="11713" y="18554"/>
                  </a:lnTo>
                  <a:lnTo>
                    <a:pt x="11963" y="18244"/>
                  </a:lnTo>
                  <a:lnTo>
                    <a:pt x="12212" y="17904"/>
                  </a:lnTo>
                  <a:lnTo>
                    <a:pt x="12461" y="17520"/>
                  </a:lnTo>
                  <a:lnTo>
                    <a:pt x="12710" y="17137"/>
                  </a:lnTo>
                  <a:lnTo>
                    <a:pt x="12960" y="16738"/>
                  </a:lnTo>
                  <a:lnTo>
                    <a:pt x="13196" y="16280"/>
                  </a:lnTo>
                  <a:lnTo>
                    <a:pt x="13445" y="15823"/>
                  </a:lnTo>
                  <a:lnTo>
                    <a:pt x="13707" y="15351"/>
                  </a:lnTo>
                  <a:lnTo>
                    <a:pt x="13956" y="14834"/>
                  </a:lnTo>
                  <a:lnTo>
                    <a:pt x="14206" y="14362"/>
                  </a:lnTo>
                  <a:lnTo>
                    <a:pt x="14442" y="13830"/>
                  </a:lnTo>
                  <a:lnTo>
                    <a:pt x="14692" y="13314"/>
                  </a:lnTo>
                  <a:lnTo>
                    <a:pt x="14953" y="12768"/>
                  </a:lnTo>
                  <a:lnTo>
                    <a:pt x="15202" y="12236"/>
                  </a:lnTo>
                  <a:lnTo>
                    <a:pt x="15452" y="11661"/>
                  </a:lnTo>
                  <a:lnTo>
                    <a:pt x="15688" y="11114"/>
                  </a:lnTo>
                  <a:lnTo>
                    <a:pt x="15925" y="10583"/>
                  </a:lnTo>
                  <a:lnTo>
                    <a:pt x="16150" y="10037"/>
                  </a:lnTo>
                  <a:lnTo>
                    <a:pt x="16386" y="9461"/>
                  </a:lnTo>
                  <a:lnTo>
                    <a:pt x="16611" y="8900"/>
                  </a:lnTo>
                  <a:lnTo>
                    <a:pt x="16847" y="8369"/>
                  </a:lnTo>
                  <a:lnTo>
                    <a:pt x="17072" y="7823"/>
                  </a:lnTo>
                  <a:lnTo>
                    <a:pt x="17283" y="7292"/>
                  </a:lnTo>
                  <a:lnTo>
                    <a:pt x="17495" y="6760"/>
                  </a:lnTo>
                  <a:lnTo>
                    <a:pt x="17720" y="6244"/>
                  </a:lnTo>
                  <a:lnTo>
                    <a:pt x="17919" y="5727"/>
                  </a:lnTo>
                  <a:lnTo>
                    <a:pt x="18118" y="5210"/>
                  </a:lnTo>
                  <a:lnTo>
                    <a:pt x="18305" y="4738"/>
                  </a:lnTo>
                  <a:lnTo>
                    <a:pt x="18492" y="4295"/>
                  </a:lnTo>
                  <a:lnTo>
                    <a:pt x="18679" y="3852"/>
                  </a:lnTo>
                  <a:lnTo>
                    <a:pt x="18854" y="3395"/>
                  </a:lnTo>
                  <a:lnTo>
                    <a:pt x="19016" y="2982"/>
                  </a:lnTo>
                  <a:lnTo>
                    <a:pt x="19178" y="2613"/>
                  </a:lnTo>
                  <a:lnTo>
                    <a:pt x="19340" y="2244"/>
                  </a:lnTo>
                  <a:lnTo>
                    <a:pt x="19489" y="1904"/>
                  </a:lnTo>
                  <a:lnTo>
                    <a:pt x="19614" y="1609"/>
                  </a:lnTo>
                  <a:lnTo>
                    <a:pt x="19751" y="1314"/>
                  </a:lnTo>
                  <a:lnTo>
                    <a:pt x="19875" y="1048"/>
                  </a:lnTo>
                  <a:lnTo>
                    <a:pt x="19988" y="841"/>
                  </a:lnTo>
                </a:path>
              </a:pathLst>
            </a:custGeom>
            <a:noFill/>
            <a:ln w="38100" cmpd="sng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3" name="Rectangle 146">
              <a:extLst>
                <a:ext uri="{FF2B5EF4-FFF2-40B4-BE49-F238E27FC236}">
                  <a16:creationId xmlns:a16="http://schemas.microsoft.com/office/drawing/2014/main" id="{25C70DBB-AF43-DA5E-91AB-8702FC2950C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16" y="3158"/>
              <a:ext cx="217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600" i="1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37914" name="Rectangle 147">
              <a:extLst>
                <a:ext uri="{FF2B5EF4-FFF2-40B4-BE49-F238E27FC236}">
                  <a16:creationId xmlns:a16="http://schemas.microsoft.com/office/drawing/2014/main" id="{D851079B-F672-72C9-9D9C-872FC123948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9" y="3510"/>
              <a:ext cx="22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37915" name="Freeform 148">
              <a:extLst>
                <a:ext uri="{FF2B5EF4-FFF2-40B4-BE49-F238E27FC236}">
                  <a16:creationId xmlns:a16="http://schemas.microsoft.com/office/drawing/2014/main" id="{A58A4671-9B12-1172-C8E5-8E19C4DFB5A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90" y="3663"/>
              <a:ext cx="748" cy="17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880"/>
                  </a:moveTo>
                  <a:lnTo>
                    <a:pt x="225" y="1489"/>
                  </a:lnTo>
                  <a:lnTo>
                    <a:pt x="437" y="2098"/>
                  </a:lnTo>
                  <a:lnTo>
                    <a:pt x="662" y="2707"/>
                  </a:lnTo>
                  <a:lnTo>
                    <a:pt x="887" y="3283"/>
                  </a:lnTo>
                  <a:lnTo>
                    <a:pt x="1099" y="3892"/>
                  </a:lnTo>
                  <a:lnTo>
                    <a:pt x="1325" y="4501"/>
                  </a:lnTo>
                  <a:lnTo>
                    <a:pt x="1550" y="5076"/>
                  </a:lnTo>
                  <a:lnTo>
                    <a:pt x="1762" y="5685"/>
                  </a:lnTo>
                  <a:lnTo>
                    <a:pt x="1987" y="6261"/>
                  </a:lnTo>
                  <a:lnTo>
                    <a:pt x="2225" y="6802"/>
                  </a:lnTo>
                  <a:lnTo>
                    <a:pt x="2450" y="7377"/>
                  </a:lnTo>
                  <a:lnTo>
                    <a:pt x="2675" y="7953"/>
                  </a:lnTo>
                  <a:lnTo>
                    <a:pt x="2887" y="8494"/>
                  </a:lnTo>
                  <a:lnTo>
                    <a:pt x="3113" y="9103"/>
                  </a:lnTo>
                  <a:lnTo>
                    <a:pt x="3338" y="9611"/>
                  </a:lnTo>
                  <a:lnTo>
                    <a:pt x="3550" y="10186"/>
                  </a:lnTo>
                  <a:lnTo>
                    <a:pt x="3775" y="10694"/>
                  </a:lnTo>
                  <a:lnTo>
                    <a:pt x="4000" y="11235"/>
                  </a:lnTo>
                  <a:lnTo>
                    <a:pt x="4225" y="11743"/>
                  </a:lnTo>
                  <a:lnTo>
                    <a:pt x="4437" y="12250"/>
                  </a:lnTo>
                  <a:lnTo>
                    <a:pt x="4662" y="12724"/>
                  </a:lnTo>
                  <a:lnTo>
                    <a:pt x="4887" y="13164"/>
                  </a:lnTo>
                  <a:lnTo>
                    <a:pt x="5113" y="13638"/>
                  </a:lnTo>
                  <a:lnTo>
                    <a:pt x="5338" y="14078"/>
                  </a:lnTo>
                  <a:lnTo>
                    <a:pt x="5550" y="14552"/>
                  </a:lnTo>
                  <a:lnTo>
                    <a:pt x="5762" y="14992"/>
                  </a:lnTo>
                  <a:lnTo>
                    <a:pt x="5974" y="15398"/>
                  </a:lnTo>
                  <a:lnTo>
                    <a:pt x="6199" y="15804"/>
                  </a:lnTo>
                  <a:lnTo>
                    <a:pt x="6424" y="16210"/>
                  </a:lnTo>
                  <a:lnTo>
                    <a:pt x="6636" y="16548"/>
                  </a:lnTo>
                  <a:lnTo>
                    <a:pt x="6861" y="16920"/>
                  </a:lnTo>
                  <a:lnTo>
                    <a:pt x="7086" y="17259"/>
                  </a:lnTo>
                  <a:lnTo>
                    <a:pt x="7285" y="17530"/>
                  </a:lnTo>
                  <a:lnTo>
                    <a:pt x="7510" y="17868"/>
                  </a:lnTo>
                  <a:lnTo>
                    <a:pt x="7735" y="18173"/>
                  </a:lnTo>
                  <a:lnTo>
                    <a:pt x="7960" y="18376"/>
                  </a:lnTo>
                  <a:lnTo>
                    <a:pt x="8159" y="18646"/>
                  </a:lnTo>
                  <a:lnTo>
                    <a:pt x="8371" y="18883"/>
                  </a:lnTo>
                  <a:lnTo>
                    <a:pt x="8583" y="19120"/>
                  </a:lnTo>
                  <a:lnTo>
                    <a:pt x="8808" y="19289"/>
                  </a:lnTo>
                  <a:lnTo>
                    <a:pt x="9020" y="19459"/>
                  </a:lnTo>
                  <a:lnTo>
                    <a:pt x="9232" y="19594"/>
                  </a:lnTo>
                  <a:lnTo>
                    <a:pt x="9444" y="19695"/>
                  </a:lnTo>
                  <a:lnTo>
                    <a:pt x="9642" y="19831"/>
                  </a:lnTo>
                  <a:lnTo>
                    <a:pt x="9854" y="19865"/>
                  </a:lnTo>
                  <a:lnTo>
                    <a:pt x="10079" y="19932"/>
                  </a:lnTo>
                  <a:lnTo>
                    <a:pt x="10291" y="19966"/>
                  </a:lnTo>
                  <a:lnTo>
                    <a:pt x="10503" y="19932"/>
                  </a:lnTo>
                  <a:lnTo>
                    <a:pt x="10702" y="19932"/>
                  </a:lnTo>
                  <a:lnTo>
                    <a:pt x="10914" y="19865"/>
                  </a:lnTo>
                  <a:lnTo>
                    <a:pt x="11126" y="19763"/>
                  </a:lnTo>
                  <a:lnTo>
                    <a:pt x="11338" y="19662"/>
                  </a:lnTo>
                  <a:lnTo>
                    <a:pt x="11563" y="19425"/>
                  </a:lnTo>
                  <a:lnTo>
                    <a:pt x="11788" y="19222"/>
                  </a:lnTo>
                  <a:lnTo>
                    <a:pt x="12000" y="18985"/>
                  </a:lnTo>
                  <a:lnTo>
                    <a:pt x="12225" y="18714"/>
                  </a:lnTo>
                  <a:lnTo>
                    <a:pt x="12450" y="18376"/>
                  </a:lnTo>
                  <a:lnTo>
                    <a:pt x="12689" y="18071"/>
                  </a:lnTo>
                  <a:lnTo>
                    <a:pt x="12914" y="17699"/>
                  </a:lnTo>
                  <a:lnTo>
                    <a:pt x="13152" y="17259"/>
                  </a:lnTo>
                  <a:lnTo>
                    <a:pt x="13377" y="16887"/>
                  </a:lnTo>
                  <a:lnTo>
                    <a:pt x="13616" y="16447"/>
                  </a:lnTo>
                  <a:lnTo>
                    <a:pt x="13841" y="16007"/>
                  </a:lnTo>
                  <a:lnTo>
                    <a:pt x="14066" y="15533"/>
                  </a:lnTo>
                  <a:lnTo>
                    <a:pt x="14291" y="15025"/>
                  </a:lnTo>
                  <a:lnTo>
                    <a:pt x="14530" y="14518"/>
                  </a:lnTo>
                  <a:lnTo>
                    <a:pt x="14755" y="13976"/>
                  </a:lnTo>
                  <a:lnTo>
                    <a:pt x="14993" y="13469"/>
                  </a:lnTo>
                  <a:lnTo>
                    <a:pt x="15219" y="12927"/>
                  </a:lnTo>
                  <a:lnTo>
                    <a:pt x="15444" y="12352"/>
                  </a:lnTo>
                  <a:lnTo>
                    <a:pt x="15682" y="11777"/>
                  </a:lnTo>
                  <a:lnTo>
                    <a:pt x="15894" y="11201"/>
                  </a:lnTo>
                  <a:lnTo>
                    <a:pt x="16106" y="10626"/>
                  </a:lnTo>
                  <a:lnTo>
                    <a:pt x="16318" y="10051"/>
                  </a:lnTo>
                  <a:lnTo>
                    <a:pt x="16530" y="9509"/>
                  </a:lnTo>
                  <a:lnTo>
                    <a:pt x="16742" y="8934"/>
                  </a:lnTo>
                  <a:lnTo>
                    <a:pt x="16954" y="8325"/>
                  </a:lnTo>
                  <a:lnTo>
                    <a:pt x="17152" y="7783"/>
                  </a:lnTo>
                  <a:lnTo>
                    <a:pt x="17351" y="7242"/>
                  </a:lnTo>
                  <a:lnTo>
                    <a:pt x="17550" y="6667"/>
                  </a:lnTo>
                  <a:lnTo>
                    <a:pt x="17735" y="6125"/>
                  </a:lnTo>
                  <a:lnTo>
                    <a:pt x="17934" y="5584"/>
                  </a:lnTo>
                  <a:lnTo>
                    <a:pt x="18119" y="5042"/>
                  </a:lnTo>
                  <a:lnTo>
                    <a:pt x="18291" y="4535"/>
                  </a:lnTo>
                  <a:lnTo>
                    <a:pt x="18464" y="4061"/>
                  </a:lnTo>
                  <a:lnTo>
                    <a:pt x="18636" y="3553"/>
                  </a:lnTo>
                  <a:lnTo>
                    <a:pt x="18795" y="3113"/>
                  </a:lnTo>
                  <a:lnTo>
                    <a:pt x="18954" y="2640"/>
                  </a:lnTo>
                  <a:lnTo>
                    <a:pt x="19099" y="2234"/>
                  </a:lnTo>
                  <a:lnTo>
                    <a:pt x="19258" y="1827"/>
                  </a:lnTo>
                  <a:lnTo>
                    <a:pt x="19391" y="1455"/>
                  </a:lnTo>
                  <a:lnTo>
                    <a:pt x="19523" y="1083"/>
                  </a:lnTo>
                  <a:lnTo>
                    <a:pt x="19642" y="778"/>
                  </a:lnTo>
                  <a:lnTo>
                    <a:pt x="19775" y="508"/>
                  </a:lnTo>
                  <a:lnTo>
                    <a:pt x="19881" y="203"/>
                  </a:lnTo>
                  <a:lnTo>
                    <a:pt x="19987" y="0"/>
                  </a:ln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6" name="Freeform 149">
              <a:extLst>
                <a:ext uri="{FF2B5EF4-FFF2-40B4-BE49-F238E27FC236}">
                  <a16:creationId xmlns:a16="http://schemas.microsoft.com/office/drawing/2014/main" id="{0AC091F6-CCBD-E12E-74D6-04B1BE488E9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514" y="3520"/>
              <a:ext cx="707" cy="14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965"/>
                  </a:moveTo>
                  <a:lnTo>
                    <a:pt x="199" y="19335"/>
                  </a:lnTo>
                  <a:lnTo>
                    <a:pt x="399" y="18704"/>
                  </a:lnTo>
                  <a:lnTo>
                    <a:pt x="598" y="18109"/>
                  </a:lnTo>
                  <a:lnTo>
                    <a:pt x="798" y="17478"/>
                  </a:lnTo>
                  <a:lnTo>
                    <a:pt x="984" y="16813"/>
                  </a:lnTo>
                  <a:lnTo>
                    <a:pt x="1184" y="16217"/>
                  </a:lnTo>
                  <a:lnTo>
                    <a:pt x="1383" y="15622"/>
                  </a:lnTo>
                  <a:lnTo>
                    <a:pt x="1583" y="15026"/>
                  </a:lnTo>
                  <a:lnTo>
                    <a:pt x="1782" y="14396"/>
                  </a:lnTo>
                  <a:lnTo>
                    <a:pt x="1981" y="13800"/>
                  </a:lnTo>
                  <a:lnTo>
                    <a:pt x="2181" y="13240"/>
                  </a:lnTo>
                  <a:lnTo>
                    <a:pt x="2380" y="12680"/>
                  </a:lnTo>
                  <a:lnTo>
                    <a:pt x="2567" y="12084"/>
                  </a:lnTo>
                  <a:lnTo>
                    <a:pt x="2766" y="11489"/>
                  </a:lnTo>
                  <a:lnTo>
                    <a:pt x="2966" y="10928"/>
                  </a:lnTo>
                  <a:lnTo>
                    <a:pt x="3165" y="10368"/>
                  </a:lnTo>
                  <a:lnTo>
                    <a:pt x="3364" y="9842"/>
                  </a:lnTo>
                  <a:lnTo>
                    <a:pt x="3564" y="9317"/>
                  </a:lnTo>
                  <a:lnTo>
                    <a:pt x="3763" y="8757"/>
                  </a:lnTo>
                  <a:lnTo>
                    <a:pt x="3963" y="8231"/>
                  </a:lnTo>
                  <a:lnTo>
                    <a:pt x="4162" y="7741"/>
                  </a:lnTo>
                  <a:lnTo>
                    <a:pt x="4361" y="7250"/>
                  </a:lnTo>
                  <a:lnTo>
                    <a:pt x="4573" y="6795"/>
                  </a:lnTo>
                  <a:lnTo>
                    <a:pt x="4785" y="6305"/>
                  </a:lnTo>
                  <a:lnTo>
                    <a:pt x="4972" y="5849"/>
                  </a:lnTo>
                  <a:lnTo>
                    <a:pt x="5171" y="5394"/>
                  </a:lnTo>
                  <a:lnTo>
                    <a:pt x="5371" y="4939"/>
                  </a:lnTo>
                  <a:lnTo>
                    <a:pt x="5570" y="4553"/>
                  </a:lnTo>
                  <a:lnTo>
                    <a:pt x="5782" y="4133"/>
                  </a:lnTo>
                  <a:lnTo>
                    <a:pt x="5981" y="3783"/>
                  </a:lnTo>
                  <a:lnTo>
                    <a:pt x="6181" y="3363"/>
                  </a:lnTo>
                  <a:lnTo>
                    <a:pt x="6380" y="3012"/>
                  </a:lnTo>
                  <a:lnTo>
                    <a:pt x="6579" y="2697"/>
                  </a:lnTo>
                  <a:lnTo>
                    <a:pt x="6791" y="2347"/>
                  </a:lnTo>
                  <a:lnTo>
                    <a:pt x="6991" y="2032"/>
                  </a:lnTo>
                  <a:lnTo>
                    <a:pt x="7202" y="1786"/>
                  </a:lnTo>
                  <a:lnTo>
                    <a:pt x="7402" y="1506"/>
                  </a:lnTo>
                  <a:lnTo>
                    <a:pt x="7614" y="1226"/>
                  </a:lnTo>
                  <a:lnTo>
                    <a:pt x="7813" y="1016"/>
                  </a:lnTo>
                  <a:lnTo>
                    <a:pt x="8025" y="806"/>
                  </a:lnTo>
                  <a:lnTo>
                    <a:pt x="8237" y="630"/>
                  </a:lnTo>
                  <a:lnTo>
                    <a:pt x="8436" y="490"/>
                  </a:lnTo>
                  <a:lnTo>
                    <a:pt x="8648" y="315"/>
                  </a:lnTo>
                  <a:lnTo>
                    <a:pt x="8860" y="210"/>
                  </a:lnTo>
                  <a:lnTo>
                    <a:pt x="9059" y="105"/>
                  </a:lnTo>
                  <a:lnTo>
                    <a:pt x="9271" y="70"/>
                  </a:lnTo>
                  <a:lnTo>
                    <a:pt x="9483" y="0"/>
                  </a:lnTo>
                  <a:lnTo>
                    <a:pt x="9695" y="0"/>
                  </a:lnTo>
                  <a:lnTo>
                    <a:pt x="9907" y="0"/>
                  </a:lnTo>
                  <a:lnTo>
                    <a:pt x="10118" y="35"/>
                  </a:lnTo>
                  <a:lnTo>
                    <a:pt x="10330" y="140"/>
                  </a:lnTo>
                  <a:lnTo>
                    <a:pt x="10555" y="245"/>
                  </a:lnTo>
                  <a:lnTo>
                    <a:pt x="10791" y="420"/>
                  </a:lnTo>
                  <a:lnTo>
                    <a:pt x="11016" y="630"/>
                  </a:lnTo>
                  <a:lnTo>
                    <a:pt x="11240" y="841"/>
                  </a:lnTo>
                  <a:lnTo>
                    <a:pt x="11477" y="1121"/>
                  </a:lnTo>
                  <a:lnTo>
                    <a:pt x="11713" y="1401"/>
                  </a:lnTo>
                  <a:lnTo>
                    <a:pt x="11963" y="1716"/>
                  </a:lnTo>
                  <a:lnTo>
                    <a:pt x="12212" y="2067"/>
                  </a:lnTo>
                  <a:lnTo>
                    <a:pt x="12461" y="2452"/>
                  </a:lnTo>
                  <a:lnTo>
                    <a:pt x="12710" y="2837"/>
                  </a:lnTo>
                  <a:lnTo>
                    <a:pt x="12960" y="3222"/>
                  </a:lnTo>
                  <a:lnTo>
                    <a:pt x="13196" y="3713"/>
                  </a:lnTo>
                  <a:lnTo>
                    <a:pt x="13445" y="4168"/>
                  </a:lnTo>
                  <a:lnTo>
                    <a:pt x="13707" y="4623"/>
                  </a:lnTo>
                  <a:lnTo>
                    <a:pt x="13956" y="5114"/>
                  </a:lnTo>
                  <a:lnTo>
                    <a:pt x="14206" y="5604"/>
                  </a:lnTo>
                  <a:lnTo>
                    <a:pt x="14442" y="6165"/>
                  </a:lnTo>
                  <a:lnTo>
                    <a:pt x="14692" y="6655"/>
                  </a:lnTo>
                  <a:lnTo>
                    <a:pt x="14953" y="7215"/>
                  </a:lnTo>
                  <a:lnTo>
                    <a:pt x="15202" y="7741"/>
                  </a:lnTo>
                  <a:lnTo>
                    <a:pt x="15452" y="8336"/>
                  </a:lnTo>
                  <a:lnTo>
                    <a:pt x="15688" y="8862"/>
                  </a:lnTo>
                  <a:lnTo>
                    <a:pt x="15925" y="9387"/>
                  </a:lnTo>
                  <a:lnTo>
                    <a:pt x="16150" y="9912"/>
                  </a:lnTo>
                  <a:lnTo>
                    <a:pt x="16386" y="10508"/>
                  </a:lnTo>
                  <a:lnTo>
                    <a:pt x="16611" y="11068"/>
                  </a:lnTo>
                  <a:lnTo>
                    <a:pt x="16847" y="11594"/>
                  </a:lnTo>
                  <a:lnTo>
                    <a:pt x="17072" y="12154"/>
                  </a:lnTo>
                  <a:lnTo>
                    <a:pt x="17283" y="12680"/>
                  </a:lnTo>
                  <a:lnTo>
                    <a:pt x="17495" y="13205"/>
                  </a:lnTo>
                  <a:lnTo>
                    <a:pt x="17720" y="13730"/>
                  </a:lnTo>
                  <a:lnTo>
                    <a:pt x="17919" y="14221"/>
                  </a:lnTo>
                  <a:lnTo>
                    <a:pt x="18118" y="14746"/>
                  </a:lnTo>
                  <a:lnTo>
                    <a:pt x="18305" y="15236"/>
                  </a:lnTo>
                  <a:lnTo>
                    <a:pt x="18492" y="15692"/>
                  </a:lnTo>
                  <a:lnTo>
                    <a:pt x="18679" y="16112"/>
                  </a:lnTo>
                  <a:lnTo>
                    <a:pt x="18854" y="16567"/>
                  </a:lnTo>
                  <a:lnTo>
                    <a:pt x="19016" y="16988"/>
                  </a:lnTo>
                  <a:lnTo>
                    <a:pt x="19178" y="17338"/>
                  </a:lnTo>
                  <a:lnTo>
                    <a:pt x="19340" y="17688"/>
                  </a:lnTo>
                  <a:lnTo>
                    <a:pt x="19489" y="18074"/>
                  </a:lnTo>
                  <a:lnTo>
                    <a:pt x="19614" y="18319"/>
                  </a:lnTo>
                  <a:lnTo>
                    <a:pt x="19751" y="18634"/>
                  </a:lnTo>
                  <a:lnTo>
                    <a:pt x="19875" y="18914"/>
                  </a:lnTo>
                  <a:lnTo>
                    <a:pt x="19988" y="19124"/>
                  </a:ln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7" name="Line 150">
              <a:extLst>
                <a:ext uri="{FF2B5EF4-FFF2-40B4-BE49-F238E27FC236}">
                  <a16:creationId xmlns:a16="http://schemas.microsoft.com/office/drawing/2014/main" id="{B84F83F0-0D26-3E5E-E3D2-08C2CE3EA77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99" y="3664"/>
              <a:ext cx="16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8" name="Line 151">
              <a:extLst>
                <a:ext uri="{FF2B5EF4-FFF2-40B4-BE49-F238E27FC236}">
                  <a16:creationId xmlns:a16="http://schemas.microsoft.com/office/drawing/2014/main" id="{73CEDD12-9D02-A173-6796-09967650C03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90" y="3294"/>
              <a:ext cx="2" cy="7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9" name="Rectangle 152">
              <a:extLst>
                <a:ext uri="{FF2B5EF4-FFF2-40B4-BE49-F238E27FC236}">
                  <a16:creationId xmlns:a16="http://schemas.microsoft.com/office/drawing/2014/main" id="{40BF370D-F30C-6D8C-9919-87CB1A409D2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30" y="3217"/>
              <a:ext cx="24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600" i="1">
                  <a:solidFill>
                    <a:srgbClr val="008000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sz="2600" baseline="-25000">
                  <a:solidFill>
                    <a:srgbClr val="008000"/>
                  </a:solidFill>
                  <a:ea typeface="宋体" panose="02010600030101010101" pitchFamily="2" charset="-122"/>
                </a:rPr>
                <a:t>1</a:t>
              </a:r>
              <a:endParaRPr lang="en-US" altLang="zh-CN" sz="2600">
                <a:solidFill>
                  <a:srgbClr val="008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7920" name="Rectangle 153">
              <a:extLst>
                <a:ext uri="{FF2B5EF4-FFF2-40B4-BE49-F238E27FC236}">
                  <a16:creationId xmlns:a16="http://schemas.microsoft.com/office/drawing/2014/main" id="{23537F5D-B7F2-FBFD-B138-84C464183A9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96" y="3660"/>
              <a:ext cx="168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600" i="1">
                  <a:solidFill>
                    <a:schemeClr val="tx1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</p:grpSp>
      <p:sp>
        <p:nvSpPr>
          <p:cNvPr id="101531" name="Line 155">
            <a:extLst>
              <a:ext uri="{FF2B5EF4-FFF2-40B4-BE49-F238E27FC236}">
                <a16:creationId xmlns:a16="http://schemas.microsoft.com/office/drawing/2014/main" id="{69E0C8AA-6C77-BD47-A95C-F15D806F6BB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1863" y="5241925"/>
            <a:ext cx="23050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1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1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1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0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0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0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01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0"/>
                                        <p:tgtEl>
                                          <p:spTgt spid="10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0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0"/>
                                        <p:tgtEl>
                                          <p:spTgt spid="10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0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10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10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10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10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3000"/>
                                        <p:tgtEl>
                                          <p:spTgt spid="10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3000"/>
                                        <p:tgtEl>
                                          <p:spTgt spid="10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2000"/>
                                        <p:tgtEl>
                                          <p:spTgt spid="10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2000"/>
                                        <p:tgtEl>
                                          <p:spTgt spid="10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23" grpId="0" animBg="1" autoUpdateAnimBg="0"/>
      <p:bldP spid="101468" grpId="0"/>
      <p:bldP spid="101469" grpId="0"/>
      <p:bldP spid="101490" grpId="0" animBg="1"/>
      <p:bldP spid="101506" grpId="0"/>
      <p:bldP spid="101507" grpId="0"/>
      <p:bldP spid="101516" grpId="0" animBg="1"/>
      <p:bldP spid="10151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Text Box 4">
            <a:extLst>
              <a:ext uri="{FF2B5EF4-FFF2-40B4-BE49-F238E27FC236}">
                <a16:creationId xmlns:a16="http://schemas.microsoft.com/office/drawing/2014/main" id="{3F5B7DFE-0380-5428-7716-9E24C6FF0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3" y="333375"/>
            <a:ext cx="4183062" cy="466725"/>
          </a:xfrm>
          <a:prstGeom prst="rect">
            <a:avLst/>
          </a:prstGeom>
          <a:noFill/>
          <a:ln w="9525">
            <a:solidFill>
              <a:srgbClr val="FFFFFF">
                <a:alpha val="0"/>
              </a:srgb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5.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超前和落后 </a:t>
            </a:r>
          </a:p>
        </p:txBody>
      </p:sp>
      <p:sp>
        <p:nvSpPr>
          <p:cNvPr id="102405" name="Text Box 5">
            <a:extLst>
              <a:ext uri="{FF2B5EF4-FFF2-40B4-BE49-F238E27FC236}">
                <a16:creationId xmlns:a16="http://schemas.microsoft.com/office/drawing/2014/main" id="{6AECE814-7969-352F-70D1-6934CAF4D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063" y="1196975"/>
            <a:ext cx="4681537" cy="1127125"/>
          </a:xfrm>
          <a:prstGeom prst="rect">
            <a:avLst/>
          </a:prstGeom>
          <a:noFill/>
          <a:ln w="9525">
            <a:solidFill>
              <a:srgbClr val="FFFFFF">
                <a:alpha val="0"/>
              </a:srgb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300">
                <a:solidFill>
                  <a:srgbClr val="000066"/>
                </a:solidFill>
              </a:rPr>
              <a:t>则称：</a:t>
            </a:r>
            <a:r>
              <a:rPr lang="zh-CN" altLang="en-US"/>
              <a:t> </a:t>
            </a:r>
            <a:r>
              <a:rPr lang="en-US" altLang="zh-CN" sz="2800" i="1"/>
              <a:t>x</a:t>
            </a:r>
            <a:r>
              <a:rPr lang="en-US" altLang="zh-CN" sz="2800" baseline="-25000"/>
              <a:t>2 </a:t>
            </a:r>
            <a:r>
              <a:rPr lang="zh-CN" altLang="en-US" sz="2300">
                <a:solidFill>
                  <a:srgbClr val="000066"/>
                </a:solidFill>
              </a:rPr>
              <a:t>比</a:t>
            </a:r>
            <a:r>
              <a:rPr lang="zh-CN" altLang="en-US"/>
              <a:t> </a:t>
            </a:r>
            <a:r>
              <a:rPr lang="en-US" altLang="zh-CN" sz="2800" i="1"/>
              <a:t>x</a:t>
            </a:r>
            <a:r>
              <a:rPr lang="en-US" altLang="zh-CN" sz="2800" baseline="-25000"/>
              <a:t>1</a:t>
            </a:r>
            <a:r>
              <a:rPr lang="en-US" altLang="zh-CN" baseline="-25000">
                <a:solidFill>
                  <a:srgbClr val="000080"/>
                </a:solidFill>
              </a:rPr>
              <a:t>  </a:t>
            </a:r>
            <a:r>
              <a:rPr lang="zh-CN" altLang="en-US" sz="2300">
                <a:solidFill>
                  <a:srgbClr val="000066"/>
                </a:solidFill>
              </a:rPr>
              <a:t>超前；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rgbClr val="000080"/>
                </a:solidFill>
              </a:rPr>
              <a:t>  </a:t>
            </a:r>
            <a:r>
              <a:rPr lang="zh-CN" altLang="en-US" sz="2300">
                <a:solidFill>
                  <a:srgbClr val="000066"/>
                </a:solidFill>
              </a:rPr>
              <a:t>或</a:t>
            </a:r>
            <a:r>
              <a:rPr lang="zh-CN" altLang="en-US" sz="2800">
                <a:solidFill>
                  <a:srgbClr val="000080"/>
                </a:solidFill>
              </a:rPr>
              <a:t>      </a:t>
            </a:r>
            <a:r>
              <a:rPr lang="en-US" altLang="zh-CN" sz="2800" i="1"/>
              <a:t>x</a:t>
            </a:r>
            <a:r>
              <a:rPr lang="en-US" altLang="zh-CN" sz="2800" baseline="-25000"/>
              <a:t>1</a:t>
            </a:r>
            <a:r>
              <a:rPr lang="en-US" altLang="zh-CN" sz="2800" baseline="-25000">
                <a:solidFill>
                  <a:srgbClr val="000080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比</a:t>
            </a:r>
            <a:r>
              <a:rPr lang="zh-CN" altLang="en-US">
                <a:solidFill>
                  <a:srgbClr val="000080"/>
                </a:solidFill>
              </a:rPr>
              <a:t> </a:t>
            </a:r>
            <a:r>
              <a:rPr lang="en-US" altLang="zh-CN" sz="2800" i="1"/>
              <a:t>x</a:t>
            </a:r>
            <a:r>
              <a:rPr lang="en-US" altLang="zh-CN" sz="2800" baseline="-25000"/>
              <a:t>2</a:t>
            </a:r>
            <a:r>
              <a:rPr lang="en-US" altLang="zh-CN" baseline="-25000">
                <a:solidFill>
                  <a:srgbClr val="000080"/>
                </a:solidFill>
              </a:rPr>
              <a:t>  </a:t>
            </a:r>
            <a:r>
              <a:rPr lang="zh-CN" altLang="en-US" sz="2300">
                <a:solidFill>
                  <a:srgbClr val="000066"/>
                </a:solidFill>
              </a:rPr>
              <a:t>落后。</a:t>
            </a:r>
          </a:p>
        </p:txBody>
      </p:sp>
      <p:grpSp>
        <p:nvGrpSpPr>
          <p:cNvPr id="102498" name="Group 98">
            <a:extLst>
              <a:ext uri="{FF2B5EF4-FFF2-40B4-BE49-F238E27FC236}">
                <a16:creationId xmlns:a16="http://schemas.microsoft.com/office/drawing/2014/main" id="{F425C269-524C-D2E4-CA18-70871B8EF28A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2276475"/>
            <a:ext cx="4032250" cy="1073150"/>
            <a:chOff x="385" y="1520"/>
            <a:chExt cx="2540" cy="676"/>
          </a:xfrm>
        </p:grpSpPr>
        <p:sp>
          <p:nvSpPr>
            <p:cNvPr id="38965" name="Text Box 6">
              <a:extLst>
                <a:ext uri="{FF2B5EF4-FFF2-40B4-BE49-F238E27FC236}">
                  <a16:creationId xmlns:a16="http://schemas.microsoft.com/office/drawing/2014/main" id="{1B4B3BA4-A6FA-501A-EE81-BA955930A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1520"/>
              <a:ext cx="2540" cy="676"/>
            </a:xfrm>
            <a:prstGeom prst="rect">
              <a:avLst/>
            </a:prstGeom>
            <a:noFill/>
            <a:ln w="9525">
              <a:solidFill>
                <a:srgbClr val="FFFFFF">
                  <a:alpha val="0"/>
                </a:srgb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>
                <a:lnSpc>
                  <a:spcPct val="125000"/>
                </a:lnSpc>
              </a:pPr>
              <a:r>
                <a:rPr lang="zh-CN" altLang="en-US" sz="2300">
                  <a:solidFill>
                    <a:srgbClr val="000066"/>
                  </a:solidFill>
                </a:rPr>
                <a:t>超前 </a:t>
              </a:r>
              <a:r>
                <a:rPr lang="en-US" altLang="zh-CN" sz="2800">
                  <a:solidFill>
                    <a:srgbClr val="000066"/>
                  </a:solidFill>
                </a:rPr>
                <a:t>/ </a:t>
              </a:r>
              <a:r>
                <a:rPr lang="zh-CN" altLang="en-US" sz="2300">
                  <a:solidFill>
                    <a:srgbClr val="000066"/>
                  </a:solidFill>
                </a:rPr>
                <a:t>落后以</a:t>
              </a:r>
              <a:r>
                <a:rPr lang="zh-CN" altLang="en-US" sz="2300">
                  <a:solidFill>
                    <a:srgbClr val="000080"/>
                  </a:solidFill>
                </a:rPr>
                <a:t> </a:t>
              </a:r>
              <a:r>
                <a:rPr lang="zh-CN" altLang="en-US">
                  <a:solidFill>
                    <a:srgbClr val="000080"/>
                  </a:solidFill>
                </a:rPr>
                <a:t>  </a:t>
              </a:r>
              <a:r>
                <a:rPr lang="zh-CN" altLang="en-US" sz="2800">
                  <a:sym typeface="Symbol" panose="05050102010706020507" pitchFamily="18" charset="2"/>
                </a:rPr>
                <a:t></a:t>
              </a:r>
              <a:r>
                <a:rPr lang="zh-CN" altLang="en-US" sz="2800" i="1">
                  <a:sym typeface="Symbol" panose="05050102010706020507" pitchFamily="18" charset="2"/>
                </a:rPr>
                <a:t></a:t>
              </a:r>
              <a:r>
                <a:rPr lang="zh-CN" altLang="en-US" sz="2800" i="1"/>
                <a:t>  </a:t>
              </a:r>
              <a:r>
                <a:rPr lang="en-US" altLang="zh-CN" sz="2800"/>
                <a:t>&lt; </a:t>
              </a:r>
              <a:r>
                <a:rPr lang="en-US" altLang="zh-CN" sz="2800" i="1">
                  <a:sym typeface="Symbol" panose="05050102010706020507" pitchFamily="18" charset="2"/>
                </a:rPr>
                <a:t></a:t>
              </a:r>
              <a:r>
                <a:rPr lang="en-US" altLang="zh-CN">
                  <a:solidFill>
                    <a:srgbClr val="000080"/>
                  </a:solidFill>
                </a:rPr>
                <a:t>  </a:t>
              </a:r>
            </a:p>
            <a:p>
              <a:pPr algn="just" eaLnBrk="1" hangingPunct="1">
                <a:lnSpc>
                  <a:spcPct val="125000"/>
                </a:lnSpc>
              </a:pPr>
              <a:r>
                <a:rPr lang="zh-CN" altLang="en-US" sz="2300">
                  <a:solidFill>
                    <a:srgbClr val="000066"/>
                  </a:solidFill>
                </a:rPr>
                <a:t>的相位角来判断。</a:t>
              </a:r>
              <a:r>
                <a:rPr lang="zh-CN" altLang="en-US" sz="2300">
                  <a:solidFill>
                    <a:srgbClr val="000080"/>
                  </a:solidFill>
                </a:rPr>
                <a:t>  </a:t>
              </a:r>
            </a:p>
          </p:txBody>
        </p:sp>
        <p:sp>
          <p:nvSpPr>
            <p:cNvPr id="38966" name="Line 43">
              <a:extLst>
                <a:ext uri="{FF2B5EF4-FFF2-40B4-BE49-F238E27FC236}">
                  <a16:creationId xmlns:a16="http://schemas.microsoft.com/office/drawing/2014/main" id="{A00D1C5F-8405-C361-27E8-90EF819F3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8" y="1671"/>
              <a:ext cx="0" cy="182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7" name="Line 44">
              <a:extLst>
                <a:ext uri="{FF2B5EF4-FFF2-40B4-BE49-F238E27FC236}">
                  <a16:creationId xmlns:a16="http://schemas.microsoft.com/office/drawing/2014/main" id="{2F662FDA-8F50-25B5-ED46-A76019BE0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" y="1663"/>
              <a:ext cx="0" cy="182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453" name="Group 53">
            <a:extLst>
              <a:ext uri="{FF2B5EF4-FFF2-40B4-BE49-F238E27FC236}">
                <a16:creationId xmlns:a16="http://schemas.microsoft.com/office/drawing/2014/main" id="{9790F965-6521-874E-E3DF-2E812D73FBAB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692150"/>
            <a:ext cx="3678237" cy="1509713"/>
            <a:chOff x="2782" y="1300"/>
            <a:chExt cx="2590" cy="951"/>
          </a:xfrm>
        </p:grpSpPr>
        <p:sp>
          <p:nvSpPr>
            <p:cNvPr id="38953" name="Freeform 26">
              <a:extLst>
                <a:ext uri="{FF2B5EF4-FFF2-40B4-BE49-F238E27FC236}">
                  <a16:creationId xmlns:a16="http://schemas.microsoft.com/office/drawing/2014/main" id="{13C69AEA-503D-345C-0400-94EA313A9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0" y="1597"/>
              <a:ext cx="2023" cy="654"/>
            </a:xfrm>
            <a:custGeom>
              <a:avLst/>
              <a:gdLst>
                <a:gd name="T0" fmla="*/ 0 w 2528"/>
                <a:gd name="T1" fmla="*/ 1 h 1066"/>
                <a:gd name="T2" fmla="*/ 22 w 2528"/>
                <a:gd name="T3" fmla="*/ 1 h 1066"/>
                <a:gd name="T4" fmla="*/ 45 w 2528"/>
                <a:gd name="T5" fmla="*/ 1 h 1066"/>
                <a:gd name="T6" fmla="*/ 66 w 2528"/>
                <a:gd name="T7" fmla="*/ 1 h 1066"/>
                <a:gd name="T8" fmla="*/ 89 w 2528"/>
                <a:gd name="T9" fmla="*/ 1 h 10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1066">
                  <a:moveTo>
                    <a:pt x="0" y="580"/>
                  </a:moveTo>
                  <a:cubicBezTo>
                    <a:pt x="107" y="484"/>
                    <a:pt x="429" y="8"/>
                    <a:pt x="641" y="4"/>
                  </a:cubicBezTo>
                  <a:cubicBezTo>
                    <a:pt x="853" y="0"/>
                    <a:pt x="1060" y="377"/>
                    <a:pt x="1270" y="554"/>
                  </a:cubicBezTo>
                  <a:cubicBezTo>
                    <a:pt x="1480" y="731"/>
                    <a:pt x="1688" y="1066"/>
                    <a:pt x="1898" y="1064"/>
                  </a:cubicBezTo>
                  <a:cubicBezTo>
                    <a:pt x="2108" y="1062"/>
                    <a:pt x="2397" y="652"/>
                    <a:pt x="2528" y="544"/>
                  </a:cubicBezTo>
                </a:path>
              </a:pathLst>
            </a:custGeom>
            <a:noFill/>
            <a:ln w="38100" cmpd="sng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4" name="Line 27">
              <a:extLst>
                <a:ext uri="{FF2B5EF4-FFF2-40B4-BE49-F238E27FC236}">
                  <a16:creationId xmlns:a16="http://schemas.microsoft.com/office/drawing/2014/main" id="{EE935FC3-D490-D8B0-1098-BF40F3612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4" y="1946"/>
              <a:ext cx="218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5" name="Line 28">
              <a:extLst>
                <a:ext uri="{FF2B5EF4-FFF2-40B4-BE49-F238E27FC236}">
                  <a16:creationId xmlns:a16="http://schemas.microsoft.com/office/drawing/2014/main" id="{C667225B-4F82-A91F-A863-EDCBD803A9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9" y="1423"/>
              <a:ext cx="1" cy="825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triangle" w="sm" len="lg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6" name="Rectangle 32">
              <a:extLst>
                <a:ext uri="{FF2B5EF4-FFF2-40B4-BE49-F238E27FC236}">
                  <a16:creationId xmlns:a16="http://schemas.microsoft.com/office/drawing/2014/main" id="{0DE15396-9305-3C78-C8C7-5A021674F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2" y="1300"/>
              <a:ext cx="293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ea typeface="宋体" panose="02010600030101010101" pitchFamily="2" charset="-122"/>
                </a:rPr>
                <a:t>x</a:t>
              </a:r>
              <a:r>
                <a:rPr lang="en-US" altLang="zh-CN" sz="2800" baseline="-25000">
                  <a:ea typeface="宋体" panose="02010600030101010101" pitchFamily="2" charset="-122"/>
                </a:rPr>
                <a:t>2</a:t>
              </a:r>
              <a:endParaRPr lang="en-US" altLang="zh-CN" sz="2800">
                <a:ea typeface="宋体" panose="02010600030101010101" pitchFamily="2" charset="-122"/>
              </a:endParaRPr>
            </a:p>
          </p:txBody>
        </p:sp>
        <p:sp>
          <p:nvSpPr>
            <p:cNvPr id="38957" name="Rectangle 33">
              <a:extLst>
                <a:ext uri="{FF2B5EF4-FFF2-40B4-BE49-F238E27FC236}">
                  <a16:creationId xmlns:a16="http://schemas.microsoft.com/office/drawing/2014/main" id="{48B10920-3521-F0F9-813A-226BF67ED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315"/>
              <a:ext cx="278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38958" name="Rectangle 36">
              <a:extLst>
                <a:ext uri="{FF2B5EF4-FFF2-40B4-BE49-F238E27FC236}">
                  <a16:creationId xmlns:a16="http://schemas.microsoft.com/office/drawing/2014/main" id="{E2956C73-713B-D77D-C2D3-BD34C5EDB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4" y="1301"/>
              <a:ext cx="33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rgbClr val="008000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sz="2800" baseline="-25000">
                  <a:solidFill>
                    <a:srgbClr val="008000"/>
                  </a:solidFill>
                  <a:ea typeface="宋体" panose="02010600030101010101" pitchFamily="2" charset="-122"/>
                </a:rPr>
                <a:t>1</a:t>
              </a:r>
              <a:endParaRPr lang="en-US" altLang="zh-CN" sz="2800">
                <a:solidFill>
                  <a:srgbClr val="008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959" name="Rectangle 37">
              <a:extLst>
                <a:ext uri="{FF2B5EF4-FFF2-40B4-BE49-F238E27FC236}">
                  <a16:creationId xmlns:a16="http://schemas.microsoft.com/office/drawing/2014/main" id="{B31F023E-087E-52A2-057D-8C8076D89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6" y="1928"/>
              <a:ext cx="22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chemeClr val="tx1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38960" name="Freeform 46">
              <a:extLst>
                <a:ext uri="{FF2B5EF4-FFF2-40B4-BE49-F238E27FC236}">
                  <a16:creationId xmlns:a16="http://schemas.microsoft.com/office/drawing/2014/main" id="{075D4C9D-BDF3-E46E-0A32-F0FC623FC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1597"/>
              <a:ext cx="2023" cy="654"/>
            </a:xfrm>
            <a:custGeom>
              <a:avLst/>
              <a:gdLst>
                <a:gd name="T0" fmla="*/ 0 w 2528"/>
                <a:gd name="T1" fmla="*/ 1 h 1066"/>
                <a:gd name="T2" fmla="*/ 22 w 2528"/>
                <a:gd name="T3" fmla="*/ 1 h 1066"/>
                <a:gd name="T4" fmla="*/ 45 w 2528"/>
                <a:gd name="T5" fmla="*/ 1 h 1066"/>
                <a:gd name="T6" fmla="*/ 66 w 2528"/>
                <a:gd name="T7" fmla="*/ 1 h 1066"/>
                <a:gd name="T8" fmla="*/ 89 w 2528"/>
                <a:gd name="T9" fmla="*/ 1 h 10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1066">
                  <a:moveTo>
                    <a:pt x="0" y="580"/>
                  </a:moveTo>
                  <a:cubicBezTo>
                    <a:pt x="107" y="484"/>
                    <a:pt x="429" y="8"/>
                    <a:pt x="641" y="4"/>
                  </a:cubicBezTo>
                  <a:cubicBezTo>
                    <a:pt x="853" y="0"/>
                    <a:pt x="1060" y="377"/>
                    <a:pt x="1270" y="554"/>
                  </a:cubicBezTo>
                  <a:cubicBezTo>
                    <a:pt x="1480" y="731"/>
                    <a:pt x="1688" y="1066"/>
                    <a:pt x="1898" y="1064"/>
                  </a:cubicBezTo>
                  <a:cubicBezTo>
                    <a:pt x="2108" y="1062"/>
                    <a:pt x="2397" y="652"/>
                    <a:pt x="2528" y="544"/>
                  </a:cubicBezTo>
                </a:path>
              </a:pathLst>
            </a:custGeom>
            <a:noFill/>
            <a:ln w="38100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1" name="Line 47">
              <a:extLst>
                <a:ext uri="{FF2B5EF4-FFF2-40B4-BE49-F238E27FC236}">
                  <a16:creationId xmlns:a16="http://schemas.microsoft.com/office/drawing/2014/main" id="{B2C8DB9C-F921-8ABF-973F-508A1C8738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20" y="1777"/>
              <a:ext cx="218" cy="1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2" name="Rectangle 48">
              <a:extLst>
                <a:ext uri="{FF2B5EF4-FFF2-40B4-BE49-F238E27FC236}">
                  <a16:creationId xmlns:a16="http://schemas.microsoft.com/office/drawing/2014/main" id="{10FBDF27-0C1E-FB57-83DD-B3E9D3329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2" y="1750"/>
              <a:ext cx="254" cy="223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bg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963" name="Rectangle 49">
              <a:extLst>
                <a:ext uri="{FF2B5EF4-FFF2-40B4-BE49-F238E27FC236}">
                  <a16:creationId xmlns:a16="http://schemas.microsoft.com/office/drawing/2014/main" id="{CF4D3F88-0BA9-8222-AC63-F2B63F4D0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" y="1842"/>
              <a:ext cx="306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600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38964" name="Line 50">
              <a:extLst>
                <a:ext uri="{FF2B5EF4-FFF2-40B4-BE49-F238E27FC236}">
                  <a16:creationId xmlns:a16="http://schemas.microsoft.com/office/drawing/2014/main" id="{57B0EEA3-7B8E-82FE-9CE4-7DC5DF6A61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45" y="1889"/>
              <a:ext cx="72" cy="5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454" name="Text Box 54">
            <a:extLst>
              <a:ext uri="{FF2B5EF4-FFF2-40B4-BE49-F238E27FC236}">
                <a16:creationId xmlns:a16="http://schemas.microsoft.com/office/drawing/2014/main" id="{EECE1F44-6A5E-7C61-317F-724B38948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0875" y="2546350"/>
            <a:ext cx="3089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ea typeface="楷体_GB2312" panose="02010609030101010101" pitchFamily="49" charset="-122"/>
              </a:rPr>
              <a:t>x</a:t>
            </a:r>
            <a:r>
              <a:rPr lang="en-US" altLang="zh-CN" sz="2800" baseline="-25000">
                <a:ea typeface="楷体_GB2312" panose="02010609030101010101" pitchFamily="49" charset="-122"/>
              </a:rPr>
              <a:t>2</a:t>
            </a:r>
            <a:r>
              <a:rPr lang="en-US" altLang="zh-CN" sz="1500" baseline="-25000">
                <a:solidFill>
                  <a:srgbClr val="00008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800">
                <a:solidFill>
                  <a:srgbClr val="8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比</a:t>
            </a:r>
            <a:r>
              <a:rPr lang="zh-CN" altLang="en-US" sz="1500">
                <a:solidFill>
                  <a:srgbClr val="00008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altLang="zh-CN" sz="2800" i="1">
                <a:solidFill>
                  <a:srgbClr val="007000"/>
                </a:solidFill>
                <a:ea typeface="楷体_GB2312" panose="02010609030101010101" pitchFamily="49" charset="-122"/>
              </a:rPr>
              <a:t>x</a:t>
            </a:r>
            <a:r>
              <a:rPr lang="en-US" altLang="zh-CN" sz="2800" baseline="-25000">
                <a:solidFill>
                  <a:srgbClr val="007000"/>
                </a:solidFill>
                <a:ea typeface="楷体_GB2312" panose="02010609030101010101" pitchFamily="49" charset="-122"/>
              </a:rPr>
              <a:t>1</a:t>
            </a:r>
            <a:r>
              <a:rPr lang="en-US" altLang="zh-CN" sz="1500" baseline="-25000">
                <a:solidFill>
                  <a:srgbClr val="00008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800">
                <a:solidFill>
                  <a:srgbClr val="8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超前</a:t>
            </a:r>
          </a:p>
        </p:txBody>
      </p:sp>
      <p:sp>
        <p:nvSpPr>
          <p:cNvPr id="102455" name="Text Box 55">
            <a:extLst>
              <a:ext uri="{FF2B5EF4-FFF2-40B4-BE49-F238E27FC236}">
                <a16:creationId xmlns:a16="http://schemas.microsoft.com/office/drawing/2014/main" id="{FAB81409-ED50-7DF1-B072-129235960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" y="3403600"/>
            <a:ext cx="5916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6</a:t>
            </a:r>
            <a:r>
              <a:rPr lang="en-US" altLang="zh-CN">
                <a:solidFill>
                  <a:srgbClr val="000066"/>
                </a:solidFill>
              </a:rPr>
              <a:t>. </a:t>
            </a:r>
            <a:r>
              <a:rPr lang="zh-CN" altLang="en-US">
                <a:solidFill>
                  <a:srgbClr val="000066"/>
                </a:solidFill>
              </a:rPr>
              <a:t>多个同振向、同频率谐振动的合成          </a:t>
            </a:r>
          </a:p>
        </p:txBody>
      </p:sp>
      <p:grpSp>
        <p:nvGrpSpPr>
          <p:cNvPr id="102469" name="Group 69">
            <a:extLst>
              <a:ext uri="{FF2B5EF4-FFF2-40B4-BE49-F238E27FC236}">
                <a16:creationId xmlns:a16="http://schemas.microsoft.com/office/drawing/2014/main" id="{13086DC6-6864-306C-CFEC-E94DB80C10D1}"/>
              </a:ext>
            </a:extLst>
          </p:cNvPr>
          <p:cNvGrpSpPr>
            <a:grpSpLocks/>
          </p:cNvGrpSpPr>
          <p:nvPr/>
        </p:nvGrpSpPr>
        <p:grpSpPr bwMode="auto">
          <a:xfrm>
            <a:off x="4954588" y="5286375"/>
            <a:ext cx="3794125" cy="519113"/>
            <a:chOff x="2577" y="3585"/>
            <a:chExt cx="2390" cy="327"/>
          </a:xfrm>
        </p:grpSpPr>
        <p:sp>
          <p:nvSpPr>
            <p:cNvPr id="38950" name="Line 57">
              <a:extLst>
                <a:ext uri="{FF2B5EF4-FFF2-40B4-BE49-F238E27FC236}">
                  <a16:creationId xmlns:a16="http://schemas.microsoft.com/office/drawing/2014/main" id="{0E120231-5551-36AF-765F-257E59385A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7" y="3670"/>
              <a:ext cx="239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1" name="Text Box 58">
              <a:extLst>
                <a:ext uri="{FF2B5EF4-FFF2-40B4-BE49-F238E27FC236}">
                  <a16:creationId xmlns:a16="http://schemas.microsoft.com/office/drawing/2014/main" id="{76697F0B-F99D-5BCB-FF13-622B6A3D45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" y="3617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38952" name="Text Box 59">
              <a:extLst>
                <a:ext uri="{FF2B5EF4-FFF2-40B4-BE49-F238E27FC236}">
                  <a16:creationId xmlns:a16="http://schemas.microsoft.com/office/drawing/2014/main" id="{A31A6039-AD69-8E42-8AFB-2D9E10A131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9" y="358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1"/>
                  </a:solidFill>
                </a:rPr>
                <a:t>x</a:t>
              </a:r>
            </a:p>
          </p:txBody>
        </p:sp>
      </p:grpSp>
      <p:grpSp>
        <p:nvGrpSpPr>
          <p:cNvPr id="102483" name="Group 83">
            <a:extLst>
              <a:ext uri="{FF2B5EF4-FFF2-40B4-BE49-F238E27FC236}">
                <a16:creationId xmlns:a16="http://schemas.microsoft.com/office/drawing/2014/main" id="{7512C90F-1DEC-9C21-3E45-97BDF1DDE98A}"/>
              </a:ext>
            </a:extLst>
          </p:cNvPr>
          <p:cNvGrpSpPr>
            <a:grpSpLocks/>
          </p:cNvGrpSpPr>
          <p:nvPr/>
        </p:nvGrpSpPr>
        <p:grpSpPr bwMode="auto">
          <a:xfrm>
            <a:off x="5678488" y="4676775"/>
            <a:ext cx="1344612" cy="760413"/>
            <a:chOff x="3031" y="3203"/>
            <a:chExt cx="847" cy="479"/>
          </a:xfrm>
        </p:grpSpPr>
        <p:sp>
          <p:nvSpPr>
            <p:cNvPr id="38946" name="Line 61">
              <a:extLst>
                <a:ext uri="{FF2B5EF4-FFF2-40B4-BE49-F238E27FC236}">
                  <a16:creationId xmlns:a16="http://schemas.microsoft.com/office/drawing/2014/main" id="{6EB1EA10-4EA7-38C0-B303-EC068C0AE9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1" y="3430"/>
              <a:ext cx="847" cy="224"/>
            </a:xfrm>
            <a:prstGeom prst="line">
              <a:avLst/>
            </a:prstGeom>
            <a:noFill/>
            <a:ln w="34925">
              <a:solidFill>
                <a:srgbClr val="008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947" name="Object 66">
              <a:extLst>
                <a:ext uri="{FF2B5EF4-FFF2-40B4-BE49-F238E27FC236}">
                  <a16:creationId xmlns:a16="http://schemas.microsoft.com/office/drawing/2014/main" id="{A89C5356-6EA8-ED8B-3606-5B452FD63D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19" y="3203"/>
            <a:ext cx="36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466732" imgH="342900" progId="Equation.3">
                    <p:embed/>
                  </p:oleObj>
                </mc:Choice>
                <mc:Fallback>
                  <p:oleObj name="公式" r:id="rId2" imgW="466732" imgH="342900" progId="Equation.3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" y="3203"/>
                          <a:ext cx="36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48" name="Line 73">
              <a:extLst>
                <a:ext uri="{FF2B5EF4-FFF2-40B4-BE49-F238E27FC236}">
                  <a16:creationId xmlns:a16="http://schemas.microsoft.com/office/drawing/2014/main" id="{7E380C2C-EA11-B8BF-5DA7-F2008D9E5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3567"/>
              <a:ext cx="45" cy="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949" name="Object 74">
              <a:extLst>
                <a:ext uri="{FF2B5EF4-FFF2-40B4-BE49-F238E27FC236}">
                  <a16:creationId xmlns:a16="http://schemas.microsoft.com/office/drawing/2014/main" id="{67358109-C98E-3751-CC22-D548A30E7B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1" y="3459"/>
            <a:ext cx="289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457200" imgH="419100" progId="Equation.3">
                    <p:embed/>
                  </p:oleObj>
                </mc:Choice>
                <mc:Fallback>
                  <p:oleObj name="公式" r:id="rId4" imgW="457200" imgH="419100" progId="Equation.3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1" y="3459"/>
                          <a:ext cx="289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495" name="Group 95">
            <a:extLst>
              <a:ext uri="{FF2B5EF4-FFF2-40B4-BE49-F238E27FC236}">
                <a16:creationId xmlns:a16="http://schemas.microsoft.com/office/drawing/2014/main" id="{6FC4354D-230C-5FDB-D8A5-31DF23C9E44B}"/>
              </a:ext>
            </a:extLst>
          </p:cNvPr>
          <p:cNvGrpSpPr>
            <a:grpSpLocks/>
          </p:cNvGrpSpPr>
          <p:nvPr/>
        </p:nvGrpSpPr>
        <p:grpSpPr bwMode="auto">
          <a:xfrm>
            <a:off x="6929438" y="4316413"/>
            <a:ext cx="898525" cy="746125"/>
            <a:chOff x="4228" y="3036"/>
            <a:chExt cx="566" cy="470"/>
          </a:xfrm>
        </p:grpSpPr>
        <p:sp>
          <p:nvSpPr>
            <p:cNvPr id="38941" name="Line 62">
              <a:extLst>
                <a:ext uri="{FF2B5EF4-FFF2-40B4-BE49-F238E27FC236}">
                  <a16:creationId xmlns:a16="http://schemas.microsoft.com/office/drawing/2014/main" id="{509D9C46-2939-D637-1434-DD986FA7F0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9" y="3127"/>
              <a:ext cx="462" cy="363"/>
            </a:xfrm>
            <a:prstGeom prst="line">
              <a:avLst/>
            </a:prstGeom>
            <a:noFill/>
            <a:ln w="34925">
              <a:solidFill>
                <a:schemeClr val="accent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942" name="Object 70">
              <a:extLst>
                <a:ext uri="{FF2B5EF4-FFF2-40B4-BE49-F238E27FC236}">
                  <a16:creationId xmlns:a16="http://schemas.microsoft.com/office/drawing/2014/main" id="{BB539B75-66F1-ED9C-8596-6077B7EA7C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8" y="3036"/>
            <a:ext cx="3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485797" imgH="342900" progId="Equation.3">
                    <p:embed/>
                  </p:oleObj>
                </mc:Choice>
                <mc:Fallback>
                  <p:oleObj name="公式" r:id="rId6" imgW="485797" imgH="342900" progId="Equation.3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8" y="3036"/>
                          <a:ext cx="3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43" name="Line 75">
              <a:extLst>
                <a:ext uri="{FF2B5EF4-FFF2-40B4-BE49-F238E27FC236}">
                  <a16:creationId xmlns:a16="http://schemas.microsoft.com/office/drawing/2014/main" id="{CD42B876-A944-3C8C-1F5F-48C4AF4ABA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4" y="3506"/>
              <a:ext cx="4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4" name="Line 78">
              <a:extLst>
                <a:ext uri="{FF2B5EF4-FFF2-40B4-BE49-F238E27FC236}">
                  <a16:creationId xmlns:a16="http://schemas.microsoft.com/office/drawing/2014/main" id="{206AC034-265B-5716-0238-CA5C8DB247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3" y="3399"/>
              <a:ext cx="45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945" name="Object 79">
              <a:extLst>
                <a:ext uri="{FF2B5EF4-FFF2-40B4-BE49-F238E27FC236}">
                  <a16:creationId xmlns:a16="http://schemas.microsoft.com/office/drawing/2014/main" id="{3A0301F6-A343-C4D6-9B72-081C643314D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89" y="3263"/>
            <a:ext cx="305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482391" imgH="418918" progId="Equation.3">
                    <p:embed/>
                  </p:oleObj>
                </mc:Choice>
                <mc:Fallback>
                  <p:oleObj name="公式" r:id="rId8" imgW="482391" imgH="418918" progId="Equation.3">
                    <p:embed/>
                    <p:pic>
                      <p:nvPicPr>
                        <p:cNvPr id="0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9" y="3263"/>
                          <a:ext cx="305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496" name="Group 96">
            <a:extLst>
              <a:ext uri="{FF2B5EF4-FFF2-40B4-BE49-F238E27FC236}">
                <a16:creationId xmlns:a16="http://schemas.microsoft.com/office/drawing/2014/main" id="{89A072FD-3E80-16CF-776E-C727655947ED}"/>
              </a:ext>
            </a:extLst>
          </p:cNvPr>
          <p:cNvGrpSpPr>
            <a:grpSpLocks/>
          </p:cNvGrpSpPr>
          <p:nvPr/>
        </p:nvGrpSpPr>
        <p:grpSpPr bwMode="auto">
          <a:xfrm>
            <a:off x="7362825" y="3397250"/>
            <a:ext cx="1171575" cy="1092200"/>
            <a:chOff x="4501" y="2457"/>
            <a:chExt cx="738" cy="688"/>
          </a:xfrm>
        </p:grpSpPr>
        <p:grpSp>
          <p:nvGrpSpPr>
            <p:cNvPr id="38935" name="Group 85">
              <a:extLst>
                <a:ext uri="{FF2B5EF4-FFF2-40B4-BE49-F238E27FC236}">
                  <a16:creationId xmlns:a16="http://schemas.microsoft.com/office/drawing/2014/main" id="{17C35AB0-E144-42FE-FB0D-714B065D9A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1" y="2457"/>
              <a:ext cx="738" cy="688"/>
              <a:chOff x="4092" y="2387"/>
              <a:chExt cx="738" cy="688"/>
            </a:xfrm>
          </p:grpSpPr>
          <p:sp>
            <p:nvSpPr>
              <p:cNvPr id="38937" name="Line 63">
                <a:extLst>
                  <a:ext uri="{FF2B5EF4-FFF2-40B4-BE49-F238E27FC236}">
                    <a16:creationId xmlns:a16="http://schemas.microsoft.com/office/drawing/2014/main" id="{89038129-0BFE-3FBA-6595-C0D1273509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18" y="2387"/>
                <a:ext cx="59" cy="688"/>
              </a:xfrm>
              <a:prstGeom prst="line">
                <a:avLst/>
              </a:prstGeom>
              <a:noFill/>
              <a:ln w="34925">
                <a:solidFill>
                  <a:srgbClr val="8000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8938" name="Object 71">
                <a:extLst>
                  <a:ext uri="{FF2B5EF4-FFF2-40B4-BE49-F238E27FC236}">
                    <a16:creationId xmlns:a16="http://schemas.microsoft.com/office/drawing/2014/main" id="{1EE5E76D-36D9-B4A8-BB2D-1EBDA392C75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92" y="2614"/>
              <a:ext cx="376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0" imgW="485797" imgH="352425" progId="Equation.3">
                      <p:embed/>
                    </p:oleObj>
                  </mc:Choice>
                  <mc:Fallback>
                    <p:oleObj name="公式" r:id="rId10" imgW="485797" imgH="352425" progId="Equation.3">
                      <p:embed/>
                      <p:pic>
                        <p:nvPicPr>
                          <p:cNvPr id="0" name="Object 7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92" y="2614"/>
                            <a:ext cx="376" cy="29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939" name="Line 76">
                <a:extLst>
                  <a:ext uri="{FF2B5EF4-FFF2-40B4-BE49-F238E27FC236}">
                    <a16:creationId xmlns:a16="http://schemas.microsoft.com/office/drawing/2014/main" id="{5F8E9057-3123-A698-CB8C-B77D7809E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1" y="3067"/>
                <a:ext cx="49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8940" name="Object 80">
                <a:extLst>
                  <a:ext uri="{FF2B5EF4-FFF2-40B4-BE49-F238E27FC236}">
                    <a16:creationId xmlns:a16="http://schemas.microsoft.com/office/drawing/2014/main" id="{640C5702-92BE-6A34-E12C-A83A211D76C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22" y="2750"/>
              <a:ext cx="305" cy="2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482391" imgH="431613" progId="Equation.3">
                      <p:embed/>
                    </p:oleObj>
                  </mc:Choice>
                  <mc:Fallback>
                    <p:oleObj name="公式" r:id="rId12" imgW="482391" imgH="431613" progId="Equation.3">
                      <p:embed/>
                      <p:pic>
                        <p:nvPicPr>
                          <p:cNvPr id="0" name="Object 8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2" y="2750"/>
                            <a:ext cx="305" cy="22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8936" name="Freeform 82">
              <a:extLst>
                <a:ext uri="{FF2B5EF4-FFF2-40B4-BE49-F238E27FC236}">
                  <a16:creationId xmlns:a16="http://schemas.microsoft.com/office/drawing/2014/main" id="{87817128-D0AA-445C-C127-012EBBF2B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1" y="3021"/>
              <a:ext cx="136" cy="106"/>
            </a:xfrm>
            <a:custGeom>
              <a:avLst/>
              <a:gdLst>
                <a:gd name="T0" fmla="*/ 0 w 136"/>
                <a:gd name="T1" fmla="*/ 15 h 106"/>
                <a:gd name="T2" fmla="*/ 90 w 136"/>
                <a:gd name="T3" fmla="*/ 15 h 106"/>
                <a:gd name="T4" fmla="*/ 136 w 136"/>
                <a:gd name="T5" fmla="*/ 106 h 1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6" h="106">
                  <a:moveTo>
                    <a:pt x="0" y="15"/>
                  </a:moveTo>
                  <a:cubicBezTo>
                    <a:pt x="33" y="7"/>
                    <a:pt x="67" y="0"/>
                    <a:pt x="90" y="15"/>
                  </a:cubicBezTo>
                  <a:cubicBezTo>
                    <a:pt x="113" y="30"/>
                    <a:pt x="128" y="91"/>
                    <a:pt x="136" y="106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489" name="Group 89">
            <a:extLst>
              <a:ext uri="{FF2B5EF4-FFF2-40B4-BE49-F238E27FC236}">
                <a16:creationId xmlns:a16="http://schemas.microsoft.com/office/drawing/2014/main" id="{9928EC63-A4A2-2F8E-F4C3-56ED9B288308}"/>
              </a:ext>
            </a:extLst>
          </p:cNvPr>
          <p:cNvGrpSpPr>
            <a:grpSpLocks/>
          </p:cNvGrpSpPr>
          <p:nvPr/>
        </p:nvGrpSpPr>
        <p:grpSpPr bwMode="auto">
          <a:xfrm>
            <a:off x="5678488" y="3381375"/>
            <a:ext cx="2136775" cy="2028825"/>
            <a:chOff x="1973" y="2387"/>
            <a:chExt cx="1346" cy="1278"/>
          </a:xfrm>
        </p:grpSpPr>
        <p:sp>
          <p:nvSpPr>
            <p:cNvPr id="38931" name="Line 65">
              <a:extLst>
                <a:ext uri="{FF2B5EF4-FFF2-40B4-BE49-F238E27FC236}">
                  <a16:creationId xmlns:a16="http://schemas.microsoft.com/office/drawing/2014/main" id="{A05FE0F5-576F-023F-1209-09EED950E5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3" y="2387"/>
              <a:ext cx="1346" cy="1267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932" name="Object 86">
              <a:extLst>
                <a:ext uri="{FF2B5EF4-FFF2-40B4-BE49-F238E27FC236}">
                  <a16:creationId xmlns:a16="http://schemas.microsoft.com/office/drawing/2014/main" id="{3EF8DA14-9849-FDB2-F5A7-71173DF71E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9" y="2387"/>
            <a:ext cx="240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66553" imgH="257175" progId="Equation.3">
                    <p:embed/>
                  </p:oleObj>
                </mc:Choice>
                <mc:Fallback>
                  <p:oleObj name="公式" r:id="rId14" imgW="266553" imgH="257175" progId="Equation.3">
                    <p:embed/>
                    <p:pic>
                      <p:nvPicPr>
                        <p:cNvPr id="0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2387"/>
                          <a:ext cx="240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3" name="Line 87">
              <a:extLst>
                <a:ext uri="{FF2B5EF4-FFF2-40B4-BE49-F238E27FC236}">
                  <a16:creationId xmlns:a16="http://schemas.microsoft.com/office/drawing/2014/main" id="{6B678D49-CB3E-3C2A-434B-3DC5B3F63D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8" y="3529"/>
              <a:ext cx="46" cy="1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934" name="Object 88">
              <a:extLst>
                <a:ext uri="{FF2B5EF4-FFF2-40B4-BE49-F238E27FC236}">
                  <a16:creationId xmlns:a16="http://schemas.microsoft.com/office/drawing/2014/main" id="{F263BA2E-DC9C-3F41-57FA-7EBB1E500D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54" y="3454"/>
            <a:ext cx="16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52518" imgH="190500" progId="Equation.3">
                    <p:embed/>
                  </p:oleObj>
                </mc:Choice>
                <mc:Fallback>
                  <p:oleObj name="公式" r:id="rId16" imgW="152518" imgH="190500" progId="Equation.3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4" y="3454"/>
                          <a:ext cx="168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490" name="Text Box 90">
            <a:extLst>
              <a:ext uri="{FF2B5EF4-FFF2-40B4-BE49-F238E27FC236}">
                <a16:creationId xmlns:a16="http://schemas.microsoft.com/office/drawing/2014/main" id="{FFE9156A-2670-0EC5-57BB-2BE13EB9E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975" y="4652963"/>
            <a:ext cx="3324225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</a:rPr>
              <a:t>采用旋转矢量法：           </a:t>
            </a:r>
          </a:p>
        </p:txBody>
      </p:sp>
      <p:sp>
        <p:nvSpPr>
          <p:cNvPr id="102491" name="Text Box 91">
            <a:extLst>
              <a:ext uri="{FF2B5EF4-FFF2-40B4-BE49-F238E27FC236}">
                <a16:creationId xmlns:a16="http://schemas.microsoft.com/office/drawing/2014/main" id="{186BF554-DFC6-996D-C6A8-523359869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688" y="5157788"/>
            <a:ext cx="4346575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</a:rPr>
              <a:t>各分振动矢量首尾依次相接。     </a:t>
            </a:r>
          </a:p>
        </p:txBody>
      </p:sp>
      <p:grpSp>
        <p:nvGrpSpPr>
          <p:cNvPr id="102493" name="Group 93">
            <a:extLst>
              <a:ext uri="{FF2B5EF4-FFF2-40B4-BE49-F238E27FC236}">
                <a16:creationId xmlns:a16="http://schemas.microsoft.com/office/drawing/2014/main" id="{86692A82-3D1A-D79E-19B7-9CAE85237874}"/>
              </a:ext>
            </a:extLst>
          </p:cNvPr>
          <p:cNvGrpSpPr>
            <a:grpSpLocks/>
          </p:cNvGrpSpPr>
          <p:nvPr/>
        </p:nvGrpSpPr>
        <p:grpSpPr bwMode="auto">
          <a:xfrm>
            <a:off x="744538" y="836613"/>
            <a:ext cx="3467100" cy="476250"/>
            <a:chOff x="509" y="527"/>
            <a:chExt cx="2371" cy="338"/>
          </a:xfrm>
        </p:grpSpPr>
        <p:graphicFrame>
          <p:nvGraphicFramePr>
            <p:cNvPr id="38929" name="Object 40">
              <a:extLst>
                <a:ext uri="{FF2B5EF4-FFF2-40B4-BE49-F238E27FC236}">
                  <a16:creationId xmlns:a16="http://schemas.microsoft.com/office/drawing/2014/main" id="{0E21ADF4-1D5F-F6CE-00B7-434192E26A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41" y="527"/>
            <a:ext cx="1939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2857588" imgH="342900" progId="Equation.3">
                    <p:embed/>
                  </p:oleObj>
                </mc:Choice>
                <mc:Fallback>
                  <p:oleObj name="公式" r:id="rId18" imgW="2857588" imgH="34290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1" y="527"/>
                          <a:ext cx="1939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0" name="Text Box 92">
              <a:extLst>
                <a:ext uri="{FF2B5EF4-FFF2-40B4-BE49-F238E27FC236}">
                  <a16:creationId xmlns:a16="http://schemas.microsoft.com/office/drawing/2014/main" id="{8894D621-FC19-CCCF-F7E9-DCAF44A0A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" y="541"/>
              <a:ext cx="1010" cy="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sz="2300">
                  <a:solidFill>
                    <a:srgbClr val="000066"/>
                  </a:solidFill>
                </a:rPr>
                <a:t>若</a:t>
              </a:r>
              <a:r>
                <a:rPr lang="zh-CN" altLang="en-US">
                  <a:solidFill>
                    <a:srgbClr val="000066"/>
                  </a:solidFill>
                </a:rPr>
                <a:t> </a:t>
              </a:r>
              <a:r>
                <a:rPr lang="zh-CN" altLang="en-US">
                  <a:solidFill>
                    <a:srgbClr val="000080"/>
                  </a:solidFill>
                </a:rPr>
                <a:t>        </a:t>
              </a:r>
            </a:p>
          </p:txBody>
        </p:sp>
      </p:grpSp>
      <p:graphicFrame>
        <p:nvGraphicFramePr>
          <p:cNvPr id="102494" name="Object 94">
            <a:extLst>
              <a:ext uri="{FF2B5EF4-FFF2-40B4-BE49-F238E27FC236}">
                <a16:creationId xmlns:a16="http://schemas.microsoft.com/office/drawing/2014/main" id="{E58176A7-6ED1-AAB0-7A58-E1A15EFB76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4005263"/>
          <a:ext cx="3670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552744" imgH="361950" progId="Equation.3">
                  <p:embed/>
                </p:oleObj>
              </mc:Choice>
              <mc:Fallback>
                <p:oleObj name="公式" r:id="rId20" imgW="3552744" imgH="361950" progId="Equation.3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005263"/>
                        <a:ext cx="36703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2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0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0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10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02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0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0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0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02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02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10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 animBg="1"/>
      <p:bldP spid="102405" grpId="0" animBg="1"/>
      <p:bldP spid="102454" grpId="0"/>
      <p:bldP spid="102455" grpId="0"/>
      <p:bldP spid="102490" grpId="0"/>
      <p:bldP spid="10249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4" name="Rectangle 4">
            <a:hlinkClick r:id="rId2" action="ppaction://hlinkfile"/>
            <a:extLst>
              <a:ext uri="{FF2B5EF4-FFF2-40B4-BE49-F238E27FC236}">
                <a16:creationId xmlns:a16="http://schemas.microsoft.com/office/drawing/2014/main" id="{FC4A2D91-B41E-812A-B0FA-7CFF51E92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0350"/>
            <a:ext cx="70580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66"/>
                </a:solidFill>
                <a:latin typeface="华文中宋" panose="02010600040101010101" pitchFamily="2" charset="-122"/>
              </a:rPr>
              <a:t>二、同振向、不同频率谐振动的合成</a:t>
            </a:r>
            <a:r>
              <a:rPr lang="en-US" altLang="zh-CN" sz="2600">
                <a:solidFill>
                  <a:srgbClr val="000066"/>
                </a:solidFill>
                <a:latin typeface="华文中宋" panose="02010600040101010101" pitchFamily="2" charset="-122"/>
              </a:rPr>
              <a:t>— </a:t>
            </a:r>
            <a:r>
              <a:rPr lang="zh-CN" altLang="en-US" sz="2600">
                <a:solidFill>
                  <a:srgbClr val="000066"/>
                </a:solidFill>
                <a:latin typeface="华文中宋" panose="02010600040101010101" pitchFamily="2" charset="-122"/>
              </a:rPr>
              <a:t>拍              </a:t>
            </a:r>
          </a:p>
        </p:txBody>
      </p:sp>
      <p:sp>
        <p:nvSpPr>
          <p:cNvPr id="128005" name="Rectangle 5">
            <a:extLst>
              <a:ext uri="{FF2B5EF4-FFF2-40B4-BE49-F238E27FC236}">
                <a16:creationId xmlns:a16="http://schemas.microsoft.com/office/drawing/2014/main" id="{82B0D5F9-3E84-AA86-CF6E-4794E76EE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698750"/>
            <a:ext cx="7848600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en-US" altLang="zh-CN" sz="2100">
                <a:latin typeface="华文中宋" panose="02010600040101010101" pitchFamily="2" charset="-122"/>
              </a:rPr>
              <a:t>★</a:t>
            </a:r>
            <a:r>
              <a:rPr lang="en-US" altLang="zh-CN" sz="2300">
                <a:solidFill>
                  <a:srgbClr val="000080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相位差随时间变化；</a:t>
            </a:r>
            <a:r>
              <a:rPr lang="zh-CN" altLang="en-US" sz="2300">
                <a:latin typeface="华文中宋" panose="02010600040101010101" pitchFamily="2" charset="-122"/>
              </a:rPr>
              <a:t>合振动不再是简谐振动</a:t>
            </a:r>
            <a:r>
              <a:rPr lang="zh-CN" altLang="en-US" sz="2300">
                <a:solidFill>
                  <a:srgbClr val="000080"/>
                </a:solidFill>
                <a:latin typeface="华文中宋" panose="02010600040101010101" pitchFamily="2" charset="-122"/>
              </a:rPr>
              <a:t>。</a:t>
            </a:r>
          </a:p>
        </p:txBody>
      </p:sp>
      <p:graphicFrame>
        <p:nvGraphicFramePr>
          <p:cNvPr id="128006" name="Object 6">
            <a:extLst>
              <a:ext uri="{FF2B5EF4-FFF2-40B4-BE49-F238E27FC236}">
                <a16:creationId xmlns:a16="http://schemas.microsoft.com/office/drawing/2014/main" id="{A3E77FA3-525E-8ACB-C6AF-E81CC660F6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908050"/>
          <a:ext cx="37449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171803" imgH="304800" progId="Equation.3">
                  <p:embed/>
                </p:oleObj>
              </mc:Choice>
              <mc:Fallback>
                <p:oleObj name="公式" r:id="rId3" imgW="3171803" imgH="304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908050"/>
                        <a:ext cx="37449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7" name="Object 7">
            <a:extLst>
              <a:ext uri="{FF2B5EF4-FFF2-40B4-BE49-F238E27FC236}">
                <a16:creationId xmlns:a16="http://schemas.microsoft.com/office/drawing/2014/main" id="{223752F0-2334-C168-497F-370859B739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2025" y="908050"/>
          <a:ext cx="360997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152738" imgH="304800" progId="Equation.3">
                  <p:embed/>
                </p:oleObj>
              </mc:Choice>
              <mc:Fallback>
                <p:oleObj name="公式" r:id="rId5" imgW="3152738" imgH="304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908050"/>
                        <a:ext cx="360997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8" name="Object 8">
            <a:extLst>
              <a:ext uri="{FF2B5EF4-FFF2-40B4-BE49-F238E27FC236}">
                <a16:creationId xmlns:a16="http://schemas.microsoft.com/office/drawing/2014/main" id="{D2412C97-1089-62BC-634C-D36E0B3A72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557338"/>
          <a:ext cx="525621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657791" imgH="342900" progId="Equation.3">
                  <p:embed/>
                </p:oleObj>
              </mc:Choice>
              <mc:Fallback>
                <p:oleObj name="公式" r:id="rId7" imgW="4657791" imgH="342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557338"/>
                        <a:ext cx="5256213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10" name="Rectangle 10">
            <a:extLst>
              <a:ext uri="{FF2B5EF4-FFF2-40B4-BE49-F238E27FC236}">
                <a16:creationId xmlns:a16="http://schemas.microsoft.com/office/drawing/2014/main" id="{15F5C84E-B599-AEC6-9DA0-34957B992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141663"/>
            <a:ext cx="7856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为使讨论简便，设两振动的</a:t>
            </a:r>
            <a:r>
              <a:rPr lang="zh-CN" altLang="en-US">
                <a:solidFill>
                  <a:srgbClr val="000080"/>
                </a:solidFill>
                <a:latin typeface="华文中宋" panose="02010600040101010101" pitchFamily="2" charset="-122"/>
              </a:rPr>
              <a:t> </a:t>
            </a:r>
            <a:r>
              <a:rPr lang="en-US" altLang="zh-CN" sz="2800" i="1"/>
              <a:t>A</a:t>
            </a:r>
            <a:r>
              <a:rPr lang="en-US" altLang="zh-CN" sz="2800" baseline="-25000"/>
              <a:t>1</a:t>
            </a:r>
            <a:r>
              <a:rPr lang="en-US" altLang="zh-CN" sz="2800"/>
              <a:t>= </a:t>
            </a:r>
            <a:r>
              <a:rPr lang="en-US" altLang="zh-CN" sz="2800" i="1"/>
              <a:t>A</a:t>
            </a:r>
            <a:r>
              <a:rPr lang="en-US" altLang="zh-CN" sz="2800" baseline="-25000"/>
              <a:t>2  </a:t>
            </a:r>
            <a:r>
              <a:rPr lang="zh-CN" altLang="en-US"/>
              <a:t>，</a:t>
            </a:r>
            <a:r>
              <a:rPr lang="zh-CN" altLang="en-US">
                <a:latin typeface="华文中宋" panose="02010600040101010101" pitchFamily="2" charset="-122"/>
              </a:rPr>
              <a:t> </a:t>
            </a:r>
            <a:r>
              <a:rPr lang="en-US" altLang="zh-CN" sz="2800" i="1"/>
              <a:t>φ</a:t>
            </a:r>
            <a:r>
              <a:rPr lang="en-US" altLang="zh-CN" sz="2800" baseline="-25000"/>
              <a:t>1 </a:t>
            </a:r>
            <a:r>
              <a:rPr lang="en-US" altLang="zh-CN" sz="2800"/>
              <a:t>= </a:t>
            </a:r>
            <a:r>
              <a:rPr lang="en-US" altLang="zh-CN" sz="2800" i="1"/>
              <a:t>φ</a:t>
            </a:r>
            <a:r>
              <a:rPr lang="en-US" altLang="zh-CN" sz="2800" baseline="-25000"/>
              <a:t>2 </a:t>
            </a:r>
            <a:r>
              <a:rPr lang="en-US" altLang="zh-CN" sz="2800">
                <a:latin typeface="华文中宋" panose="02010600040101010101" pitchFamily="2" charset="-122"/>
              </a:rPr>
              <a:t>= </a:t>
            </a:r>
            <a:r>
              <a:rPr lang="en-US" altLang="zh-CN" sz="2800"/>
              <a:t>0</a:t>
            </a:r>
            <a:r>
              <a:rPr lang="zh-CN" altLang="en-US">
                <a:latin typeface="华文中宋" panose="02010600040101010101" pitchFamily="2" charset="-122"/>
              </a:rPr>
              <a:t>。      </a:t>
            </a:r>
          </a:p>
        </p:txBody>
      </p:sp>
      <p:graphicFrame>
        <p:nvGraphicFramePr>
          <p:cNvPr id="128013" name="Object 13">
            <a:extLst>
              <a:ext uri="{FF2B5EF4-FFF2-40B4-BE49-F238E27FC236}">
                <a16:creationId xmlns:a16="http://schemas.microsoft.com/office/drawing/2014/main" id="{F893D430-F6A3-91D2-1CC3-705E6C8C18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3716338"/>
          <a:ext cx="481488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4162462" imgH="304800" progId="Equation.3">
                  <p:embed/>
                </p:oleObj>
              </mc:Choice>
              <mc:Fallback>
                <p:oleObj name="公式" r:id="rId9" imgW="4162462" imgH="304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716338"/>
                        <a:ext cx="4814888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18" name="Object 18">
            <a:extLst>
              <a:ext uri="{FF2B5EF4-FFF2-40B4-BE49-F238E27FC236}">
                <a16:creationId xmlns:a16="http://schemas.microsoft.com/office/drawing/2014/main" id="{C648720C-F410-C34B-BF1E-B206E9EE57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4314825"/>
          <a:ext cx="474345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4229188" imgH="304800" progId="Equation.3">
                  <p:embed/>
                </p:oleObj>
              </mc:Choice>
              <mc:Fallback>
                <p:oleObj name="公式" r:id="rId11" imgW="4229188" imgH="3048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314825"/>
                        <a:ext cx="474345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8024" name="Group 24">
            <a:extLst>
              <a:ext uri="{FF2B5EF4-FFF2-40B4-BE49-F238E27FC236}">
                <a16:creationId xmlns:a16="http://schemas.microsoft.com/office/drawing/2014/main" id="{C8C9AD7B-A997-A08C-A0F6-A7BD4E591980}"/>
              </a:ext>
            </a:extLst>
          </p:cNvPr>
          <p:cNvGrpSpPr>
            <a:grpSpLocks/>
          </p:cNvGrpSpPr>
          <p:nvPr/>
        </p:nvGrpSpPr>
        <p:grpSpPr bwMode="auto">
          <a:xfrm>
            <a:off x="768350" y="3906838"/>
            <a:ext cx="1571625" cy="720725"/>
            <a:chOff x="484" y="2659"/>
            <a:chExt cx="990" cy="454"/>
          </a:xfrm>
        </p:grpSpPr>
        <p:sp>
          <p:nvSpPr>
            <p:cNvPr id="39950" name="Text Box 17">
              <a:extLst>
                <a:ext uri="{FF2B5EF4-FFF2-40B4-BE49-F238E27FC236}">
                  <a16:creationId xmlns:a16="http://schemas.microsoft.com/office/drawing/2014/main" id="{3A371662-D74E-A624-32AF-169D825B0F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" y="2733"/>
              <a:ext cx="990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sz="2300">
                  <a:solidFill>
                    <a:srgbClr val="000066"/>
                  </a:solidFill>
                </a:rPr>
                <a:t>则有：       </a:t>
              </a:r>
            </a:p>
          </p:txBody>
        </p:sp>
        <p:sp>
          <p:nvSpPr>
            <p:cNvPr id="39951" name="AutoShape 19">
              <a:extLst>
                <a:ext uri="{FF2B5EF4-FFF2-40B4-BE49-F238E27FC236}">
                  <a16:creationId xmlns:a16="http://schemas.microsoft.com/office/drawing/2014/main" id="{2838D221-7E6F-87F8-491A-58CCF5103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2659"/>
              <a:ext cx="90" cy="454"/>
            </a:xfrm>
            <a:prstGeom prst="leftBrace">
              <a:avLst>
                <a:gd name="adj1" fmla="val 42037"/>
                <a:gd name="adj2" fmla="val 50000"/>
              </a:avLst>
            </a:prstGeom>
            <a:noFill/>
            <a:ln w="31750">
              <a:solidFill>
                <a:srgbClr val="800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128020" name="Object 20">
            <a:extLst>
              <a:ext uri="{FF2B5EF4-FFF2-40B4-BE49-F238E27FC236}">
                <a16:creationId xmlns:a16="http://schemas.microsoft.com/office/drawing/2014/main" id="{58F11FAD-9A67-B74B-67B0-41B4391FB0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5300663"/>
          <a:ext cx="626427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333662" imgH="95250" progId="Equation.3">
                  <p:embed/>
                </p:oleObj>
              </mc:Choice>
              <mc:Fallback>
                <p:oleObj name="Equation" r:id="rId13" imgW="2333662" imgH="9525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300663"/>
                        <a:ext cx="6264275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21" name="Rectangle 21">
            <a:extLst>
              <a:ext uri="{FF2B5EF4-FFF2-40B4-BE49-F238E27FC236}">
                <a16:creationId xmlns:a16="http://schemas.microsoft.com/office/drawing/2014/main" id="{381E9DD0-72F6-4023-653D-840AE2199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857750"/>
            <a:ext cx="3455988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合振动方程为：</a:t>
            </a:r>
          </a:p>
        </p:txBody>
      </p:sp>
      <p:graphicFrame>
        <p:nvGraphicFramePr>
          <p:cNvPr id="128023" name="Object 23">
            <a:extLst>
              <a:ext uri="{FF2B5EF4-FFF2-40B4-BE49-F238E27FC236}">
                <a16:creationId xmlns:a16="http://schemas.microsoft.com/office/drawing/2014/main" id="{D52CAAE0-C909-42A5-D770-9BB6628657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2133600"/>
          <a:ext cx="48244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3990879" imgH="342900" progId="Equation.3">
                  <p:embed/>
                </p:oleObj>
              </mc:Choice>
              <mc:Fallback>
                <p:oleObj name="公式" r:id="rId15" imgW="3990879" imgH="3429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133600"/>
                        <a:ext cx="48244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2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28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12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128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0"/>
                                        <p:tgtEl>
                                          <p:spTgt spid="12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0"/>
                                        <p:tgtEl>
                                          <p:spTgt spid="128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28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0"/>
                                        <p:tgtEl>
                                          <p:spTgt spid="128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0"/>
                                        <p:tgtEl>
                                          <p:spTgt spid="128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28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0"/>
                                        <p:tgtEl>
                                          <p:spTgt spid="128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4" grpId="0"/>
      <p:bldP spid="128005" grpId="0"/>
      <p:bldP spid="128010" grpId="0"/>
      <p:bldP spid="1280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034" name="Object 10">
            <a:extLst>
              <a:ext uri="{FF2B5EF4-FFF2-40B4-BE49-F238E27FC236}">
                <a16:creationId xmlns:a16="http://schemas.microsoft.com/office/drawing/2014/main" id="{0253DF1C-E548-22DA-F763-2760135C6A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2636838"/>
          <a:ext cx="1944688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76282" imgH="704850" progId="Equation.3">
                  <p:embed/>
                </p:oleObj>
              </mc:Choice>
              <mc:Fallback>
                <p:oleObj name="公式" r:id="rId2" imgW="1676282" imgH="70485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636838"/>
                        <a:ext cx="1944688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5" name="Text Box 11">
            <a:extLst>
              <a:ext uri="{FF2B5EF4-FFF2-40B4-BE49-F238E27FC236}">
                <a16:creationId xmlns:a16="http://schemas.microsoft.com/office/drawing/2014/main" id="{D54FBB99-DEE0-A482-3F19-62B8C6FFE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2852738"/>
            <a:ext cx="2787650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合振动频率：</a:t>
            </a:r>
          </a:p>
        </p:txBody>
      </p:sp>
      <p:graphicFrame>
        <p:nvGraphicFramePr>
          <p:cNvPr id="129036" name="Object 12">
            <a:extLst>
              <a:ext uri="{FF2B5EF4-FFF2-40B4-BE49-F238E27FC236}">
                <a16:creationId xmlns:a16="http://schemas.microsoft.com/office/drawing/2014/main" id="{2EAAE948-A442-974B-FA79-643A60934D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82875" y="3573463"/>
          <a:ext cx="42656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495550" imgH="790575" progId="Equation.3">
                  <p:embed/>
                </p:oleObj>
              </mc:Choice>
              <mc:Fallback>
                <p:oleObj name="公式" r:id="rId4" imgW="3495550" imgH="79057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75" y="3573463"/>
                        <a:ext cx="42656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7" name="Text Box 13">
            <a:extLst>
              <a:ext uri="{FF2B5EF4-FFF2-40B4-BE49-F238E27FC236}">
                <a16:creationId xmlns:a16="http://schemas.microsoft.com/office/drawing/2014/main" id="{46A6630C-CF75-78EC-6B2A-53C57C821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790950"/>
            <a:ext cx="2808288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合振动振幅：</a:t>
            </a:r>
          </a:p>
        </p:txBody>
      </p:sp>
      <p:sp>
        <p:nvSpPr>
          <p:cNvPr id="129040" name="Rectangle 16">
            <a:extLst>
              <a:ext uri="{FF2B5EF4-FFF2-40B4-BE49-F238E27FC236}">
                <a16:creationId xmlns:a16="http://schemas.microsoft.com/office/drawing/2014/main" id="{9B172799-FDBC-16B8-F8DE-E76879D8E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652963"/>
            <a:ext cx="6697662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100">
                <a:latin typeface="华文中宋" panose="02010600040101010101" pitchFamily="2" charset="-122"/>
              </a:rPr>
              <a:t>★</a:t>
            </a:r>
            <a:r>
              <a:rPr lang="en-US" altLang="zh-CN" sz="2300">
                <a:solidFill>
                  <a:srgbClr val="000080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讨论</a:t>
            </a:r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: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两频率都较大</a:t>
            </a:r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,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而频率差很小的情况</a:t>
            </a:r>
          </a:p>
        </p:txBody>
      </p:sp>
      <p:graphicFrame>
        <p:nvGraphicFramePr>
          <p:cNvPr id="129041" name="Object 17">
            <a:extLst>
              <a:ext uri="{FF2B5EF4-FFF2-40B4-BE49-F238E27FC236}">
                <a16:creationId xmlns:a16="http://schemas.microsoft.com/office/drawing/2014/main" id="{D90BF112-196B-5FA3-FC26-8935CE8E14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5863" y="260350"/>
          <a:ext cx="6481762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48050" imgH="295275" progId="Equation.3">
                  <p:embed/>
                </p:oleObj>
              </mc:Choice>
              <mc:Fallback>
                <p:oleObj name="Equation" r:id="rId6" imgW="2448050" imgH="29527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863" y="260350"/>
                        <a:ext cx="6481762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45" name="Rectangle 21">
            <a:extLst>
              <a:ext uri="{FF2B5EF4-FFF2-40B4-BE49-F238E27FC236}">
                <a16:creationId xmlns:a16="http://schemas.microsoft.com/office/drawing/2014/main" id="{4B0378C3-D638-68E5-BA4B-D7B0CF334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157788"/>
            <a:ext cx="64801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合振幅出现时大时小的现象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 </a:t>
            </a:r>
            <a:r>
              <a:rPr lang="en-US" altLang="zh-CN" sz="2800">
                <a:solidFill>
                  <a:srgbClr val="000066"/>
                </a:solidFill>
                <a:latin typeface="华文中宋" panose="02010600040101010101" pitchFamily="2" charset="-122"/>
              </a:rPr>
              <a:t>—</a:t>
            </a:r>
            <a:r>
              <a:rPr lang="en-US" altLang="zh-CN">
                <a:solidFill>
                  <a:srgbClr val="000080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latin typeface="华文中宋" panose="02010600040101010101" pitchFamily="2" charset="-122"/>
              </a:rPr>
              <a:t>拍现象</a:t>
            </a:r>
            <a:r>
              <a:rPr lang="zh-CN" altLang="en-US">
                <a:latin typeface="华文中宋" panose="02010600040101010101" pitchFamily="2" charset="-122"/>
              </a:rPr>
              <a:t>。         </a:t>
            </a:r>
          </a:p>
        </p:txBody>
      </p:sp>
      <p:grpSp>
        <p:nvGrpSpPr>
          <p:cNvPr id="129047" name="Group 23">
            <a:extLst>
              <a:ext uri="{FF2B5EF4-FFF2-40B4-BE49-F238E27FC236}">
                <a16:creationId xmlns:a16="http://schemas.microsoft.com/office/drawing/2014/main" id="{148FB250-6AC4-BFF4-8BA3-5A7E2B8668E1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1835150" y="1270000"/>
            <a:ext cx="3168650" cy="71438"/>
            <a:chOff x="906" y="554"/>
            <a:chExt cx="3898" cy="286"/>
          </a:xfrm>
        </p:grpSpPr>
        <p:sp>
          <p:nvSpPr>
            <p:cNvPr id="41011" name="AutoShape 24">
              <a:extLst>
                <a:ext uri="{FF2B5EF4-FFF2-40B4-BE49-F238E27FC236}">
                  <a16:creationId xmlns:a16="http://schemas.microsoft.com/office/drawing/2014/main" id="{0EDC70E7-89C7-3DC2-CCF7-5EC48C409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" y="563"/>
              <a:ext cx="88" cy="14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12" name="AutoShape 25">
              <a:extLst>
                <a:ext uri="{FF2B5EF4-FFF2-40B4-BE49-F238E27FC236}">
                  <a16:creationId xmlns:a16="http://schemas.microsoft.com/office/drawing/2014/main" id="{CDA885D2-89A7-C518-3C73-30C8BCD38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" y="702"/>
              <a:ext cx="93" cy="13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13" name="AutoShape 26">
              <a:extLst>
                <a:ext uri="{FF2B5EF4-FFF2-40B4-BE49-F238E27FC236}">
                  <a16:creationId xmlns:a16="http://schemas.microsoft.com/office/drawing/2014/main" id="{614E1E6B-65C4-A509-2C5A-0CE8FAB0B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" y="566"/>
              <a:ext cx="87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14" name="AutoShape 27">
              <a:extLst>
                <a:ext uri="{FF2B5EF4-FFF2-40B4-BE49-F238E27FC236}">
                  <a16:creationId xmlns:a16="http://schemas.microsoft.com/office/drawing/2014/main" id="{B3794AB0-377F-17AD-AAEB-0475DC0FA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" y="701"/>
              <a:ext cx="93" cy="1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15" name="AutoShape 28">
              <a:extLst>
                <a:ext uri="{FF2B5EF4-FFF2-40B4-BE49-F238E27FC236}">
                  <a16:creationId xmlns:a16="http://schemas.microsoft.com/office/drawing/2014/main" id="{E91D85BF-21C9-4EE2-3152-DB32FB6F0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8" y="560"/>
              <a:ext cx="88" cy="14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16" name="AutoShape 29">
              <a:extLst>
                <a:ext uri="{FF2B5EF4-FFF2-40B4-BE49-F238E27FC236}">
                  <a16:creationId xmlns:a16="http://schemas.microsoft.com/office/drawing/2014/main" id="{8C035E34-FEFE-695F-9BF6-AF02A8D36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5" y="698"/>
              <a:ext cx="93" cy="13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17" name="AutoShape 30">
              <a:extLst>
                <a:ext uri="{FF2B5EF4-FFF2-40B4-BE49-F238E27FC236}">
                  <a16:creationId xmlns:a16="http://schemas.microsoft.com/office/drawing/2014/main" id="{EF70D35B-83F7-3579-19A8-EB875C6DC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" y="563"/>
              <a:ext cx="88" cy="14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18" name="AutoShape 31">
              <a:extLst>
                <a:ext uri="{FF2B5EF4-FFF2-40B4-BE49-F238E27FC236}">
                  <a16:creationId xmlns:a16="http://schemas.microsoft.com/office/drawing/2014/main" id="{D42FCE91-B176-ED68-A4DE-7F2B54FF2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697"/>
              <a:ext cx="93" cy="1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19" name="AutoShape 32">
              <a:extLst>
                <a:ext uri="{FF2B5EF4-FFF2-40B4-BE49-F238E27FC236}">
                  <a16:creationId xmlns:a16="http://schemas.microsoft.com/office/drawing/2014/main" id="{AECFF51E-9A99-877B-0419-CDB5DEB6A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559"/>
              <a:ext cx="87" cy="14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20" name="AutoShape 33">
              <a:extLst>
                <a:ext uri="{FF2B5EF4-FFF2-40B4-BE49-F238E27FC236}">
                  <a16:creationId xmlns:a16="http://schemas.microsoft.com/office/drawing/2014/main" id="{618A42A2-07E6-7702-FEE3-E9DEEBF59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696"/>
              <a:ext cx="93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21" name="AutoShape 34">
              <a:extLst>
                <a:ext uri="{FF2B5EF4-FFF2-40B4-BE49-F238E27FC236}">
                  <a16:creationId xmlns:a16="http://schemas.microsoft.com/office/drawing/2014/main" id="{A3AE0222-C5D2-D841-7A12-76DAF3467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6" y="563"/>
              <a:ext cx="87" cy="14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22" name="AutoShape 35">
              <a:extLst>
                <a:ext uri="{FF2B5EF4-FFF2-40B4-BE49-F238E27FC236}">
                  <a16:creationId xmlns:a16="http://schemas.microsoft.com/office/drawing/2014/main" id="{7AC8913C-3C16-3454-10AD-D3E32A7C8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2" y="698"/>
              <a:ext cx="94" cy="1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23" name="AutoShape 36">
              <a:extLst>
                <a:ext uri="{FF2B5EF4-FFF2-40B4-BE49-F238E27FC236}">
                  <a16:creationId xmlns:a16="http://schemas.microsoft.com/office/drawing/2014/main" id="{9B0C47E2-A336-1017-864D-AD620CC8C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4" y="561"/>
              <a:ext cx="88" cy="14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24" name="AutoShape 37">
              <a:extLst>
                <a:ext uri="{FF2B5EF4-FFF2-40B4-BE49-F238E27FC236}">
                  <a16:creationId xmlns:a16="http://schemas.microsoft.com/office/drawing/2014/main" id="{A0A60458-141C-6529-52CE-0BF704295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" y="691"/>
              <a:ext cx="93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25" name="AutoShape 38">
              <a:extLst>
                <a:ext uri="{FF2B5EF4-FFF2-40B4-BE49-F238E27FC236}">
                  <a16:creationId xmlns:a16="http://schemas.microsoft.com/office/drawing/2014/main" id="{A0E9E050-C9F1-76E6-F63F-012775C55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563"/>
              <a:ext cx="87" cy="14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26" name="AutoShape 39">
              <a:extLst>
                <a:ext uri="{FF2B5EF4-FFF2-40B4-BE49-F238E27FC236}">
                  <a16:creationId xmlns:a16="http://schemas.microsoft.com/office/drawing/2014/main" id="{1686A4A3-44FF-65C4-9DCB-4E8671D28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" y="697"/>
              <a:ext cx="93" cy="1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27" name="AutoShape 40">
              <a:extLst>
                <a:ext uri="{FF2B5EF4-FFF2-40B4-BE49-F238E27FC236}">
                  <a16:creationId xmlns:a16="http://schemas.microsoft.com/office/drawing/2014/main" id="{46D8A3B9-5CBA-F4B7-63B0-00AB18E30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" y="554"/>
              <a:ext cx="88" cy="14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28" name="AutoShape 41">
              <a:extLst>
                <a:ext uri="{FF2B5EF4-FFF2-40B4-BE49-F238E27FC236}">
                  <a16:creationId xmlns:a16="http://schemas.microsoft.com/office/drawing/2014/main" id="{28369365-0FD7-09D7-AAF3-56EFE564E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" y="692"/>
              <a:ext cx="93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29" name="AutoShape 42">
              <a:extLst>
                <a:ext uri="{FF2B5EF4-FFF2-40B4-BE49-F238E27FC236}">
                  <a16:creationId xmlns:a16="http://schemas.microsoft.com/office/drawing/2014/main" id="{F2E47B21-D45B-0AE4-56D9-9722B14DA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565"/>
              <a:ext cx="87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30" name="AutoShape 43">
              <a:extLst>
                <a:ext uri="{FF2B5EF4-FFF2-40B4-BE49-F238E27FC236}">
                  <a16:creationId xmlns:a16="http://schemas.microsoft.com/office/drawing/2014/main" id="{8A2C1A39-8871-8CF3-E3E6-42A2811E4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3" y="691"/>
              <a:ext cx="93" cy="1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31" name="AutoShape 44">
              <a:extLst>
                <a:ext uri="{FF2B5EF4-FFF2-40B4-BE49-F238E27FC236}">
                  <a16:creationId xmlns:a16="http://schemas.microsoft.com/office/drawing/2014/main" id="{B9A94EE1-7ACE-9D2D-EE16-8C9817295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5" y="558"/>
              <a:ext cx="88" cy="14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32" name="AutoShape 45">
              <a:extLst>
                <a:ext uri="{FF2B5EF4-FFF2-40B4-BE49-F238E27FC236}">
                  <a16:creationId xmlns:a16="http://schemas.microsoft.com/office/drawing/2014/main" id="{4436761D-7A03-5C40-0CA0-6E3C1D223B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689"/>
              <a:ext cx="93" cy="13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33" name="AutoShape 46">
              <a:extLst>
                <a:ext uri="{FF2B5EF4-FFF2-40B4-BE49-F238E27FC236}">
                  <a16:creationId xmlns:a16="http://schemas.microsoft.com/office/drawing/2014/main" id="{0DC9C17A-CBA0-AD10-BA1A-A3E581258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561"/>
              <a:ext cx="87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34" name="AutoShape 47">
              <a:extLst>
                <a:ext uri="{FF2B5EF4-FFF2-40B4-BE49-F238E27FC236}">
                  <a16:creationId xmlns:a16="http://schemas.microsoft.com/office/drawing/2014/main" id="{F5839EAB-C46E-C008-27BF-A08E71F43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688"/>
              <a:ext cx="94" cy="1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35" name="AutoShape 48">
              <a:extLst>
                <a:ext uri="{FF2B5EF4-FFF2-40B4-BE49-F238E27FC236}">
                  <a16:creationId xmlns:a16="http://schemas.microsoft.com/office/drawing/2014/main" id="{1D93FF91-6470-E03D-DE5B-DCC2E6095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8" y="554"/>
              <a:ext cx="87" cy="14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36" name="AutoShape 49">
              <a:extLst>
                <a:ext uri="{FF2B5EF4-FFF2-40B4-BE49-F238E27FC236}">
                  <a16:creationId xmlns:a16="http://schemas.microsoft.com/office/drawing/2014/main" id="{5066C909-C334-2E3A-7FC6-A066CA049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" y="692"/>
              <a:ext cx="93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37" name="AutoShape 50">
              <a:extLst>
                <a:ext uri="{FF2B5EF4-FFF2-40B4-BE49-F238E27FC236}">
                  <a16:creationId xmlns:a16="http://schemas.microsoft.com/office/drawing/2014/main" id="{727299C6-B4BA-5DF2-0A5D-E5E703039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1" y="565"/>
              <a:ext cx="88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38" name="AutoShape 51">
              <a:extLst>
                <a:ext uri="{FF2B5EF4-FFF2-40B4-BE49-F238E27FC236}">
                  <a16:creationId xmlns:a16="http://schemas.microsoft.com/office/drawing/2014/main" id="{E2236C3D-AC8D-5237-5F08-FC44DC39A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" y="691"/>
              <a:ext cx="93" cy="1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39" name="AutoShape 52">
              <a:extLst>
                <a:ext uri="{FF2B5EF4-FFF2-40B4-BE49-F238E27FC236}">
                  <a16:creationId xmlns:a16="http://schemas.microsoft.com/office/drawing/2014/main" id="{3F3549B1-79B1-36C5-869A-889942102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558"/>
              <a:ext cx="88" cy="14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40" name="AutoShape 53">
              <a:extLst>
                <a:ext uri="{FF2B5EF4-FFF2-40B4-BE49-F238E27FC236}">
                  <a16:creationId xmlns:a16="http://schemas.microsoft.com/office/drawing/2014/main" id="{D2F9C6F8-271D-4938-8132-362C4C5D2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689"/>
              <a:ext cx="93" cy="13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41" name="AutoShape 54">
              <a:extLst>
                <a:ext uri="{FF2B5EF4-FFF2-40B4-BE49-F238E27FC236}">
                  <a16:creationId xmlns:a16="http://schemas.microsoft.com/office/drawing/2014/main" id="{DF9992E2-DA2A-D7A8-B741-F17127639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3" y="561"/>
              <a:ext cx="87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42" name="AutoShape 55">
              <a:extLst>
                <a:ext uri="{FF2B5EF4-FFF2-40B4-BE49-F238E27FC236}">
                  <a16:creationId xmlns:a16="http://schemas.microsoft.com/office/drawing/2014/main" id="{79AAC5A4-813E-8495-8F17-4B5162762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9" y="688"/>
              <a:ext cx="93" cy="1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43" name="AutoShape 56">
              <a:extLst>
                <a:ext uri="{FF2B5EF4-FFF2-40B4-BE49-F238E27FC236}">
                  <a16:creationId xmlns:a16="http://schemas.microsoft.com/office/drawing/2014/main" id="{9CD09B4E-27F9-37A2-B6CD-C03B66047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565"/>
              <a:ext cx="96" cy="13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4"/>
                  </a:moveTo>
                  <a:lnTo>
                    <a:pt x="247" y="18544"/>
                  </a:lnTo>
                  <a:lnTo>
                    <a:pt x="494" y="17844"/>
                  </a:lnTo>
                  <a:lnTo>
                    <a:pt x="617" y="17251"/>
                  </a:lnTo>
                  <a:lnTo>
                    <a:pt x="864" y="16712"/>
                  </a:lnTo>
                  <a:lnTo>
                    <a:pt x="1111" y="16065"/>
                  </a:lnTo>
                  <a:lnTo>
                    <a:pt x="1358" y="15472"/>
                  </a:lnTo>
                  <a:lnTo>
                    <a:pt x="1605" y="14933"/>
                  </a:lnTo>
                  <a:lnTo>
                    <a:pt x="1728" y="14286"/>
                  </a:lnTo>
                  <a:lnTo>
                    <a:pt x="1852" y="13693"/>
                  </a:lnTo>
                  <a:lnTo>
                    <a:pt x="2222" y="13154"/>
                  </a:lnTo>
                  <a:lnTo>
                    <a:pt x="2593" y="12615"/>
                  </a:lnTo>
                  <a:lnTo>
                    <a:pt x="2593" y="12022"/>
                  </a:lnTo>
                  <a:lnTo>
                    <a:pt x="2963" y="11429"/>
                  </a:lnTo>
                  <a:lnTo>
                    <a:pt x="3086" y="10889"/>
                  </a:lnTo>
                  <a:lnTo>
                    <a:pt x="3333" y="10350"/>
                  </a:lnTo>
                  <a:lnTo>
                    <a:pt x="3580" y="9757"/>
                  </a:lnTo>
                  <a:lnTo>
                    <a:pt x="3704" y="9326"/>
                  </a:lnTo>
                  <a:lnTo>
                    <a:pt x="4074" y="8733"/>
                  </a:lnTo>
                  <a:lnTo>
                    <a:pt x="4198" y="8194"/>
                  </a:lnTo>
                  <a:lnTo>
                    <a:pt x="4444" y="7763"/>
                  </a:lnTo>
                  <a:lnTo>
                    <a:pt x="4691" y="7224"/>
                  </a:lnTo>
                  <a:lnTo>
                    <a:pt x="4815" y="6846"/>
                  </a:lnTo>
                  <a:lnTo>
                    <a:pt x="5062" y="6361"/>
                  </a:lnTo>
                  <a:lnTo>
                    <a:pt x="5309" y="5876"/>
                  </a:lnTo>
                  <a:lnTo>
                    <a:pt x="5556" y="5499"/>
                  </a:lnTo>
                  <a:lnTo>
                    <a:pt x="5802" y="5067"/>
                  </a:lnTo>
                  <a:lnTo>
                    <a:pt x="5802" y="4528"/>
                  </a:lnTo>
                  <a:lnTo>
                    <a:pt x="6296" y="4151"/>
                  </a:lnTo>
                  <a:lnTo>
                    <a:pt x="6420" y="3720"/>
                  </a:lnTo>
                  <a:lnTo>
                    <a:pt x="6667" y="3396"/>
                  </a:lnTo>
                  <a:lnTo>
                    <a:pt x="6914" y="3019"/>
                  </a:lnTo>
                  <a:lnTo>
                    <a:pt x="7037" y="2749"/>
                  </a:lnTo>
                  <a:lnTo>
                    <a:pt x="7284" y="2426"/>
                  </a:lnTo>
                  <a:lnTo>
                    <a:pt x="7531" y="2102"/>
                  </a:lnTo>
                  <a:lnTo>
                    <a:pt x="7778" y="1833"/>
                  </a:lnTo>
                  <a:lnTo>
                    <a:pt x="7901" y="1563"/>
                  </a:lnTo>
                  <a:lnTo>
                    <a:pt x="8148" y="1240"/>
                  </a:lnTo>
                  <a:lnTo>
                    <a:pt x="8395" y="1024"/>
                  </a:lnTo>
                  <a:lnTo>
                    <a:pt x="8519" y="863"/>
                  </a:lnTo>
                  <a:lnTo>
                    <a:pt x="8765" y="647"/>
                  </a:lnTo>
                  <a:lnTo>
                    <a:pt x="8889" y="539"/>
                  </a:lnTo>
                  <a:lnTo>
                    <a:pt x="9136" y="377"/>
                  </a:lnTo>
                  <a:lnTo>
                    <a:pt x="9383" y="270"/>
                  </a:lnTo>
                  <a:lnTo>
                    <a:pt x="9506" y="108"/>
                  </a:lnTo>
                  <a:lnTo>
                    <a:pt x="9877" y="108"/>
                  </a:lnTo>
                  <a:lnTo>
                    <a:pt x="10000" y="54"/>
                  </a:lnTo>
                  <a:lnTo>
                    <a:pt x="10247" y="0"/>
                  </a:lnTo>
                  <a:lnTo>
                    <a:pt x="10617" y="54"/>
                  </a:lnTo>
                  <a:lnTo>
                    <a:pt x="10741" y="54"/>
                  </a:lnTo>
                  <a:lnTo>
                    <a:pt x="10864" y="108"/>
                  </a:lnTo>
                  <a:lnTo>
                    <a:pt x="11111" y="216"/>
                  </a:lnTo>
                  <a:lnTo>
                    <a:pt x="11358" y="323"/>
                  </a:lnTo>
                  <a:lnTo>
                    <a:pt x="11481" y="539"/>
                  </a:lnTo>
                  <a:lnTo>
                    <a:pt x="11852" y="755"/>
                  </a:lnTo>
                  <a:lnTo>
                    <a:pt x="12099" y="1024"/>
                  </a:lnTo>
                  <a:lnTo>
                    <a:pt x="12222" y="1240"/>
                  </a:lnTo>
                  <a:lnTo>
                    <a:pt x="12346" y="1563"/>
                  </a:lnTo>
                  <a:lnTo>
                    <a:pt x="12716" y="1887"/>
                  </a:lnTo>
                  <a:lnTo>
                    <a:pt x="12963" y="2264"/>
                  </a:lnTo>
                  <a:lnTo>
                    <a:pt x="13086" y="2749"/>
                  </a:lnTo>
                  <a:lnTo>
                    <a:pt x="13333" y="3127"/>
                  </a:lnTo>
                  <a:lnTo>
                    <a:pt x="13580" y="3504"/>
                  </a:lnTo>
                  <a:lnTo>
                    <a:pt x="13704" y="3989"/>
                  </a:lnTo>
                  <a:lnTo>
                    <a:pt x="14198" y="4367"/>
                  </a:lnTo>
                  <a:lnTo>
                    <a:pt x="14321" y="4960"/>
                  </a:lnTo>
                  <a:lnTo>
                    <a:pt x="14444" y="5499"/>
                  </a:lnTo>
                  <a:lnTo>
                    <a:pt x="14815" y="5984"/>
                  </a:lnTo>
                  <a:lnTo>
                    <a:pt x="15062" y="6523"/>
                  </a:lnTo>
                  <a:lnTo>
                    <a:pt x="15185" y="7008"/>
                  </a:lnTo>
                  <a:lnTo>
                    <a:pt x="15309" y="7601"/>
                  </a:lnTo>
                  <a:lnTo>
                    <a:pt x="15679" y="8194"/>
                  </a:lnTo>
                  <a:lnTo>
                    <a:pt x="15926" y="8787"/>
                  </a:lnTo>
                  <a:lnTo>
                    <a:pt x="16173" y="9326"/>
                  </a:lnTo>
                  <a:lnTo>
                    <a:pt x="16296" y="9919"/>
                  </a:lnTo>
                  <a:lnTo>
                    <a:pt x="16543" y="10458"/>
                  </a:lnTo>
                  <a:lnTo>
                    <a:pt x="16667" y="10997"/>
                  </a:lnTo>
                  <a:lnTo>
                    <a:pt x="16914" y="11590"/>
                  </a:lnTo>
                  <a:lnTo>
                    <a:pt x="17160" y="12183"/>
                  </a:lnTo>
                  <a:lnTo>
                    <a:pt x="17407" y="12776"/>
                  </a:lnTo>
                  <a:lnTo>
                    <a:pt x="17407" y="13261"/>
                  </a:lnTo>
                  <a:lnTo>
                    <a:pt x="17654" y="13854"/>
                  </a:lnTo>
                  <a:lnTo>
                    <a:pt x="17901" y="14340"/>
                  </a:lnTo>
                  <a:lnTo>
                    <a:pt x="18148" y="14933"/>
                  </a:lnTo>
                  <a:lnTo>
                    <a:pt x="18395" y="15472"/>
                  </a:lnTo>
                  <a:lnTo>
                    <a:pt x="18395" y="15903"/>
                  </a:lnTo>
                  <a:lnTo>
                    <a:pt x="18642" y="16442"/>
                  </a:lnTo>
                  <a:lnTo>
                    <a:pt x="18889" y="16873"/>
                  </a:lnTo>
                  <a:lnTo>
                    <a:pt x="19012" y="17305"/>
                  </a:lnTo>
                  <a:lnTo>
                    <a:pt x="19136" y="17736"/>
                  </a:lnTo>
                  <a:lnTo>
                    <a:pt x="19259" y="18113"/>
                  </a:lnTo>
                  <a:lnTo>
                    <a:pt x="19506" y="18544"/>
                  </a:lnTo>
                  <a:lnTo>
                    <a:pt x="19506" y="18976"/>
                  </a:lnTo>
                  <a:lnTo>
                    <a:pt x="19630" y="19191"/>
                  </a:lnTo>
                  <a:lnTo>
                    <a:pt x="19753" y="19461"/>
                  </a:lnTo>
                  <a:lnTo>
                    <a:pt x="19877" y="19730"/>
                  </a:lnTo>
                  <a:lnTo>
                    <a:pt x="19877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44" name="AutoShape 57">
              <a:extLst>
                <a:ext uri="{FF2B5EF4-FFF2-40B4-BE49-F238E27FC236}">
                  <a16:creationId xmlns:a16="http://schemas.microsoft.com/office/drawing/2014/main" id="{5E0224D9-5CBB-983B-C765-C58B41340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8" y="690"/>
              <a:ext cx="103" cy="1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1" y="616"/>
                  </a:lnTo>
                  <a:lnTo>
                    <a:pt x="347" y="1232"/>
                  </a:lnTo>
                  <a:lnTo>
                    <a:pt x="462" y="1905"/>
                  </a:lnTo>
                  <a:lnTo>
                    <a:pt x="809" y="2521"/>
                  </a:lnTo>
                  <a:lnTo>
                    <a:pt x="925" y="3137"/>
                  </a:lnTo>
                  <a:lnTo>
                    <a:pt x="1156" y="3697"/>
                  </a:lnTo>
                  <a:lnTo>
                    <a:pt x="1387" y="4314"/>
                  </a:lnTo>
                  <a:lnTo>
                    <a:pt x="1503" y="4986"/>
                  </a:lnTo>
                  <a:lnTo>
                    <a:pt x="1734" y="5602"/>
                  </a:lnTo>
                  <a:lnTo>
                    <a:pt x="2081" y="6162"/>
                  </a:lnTo>
                  <a:lnTo>
                    <a:pt x="2197" y="6779"/>
                  </a:lnTo>
                  <a:lnTo>
                    <a:pt x="2543" y="7283"/>
                  </a:lnTo>
                  <a:lnTo>
                    <a:pt x="2543" y="7899"/>
                  </a:lnTo>
                  <a:lnTo>
                    <a:pt x="2775" y="8515"/>
                  </a:lnTo>
                  <a:lnTo>
                    <a:pt x="3006" y="9020"/>
                  </a:lnTo>
                  <a:lnTo>
                    <a:pt x="3237" y="9636"/>
                  </a:lnTo>
                  <a:lnTo>
                    <a:pt x="3353" y="10140"/>
                  </a:lnTo>
                  <a:lnTo>
                    <a:pt x="3468" y="10644"/>
                  </a:lnTo>
                  <a:lnTo>
                    <a:pt x="3815" y="11204"/>
                  </a:lnTo>
                  <a:lnTo>
                    <a:pt x="3931" y="11765"/>
                  </a:lnTo>
                  <a:lnTo>
                    <a:pt x="4162" y="12213"/>
                  </a:lnTo>
                  <a:lnTo>
                    <a:pt x="4393" y="12773"/>
                  </a:lnTo>
                  <a:lnTo>
                    <a:pt x="4509" y="13165"/>
                  </a:lnTo>
                  <a:lnTo>
                    <a:pt x="4624" y="13669"/>
                  </a:lnTo>
                  <a:lnTo>
                    <a:pt x="4971" y="14118"/>
                  </a:lnTo>
                  <a:lnTo>
                    <a:pt x="5202" y="14510"/>
                  </a:lnTo>
                  <a:lnTo>
                    <a:pt x="5434" y="15014"/>
                  </a:lnTo>
                  <a:lnTo>
                    <a:pt x="5549" y="15462"/>
                  </a:lnTo>
                  <a:lnTo>
                    <a:pt x="5665" y="15854"/>
                  </a:lnTo>
                  <a:lnTo>
                    <a:pt x="6127" y="16190"/>
                  </a:lnTo>
                  <a:lnTo>
                    <a:pt x="6243" y="16639"/>
                  </a:lnTo>
                  <a:lnTo>
                    <a:pt x="6474" y="16919"/>
                  </a:lnTo>
                  <a:lnTo>
                    <a:pt x="6590" y="17255"/>
                  </a:lnTo>
                  <a:lnTo>
                    <a:pt x="6705" y="17591"/>
                  </a:lnTo>
                  <a:lnTo>
                    <a:pt x="6936" y="17927"/>
                  </a:lnTo>
                  <a:lnTo>
                    <a:pt x="7283" y="18095"/>
                  </a:lnTo>
                  <a:lnTo>
                    <a:pt x="7514" y="18487"/>
                  </a:lnTo>
                  <a:lnTo>
                    <a:pt x="7514" y="18711"/>
                  </a:lnTo>
                  <a:lnTo>
                    <a:pt x="7861" y="18992"/>
                  </a:lnTo>
                  <a:lnTo>
                    <a:pt x="7977" y="19160"/>
                  </a:lnTo>
                  <a:lnTo>
                    <a:pt x="8208" y="19328"/>
                  </a:lnTo>
                  <a:lnTo>
                    <a:pt x="8439" y="19440"/>
                  </a:lnTo>
                  <a:lnTo>
                    <a:pt x="8555" y="19664"/>
                  </a:lnTo>
                  <a:lnTo>
                    <a:pt x="8902" y="19720"/>
                  </a:lnTo>
                  <a:lnTo>
                    <a:pt x="9017" y="19888"/>
                  </a:lnTo>
                  <a:lnTo>
                    <a:pt x="9249" y="19888"/>
                  </a:lnTo>
                  <a:lnTo>
                    <a:pt x="9480" y="19944"/>
                  </a:lnTo>
                  <a:lnTo>
                    <a:pt x="9595" y="19944"/>
                  </a:lnTo>
                  <a:lnTo>
                    <a:pt x="9827" y="19944"/>
                  </a:lnTo>
                  <a:lnTo>
                    <a:pt x="10173" y="19888"/>
                  </a:lnTo>
                  <a:lnTo>
                    <a:pt x="10405" y="19888"/>
                  </a:lnTo>
                  <a:lnTo>
                    <a:pt x="10520" y="19664"/>
                  </a:lnTo>
                  <a:lnTo>
                    <a:pt x="10751" y="19496"/>
                  </a:lnTo>
                  <a:lnTo>
                    <a:pt x="11098" y="19328"/>
                  </a:lnTo>
                  <a:lnTo>
                    <a:pt x="11329" y="19104"/>
                  </a:lnTo>
                  <a:lnTo>
                    <a:pt x="11445" y="18936"/>
                  </a:lnTo>
                  <a:lnTo>
                    <a:pt x="11792" y="18543"/>
                  </a:lnTo>
                  <a:lnTo>
                    <a:pt x="11908" y="18263"/>
                  </a:lnTo>
                  <a:lnTo>
                    <a:pt x="12139" y="17871"/>
                  </a:lnTo>
                  <a:lnTo>
                    <a:pt x="12486" y="17479"/>
                  </a:lnTo>
                  <a:lnTo>
                    <a:pt x="12601" y="17087"/>
                  </a:lnTo>
                  <a:lnTo>
                    <a:pt x="12832" y="16751"/>
                  </a:lnTo>
                  <a:lnTo>
                    <a:pt x="13295" y="16303"/>
                  </a:lnTo>
                  <a:lnTo>
                    <a:pt x="13410" y="15798"/>
                  </a:lnTo>
                  <a:lnTo>
                    <a:pt x="13642" y="15350"/>
                  </a:lnTo>
                  <a:lnTo>
                    <a:pt x="13873" y="14846"/>
                  </a:lnTo>
                  <a:lnTo>
                    <a:pt x="14220" y="14342"/>
                  </a:lnTo>
                  <a:lnTo>
                    <a:pt x="14451" y="13838"/>
                  </a:lnTo>
                  <a:lnTo>
                    <a:pt x="14682" y="13277"/>
                  </a:lnTo>
                  <a:lnTo>
                    <a:pt x="14913" y="12829"/>
                  </a:lnTo>
                  <a:lnTo>
                    <a:pt x="15260" y="12213"/>
                  </a:lnTo>
                  <a:lnTo>
                    <a:pt x="15491" y="11709"/>
                  </a:lnTo>
                  <a:lnTo>
                    <a:pt x="15607" y="11036"/>
                  </a:lnTo>
                  <a:lnTo>
                    <a:pt x="15954" y="10588"/>
                  </a:lnTo>
                  <a:lnTo>
                    <a:pt x="16069" y="10028"/>
                  </a:lnTo>
                  <a:lnTo>
                    <a:pt x="16416" y="9412"/>
                  </a:lnTo>
                  <a:lnTo>
                    <a:pt x="16532" y="8964"/>
                  </a:lnTo>
                  <a:lnTo>
                    <a:pt x="16763" y="8403"/>
                  </a:lnTo>
                  <a:lnTo>
                    <a:pt x="16994" y="7787"/>
                  </a:lnTo>
                  <a:lnTo>
                    <a:pt x="17225" y="7227"/>
                  </a:lnTo>
                  <a:lnTo>
                    <a:pt x="17457" y="6835"/>
                  </a:lnTo>
                  <a:lnTo>
                    <a:pt x="17572" y="6218"/>
                  </a:lnTo>
                  <a:lnTo>
                    <a:pt x="17803" y="5714"/>
                  </a:lnTo>
                  <a:lnTo>
                    <a:pt x="18266" y="5210"/>
                  </a:lnTo>
                  <a:lnTo>
                    <a:pt x="18266" y="4762"/>
                  </a:lnTo>
                  <a:lnTo>
                    <a:pt x="18497" y="4314"/>
                  </a:lnTo>
                  <a:lnTo>
                    <a:pt x="18728" y="3866"/>
                  </a:lnTo>
                  <a:lnTo>
                    <a:pt x="18960" y="3361"/>
                  </a:lnTo>
                  <a:lnTo>
                    <a:pt x="19075" y="3025"/>
                  </a:lnTo>
                  <a:lnTo>
                    <a:pt x="19191" y="2689"/>
                  </a:lnTo>
                  <a:lnTo>
                    <a:pt x="19306" y="2241"/>
                  </a:lnTo>
                  <a:lnTo>
                    <a:pt x="19538" y="1905"/>
                  </a:lnTo>
                  <a:lnTo>
                    <a:pt x="19538" y="1625"/>
                  </a:lnTo>
                  <a:lnTo>
                    <a:pt x="19653" y="1289"/>
                  </a:lnTo>
                  <a:lnTo>
                    <a:pt x="19769" y="1008"/>
                  </a:lnTo>
                  <a:lnTo>
                    <a:pt x="19884" y="84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45" name="AutoShape 58">
              <a:extLst>
                <a:ext uri="{FF2B5EF4-FFF2-40B4-BE49-F238E27FC236}">
                  <a16:creationId xmlns:a16="http://schemas.microsoft.com/office/drawing/2014/main" id="{EA43F6D4-9AE0-C64E-0DB8-21FA279E5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" y="568"/>
              <a:ext cx="96" cy="1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111"/>
                  </a:moveTo>
                  <a:lnTo>
                    <a:pt x="247" y="18500"/>
                  </a:lnTo>
                  <a:lnTo>
                    <a:pt x="494" y="17889"/>
                  </a:lnTo>
                  <a:lnTo>
                    <a:pt x="617" y="17278"/>
                  </a:lnTo>
                  <a:lnTo>
                    <a:pt x="864" y="16722"/>
                  </a:lnTo>
                  <a:lnTo>
                    <a:pt x="1111" y="16111"/>
                  </a:lnTo>
                  <a:lnTo>
                    <a:pt x="1358" y="15500"/>
                  </a:lnTo>
                  <a:lnTo>
                    <a:pt x="1605" y="14889"/>
                  </a:lnTo>
                  <a:lnTo>
                    <a:pt x="1728" y="14333"/>
                  </a:lnTo>
                  <a:lnTo>
                    <a:pt x="1852" y="13667"/>
                  </a:lnTo>
                  <a:lnTo>
                    <a:pt x="2222" y="13111"/>
                  </a:lnTo>
                  <a:lnTo>
                    <a:pt x="2593" y="12611"/>
                  </a:lnTo>
                  <a:lnTo>
                    <a:pt x="2593" y="12056"/>
                  </a:lnTo>
                  <a:lnTo>
                    <a:pt x="2963" y="11389"/>
                  </a:lnTo>
                  <a:lnTo>
                    <a:pt x="3086" y="10889"/>
                  </a:lnTo>
                  <a:lnTo>
                    <a:pt x="3333" y="10389"/>
                  </a:lnTo>
                  <a:lnTo>
                    <a:pt x="3580" y="9778"/>
                  </a:lnTo>
                  <a:lnTo>
                    <a:pt x="3704" y="9333"/>
                  </a:lnTo>
                  <a:lnTo>
                    <a:pt x="4074" y="8833"/>
                  </a:lnTo>
                  <a:lnTo>
                    <a:pt x="4198" y="8222"/>
                  </a:lnTo>
                  <a:lnTo>
                    <a:pt x="4444" y="7722"/>
                  </a:lnTo>
                  <a:lnTo>
                    <a:pt x="4691" y="7222"/>
                  </a:lnTo>
                  <a:lnTo>
                    <a:pt x="4815" y="6833"/>
                  </a:lnTo>
                  <a:lnTo>
                    <a:pt x="5062" y="6333"/>
                  </a:lnTo>
                  <a:lnTo>
                    <a:pt x="5309" y="5889"/>
                  </a:lnTo>
                  <a:lnTo>
                    <a:pt x="5556" y="5444"/>
                  </a:lnTo>
                  <a:lnTo>
                    <a:pt x="5802" y="5056"/>
                  </a:lnTo>
                  <a:lnTo>
                    <a:pt x="5802" y="4556"/>
                  </a:lnTo>
                  <a:lnTo>
                    <a:pt x="6296" y="4167"/>
                  </a:lnTo>
                  <a:lnTo>
                    <a:pt x="6420" y="3778"/>
                  </a:lnTo>
                  <a:lnTo>
                    <a:pt x="6667" y="3389"/>
                  </a:lnTo>
                  <a:lnTo>
                    <a:pt x="6914" y="3056"/>
                  </a:lnTo>
                  <a:lnTo>
                    <a:pt x="7037" y="2722"/>
                  </a:lnTo>
                  <a:lnTo>
                    <a:pt x="7284" y="2444"/>
                  </a:lnTo>
                  <a:lnTo>
                    <a:pt x="7531" y="2111"/>
                  </a:lnTo>
                  <a:lnTo>
                    <a:pt x="7778" y="1889"/>
                  </a:lnTo>
                  <a:lnTo>
                    <a:pt x="7901" y="1556"/>
                  </a:lnTo>
                  <a:lnTo>
                    <a:pt x="8148" y="1278"/>
                  </a:lnTo>
                  <a:lnTo>
                    <a:pt x="8395" y="1056"/>
                  </a:lnTo>
                  <a:lnTo>
                    <a:pt x="8519" y="833"/>
                  </a:lnTo>
                  <a:lnTo>
                    <a:pt x="8765" y="667"/>
                  </a:lnTo>
                  <a:lnTo>
                    <a:pt x="8889" y="500"/>
                  </a:lnTo>
                  <a:lnTo>
                    <a:pt x="9136" y="389"/>
                  </a:lnTo>
                  <a:lnTo>
                    <a:pt x="9383" y="278"/>
                  </a:lnTo>
                  <a:lnTo>
                    <a:pt x="9506" y="111"/>
                  </a:lnTo>
                  <a:lnTo>
                    <a:pt x="9877" y="111"/>
                  </a:lnTo>
                  <a:lnTo>
                    <a:pt x="10000" y="56"/>
                  </a:lnTo>
                  <a:lnTo>
                    <a:pt x="10247" y="0"/>
                  </a:lnTo>
                  <a:lnTo>
                    <a:pt x="10617" y="56"/>
                  </a:lnTo>
                  <a:lnTo>
                    <a:pt x="10741" y="56"/>
                  </a:lnTo>
                  <a:lnTo>
                    <a:pt x="10864" y="111"/>
                  </a:lnTo>
                  <a:lnTo>
                    <a:pt x="11111" y="222"/>
                  </a:lnTo>
                  <a:lnTo>
                    <a:pt x="11358" y="333"/>
                  </a:lnTo>
                  <a:lnTo>
                    <a:pt x="11481" y="556"/>
                  </a:lnTo>
                  <a:lnTo>
                    <a:pt x="11852" y="722"/>
                  </a:lnTo>
                  <a:lnTo>
                    <a:pt x="12099" y="1000"/>
                  </a:lnTo>
                  <a:lnTo>
                    <a:pt x="12222" y="1278"/>
                  </a:lnTo>
                  <a:lnTo>
                    <a:pt x="12346" y="1556"/>
                  </a:lnTo>
                  <a:lnTo>
                    <a:pt x="12716" y="1889"/>
                  </a:lnTo>
                  <a:lnTo>
                    <a:pt x="12963" y="2278"/>
                  </a:lnTo>
                  <a:lnTo>
                    <a:pt x="13086" y="2722"/>
                  </a:lnTo>
                  <a:lnTo>
                    <a:pt x="13333" y="3111"/>
                  </a:lnTo>
                  <a:lnTo>
                    <a:pt x="13580" y="3500"/>
                  </a:lnTo>
                  <a:lnTo>
                    <a:pt x="13704" y="4000"/>
                  </a:lnTo>
                  <a:lnTo>
                    <a:pt x="14198" y="4444"/>
                  </a:lnTo>
                  <a:lnTo>
                    <a:pt x="14321" y="4944"/>
                  </a:lnTo>
                  <a:lnTo>
                    <a:pt x="14444" y="5500"/>
                  </a:lnTo>
                  <a:lnTo>
                    <a:pt x="14815" y="6000"/>
                  </a:lnTo>
                  <a:lnTo>
                    <a:pt x="15062" y="6556"/>
                  </a:lnTo>
                  <a:lnTo>
                    <a:pt x="15185" y="7000"/>
                  </a:lnTo>
                  <a:lnTo>
                    <a:pt x="15309" y="7611"/>
                  </a:lnTo>
                  <a:lnTo>
                    <a:pt x="15679" y="8167"/>
                  </a:lnTo>
                  <a:lnTo>
                    <a:pt x="15926" y="8833"/>
                  </a:lnTo>
                  <a:lnTo>
                    <a:pt x="16173" y="9333"/>
                  </a:lnTo>
                  <a:lnTo>
                    <a:pt x="16296" y="9889"/>
                  </a:lnTo>
                  <a:lnTo>
                    <a:pt x="16543" y="10444"/>
                  </a:lnTo>
                  <a:lnTo>
                    <a:pt x="16667" y="11000"/>
                  </a:lnTo>
                  <a:lnTo>
                    <a:pt x="16914" y="11611"/>
                  </a:lnTo>
                  <a:lnTo>
                    <a:pt x="17160" y="12167"/>
                  </a:lnTo>
                  <a:lnTo>
                    <a:pt x="17407" y="12778"/>
                  </a:lnTo>
                  <a:lnTo>
                    <a:pt x="17407" y="13278"/>
                  </a:lnTo>
                  <a:lnTo>
                    <a:pt x="17654" y="13833"/>
                  </a:lnTo>
                  <a:lnTo>
                    <a:pt x="17901" y="14389"/>
                  </a:lnTo>
                  <a:lnTo>
                    <a:pt x="18148" y="14944"/>
                  </a:lnTo>
                  <a:lnTo>
                    <a:pt x="18395" y="15444"/>
                  </a:lnTo>
                  <a:lnTo>
                    <a:pt x="18395" y="15944"/>
                  </a:lnTo>
                  <a:lnTo>
                    <a:pt x="18642" y="16444"/>
                  </a:lnTo>
                  <a:lnTo>
                    <a:pt x="18889" y="16889"/>
                  </a:lnTo>
                  <a:lnTo>
                    <a:pt x="19012" y="17278"/>
                  </a:lnTo>
                  <a:lnTo>
                    <a:pt x="19136" y="17722"/>
                  </a:lnTo>
                  <a:lnTo>
                    <a:pt x="19259" y="18111"/>
                  </a:lnTo>
                  <a:lnTo>
                    <a:pt x="19506" y="18500"/>
                  </a:lnTo>
                  <a:lnTo>
                    <a:pt x="19506" y="18944"/>
                  </a:lnTo>
                  <a:lnTo>
                    <a:pt x="19630" y="19222"/>
                  </a:lnTo>
                  <a:lnTo>
                    <a:pt x="19753" y="19500"/>
                  </a:lnTo>
                  <a:lnTo>
                    <a:pt x="19877" y="19722"/>
                  </a:lnTo>
                  <a:lnTo>
                    <a:pt x="19877" y="19944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46" name="AutoShape 59">
              <a:extLst>
                <a:ext uri="{FF2B5EF4-FFF2-40B4-BE49-F238E27FC236}">
                  <a16:creationId xmlns:a16="http://schemas.microsoft.com/office/drawing/2014/main" id="{8993E7FD-3E37-EF41-AA31-FDDB1B2F9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" y="689"/>
              <a:ext cx="103" cy="13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1" y="634"/>
                  </a:lnTo>
                  <a:lnTo>
                    <a:pt x="347" y="1268"/>
                  </a:lnTo>
                  <a:lnTo>
                    <a:pt x="462" y="1960"/>
                  </a:lnTo>
                  <a:lnTo>
                    <a:pt x="809" y="2536"/>
                  </a:lnTo>
                  <a:lnTo>
                    <a:pt x="925" y="3170"/>
                  </a:lnTo>
                  <a:lnTo>
                    <a:pt x="1156" y="3689"/>
                  </a:lnTo>
                  <a:lnTo>
                    <a:pt x="1387" y="4380"/>
                  </a:lnTo>
                  <a:lnTo>
                    <a:pt x="1503" y="4957"/>
                  </a:lnTo>
                  <a:lnTo>
                    <a:pt x="1734" y="5591"/>
                  </a:lnTo>
                  <a:lnTo>
                    <a:pt x="2081" y="6167"/>
                  </a:lnTo>
                  <a:lnTo>
                    <a:pt x="2197" y="6801"/>
                  </a:lnTo>
                  <a:lnTo>
                    <a:pt x="2543" y="7262"/>
                  </a:lnTo>
                  <a:lnTo>
                    <a:pt x="2543" y="7839"/>
                  </a:lnTo>
                  <a:lnTo>
                    <a:pt x="2775" y="8473"/>
                  </a:lnTo>
                  <a:lnTo>
                    <a:pt x="3006" y="8991"/>
                  </a:lnTo>
                  <a:lnTo>
                    <a:pt x="3237" y="9625"/>
                  </a:lnTo>
                  <a:lnTo>
                    <a:pt x="3353" y="10144"/>
                  </a:lnTo>
                  <a:lnTo>
                    <a:pt x="3468" y="10663"/>
                  </a:lnTo>
                  <a:lnTo>
                    <a:pt x="3815" y="11182"/>
                  </a:lnTo>
                  <a:lnTo>
                    <a:pt x="3931" y="11758"/>
                  </a:lnTo>
                  <a:lnTo>
                    <a:pt x="4162" y="12219"/>
                  </a:lnTo>
                  <a:lnTo>
                    <a:pt x="4393" y="12738"/>
                  </a:lnTo>
                  <a:lnTo>
                    <a:pt x="4509" y="13199"/>
                  </a:lnTo>
                  <a:lnTo>
                    <a:pt x="4624" y="13660"/>
                  </a:lnTo>
                  <a:lnTo>
                    <a:pt x="4971" y="14121"/>
                  </a:lnTo>
                  <a:lnTo>
                    <a:pt x="5202" y="14582"/>
                  </a:lnTo>
                  <a:lnTo>
                    <a:pt x="5434" y="15043"/>
                  </a:lnTo>
                  <a:lnTo>
                    <a:pt x="5549" y="15389"/>
                  </a:lnTo>
                  <a:lnTo>
                    <a:pt x="5665" y="15850"/>
                  </a:lnTo>
                  <a:lnTo>
                    <a:pt x="6127" y="16254"/>
                  </a:lnTo>
                  <a:lnTo>
                    <a:pt x="6243" y="16599"/>
                  </a:lnTo>
                  <a:lnTo>
                    <a:pt x="6474" y="17003"/>
                  </a:lnTo>
                  <a:lnTo>
                    <a:pt x="6590" y="17233"/>
                  </a:lnTo>
                  <a:lnTo>
                    <a:pt x="6705" y="17579"/>
                  </a:lnTo>
                  <a:lnTo>
                    <a:pt x="6936" y="17925"/>
                  </a:lnTo>
                  <a:lnTo>
                    <a:pt x="7283" y="18156"/>
                  </a:lnTo>
                  <a:lnTo>
                    <a:pt x="7514" y="18444"/>
                  </a:lnTo>
                  <a:lnTo>
                    <a:pt x="7514" y="18732"/>
                  </a:lnTo>
                  <a:lnTo>
                    <a:pt x="7861" y="18963"/>
                  </a:lnTo>
                  <a:lnTo>
                    <a:pt x="7977" y="19193"/>
                  </a:lnTo>
                  <a:lnTo>
                    <a:pt x="8208" y="19308"/>
                  </a:lnTo>
                  <a:lnTo>
                    <a:pt x="8439" y="19481"/>
                  </a:lnTo>
                  <a:lnTo>
                    <a:pt x="8555" y="19654"/>
                  </a:lnTo>
                  <a:lnTo>
                    <a:pt x="8902" y="19712"/>
                  </a:lnTo>
                  <a:lnTo>
                    <a:pt x="9017" y="19885"/>
                  </a:lnTo>
                  <a:lnTo>
                    <a:pt x="9249" y="19885"/>
                  </a:lnTo>
                  <a:lnTo>
                    <a:pt x="9480" y="19942"/>
                  </a:lnTo>
                  <a:lnTo>
                    <a:pt x="9595" y="19942"/>
                  </a:lnTo>
                  <a:lnTo>
                    <a:pt x="9827" y="19942"/>
                  </a:lnTo>
                  <a:lnTo>
                    <a:pt x="10173" y="19885"/>
                  </a:lnTo>
                  <a:lnTo>
                    <a:pt x="10405" y="19885"/>
                  </a:lnTo>
                  <a:lnTo>
                    <a:pt x="10520" y="19712"/>
                  </a:lnTo>
                  <a:lnTo>
                    <a:pt x="10751" y="19481"/>
                  </a:lnTo>
                  <a:lnTo>
                    <a:pt x="11098" y="19308"/>
                  </a:lnTo>
                  <a:lnTo>
                    <a:pt x="11329" y="19135"/>
                  </a:lnTo>
                  <a:lnTo>
                    <a:pt x="11445" y="18905"/>
                  </a:lnTo>
                  <a:lnTo>
                    <a:pt x="11792" y="18559"/>
                  </a:lnTo>
                  <a:lnTo>
                    <a:pt x="11908" y="18213"/>
                  </a:lnTo>
                  <a:lnTo>
                    <a:pt x="12139" y="17925"/>
                  </a:lnTo>
                  <a:lnTo>
                    <a:pt x="12486" y="17522"/>
                  </a:lnTo>
                  <a:lnTo>
                    <a:pt x="12601" y="17118"/>
                  </a:lnTo>
                  <a:lnTo>
                    <a:pt x="12832" y="16715"/>
                  </a:lnTo>
                  <a:lnTo>
                    <a:pt x="13295" y="16311"/>
                  </a:lnTo>
                  <a:lnTo>
                    <a:pt x="13410" y="15850"/>
                  </a:lnTo>
                  <a:lnTo>
                    <a:pt x="13642" y="15331"/>
                  </a:lnTo>
                  <a:lnTo>
                    <a:pt x="13873" y="14870"/>
                  </a:lnTo>
                  <a:lnTo>
                    <a:pt x="14220" y="14352"/>
                  </a:lnTo>
                  <a:lnTo>
                    <a:pt x="14451" y="13833"/>
                  </a:lnTo>
                  <a:lnTo>
                    <a:pt x="14682" y="13314"/>
                  </a:lnTo>
                  <a:lnTo>
                    <a:pt x="14913" y="12738"/>
                  </a:lnTo>
                  <a:lnTo>
                    <a:pt x="15260" y="12219"/>
                  </a:lnTo>
                  <a:lnTo>
                    <a:pt x="15491" y="11585"/>
                  </a:lnTo>
                  <a:lnTo>
                    <a:pt x="15607" y="11066"/>
                  </a:lnTo>
                  <a:lnTo>
                    <a:pt x="15954" y="10548"/>
                  </a:lnTo>
                  <a:lnTo>
                    <a:pt x="16069" y="10029"/>
                  </a:lnTo>
                  <a:lnTo>
                    <a:pt x="16416" y="9452"/>
                  </a:lnTo>
                  <a:lnTo>
                    <a:pt x="16532" y="8934"/>
                  </a:lnTo>
                  <a:lnTo>
                    <a:pt x="16763" y="8473"/>
                  </a:lnTo>
                  <a:lnTo>
                    <a:pt x="16994" y="7781"/>
                  </a:lnTo>
                  <a:lnTo>
                    <a:pt x="17225" y="7262"/>
                  </a:lnTo>
                  <a:lnTo>
                    <a:pt x="17457" y="6801"/>
                  </a:lnTo>
                  <a:lnTo>
                    <a:pt x="17572" y="6225"/>
                  </a:lnTo>
                  <a:lnTo>
                    <a:pt x="17803" y="5764"/>
                  </a:lnTo>
                  <a:lnTo>
                    <a:pt x="18266" y="5187"/>
                  </a:lnTo>
                  <a:lnTo>
                    <a:pt x="18266" y="4726"/>
                  </a:lnTo>
                  <a:lnTo>
                    <a:pt x="18497" y="4265"/>
                  </a:lnTo>
                  <a:lnTo>
                    <a:pt x="18728" y="3862"/>
                  </a:lnTo>
                  <a:lnTo>
                    <a:pt x="18960" y="3401"/>
                  </a:lnTo>
                  <a:lnTo>
                    <a:pt x="19075" y="2997"/>
                  </a:lnTo>
                  <a:lnTo>
                    <a:pt x="19191" y="2594"/>
                  </a:lnTo>
                  <a:lnTo>
                    <a:pt x="19306" y="2248"/>
                  </a:lnTo>
                  <a:lnTo>
                    <a:pt x="19538" y="1960"/>
                  </a:lnTo>
                  <a:lnTo>
                    <a:pt x="19538" y="1556"/>
                  </a:lnTo>
                  <a:lnTo>
                    <a:pt x="19653" y="1326"/>
                  </a:lnTo>
                  <a:lnTo>
                    <a:pt x="19769" y="1037"/>
                  </a:lnTo>
                  <a:lnTo>
                    <a:pt x="19884" y="807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47" name="AutoShape 60">
              <a:extLst>
                <a:ext uri="{FF2B5EF4-FFF2-40B4-BE49-F238E27FC236}">
                  <a16:creationId xmlns:a16="http://schemas.microsoft.com/office/drawing/2014/main" id="{405500E7-EC36-0C95-5B0B-ABAF14A4B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2" y="561"/>
              <a:ext cx="96" cy="13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4"/>
                  </a:moveTo>
                  <a:lnTo>
                    <a:pt x="247" y="18544"/>
                  </a:lnTo>
                  <a:lnTo>
                    <a:pt x="494" y="17844"/>
                  </a:lnTo>
                  <a:lnTo>
                    <a:pt x="617" y="17251"/>
                  </a:lnTo>
                  <a:lnTo>
                    <a:pt x="864" y="16712"/>
                  </a:lnTo>
                  <a:lnTo>
                    <a:pt x="1111" y="16065"/>
                  </a:lnTo>
                  <a:lnTo>
                    <a:pt x="1358" y="15472"/>
                  </a:lnTo>
                  <a:lnTo>
                    <a:pt x="1605" y="14933"/>
                  </a:lnTo>
                  <a:lnTo>
                    <a:pt x="1728" y="14286"/>
                  </a:lnTo>
                  <a:lnTo>
                    <a:pt x="1852" y="13693"/>
                  </a:lnTo>
                  <a:lnTo>
                    <a:pt x="2222" y="13154"/>
                  </a:lnTo>
                  <a:lnTo>
                    <a:pt x="2593" y="12615"/>
                  </a:lnTo>
                  <a:lnTo>
                    <a:pt x="2593" y="12022"/>
                  </a:lnTo>
                  <a:lnTo>
                    <a:pt x="2963" y="11429"/>
                  </a:lnTo>
                  <a:lnTo>
                    <a:pt x="3086" y="10889"/>
                  </a:lnTo>
                  <a:lnTo>
                    <a:pt x="3333" y="10350"/>
                  </a:lnTo>
                  <a:lnTo>
                    <a:pt x="3580" y="9757"/>
                  </a:lnTo>
                  <a:lnTo>
                    <a:pt x="3704" y="9326"/>
                  </a:lnTo>
                  <a:lnTo>
                    <a:pt x="4074" y="8733"/>
                  </a:lnTo>
                  <a:lnTo>
                    <a:pt x="4198" y="8194"/>
                  </a:lnTo>
                  <a:lnTo>
                    <a:pt x="4444" y="7763"/>
                  </a:lnTo>
                  <a:lnTo>
                    <a:pt x="4691" y="7224"/>
                  </a:lnTo>
                  <a:lnTo>
                    <a:pt x="4815" y="6846"/>
                  </a:lnTo>
                  <a:lnTo>
                    <a:pt x="5062" y="6361"/>
                  </a:lnTo>
                  <a:lnTo>
                    <a:pt x="5309" y="5876"/>
                  </a:lnTo>
                  <a:lnTo>
                    <a:pt x="5556" y="5499"/>
                  </a:lnTo>
                  <a:lnTo>
                    <a:pt x="5802" y="5067"/>
                  </a:lnTo>
                  <a:lnTo>
                    <a:pt x="5802" y="4528"/>
                  </a:lnTo>
                  <a:lnTo>
                    <a:pt x="6296" y="4151"/>
                  </a:lnTo>
                  <a:lnTo>
                    <a:pt x="6420" y="3720"/>
                  </a:lnTo>
                  <a:lnTo>
                    <a:pt x="6667" y="3396"/>
                  </a:lnTo>
                  <a:lnTo>
                    <a:pt x="6914" y="3019"/>
                  </a:lnTo>
                  <a:lnTo>
                    <a:pt x="7037" y="2749"/>
                  </a:lnTo>
                  <a:lnTo>
                    <a:pt x="7284" y="2426"/>
                  </a:lnTo>
                  <a:lnTo>
                    <a:pt x="7531" y="2102"/>
                  </a:lnTo>
                  <a:lnTo>
                    <a:pt x="7778" y="1833"/>
                  </a:lnTo>
                  <a:lnTo>
                    <a:pt x="7901" y="1563"/>
                  </a:lnTo>
                  <a:lnTo>
                    <a:pt x="8148" y="1240"/>
                  </a:lnTo>
                  <a:lnTo>
                    <a:pt x="8395" y="1024"/>
                  </a:lnTo>
                  <a:lnTo>
                    <a:pt x="8519" y="863"/>
                  </a:lnTo>
                  <a:lnTo>
                    <a:pt x="8765" y="647"/>
                  </a:lnTo>
                  <a:lnTo>
                    <a:pt x="8889" y="539"/>
                  </a:lnTo>
                  <a:lnTo>
                    <a:pt x="9136" y="377"/>
                  </a:lnTo>
                  <a:lnTo>
                    <a:pt x="9383" y="270"/>
                  </a:lnTo>
                  <a:lnTo>
                    <a:pt x="9506" y="108"/>
                  </a:lnTo>
                  <a:lnTo>
                    <a:pt x="9877" y="108"/>
                  </a:lnTo>
                  <a:lnTo>
                    <a:pt x="10000" y="54"/>
                  </a:lnTo>
                  <a:lnTo>
                    <a:pt x="10247" y="0"/>
                  </a:lnTo>
                  <a:lnTo>
                    <a:pt x="10617" y="54"/>
                  </a:lnTo>
                  <a:lnTo>
                    <a:pt x="10741" y="54"/>
                  </a:lnTo>
                  <a:lnTo>
                    <a:pt x="10864" y="108"/>
                  </a:lnTo>
                  <a:lnTo>
                    <a:pt x="11111" y="216"/>
                  </a:lnTo>
                  <a:lnTo>
                    <a:pt x="11358" y="323"/>
                  </a:lnTo>
                  <a:lnTo>
                    <a:pt x="11481" y="539"/>
                  </a:lnTo>
                  <a:lnTo>
                    <a:pt x="11852" y="755"/>
                  </a:lnTo>
                  <a:lnTo>
                    <a:pt x="12099" y="1024"/>
                  </a:lnTo>
                  <a:lnTo>
                    <a:pt x="12222" y="1240"/>
                  </a:lnTo>
                  <a:lnTo>
                    <a:pt x="12346" y="1563"/>
                  </a:lnTo>
                  <a:lnTo>
                    <a:pt x="12716" y="1887"/>
                  </a:lnTo>
                  <a:lnTo>
                    <a:pt x="12963" y="2264"/>
                  </a:lnTo>
                  <a:lnTo>
                    <a:pt x="13086" y="2749"/>
                  </a:lnTo>
                  <a:lnTo>
                    <a:pt x="13333" y="3127"/>
                  </a:lnTo>
                  <a:lnTo>
                    <a:pt x="13580" y="3504"/>
                  </a:lnTo>
                  <a:lnTo>
                    <a:pt x="13704" y="3989"/>
                  </a:lnTo>
                  <a:lnTo>
                    <a:pt x="14198" y="4367"/>
                  </a:lnTo>
                  <a:lnTo>
                    <a:pt x="14321" y="4960"/>
                  </a:lnTo>
                  <a:lnTo>
                    <a:pt x="14444" y="5499"/>
                  </a:lnTo>
                  <a:lnTo>
                    <a:pt x="14815" y="5984"/>
                  </a:lnTo>
                  <a:lnTo>
                    <a:pt x="15062" y="6523"/>
                  </a:lnTo>
                  <a:lnTo>
                    <a:pt x="15185" y="7008"/>
                  </a:lnTo>
                  <a:lnTo>
                    <a:pt x="15309" y="7601"/>
                  </a:lnTo>
                  <a:lnTo>
                    <a:pt x="15679" y="8194"/>
                  </a:lnTo>
                  <a:lnTo>
                    <a:pt x="15926" y="8787"/>
                  </a:lnTo>
                  <a:lnTo>
                    <a:pt x="16173" y="9326"/>
                  </a:lnTo>
                  <a:lnTo>
                    <a:pt x="16296" y="9919"/>
                  </a:lnTo>
                  <a:lnTo>
                    <a:pt x="16543" y="10458"/>
                  </a:lnTo>
                  <a:lnTo>
                    <a:pt x="16667" y="10997"/>
                  </a:lnTo>
                  <a:lnTo>
                    <a:pt x="16914" y="11590"/>
                  </a:lnTo>
                  <a:lnTo>
                    <a:pt x="17160" y="12183"/>
                  </a:lnTo>
                  <a:lnTo>
                    <a:pt x="17407" y="12776"/>
                  </a:lnTo>
                  <a:lnTo>
                    <a:pt x="17407" y="13261"/>
                  </a:lnTo>
                  <a:lnTo>
                    <a:pt x="17654" y="13854"/>
                  </a:lnTo>
                  <a:lnTo>
                    <a:pt x="17901" y="14340"/>
                  </a:lnTo>
                  <a:lnTo>
                    <a:pt x="18148" y="14933"/>
                  </a:lnTo>
                  <a:lnTo>
                    <a:pt x="18395" y="15472"/>
                  </a:lnTo>
                  <a:lnTo>
                    <a:pt x="18395" y="15903"/>
                  </a:lnTo>
                  <a:lnTo>
                    <a:pt x="18642" y="16442"/>
                  </a:lnTo>
                  <a:lnTo>
                    <a:pt x="18889" y="16873"/>
                  </a:lnTo>
                  <a:lnTo>
                    <a:pt x="19012" y="17305"/>
                  </a:lnTo>
                  <a:lnTo>
                    <a:pt x="19136" y="17736"/>
                  </a:lnTo>
                  <a:lnTo>
                    <a:pt x="19259" y="18113"/>
                  </a:lnTo>
                  <a:lnTo>
                    <a:pt x="19506" y="18544"/>
                  </a:lnTo>
                  <a:lnTo>
                    <a:pt x="19506" y="18976"/>
                  </a:lnTo>
                  <a:lnTo>
                    <a:pt x="19630" y="19191"/>
                  </a:lnTo>
                  <a:lnTo>
                    <a:pt x="19753" y="19461"/>
                  </a:lnTo>
                  <a:lnTo>
                    <a:pt x="19877" y="19730"/>
                  </a:lnTo>
                  <a:lnTo>
                    <a:pt x="19877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48" name="AutoShape 61">
              <a:extLst>
                <a:ext uri="{FF2B5EF4-FFF2-40B4-BE49-F238E27FC236}">
                  <a16:creationId xmlns:a16="http://schemas.microsoft.com/office/drawing/2014/main" id="{AAFD67C5-913D-DF03-026E-BE1938D15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686"/>
              <a:ext cx="103" cy="1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1" y="616"/>
                  </a:lnTo>
                  <a:lnTo>
                    <a:pt x="347" y="1232"/>
                  </a:lnTo>
                  <a:lnTo>
                    <a:pt x="462" y="1905"/>
                  </a:lnTo>
                  <a:lnTo>
                    <a:pt x="809" y="2521"/>
                  </a:lnTo>
                  <a:lnTo>
                    <a:pt x="925" y="3137"/>
                  </a:lnTo>
                  <a:lnTo>
                    <a:pt x="1156" y="3697"/>
                  </a:lnTo>
                  <a:lnTo>
                    <a:pt x="1387" y="4314"/>
                  </a:lnTo>
                  <a:lnTo>
                    <a:pt x="1503" y="4986"/>
                  </a:lnTo>
                  <a:lnTo>
                    <a:pt x="1734" y="5602"/>
                  </a:lnTo>
                  <a:lnTo>
                    <a:pt x="2081" y="6162"/>
                  </a:lnTo>
                  <a:lnTo>
                    <a:pt x="2197" y="6779"/>
                  </a:lnTo>
                  <a:lnTo>
                    <a:pt x="2543" y="7283"/>
                  </a:lnTo>
                  <a:lnTo>
                    <a:pt x="2543" y="7899"/>
                  </a:lnTo>
                  <a:lnTo>
                    <a:pt x="2775" y="8515"/>
                  </a:lnTo>
                  <a:lnTo>
                    <a:pt x="3006" y="9020"/>
                  </a:lnTo>
                  <a:lnTo>
                    <a:pt x="3237" y="9636"/>
                  </a:lnTo>
                  <a:lnTo>
                    <a:pt x="3353" y="10140"/>
                  </a:lnTo>
                  <a:lnTo>
                    <a:pt x="3468" y="10644"/>
                  </a:lnTo>
                  <a:lnTo>
                    <a:pt x="3815" y="11204"/>
                  </a:lnTo>
                  <a:lnTo>
                    <a:pt x="3931" y="11765"/>
                  </a:lnTo>
                  <a:lnTo>
                    <a:pt x="4162" y="12213"/>
                  </a:lnTo>
                  <a:lnTo>
                    <a:pt x="4393" y="12773"/>
                  </a:lnTo>
                  <a:lnTo>
                    <a:pt x="4509" y="13165"/>
                  </a:lnTo>
                  <a:lnTo>
                    <a:pt x="4624" y="13669"/>
                  </a:lnTo>
                  <a:lnTo>
                    <a:pt x="4971" y="14118"/>
                  </a:lnTo>
                  <a:lnTo>
                    <a:pt x="5202" y="14510"/>
                  </a:lnTo>
                  <a:lnTo>
                    <a:pt x="5434" y="15014"/>
                  </a:lnTo>
                  <a:lnTo>
                    <a:pt x="5549" y="15462"/>
                  </a:lnTo>
                  <a:lnTo>
                    <a:pt x="5665" y="15854"/>
                  </a:lnTo>
                  <a:lnTo>
                    <a:pt x="6127" y="16190"/>
                  </a:lnTo>
                  <a:lnTo>
                    <a:pt x="6243" y="16639"/>
                  </a:lnTo>
                  <a:lnTo>
                    <a:pt x="6474" y="16919"/>
                  </a:lnTo>
                  <a:lnTo>
                    <a:pt x="6590" y="17255"/>
                  </a:lnTo>
                  <a:lnTo>
                    <a:pt x="6705" y="17591"/>
                  </a:lnTo>
                  <a:lnTo>
                    <a:pt x="6936" y="17927"/>
                  </a:lnTo>
                  <a:lnTo>
                    <a:pt x="7283" y="18095"/>
                  </a:lnTo>
                  <a:lnTo>
                    <a:pt x="7514" y="18487"/>
                  </a:lnTo>
                  <a:lnTo>
                    <a:pt x="7514" y="18711"/>
                  </a:lnTo>
                  <a:lnTo>
                    <a:pt x="7861" y="18992"/>
                  </a:lnTo>
                  <a:lnTo>
                    <a:pt x="7977" y="19160"/>
                  </a:lnTo>
                  <a:lnTo>
                    <a:pt x="8208" y="19328"/>
                  </a:lnTo>
                  <a:lnTo>
                    <a:pt x="8439" y="19440"/>
                  </a:lnTo>
                  <a:lnTo>
                    <a:pt x="8555" y="19664"/>
                  </a:lnTo>
                  <a:lnTo>
                    <a:pt x="8902" y="19720"/>
                  </a:lnTo>
                  <a:lnTo>
                    <a:pt x="9017" y="19888"/>
                  </a:lnTo>
                  <a:lnTo>
                    <a:pt x="9249" y="19888"/>
                  </a:lnTo>
                  <a:lnTo>
                    <a:pt x="9480" y="19944"/>
                  </a:lnTo>
                  <a:lnTo>
                    <a:pt x="9595" y="19944"/>
                  </a:lnTo>
                  <a:lnTo>
                    <a:pt x="9827" y="19944"/>
                  </a:lnTo>
                  <a:lnTo>
                    <a:pt x="10173" y="19888"/>
                  </a:lnTo>
                  <a:lnTo>
                    <a:pt x="10405" y="19888"/>
                  </a:lnTo>
                  <a:lnTo>
                    <a:pt x="10520" y="19664"/>
                  </a:lnTo>
                  <a:lnTo>
                    <a:pt x="10751" y="19496"/>
                  </a:lnTo>
                  <a:lnTo>
                    <a:pt x="11098" y="19328"/>
                  </a:lnTo>
                  <a:lnTo>
                    <a:pt x="11329" y="19104"/>
                  </a:lnTo>
                  <a:lnTo>
                    <a:pt x="11445" y="18936"/>
                  </a:lnTo>
                  <a:lnTo>
                    <a:pt x="11792" y="18543"/>
                  </a:lnTo>
                  <a:lnTo>
                    <a:pt x="11908" y="18263"/>
                  </a:lnTo>
                  <a:lnTo>
                    <a:pt x="12139" y="17871"/>
                  </a:lnTo>
                  <a:lnTo>
                    <a:pt x="12486" y="17479"/>
                  </a:lnTo>
                  <a:lnTo>
                    <a:pt x="12601" y="17087"/>
                  </a:lnTo>
                  <a:lnTo>
                    <a:pt x="12832" y="16751"/>
                  </a:lnTo>
                  <a:lnTo>
                    <a:pt x="13295" y="16303"/>
                  </a:lnTo>
                  <a:lnTo>
                    <a:pt x="13410" y="15798"/>
                  </a:lnTo>
                  <a:lnTo>
                    <a:pt x="13642" y="15350"/>
                  </a:lnTo>
                  <a:lnTo>
                    <a:pt x="13873" y="14846"/>
                  </a:lnTo>
                  <a:lnTo>
                    <a:pt x="14220" y="14342"/>
                  </a:lnTo>
                  <a:lnTo>
                    <a:pt x="14451" y="13838"/>
                  </a:lnTo>
                  <a:lnTo>
                    <a:pt x="14682" y="13277"/>
                  </a:lnTo>
                  <a:lnTo>
                    <a:pt x="14913" y="12829"/>
                  </a:lnTo>
                  <a:lnTo>
                    <a:pt x="15260" y="12213"/>
                  </a:lnTo>
                  <a:lnTo>
                    <a:pt x="15491" y="11709"/>
                  </a:lnTo>
                  <a:lnTo>
                    <a:pt x="15607" y="11036"/>
                  </a:lnTo>
                  <a:lnTo>
                    <a:pt x="15954" y="10588"/>
                  </a:lnTo>
                  <a:lnTo>
                    <a:pt x="16069" y="10028"/>
                  </a:lnTo>
                  <a:lnTo>
                    <a:pt x="16416" y="9412"/>
                  </a:lnTo>
                  <a:lnTo>
                    <a:pt x="16532" y="8964"/>
                  </a:lnTo>
                  <a:lnTo>
                    <a:pt x="16763" y="8403"/>
                  </a:lnTo>
                  <a:lnTo>
                    <a:pt x="16994" y="7787"/>
                  </a:lnTo>
                  <a:lnTo>
                    <a:pt x="17225" y="7227"/>
                  </a:lnTo>
                  <a:lnTo>
                    <a:pt x="17457" y="6835"/>
                  </a:lnTo>
                  <a:lnTo>
                    <a:pt x="17572" y="6218"/>
                  </a:lnTo>
                  <a:lnTo>
                    <a:pt x="17803" y="5714"/>
                  </a:lnTo>
                  <a:lnTo>
                    <a:pt x="18266" y="5210"/>
                  </a:lnTo>
                  <a:lnTo>
                    <a:pt x="18266" y="4762"/>
                  </a:lnTo>
                  <a:lnTo>
                    <a:pt x="18497" y="4314"/>
                  </a:lnTo>
                  <a:lnTo>
                    <a:pt x="18728" y="3866"/>
                  </a:lnTo>
                  <a:lnTo>
                    <a:pt x="18960" y="3361"/>
                  </a:lnTo>
                  <a:lnTo>
                    <a:pt x="19075" y="3025"/>
                  </a:lnTo>
                  <a:lnTo>
                    <a:pt x="19191" y="2689"/>
                  </a:lnTo>
                  <a:lnTo>
                    <a:pt x="19306" y="2241"/>
                  </a:lnTo>
                  <a:lnTo>
                    <a:pt x="19538" y="1905"/>
                  </a:lnTo>
                  <a:lnTo>
                    <a:pt x="19538" y="1625"/>
                  </a:lnTo>
                  <a:lnTo>
                    <a:pt x="19653" y="1289"/>
                  </a:lnTo>
                  <a:lnTo>
                    <a:pt x="19769" y="1008"/>
                  </a:lnTo>
                  <a:lnTo>
                    <a:pt x="19884" y="84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49" name="AutoShape 62">
              <a:extLst>
                <a:ext uri="{FF2B5EF4-FFF2-40B4-BE49-F238E27FC236}">
                  <a16:creationId xmlns:a16="http://schemas.microsoft.com/office/drawing/2014/main" id="{A8D03C12-D9DE-1D36-E1EF-38C8194CB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" y="564"/>
              <a:ext cx="97" cy="1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111"/>
                  </a:moveTo>
                  <a:lnTo>
                    <a:pt x="247" y="18500"/>
                  </a:lnTo>
                  <a:lnTo>
                    <a:pt x="494" y="17889"/>
                  </a:lnTo>
                  <a:lnTo>
                    <a:pt x="617" y="17278"/>
                  </a:lnTo>
                  <a:lnTo>
                    <a:pt x="864" y="16722"/>
                  </a:lnTo>
                  <a:lnTo>
                    <a:pt x="1111" y="16111"/>
                  </a:lnTo>
                  <a:lnTo>
                    <a:pt x="1358" y="15500"/>
                  </a:lnTo>
                  <a:lnTo>
                    <a:pt x="1605" y="14889"/>
                  </a:lnTo>
                  <a:lnTo>
                    <a:pt x="1728" y="14333"/>
                  </a:lnTo>
                  <a:lnTo>
                    <a:pt x="1852" y="13667"/>
                  </a:lnTo>
                  <a:lnTo>
                    <a:pt x="2222" y="13111"/>
                  </a:lnTo>
                  <a:lnTo>
                    <a:pt x="2593" y="12611"/>
                  </a:lnTo>
                  <a:lnTo>
                    <a:pt x="2593" y="12056"/>
                  </a:lnTo>
                  <a:lnTo>
                    <a:pt x="2963" y="11389"/>
                  </a:lnTo>
                  <a:lnTo>
                    <a:pt x="3086" y="10889"/>
                  </a:lnTo>
                  <a:lnTo>
                    <a:pt x="3333" y="10389"/>
                  </a:lnTo>
                  <a:lnTo>
                    <a:pt x="3580" y="9778"/>
                  </a:lnTo>
                  <a:lnTo>
                    <a:pt x="3704" y="9333"/>
                  </a:lnTo>
                  <a:lnTo>
                    <a:pt x="4074" y="8833"/>
                  </a:lnTo>
                  <a:lnTo>
                    <a:pt x="4198" y="8222"/>
                  </a:lnTo>
                  <a:lnTo>
                    <a:pt x="4444" y="7722"/>
                  </a:lnTo>
                  <a:lnTo>
                    <a:pt x="4691" y="7222"/>
                  </a:lnTo>
                  <a:lnTo>
                    <a:pt x="4815" y="6833"/>
                  </a:lnTo>
                  <a:lnTo>
                    <a:pt x="5062" y="6333"/>
                  </a:lnTo>
                  <a:lnTo>
                    <a:pt x="5309" y="5889"/>
                  </a:lnTo>
                  <a:lnTo>
                    <a:pt x="5556" y="5444"/>
                  </a:lnTo>
                  <a:lnTo>
                    <a:pt x="5802" y="5056"/>
                  </a:lnTo>
                  <a:lnTo>
                    <a:pt x="5802" y="4556"/>
                  </a:lnTo>
                  <a:lnTo>
                    <a:pt x="6296" y="4167"/>
                  </a:lnTo>
                  <a:lnTo>
                    <a:pt x="6420" y="3778"/>
                  </a:lnTo>
                  <a:lnTo>
                    <a:pt x="6667" y="3389"/>
                  </a:lnTo>
                  <a:lnTo>
                    <a:pt x="6914" y="3056"/>
                  </a:lnTo>
                  <a:lnTo>
                    <a:pt x="7037" y="2722"/>
                  </a:lnTo>
                  <a:lnTo>
                    <a:pt x="7284" y="2444"/>
                  </a:lnTo>
                  <a:lnTo>
                    <a:pt x="7531" y="2111"/>
                  </a:lnTo>
                  <a:lnTo>
                    <a:pt x="7778" y="1889"/>
                  </a:lnTo>
                  <a:lnTo>
                    <a:pt x="7901" y="1556"/>
                  </a:lnTo>
                  <a:lnTo>
                    <a:pt x="8148" y="1278"/>
                  </a:lnTo>
                  <a:lnTo>
                    <a:pt x="8395" y="1056"/>
                  </a:lnTo>
                  <a:lnTo>
                    <a:pt x="8519" y="833"/>
                  </a:lnTo>
                  <a:lnTo>
                    <a:pt x="8765" y="667"/>
                  </a:lnTo>
                  <a:lnTo>
                    <a:pt x="8889" y="500"/>
                  </a:lnTo>
                  <a:lnTo>
                    <a:pt x="9136" y="389"/>
                  </a:lnTo>
                  <a:lnTo>
                    <a:pt x="9383" y="278"/>
                  </a:lnTo>
                  <a:lnTo>
                    <a:pt x="9506" y="111"/>
                  </a:lnTo>
                  <a:lnTo>
                    <a:pt x="9877" y="111"/>
                  </a:lnTo>
                  <a:lnTo>
                    <a:pt x="10000" y="56"/>
                  </a:lnTo>
                  <a:lnTo>
                    <a:pt x="10247" y="0"/>
                  </a:lnTo>
                  <a:lnTo>
                    <a:pt x="10617" y="56"/>
                  </a:lnTo>
                  <a:lnTo>
                    <a:pt x="10741" y="56"/>
                  </a:lnTo>
                  <a:lnTo>
                    <a:pt x="10864" y="111"/>
                  </a:lnTo>
                  <a:lnTo>
                    <a:pt x="11111" y="222"/>
                  </a:lnTo>
                  <a:lnTo>
                    <a:pt x="11358" y="333"/>
                  </a:lnTo>
                  <a:lnTo>
                    <a:pt x="11481" y="556"/>
                  </a:lnTo>
                  <a:lnTo>
                    <a:pt x="11852" y="722"/>
                  </a:lnTo>
                  <a:lnTo>
                    <a:pt x="12099" y="1000"/>
                  </a:lnTo>
                  <a:lnTo>
                    <a:pt x="12222" y="1278"/>
                  </a:lnTo>
                  <a:lnTo>
                    <a:pt x="12346" y="1556"/>
                  </a:lnTo>
                  <a:lnTo>
                    <a:pt x="12716" y="1889"/>
                  </a:lnTo>
                  <a:lnTo>
                    <a:pt x="12963" y="2278"/>
                  </a:lnTo>
                  <a:lnTo>
                    <a:pt x="13086" y="2722"/>
                  </a:lnTo>
                  <a:lnTo>
                    <a:pt x="13333" y="3111"/>
                  </a:lnTo>
                  <a:lnTo>
                    <a:pt x="13580" y="3500"/>
                  </a:lnTo>
                  <a:lnTo>
                    <a:pt x="13704" y="4000"/>
                  </a:lnTo>
                  <a:lnTo>
                    <a:pt x="14198" y="4444"/>
                  </a:lnTo>
                  <a:lnTo>
                    <a:pt x="14321" y="4944"/>
                  </a:lnTo>
                  <a:lnTo>
                    <a:pt x="14444" y="5500"/>
                  </a:lnTo>
                  <a:lnTo>
                    <a:pt x="14815" y="6000"/>
                  </a:lnTo>
                  <a:lnTo>
                    <a:pt x="15062" y="6556"/>
                  </a:lnTo>
                  <a:lnTo>
                    <a:pt x="15185" y="7000"/>
                  </a:lnTo>
                  <a:lnTo>
                    <a:pt x="15309" y="7611"/>
                  </a:lnTo>
                  <a:lnTo>
                    <a:pt x="15679" y="8167"/>
                  </a:lnTo>
                  <a:lnTo>
                    <a:pt x="15926" y="8833"/>
                  </a:lnTo>
                  <a:lnTo>
                    <a:pt x="16173" y="9333"/>
                  </a:lnTo>
                  <a:lnTo>
                    <a:pt x="16296" y="9889"/>
                  </a:lnTo>
                  <a:lnTo>
                    <a:pt x="16543" y="10444"/>
                  </a:lnTo>
                  <a:lnTo>
                    <a:pt x="16667" y="11000"/>
                  </a:lnTo>
                  <a:lnTo>
                    <a:pt x="16914" y="11611"/>
                  </a:lnTo>
                  <a:lnTo>
                    <a:pt x="17160" y="12167"/>
                  </a:lnTo>
                  <a:lnTo>
                    <a:pt x="17407" y="12778"/>
                  </a:lnTo>
                  <a:lnTo>
                    <a:pt x="17407" y="13278"/>
                  </a:lnTo>
                  <a:lnTo>
                    <a:pt x="17654" y="13833"/>
                  </a:lnTo>
                  <a:lnTo>
                    <a:pt x="17901" y="14389"/>
                  </a:lnTo>
                  <a:lnTo>
                    <a:pt x="18148" y="14944"/>
                  </a:lnTo>
                  <a:lnTo>
                    <a:pt x="18395" y="15444"/>
                  </a:lnTo>
                  <a:lnTo>
                    <a:pt x="18395" y="15944"/>
                  </a:lnTo>
                  <a:lnTo>
                    <a:pt x="18642" y="16444"/>
                  </a:lnTo>
                  <a:lnTo>
                    <a:pt x="18889" y="16889"/>
                  </a:lnTo>
                  <a:lnTo>
                    <a:pt x="19012" y="17278"/>
                  </a:lnTo>
                  <a:lnTo>
                    <a:pt x="19136" y="17722"/>
                  </a:lnTo>
                  <a:lnTo>
                    <a:pt x="19259" y="18111"/>
                  </a:lnTo>
                  <a:lnTo>
                    <a:pt x="19506" y="18500"/>
                  </a:lnTo>
                  <a:lnTo>
                    <a:pt x="19506" y="18944"/>
                  </a:lnTo>
                  <a:lnTo>
                    <a:pt x="19630" y="19222"/>
                  </a:lnTo>
                  <a:lnTo>
                    <a:pt x="19753" y="19500"/>
                  </a:lnTo>
                  <a:lnTo>
                    <a:pt x="19877" y="19722"/>
                  </a:lnTo>
                  <a:lnTo>
                    <a:pt x="19877" y="19944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50" name="AutoShape 63">
              <a:extLst>
                <a:ext uri="{FF2B5EF4-FFF2-40B4-BE49-F238E27FC236}">
                  <a16:creationId xmlns:a16="http://schemas.microsoft.com/office/drawing/2014/main" id="{3711EDBA-2063-B244-7206-1437B6C42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" y="686"/>
              <a:ext cx="104" cy="12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1" y="634"/>
                  </a:lnTo>
                  <a:lnTo>
                    <a:pt x="347" y="1268"/>
                  </a:lnTo>
                  <a:lnTo>
                    <a:pt x="462" y="1960"/>
                  </a:lnTo>
                  <a:lnTo>
                    <a:pt x="809" y="2536"/>
                  </a:lnTo>
                  <a:lnTo>
                    <a:pt x="925" y="3170"/>
                  </a:lnTo>
                  <a:lnTo>
                    <a:pt x="1156" y="3689"/>
                  </a:lnTo>
                  <a:lnTo>
                    <a:pt x="1387" y="4380"/>
                  </a:lnTo>
                  <a:lnTo>
                    <a:pt x="1503" y="4957"/>
                  </a:lnTo>
                  <a:lnTo>
                    <a:pt x="1734" y="5591"/>
                  </a:lnTo>
                  <a:lnTo>
                    <a:pt x="2081" y="6167"/>
                  </a:lnTo>
                  <a:lnTo>
                    <a:pt x="2197" y="6801"/>
                  </a:lnTo>
                  <a:lnTo>
                    <a:pt x="2543" y="7262"/>
                  </a:lnTo>
                  <a:lnTo>
                    <a:pt x="2543" y="7839"/>
                  </a:lnTo>
                  <a:lnTo>
                    <a:pt x="2775" y="8473"/>
                  </a:lnTo>
                  <a:lnTo>
                    <a:pt x="3006" y="8991"/>
                  </a:lnTo>
                  <a:lnTo>
                    <a:pt x="3237" y="9625"/>
                  </a:lnTo>
                  <a:lnTo>
                    <a:pt x="3353" y="10144"/>
                  </a:lnTo>
                  <a:lnTo>
                    <a:pt x="3468" y="10663"/>
                  </a:lnTo>
                  <a:lnTo>
                    <a:pt x="3815" y="11182"/>
                  </a:lnTo>
                  <a:lnTo>
                    <a:pt x="3931" y="11758"/>
                  </a:lnTo>
                  <a:lnTo>
                    <a:pt x="4162" y="12219"/>
                  </a:lnTo>
                  <a:lnTo>
                    <a:pt x="4393" y="12738"/>
                  </a:lnTo>
                  <a:lnTo>
                    <a:pt x="4509" y="13199"/>
                  </a:lnTo>
                  <a:lnTo>
                    <a:pt x="4624" y="13660"/>
                  </a:lnTo>
                  <a:lnTo>
                    <a:pt x="4971" y="14121"/>
                  </a:lnTo>
                  <a:lnTo>
                    <a:pt x="5202" y="14582"/>
                  </a:lnTo>
                  <a:lnTo>
                    <a:pt x="5434" y="15043"/>
                  </a:lnTo>
                  <a:lnTo>
                    <a:pt x="5549" y="15389"/>
                  </a:lnTo>
                  <a:lnTo>
                    <a:pt x="5665" y="15850"/>
                  </a:lnTo>
                  <a:lnTo>
                    <a:pt x="6127" y="16254"/>
                  </a:lnTo>
                  <a:lnTo>
                    <a:pt x="6243" y="16599"/>
                  </a:lnTo>
                  <a:lnTo>
                    <a:pt x="6474" y="17003"/>
                  </a:lnTo>
                  <a:lnTo>
                    <a:pt x="6590" y="17233"/>
                  </a:lnTo>
                  <a:lnTo>
                    <a:pt x="6705" y="17579"/>
                  </a:lnTo>
                  <a:lnTo>
                    <a:pt x="6936" y="17925"/>
                  </a:lnTo>
                  <a:lnTo>
                    <a:pt x="7283" y="18156"/>
                  </a:lnTo>
                  <a:lnTo>
                    <a:pt x="7514" y="18444"/>
                  </a:lnTo>
                  <a:lnTo>
                    <a:pt x="7514" y="18732"/>
                  </a:lnTo>
                  <a:lnTo>
                    <a:pt x="7861" y="18963"/>
                  </a:lnTo>
                  <a:lnTo>
                    <a:pt x="7977" y="19193"/>
                  </a:lnTo>
                  <a:lnTo>
                    <a:pt x="8208" y="19308"/>
                  </a:lnTo>
                  <a:lnTo>
                    <a:pt x="8439" y="19481"/>
                  </a:lnTo>
                  <a:lnTo>
                    <a:pt x="8555" y="19654"/>
                  </a:lnTo>
                  <a:lnTo>
                    <a:pt x="8902" y="19712"/>
                  </a:lnTo>
                  <a:lnTo>
                    <a:pt x="9017" y="19885"/>
                  </a:lnTo>
                  <a:lnTo>
                    <a:pt x="9249" y="19885"/>
                  </a:lnTo>
                  <a:lnTo>
                    <a:pt x="9480" y="19942"/>
                  </a:lnTo>
                  <a:lnTo>
                    <a:pt x="9595" y="19942"/>
                  </a:lnTo>
                  <a:lnTo>
                    <a:pt x="9827" y="19942"/>
                  </a:lnTo>
                  <a:lnTo>
                    <a:pt x="10173" y="19885"/>
                  </a:lnTo>
                  <a:lnTo>
                    <a:pt x="10405" y="19885"/>
                  </a:lnTo>
                  <a:lnTo>
                    <a:pt x="10520" y="19712"/>
                  </a:lnTo>
                  <a:lnTo>
                    <a:pt x="10751" y="19481"/>
                  </a:lnTo>
                  <a:lnTo>
                    <a:pt x="11098" y="19308"/>
                  </a:lnTo>
                  <a:lnTo>
                    <a:pt x="11329" y="19135"/>
                  </a:lnTo>
                  <a:lnTo>
                    <a:pt x="11445" y="18905"/>
                  </a:lnTo>
                  <a:lnTo>
                    <a:pt x="11792" y="18559"/>
                  </a:lnTo>
                  <a:lnTo>
                    <a:pt x="11908" y="18213"/>
                  </a:lnTo>
                  <a:lnTo>
                    <a:pt x="12139" y="17925"/>
                  </a:lnTo>
                  <a:lnTo>
                    <a:pt x="12486" y="17522"/>
                  </a:lnTo>
                  <a:lnTo>
                    <a:pt x="12601" y="17118"/>
                  </a:lnTo>
                  <a:lnTo>
                    <a:pt x="12832" y="16715"/>
                  </a:lnTo>
                  <a:lnTo>
                    <a:pt x="13295" y="16311"/>
                  </a:lnTo>
                  <a:lnTo>
                    <a:pt x="13410" y="15850"/>
                  </a:lnTo>
                  <a:lnTo>
                    <a:pt x="13642" y="15331"/>
                  </a:lnTo>
                  <a:lnTo>
                    <a:pt x="13873" y="14870"/>
                  </a:lnTo>
                  <a:lnTo>
                    <a:pt x="14220" y="14352"/>
                  </a:lnTo>
                  <a:lnTo>
                    <a:pt x="14451" y="13833"/>
                  </a:lnTo>
                  <a:lnTo>
                    <a:pt x="14682" y="13314"/>
                  </a:lnTo>
                  <a:lnTo>
                    <a:pt x="14913" y="12738"/>
                  </a:lnTo>
                  <a:lnTo>
                    <a:pt x="15260" y="12219"/>
                  </a:lnTo>
                  <a:lnTo>
                    <a:pt x="15491" y="11585"/>
                  </a:lnTo>
                  <a:lnTo>
                    <a:pt x="15607" y="11066"/>
                  </a:lnTo>
                  <a:lnTo>
                    <a:pt x="15954" y="10548"/>
                  </a:lnTo>
                  <a:lnTo>
                    <a:pt x="16069" y="10029"/>
                  </a:lnTo>
                  <a:lnTo>
                    <a:pt x="16416" y="9452"/>
                  </a:lnTo>
                  <a:lnTo>
                    <a:pt x="16532" y="8934"/>
                  </a:lnTo>
                  <a:lnTo>
                    <a:pt x="16763" y="8473"/>
                  </a:lnTo>
                  <a:lnTo>
                    <a:pt x="16994" y="7781"/>
                  </a:lnTo>
                  <a:lnTo>
                    <a:pt x="17225" y="7262"/>
                  </a:lnTo>
                  <a:lnTo>
                    <a:pt x="17457" y="6801"/>
                  </a:lnTo>
                  <a:lnTo>
                    <a:pt x="17572" y="6225"/>
                  </a:lnTo>
                  <a:lnTo>
                    <a:pt x="17803" y="5764"/>
                  </a:lnTo>
                  <a:lnTo>
                    <a:pt x="18266" y="5187"/>
                  </a:lnTo>
                  <a:lnTo>
                    <a:pt x="18266" y="4726"/>
                  </a:lnTo>
                  <a:lnTo>
                    <a:pt x="18497" y="4265"/>
                  </a:lnTo>
                  <a:lnTo>
                    <a:pt x="18728" y="3862"/>
                  </a:lnTo>
                  <a:lnTo>
                    <a:pt x="18960" y="3401"/>
                  </a:lnTo>
                  <a:lnTo>
                    <a:pt x="19075" y="2997"/>
                  </a:lnTo>
                  <a:lnTo>
                    <a:pt x="19191" y="2594"/>
                  </a:lnTo>
                  <a:lnTo>
                    <a:pt x="19306" y="2248"/>
                  </a:lnTo>
                  <a:lnTo>
                    <a:pt x="19538" y="1960"/>
                  </a:lnTo>
                  <a:lnTo>
                    <a:pt x="19538" y="1556"/>
                  </a:lnTo>
                  <a:lnTo>
                    <a:pt x="19653" y="1326"/>
                  </a:lnTo>
                  <a:lnTo>
                    <a:pt x="19769" y="1037"/>
                  </a:lnTo>
                  <a:lnTo>
                    <a:pt x="19884" y="807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51" name="AutoShape 64">
              <a:extLst>
                <a:ext uri="{FF2B5EF4-FFF2-40B4-BE49-F238E27FC236}">
                  <a16:creationId xmlns:a16="http://schemas.microsoft.com/office/drawing/2014/main" id="{99EAA55D-B72C-5BC2-37F3-60EFB6DF3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" y="556"/>
              <a:ext cx="97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4"/>
                  </a:moveTo>
                  <a:lnTo>
                    <a:pt x="247" y="18544"/>
                  </a:lnTo>
                  <a:lnTo>
                    <a:pt x="494" y="17844"/>
                  </a:lnTo>
                  <a:lnTo>
                    <a:pt x="617" y="17251"/>
                  </a:lnTo>
                  <a:lnTo>
                    <a:pt x="864" y="16712"/>
                  </a:lnTo>
                  <a:lnTo>
                    <a:pt x="1111" y="16065"/>
                  </a:lnTo>
                  <a:lnTo>
                    <a:pt x="1358" y="15472"/>
                  </a:lnTo>
                  <a:lnTo>
                    <a:pt x="1605" y="14933"/>
                  </a:lnTo>
                  <a:lnTo>
                    <a:pt x="1728" y="14286"/>
                  </a:lnTo>
                  <a:lnTo>
                    <a:pt x="1852" y="13693"/>
                  </a:lnTo>
                  <a:lnTo>
                    <a:pt x="2222" y="13154"/>
                  </a:lnTo>
                  <a:lnTo>
                    <a:pt x="2593" y="12615"/>
                  </a:lnTo>
                  <a:lnTo>
                    <a:pt x="2593" y="12022"/>
                  </a:lnTo>
                  <a:lnTo>
                    <a:pt x="2963" y="11429"/>
                  </a:lnTo>
                  <a:lnTo>
                    <a:pt x="3086" y="10889"/>
                  </a:lnTo>
                  <a:lnTo>
                    <a:pt x="3333" y="10350"/>
                  </a:lnTo>
                  <a:lnTo>
                    <a:pt x="3580" y="9757"/>
                  </a:lnTo>
                  <a:lnTo>
                    <a:pt x="3704" y="9326"/>
                  </a:lnTo>
                  <a:lnTo>
                    <a:pt x="4074" y="8733"/>
                  </a:lnTo>
                  <a:lnTo>
                    <a:pt x="4198" y="8194"/>
                  </a:lnTo>
                  <a:lnTo>
                    <a:pt x="4444" y="7763"/>
                  </a:lnTo>
                  <a:lnTo>
                    <a:pt x="4691" y="7224"/>
                  </a:lnTo>
                  <a:lnTo>
                    <a:pt x="4815" y="6846"/>
                  </a:lnTo>
                  <a:lnTo>
                    <a:pt x="5062" y="6361"/>
                  </a:lnTo>
                  <a:lnTo>
                    <a:pt x="5309" y="5876"/>
                  </a:lnTo>
                  <a:lnTo>
                    <a:pt x="5556" y="5499"/>
                  </a:lnTo>
                  <a:lnTo>
                    <a:pt x="5802" y="5067"/>
                  </a:lnTo>
                  <a:lnTo>
                    <a:pt x="5802" y="4528"/>
                  </a:lnTo>
                  <a:lnTo>
                    <a:pt x="6296" y="4151"/>
                  </a:lnTo>
                  <a:lnTo>
                    <a:pt x="6420" y="3720"/>
                  </a:lnTo>
                  <a:lnTo>
                    <a:pt x="6667" y="3396"/>
                  </a:lnTo>
                  <a:lnTo>
                    <a:pt x="6914" y="3019"/>
                  </a:lnTo>
                  <a:lnTo>
                    <a:pt x="7037" y="2749"/>
                  </a:lnTo>
                  <a:lnTo>
                    <a:pt x="7284" y="2426"/>
                  </a:lnTo>
                  <a:lnTo>
                    <a:pt x="7531" y="2102"/>
                  </a:lnTo>
                  <a:lnTo>
                    <a:pt x="7778" y="1833"/>
                  </a:lnTo>
                  <a:lnTo>
                    <a:pt x="7901" y="1563"/>
                  </a:lnTo>
                  <a:lnTo>
                    <a:pt x="8148" y="1240"/>
                  </a:lnTo>
                  <a:lnTo>
                    <a:pt x="8395" y="1024"/>
                  </a:lnTo>
                  <a:lnTo>
                    <a:pt x="8519" y="863"/>
                  </a:lnTo>
                  <a:lnTo>
                    <a:pt x="8765" y="647"/>
                  </a:lnTo>
                  <a:lnTo>
                    <a:pt x="8889" y="539"/>
                  </a:lnTo>
                  <a:lnTo>
                    <a:pt x="9136" y="377"/>
                  </a:lnTo>
                  <a:lnTo>
                    <a:pt x="9383" y="270"/>
                  </a:lnTo>
                  <a:lnTo>
                    <a:pt x="9506" y="108"/>
                  </a:lnTo>
                  <a:lnTo>
                    <a:pt x="9877" y="108"/>
                  </a:lnTo>
                  <a:lnTo>
                    <a:pt x="10000" y="54"/>
                  </a:lnTo>
                  <a:lnTo>
                    <a:pt x="10247" y="0"/>
                  </a:lnTo>
                  <a:lnTo>
                    <a:pt x="10617" y="54"/>
                  </a:lnTo>
                  <a:lnTo>
                    <a:pt x="10741" y="54"/>
                  </a:lnTo>
                  <a:lnTo>
                    <a:pt x="10864" y="108"/>
                  </a:lnTo>
                  <a:lnTo>
                    <a:pt x="11111" y="216"/>
                  </a:lnTo>
                  <a:lnTo>
                    <a:pt x="11358" y="323"/>
                  </a:lnTo>
                  <a:lnTo>
                    <a:pt x="11481" y="539"/>
                  </a:lnTo>
                  <a:lnTo>
                    <a:pt x="11852" y="755"/>
                  </a:lnTo>
                  <a:lnTo>
                    <a:pt x="12099" y="1024"/>
                  </a:lnTo>
                  <a:lnTo>
                    <a:pt x="12222" y="1240"/>
                  </a:lnTo>
                  <a:lnTo>
                    <a:pt x="12346" y="1563"/>
                  </a:lnTo>
                  <a:lnTo>
                    <a:pt x="12716" y="1887"/>
                  </a:lnTo>
                  <a:lnTo>
                    <a:pt x="12963" y="2264"/>
                  </a:lnTo>
                  <a:lnTo>
                    <a:pt x="13086" y="2749"/>
                  </a:lnTo>
                  <a:lnTo>
                    <a:pt x="13333" y="3127"/>
                  </a:lnTo>
                  <a:lnTo>
                    <a:pt x="13580" y="3504"/>
                  </a:lnTo>
                  <a:lnTo>
                    <a:pt x="13704" y="3989"/>
                  </a:lnTo>
                  <a:lnTo>
                    <a:pt x="14198" y="4367"/>
                  </a:lnTo>
                  <a:lnTo>
                    <a:pt x="14321" y="4960"/>
                  </a:lnTo>
                  <a:lnTo>
                    <a:pt x="14444" y="5499"/>
                  </a:lnTo>
                  <a:lnTo>
                    <a:pt x="14815" y="5984"/>
                  </a:lnTo>
                  <a:lnTo>
                    <a:pt x="15062" y="6523"/>
                  </a:lnTo>
                  <a:lnTo>
                    <a:pt x="15185" y="7008"/>
                  </a:lnTo>
                  <a:lnTo>
                    <a:pt x="15309" y="7601"/>
                  </a:lnTo>
                  <a:lnTo>
                    <a:pt x="15679" y="8194"/>
                  </a:lnTo>
                  <a:lnTo>
                    <a:pt x="15926" y="8787"/>
                  </a:lnTo>
                  <a:lnTo>
                    <a:pt x="16173" y="9326"/>
                  </a:lnTo>
                  <a:lnTo>
                    <a:pt x="16296" y="9919"/>
                  </a:lnTo>
                  <a:lnTo>
                    <a:pt x="16543" y="10458"/>
                  </a:lnTo>
                  <a:lnTo>
                    <a:pt x="16667" y="10997"/>
                  </a:lnTo>
                  <a:lnTo>
                    <a:pt x="16914" y="11590"/>
                  </a:lnTo>
                  <a:lnTo>
                    <a:pt x="17160" y="12183"/>
                  </a:lnTo>
                  <a:lnTo>
                    <a:pt x="17407" y="12776"/>
                  </a:lnTo>
                  <a:lnTo>
                    <a:pt x="17407" y="13261"/>
                  </a:lnTo>
                  <a:lnTo>
                    <a:pt x="17654" y="13854"/>
                  </a:lnTo>
                  <a:lnTo>
                    <a:pt x="17901" y="14340"/>
                  </a:lnTo>
                  <a:lnTo>
                    <a:pt x="18148" y="14933"/>
                  </a:lnTo>
                  <a:lnTo>
                    <a:pt x="18395" y="15472"/>
                  </a:lnTo>
                  <a:lnTo>
                    <a:pt x="18395" y="15903"/>
                  </a:lnTo>
                  <a:lnTo>
                    <a:pt x="18642" y="16442"/>
                  </a:lnTo>
                  <a:lnTo>
                    <a:pt x="18889" y="16873"/>
                  </a:lnTo>
                  <a:lnTo>
                    <a:pt x="19012" y="17305"/>
                  </a:lnTo>
                  <a:lnTo>
                    <a:pt x="19136" y="17736"/>
                  </a:lnTo>
                  <a:lnTo>
                    <a:pt x="19259" y="18113"/>
                  </a:lnTo>
                  <a:lnTo>
                    <a:pt x="19506" y="18544"/>
                  </a:lnTo>
                  <a:lnTo>
                    <a:pt x="19506" y="18976"/>
                  </a:lnTo>
                  <a:lnTo>
                    <a:pt x="19630" y="19191"/>
                  </a:lnTo>
                  <a:lnTo>
                    <a:pt x="19753" y="19461"/>
                  </a:lnTo>
                  <a:lnTo>
                    <a:pt x="19877" y="19730"/>
                  </a:lnTo>
                  <a:lnTo>
                    <a:pt x="19877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52" name="AutoShape 65">
              <a:extLst>
                <a:ext uri="{FF2B5EF4-FFF2-40B4-BE49-F238E27FC236}">
                  <a16:creationId xmlns:a16="http://schemas.microsoft.com/office/drawing/2014/main" id="{E77DB55D-0B85-7EA9-1AA2-F0272B919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681"/>
              <a:ext cx="102" cy="1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1" y="616"/>
                  </a:lnTo>
                  <a:lnTo>
                    <a:pt x="347" y="1232"/>
                  </a:lnTo>
                  <a:lnTo>
                    <a:pt x="462" y="1905"/>
                  </a:lnTo>
                  <a:lnTo>
                    <a:pt x="809" y="2521"/>
                  </a:lnTo>
                  <a:lnTo>
                    <a:pt x="925" y="3137"/>
                  </a:lnTo>
                  <a:lnTo>
                    <a:pt x="1156" y="3697"/>
                  </a:lnTo>
                  <a:lnTo>
                    <a:pt x="1387" y="4314"/>
                  </a:lnTo>
                  <a:lnTo>
                    <a:pt x="1503" y="4986"/>
                  </a:lnTo>
                  <a:lnTo>
                    <a:pt x="1734" y="5602"/>
                  </a:lnTo>
                  <a:lnTo>
                    <a:pt x="2081" y="6162"/>
                  </a:lnTo>
                  <a:lnTo>
                    <a:pt x="2197" y="6779"/>
                  </a:lnTo>
                  <a:lnTo>
                    <a:pt x="2543" y="7283"/>
                  </a:lnTo>
                  <a:lnTo>
                    <a:pt x="2543" y="7899"/>
                  </a:lnTo>
                  <a:lnTo>
                    <a:pt x="2775" y="8515"/>
                  </a:lnTo>
                  <a:lnTo>
                    <a:pt x="3006" y="9020"/>
                  </a:lnTo>
                  <a:lnTo>
                    <a:pt x="3237" y="9636"/>
                  </a:lnTo>
                  <a:lnTo>
                    <a:pt x="3353" y="10140"/>
                  </a:lnTo>
                  <a:lnTo>
                    <a:pt x="3468" y="10644"/>
                  </a:lnTo>
                  <a:lnTo>
                    <a:pt x="3815" y="11204"/>
                  </a:lnTo>
                  <a:lnTo>
                    <a:pt x="3931" y="11765"/>
                  </a:lnTo>
                  <a:lnTo>
                    <a:pt x="4162" y="12213"/>
                  </a:lnTo>
                  <a:lnTo>
                    <a:pt x="4393" y="12773"/>
                  </a:lnTo>
                  <a:lnTo>
                    <a:pt x="4509" y="13165"/>
                  </a:lnTo>
                  <a:lnTo>
                    <a:pt x="4624" y="13669"/>
                  </a:lnTo>
                  <a:lnTo>
                    <a:pt x="4971" y="14118"/>
                  </a:lnTo>
                  <a:lnTo>
                    <a:pt x="5202" y="14510"/>
                  </a:lnTo>
                  <a:lnTo>
                    <a:pt x="5434" y="15014"/>
                  </a:lnTo>
                  <a:lnTo>
                    <a:pt x="5549" y="15462"/>
                  </a:lnTo>
                  <a:lnTo>
                    <a:pt x="5665" y="15854"/>
                  </a:lnTo>
                  <a:lnTo>
                    <a:pt x="6127" y="16190"/>
                  </a:lnTo>
                  <a:lnTo>
                    <a:pt x="6243" y="16639"/>
                  </a:lnTo>
                  <a:lnTo>
                    <a:pt x="6474" y="16919"/>
                  </a:lnTo>
                  <a:lnTo>
                    <a:pt x="6590" y="17255"/>
                  </a:lnTo>
                  <a:lnTo>
                    <a:pt x="6705" y="17591"/>
                  </a:lnTo>
                  <a:lnTo>
                    <a:pt x="6936" y="17927"/>
                  </a:lnTo>
                  <a:lnTo>
                    <a:pt x="7283" y="18095"/>
                  </a:lnTo>
                  <a:lnTo>
                    <a:pt x="7514" y="18487"/>
                  </a:lnTo>
                  <a:lnTo>
                    <a:pt x="7514" y="18711"/>
                  </a:lnTo>
                  <a:lnTo>
                    <a:pt x="7861" y="18992"/>
                  </a:lnTo>
                  <a:lnTo>
                    <a:pt x="7977" y="19160"/>
                  </a:lnTo>
                  <a:lnTo>
                    <a:pt x="8208" y="19328"/>
                  </a:lnTo>
                  <a:lnTo>
                    <a:pt x="8439" y="19440"/>
                  </a:lnTo>
                  <a:lnTo>
                    <a:pt x="8555" y="19664"/>
                  </a:lnTo>
                  <a:lnTo>
                    <a:pt x="8902" y="19720"/>
                  </a:lnTo>
                  <a:lnTo>
                    <a:pt x="9017" y="19888"/>
                  </a:lnTo>
                  <a:lnTo>
                    <a:pt x="9249" y="19888"/>
                  </a:lnTo>
                  <a:lnTo>
                    <a:pt x="9480" y="19944"/>
                  </a:lnTo>
                  <a:lnTo>
                    <a:pt x="9595" y="19944"/>
                  </a:lnTo>
                  <a:lnTo>
                    <a:pt x="9827" y="19944"/>
                  </a:lnTo>
                  <a:lnTo>
                    <a:pt x="10173" y="19888"/>
                  </a:lnTo>
                  <a:lnTo>
                    <a:pt x="10405" y="19888"/>
                  </a:lnTo>
                  <a:lnTo>
                    <a:pt x="10520" y="19664"/>
                  </a:lnTo>
                  <a:lnTo>
                    <a:pt x="10751" y="19496"/>
                  </a:lnTo>
                  <a:lnTo>
                    <a:pt x="11098" y="19328"/>
                  </a:lnTo>
                  <a:lnTo>
                    <a:pt x="11329" y="19104"/>
                  </a:lnTo>
                  <a:lnTo>
                    <a:pt x="11445" y="18936"/>
                  </a:lnTo>
                  <a:lnTo>
                    <a:pt x="11792" y="18543"/>
                  </a:lnTo>
                  <a:lnTo>
                    <a:pt x="11908" y="18263"/>
                  </a:lnTo>
                  <a:lnTo>
                    <a:pt x="12139" y="17871"/>
                  </a:lnTo>
                  <a:lnTo>
                    <a:pt x="12486" y="17479"/>
                  </a:lnTo>
                  <a:lnTo>
                    <a:pt x="12601" y="17087"/>
                  </a:lnTo>
                  <a:lnTo>
                    <a:pt x="12832" y="16751"/>
                  </a:lnTo>
                  <a:lnTo>
                    <a:pt x="13295" y="16303"/>
                  </a:lnTo>
                  <a:lnTo>
                    <a:pt x="13410" y="15798"/>
                  </a:lnTo>
                  <a:lnTo>
                    <a:pt x="13642" y="15350"/>
                  </a:lnTo>
                  <a:lnTo>
                    <a:pt x="13873" y="14846"/>
                  </a:lnTo>
                  <a:lnTo>
                    <a:pt x="14220" y="14342"/>
                  </a:lnTo>
                  <a:lnTo>
                    <a:pt x="14451" y="13838"/>
                  </a:lnTo>
                  <a:lnTo>
                    <a:pt x="14682" y="13277"/>
                  </a:lnTo>
                  <a:lnTo>
                    <a:pt x="14913" y="12829"/>
                  </a:lnTo>
                  <a:lnTo>
                    <a:pt x="15260" y="12213"/>
                  </a:lnTo>
                  <a:lnTo>
                    <a:pt x="15491" y="11709"/>
                  </a:lnTo>
                  <a:lnTo>
                    <a:pt x="15607" y="11036"/>
                  </a:lnTo>
                  <a:lnTo>
                    <a:pt x="15954" y="10588"/>
                  </a:lnTo>
                  <a:lnTo>
                    <a:pt x="16069" y="10028"/>
                  </a:lnTo>
                  <a:lnTo>
                    <a:pt x="16416" y="9412"/>
                  </a:lnTo>
                  <a:lnTo>
                    <a:pt x="16532" y="8964"/>
                  </a:lnTo>
                  <a:lnTo>
                    <a:pt x="16763" y="8403"/>
                  </a:lnTo>
                  <a:lnTo>
                    <a:pt x="16994" y="7787"/>
                  </a:lnTo>
                  <a:lnTo>
                    <a:pt x="17225" y="7227"/>
                  </a:lnTo>
                  <a:lnTo>
                    <a:pt x="17457" y="6835"/>
                  </a:lnTo>
                  <a:lnTo>
                    <a:pt x="17572" y="6218"/>
                  </a:lnTo>
                  <a:lnTo>
                    <a:pt x="17803" y="5714"/>
                  </a:lnTo>
                  <a:lnTo>
                    <a:pt x="18266" y="5210"/>
                  </a:lnTo>
                  <a:lnTo>
                    <a:pt x="18266" y="4762"/>
                  </a:lnTo>
                  <a:lnTo>
                    <a:pt x="18497" y="4314"/>
                  </a:lnTo>
                  <a:lnTo>
                    <a:pt x="18728" y="3866"/>
                  </a:lnTo>
                  <a:lnTo>
                    <a:pt x="18960" y="3361"/>
                  </a:lnTo>
                  <a:lnTo>
                    <a:pt x="19075" y="3025"/>
                  </a:lnTo>
                  <a:lnTo>
                    <a:pt x="19191" y="2689"/>
                  </a:lnTo>
                  <a:lnTo>
                    <a:pt x="19306" y="2241"/>
                  </a:lnTo>
                  <a:lnTo>
                    <a:pt x="19538" y="1905"/>
                  </a:lnTo>
                  <a:lnTo>
                    <a:pt x="19538" y="1625"/>
                  </a:lnTo>
                  <a:lnTo>
                    <a:pt x="19653" y="1289"/>
                  </a:lnTo>
                  <a:lnTo>
                    <a:pt x="19769" y="1008"/>
                  </a:lnTo>
                  <a:lnTo>
                    <a:pt x="19884" y="84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29156" name="Group 132">
            <a:extLst>
              <a:ext uri="{FF2B5EF4-FFF2-40B4-BE49-F238E27FC236}">
                <a16:creationId xmlns:a16="http://schemas.microsoft.com/office/drawing/2014/main" id="{9DB5970F-3F0C-A3CA-686D-56961D85CE84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1268413"/>
            <a:ext cx="2592388" cy="73025"/>
            <a:chOff x="3243" y="1797"/>
            <a:chExt cx="1633" cy="46"/>
          </a:xfrm>
        </p:grpSpPr>
        <p:sp>
          <p:nvSpPr>
            <p:cNvPr id="40978" name="AutoShape 89">
              <a:extLst>
                <a:ext uri="{FF2B5EF4-FFF2-40B4-BE49-F238E27FC236}">
                  <a16:creationId xmlns:a16="http://schemas.microsoft.com/office/drawing/2014/main" id="{76073D50-A7CB-87DD-5F11-2B074B56128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43" y="1818"/>
              <a:ext cx="48" cy="2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79" name="AutoShape 90">
              <a:extLst>
                <a:ext uri="{FF2B5EF4-FFF2-40B4-BE49-F238E27FC236}">
                  <a16:creationId xmlns:a16="http://schemas.microsoft.com/office/drawing/2014/main" id="{879CD4DE-F748-289B-C1BF-9C8FEA90941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91" y="1797"/>
              <a:ext cx="50" cy="2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0" name="AutoShape 91">
              <a:extLst>
                <a:ext uri="{FF2B5EF4-FFF2-40B4-BE49-F238E27FC236}">
                  <a16:creationId xmlns:a16="http://schemas.microsoft.com/office/drawing/2014/main" id="{C63FA5D2-6DCD-B2B6-4C57-4D7BE5E0213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343" y="1818"/>
              <a:ext cx="47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1" name="AutoShape 92">
              <a:extLst>
                <a:ext uri="{FF2B5EF4-FFF2-40B4-BE49-F238E27FC236}">
                  <a16:creationId xmlns:a16="http://schemas.microsoft.com/office/drawing/2014/main" id="{AFF75967-2912-D6A7-5A7D-A704CAA937F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390" y="1798"/>
              <a:ext cx="50" cy="2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2" name="AutoShape 93">
              <a:extLst>
                <a:ext uri="{FF2B5EF4-FFF2-40B4-BE49-F238E27FC236}">
                  <a16:creationId xmlns:a16="http://schemas.microsoft.com/office/drawing/2014/main" id="{0AC9CAF4-88FC-F1AA-721A-31DF10EBFDC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40" y="1819"/>
              <a:ext cx="47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3" name="AutoShape 94">
              <a:extLst>
                <a:ext uri="{FF2B5EF4-FFF2-40B4-BE49-F238E27FC236}">
                  <a16:creationId xmlns:a16="http://schemas.microsoft.com/office/drawing/2014/main" id="{F5DF9487-A63C-C4A4-F7C9-DC307B7BF92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87" y="1798"/>
              <a:ext cx="51" cy="2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4" name="AutoShape 95">
              <a:extLst>
                <a:ext uri="{FF2B5EF4-FFF2-40B4-BE49-F238E27FC236}">
                  <a16:creationId xmlns:a16="http://schemas.microsoft.com/office/drawing/2014/main" id="{724DE76A-6E65-77B2-8417-13C352AED00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539" y="1819"/>
              <a:ext cx="48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5" name="AutoShape 96">
              <a:extLst>
                <a:ext uri="{FF2B5EF4-FFF2-40B4-BE49-F238E27FC236}">
                  <a16:creationId xmlns:a16="http://schemas.microsoft.com/office/drawing/2014/main" id="{E877332B-92E6-1FCF-13A4-4B86DB7FEA1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587" y="1798"/>
              <a:ext cx="50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6" name="AutoShape 97">
              <a:extLst>
                <a:ext uri="{FF2B5EF4-FFF2-40B4-BE49-F238E27FC236}">
                  <a16:creationId xmlns:a16="http://schemas.microsoft.com/office/drawing/2014/main" id="{ACCFE24F-2FAD-C779-8CB6-31DBB33A3FC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39" y="1819"/>
              <a:ext cx="47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7" name="AutoShape 98">
              <a:extLst>
                <a:ext uri="{FF2B5EF4-FFF2-40B4-BE49-F238E27FC236}">
                  <a16:creationId xmlns:a16="http://schemas.microsoft.com/office/drawing/2014/main" id="{5905DF36-5A90-4883-1A56-29A1F46072C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86" y="1798"/>
              <a:ext cx="50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8" name="AutoShape 99">
              <a:extLst>
                <a:ext uri="{FF2B5EF4-FFF2-40B4-BE49-F238E27FC236}">
                  <a16:creationId xmlns:a16="http://schemas.microsoft.com/office/drawing/2014/main" id="{62F44632-400A-2800-CC1E-5B588F8DB53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738" y="1819"/>
              <a:ext cx="48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9" name="AutoShape 100">
              <a:extLst>
                <a:ext uri="{FF2B5EF4-FFF2-40B4-BE49-F238E27FC236}">
                  <a16:creationId xmlns:a16="http://schemas.microsoft.com/office/drawing/2014/main" id="{F5CFDDDA-CDB5-EF22-9FC3-D824472B510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785" y="1798"/>
              <a:ext cx="51" cy="2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0" name="AutoShape 101">
              <a:extLst>
                <a:ext uri="{FF2B5EF4-FFF2-40B4-BE49-F238E27FC236}">
                  <a16:creationId xmlns:a16="http://schemas.microsoft.com/office/drawing/2014/main" id="{2198EC30-62FC-1FAE-45D1-34193D6FEB6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835" y="1818"/>
              <a:ext cx="48" cy="2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1" name="AutoShape 102">
              <a:extLst>
                <a:ext uri="{FF2B5EF4-FFF2-40B4-BE49-F238E27FC236}">
                  <a16:creationId xmlns:a16="http://schemas.microsoft.com/office/drawing/2014/main" id="{F8AD4F43-39CB-A363-C755-5310B0C2557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880" y="1799"/>
              <a:ext cx="50" cy="2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2" name="AutoShape 103">
              <a:extLst>
                <a:ext uri="{FF2B5EF4-FFF2-40B4-BE49-F238E27FC236}">
                  <a16:creationId xmlns:a16="http://schemas.microsoft.com/office/drawing/2014/main" id="{F957B01E-4204-084A-6AB4-4E39D39CB51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931" y="1819"/>
              <a:ext cx="48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3" name="AutoShape 104">
              <a:extLst>
                <a:ext uri="{FF2B5EF4-FFF2-40B4-BE49-F238E27FC236}">
                  <a16:creationId xmlns:a16="http://schemas.microsoft.com/office/drawing/2014/main" id="{A33807F7-10BF-A8DF-5602-1E7F67560D8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980" y="1798"/>
              <a:ext cx="51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4" name="AutoShape 105">
              <a:extLst>
                <a:ext uri="{FF2B5EF4-FFF2-40B4-BE49-F238E27FC236}">
                  <a16:creationId xmlns:a16="http://schemas.microsoft.com/office/drawing/2014/main" id="{B572066F-4153-9E26-FDB7-F7665FA2692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033" y="1819"/>
              <a:ext cx="48" cy="2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5" name="AutoShape 106">
              <a:extLst>
                <a:ext uri="{FF2B5EF4-FFF2-40B4-BE49-F238E27FC236}">
                  <a16:creationId xmlns:a16="http://schemas.microsoft.com/office/drawing/2014/main" id="{0067CCB7-BFA1-DD10-518C-330C42DC828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083" y="1798"/>
              <a:ext cx="51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6" name="AutoShape 107">
              <a:extLst>
                <a:ext uri="{FF2B5EF4-FFF2-40B4-BE49-F238E27FC236}">
                  <a16:creationId xmlns:a16="http://schemas.microsoft.com/office/drawing/2014/main" id="{B1A88E0C-8FDF-0ED0-E73B-E584E1D8208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135" y="1818"/>
              <a:ext cx="48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7" name="AutoShape 108">
              <a:extLst>
                <a:ext uri="{FF2B5EF4-FFF2-40B4-BE49-F238E27FC236}">
                  <a16:creationId xmlns:a16="http://schemas.microsoft.com/office/drawing/2014/main" id="{227B84AD-5A36-2C76-EFFD-2AB66CA7FD3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182" y="1799"/>
              <a:ext cx="51" cy="2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8" name="AutoShape 109">
              <a:extLst>
                <a:ext uri="{FF2B5EF4-FFF2-40B4-BE49-F238E27FC236}">
                  <a16:creationId xmlns:a16="http://schemas.microsoft.com/office/drawing/2014/main" id="{6EA0F30A-B329-EC50-A0BB-3AA4BDF4341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232" y="1819"/>
              <a:ext cx="48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9" name="AutoShape 110">
              <a:extLst>
                <a:ext uri="{FF2B5EF4-FFF2-40B4-BE49-F238E27FC236}">
                  <a16:creationId xmlns:a16="http://schemas.microsoft.com/office/drawing/2014/main" id="{4E981C28-F5CB-7773-DA91-29BACA2BA5F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280" y="1799"/>
              <a:ext cx="51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0" name="AutoShape 111">
              <a:extLst>
                <a:ext uri="{FF2B5EF4-FFF2-40B4-BE49-F238E27FC236}">
                  <a16:creationId xmlns:a16="http://schemas.microsoft.com/office/drawing/2014/main" id="{6D61231D-A253-E38A-BF8B-63F673E49E0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332" y="1819"/>
              <a:ext cx="48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1" name="AutoShape 112">
              <a:extLst>
                <a:ext uri="{FF2B5EF4-FFF2-40B4-BE49-F238E27FC236}">
                  <a16:creationId xmlns:a16="http://schemas.microsoft.com/office/drawing/2014/main" id="{79A840B5-623B-2C82-2E70-ECF9EC7B0B3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380" y="1800"/>
              <a:ext cx="51" cy="2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2" name="AutoShape 113">
              <a:extLst>
                <a:ext uri="{FF2B5EF4-FFF2-40B4-BE49-F238E27FC236}">
                  <a16:creationId xmlns:a16="http://schemas.microsoft.com/office/drawing/2014/main" id="{F42B929F-849A-A7BC-A24A-BC2815E7AA8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430" y="1819"/>
              <a:ext cx="48" cy="2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3" name="AutoShape 114">
              <a:extLst>
                <a:ext uri="{FF2B5EF4-FFF2-40B4-BE49-F238E27FC236}">
                  <a16:creationId xmlns:a16="http://schemas.microsoft.com/office/drawing/2014/main" id="{14DF2182-C17C-A16B-36DB-355F146F059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477" y="1798"/>
              <a:ext cx="51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4" name="AutoShape 115">
              <a:extLst>
                <a:ext uri="{FF2B5EF4-FFF2-40B4-BE49-F238E27FC236}">
                  <a16:creationId xmlns:a16="http://schemas.microsoft.com/office/drawing/2014/main" id="{E6EE56EC-42D0-27E7-1F38-66B2F8520CC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30" y="1818"/>
              <a:ext cx="47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5" name="AutoShape 116">
              <a:extLst>
                <a:ext uri="{FF2B5EF4-FFF2-40B4-BE49-F238E27FC236}">
                  <a16:creationId xmlns:a16="http://schemas.microsoft.com/office/drawing/2014/main" id="{EAE19122-346F-7929-F34A-EE7C699AC07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77" y="1799"/>
              <a:ext cx="50" cy="2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6" name="AutoShape 117">
              <a:extLst>
                <a:ext uri="{FF2B5EF4-FFF2-40B4-BE49-F238E27FC236}">
                  <a16:creationId xmlns:a16="http://schemas.microsoft.com/office/drawing/2014/main" id="{45048B90-E61C-A325-CEF6-D3A8335A0BF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627" y="1819"/>
              <a:ext cx="48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7" name="AutoShape 118">
              <a:extLst>
                <a:ext uri="{FF2B5EF4-FFF2-40B4-BE49-F238E27FC236}">
                  <a16:creationId xmlns:a16="http://schemas.microsoft.com/office/drawing/2014/main" id="{2D7E37BD-122D-478A-6E5E-3FF258DD091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674" y="1799"/>
              <a:ext cx="51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8" name="AutoShape 119">
              <a:extLst>
                <a:ext uri="{FF2B5EF4-FFF2-40B4-BE49-F238E27FC236}">
                  <a16:creationId xmlns:a16="http://schemas.microsoft.com/office/drawing/2014/main" id="{B4BD9525-4ACF-3094-B7D4-4986F963B1A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26" y="1819"/>
              <a:ext cx="48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9" name="AutoShape 120">
              <a:extLst>
                <a:ext uri="{FF2B5EF4-FFF2-40B4-BE49-F238E27FC236}">
                  <a16:creationId xmlns:a16="http://schemas.microsoft.com/office/drawing/2014/main" id="{5E9C1AD8-DFB8-1E87-4523-F712CD401AB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73" y="1800"/>
              <a:ext cx="51" cy="2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10" name="AutoShape 121">
              <a:extLst>
                <a:ext uri="{FF2B5EF4-FFF2-40B4-BE49-F238E27FC236}">
                  <a16:creationId xmlns:a16="http://schemas.microsoft.com/office/drawing/2014/main" id="{B071576A-E04D-B340-11C2-9FCF2164EC6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824" y="1819"/>
              <a:ext cx="52" cy="2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4"/>
                  </a:moveTo>
                  <a:lnTo>
                    <a:pt x="247" y="18544"/>
                  </a:lnTo>
                  <a:lnTo>
                    <a:pt x="494" y="17844"/>
                  </a:lnTo>
                  <a:lnTo>
                    <a:pt x="617" y="17251"/>
                  </a:lnTo>
                  <a:lnTo>
                    <a:pt x="864" y="16712"/>
                  </a:lnTo>
                  <a:lnTo>
                    <a:pt x="1111" y="16065"/>
                  </a:lnTo>
                  <a:lnTo>
                    <a:pt x="1358" y="15472"/>
                  </a:lnTo>
                  <a:lnTo>
                    <a:pt x="1605" y="14933"/>
                  </a:lnTo>
                  <a:lnTo>
                    <a:pt x="1728" y="14286"/>
                  </a:lnTo>
                  <a:lnTo>
                    <a:pt x="1852" y="13693"/>
                  </a:lnTo>
                  <a:lnTo>
                    <a:pt x="2222" y="13154"/>
                  </a:lnTo>
                  <a:lnTo>
                    <a:pt x="2593" y="12615"/>
                  </a:lnTo>
                  <a:lnTo>
                    <a:pt x="2593" y="12022"/>
                  </a:lnTo>
                  <a:lnTo>
                    <a:pt x="2963" y="11429"/>
                  </a:lnTo>
                  <a:lnTo>
                    <a:pt x="3086" y="10889"/>
                  </a:lnTo>
                  <a:lnTo>
                    <a:pt x="3333" y="10350"/>
                  </a:lnTo>
                  <a:lnTo>
                    <a:pt x="3580" y="9757"/>
                  </a:lnTo>
                  <a:lnTo>
                    <a:pt x="3704" y="9326"/>
                  </a:lnTo>
                  <a:lnTo>
                    <a:pt x="4074" y="8733"/>
                  </a:lnTo>
                  <a:lnTo>
                    <a:pt x="4198" y="8194"/>
                  </a:lnTo>
                  <a:lnTo>
                    <a:pt x="4444" y="7763"/>
                  </a:lnTo>
                  <a:lnTo>
                    <a:pt x="4691" y="7224"/>
                  </a:lnTo>
                  <a:lnTo>
                    <a:pt x="4815" y="6846"/>
                  </a:lnTo>
                  <a:lnTo>
                    <a:pt x="5062" y="6361"/>
                  </a:lnTo>
                  <a:lnTo>
                    <a:pt x="5309" y="5876"/>
                  </a:lnTo>
                  <a:lnTo>
                    <a:pt x="5556" y="5499"/>
                  </a:lnTo>
                  <a:lnTo>
                    <a:pt x="5802" y="5067"/>
                  </a:lnTo>
                  <a:lnTo>
                    <a:pt x="5802" y="4528"/>
                  </a:lnTo>
                  <a:lnTo>
                    <a:pt x="6296" y="4151"/>
                  </a:lnTo>
                  <a:lnTo>
                    <a:pt x="6420" y="3720"/>
                  </a:lnTo>
                  <a:lnTo>
                    <a:pt x="6667" y="3396"/>
                  </a:lnTo>
                  <a:lnTo>
                    <a:pt x="6914" y="3019"/>
                  </a:lnTo>
                  <a:lnTo>
                    <a:pt x="7037" y="2749"/>
                  </a:lnTo>
                  <a:lnTo>
                    <a:pt x="7284" y="2426"/>
                  </a:lnTo>
                  <a:lnTo>
                    <a:pt x="7531" y="2102"/>
                  </a:lnTo>
                  <a:lnTo>
                    <a:pt x="7778" y="1833"/>
                  </a:lnTo>
                  <a:lnTo>
                    <a:pt x="7901" y="1563"/>
                  </a:lnTo>
                  <a:lnTo>
                    <a:pt x="8148" y="1240"/>
                  </a:lnTo>
                  <a:lnTo>
                    <a:pt x="8395" y="1024"/>
                  </a:lnTo>
                  <a:lnTo>
                    <a:pt x="8519" y="863"/>
                  </a:lnTo>
                  <a:lnTo>
                    <a:pt x="8765" y="647"/>
                  </a:lnTo>
                  <a:lnTo>
                    <a:pt x="8889" y="539"/>
                  </a:lnTo>
                  <a:lnTo>
                    <a:pt x="9136" y="377"/>
                  </a:lnTo>
                  <a:lnTo>
                    <a:pt x="9383" y="270"/>
                  </a:lnTo>
                  <a:lnTo>
                    <a:pt x="9506" y="108"/>
                  </a:lnTo>
                  <a:lnTo>
                    <a:pt x="9877" y="108"/>
                  </a:lnTo>
                  <a:lnTo>
                    <a:pt x="10000" y="54"/>
                  </a:lnTo>
                  <a:lnTo>
                    <a:pt x="10247" y="0"/>
                  </a:lnTo>
                  <a:lnTo>
                    <a:pt x="10617" y="54"/>
                  </a:lnTo>
                  <a:lnTo>
                    <a:pt x="10741" y="54"/>
                  </a:lnTo>
                  <a:lnTo>
                    <a:pt x="10864" y="108"/>
                  </a:lnTo>
                  <a:lnTo>
                    <a:pt x="11111" y="216"/>
                  </a:lnTo>
                  <a:lnTo>
                    <a:pt x="11358" y="323"/>
                  </a:lnTo>
                  <a:lnTo>
                    <a:pt x="11481" y="539"/>
                  </a:lnTo>
                  <a:lnTo>
                    <a:pt x="11852" y="755"/>
                  </a:lnTo>
                  <a:lnTo>
                    <a:pt x="12099" y="1024"/>
                  </a:lnTo>
                  <a:lnTo>
                    <a:pt x="12222" y="1240"/>
                  </a:lnTo>
                  <a:lnTo>
                    <a:pt x="12346" y="1563"/>
                  </a:lnTo>
                  <a:lnTo>
                    <a:pt x="12716" y="1887"/>
                  </a:lnTo>
                  <a:lnTo>
                    <a:pt x="12963" y="2264"/>
                  </a:lnTo>
                  <a:lnTo>
                    <a:pt x="13086" y="2749"/>
                  </a:lnTo>
                  <a:lnTo>
                    <a:pt x="13333" y="3127"/>
                  </a:lnTo>
                  <a:lnTo>
                    <a:pt x="13580" y="3504"/>
                  </a:lnTo>
                  <a:lnTo>
                    <a:pt x="13704" y="3989"/>
                  </a:lnTo>
                  <a:lnTo>
                    <a:pt x="14198" y="4367"/>
                  </a:lnTo>
                  <a:lnTo>
                    <a:pt x="14321" y="4960"/>
                  </a:lnTo>
                  <a:lnTo>
                    <a:pt x="14444" y="5499"/>
                  </a:lnTo>
                  <a:lnTo>
                    <a:pt x="14815" y="5984"/>
                  </a:lnTo>
                  <a:lnTo>
                    <a:pt x="15062" y="6523"/>
                  </a:lnTo>
                  <a:lnTo>
                    <a:pt x="15185" y="7008"/>
                  </a:lnTo>
                  <a:lnTo>
                    <a:pt x="15309" y="7601"/>
                  </a:lnTo>
                  <a:lnTo>
                    <a:pt x="15679" y="8194"/>
                  </a:lnTo>
                  <a:lnTo>
                    <a:pt x="15926" y="8787"/>
                  </a:lnTo>
                  <a:lnTo>
                    <a:pt x="16173" y="9326"/>
                  </a:lnTo>
                  <a:lnTo>
                    <a:pt x="16296" y="9919"/>
                  </a:lnTo>
                  <a:lnTo>
                    <a:pt x="16543" y="10458"/>
                  </a:lnTo>
                  <a:lnTo>
                    <a:pt x="16667" y="10997"/>
                  </a:lnTo>
                  <a:lnTo>
                    <a:pt x="16914" y="11590"/>
                  </a:lnTo>
                  <a:lnTo>
                    <a:pt x="17160" y="12183"/>
                  </a:lnTo>
                  <a:lnTo>
                    <a:pt x="17407" y="12776"/>
                  </a:lnTo>
                  <a:lnTo>
                    <a:pt x="17407" y="13261"/>
                  </a:lnTo>
                  <a:lnTo>
                    <a:pt x="17654" y="13854"/>
                  </a:lnTo>
                  <a:lnTo>
                    <a:pt x="17901" y="14340"/>
                  </a:lnTo>
                  <a:lnTo>
                    <a:pt x="18148" y="14933"/>
                  </a:lnTo>
                  <a:lnTo>
                    <a:pt x="18395" y="15472"/>
                  </a:lnTo>
                  <a:lnTo>
                    <a:pt x="18395" y="15903"/>
                  </a:lnTo>
                  <a:lnTo>
                    <a:pt x="18642" y="16442"/>
                  </a:lnTo>
                  <a:lnTo>
                    <a:pt x="18889" y="16873"/>
                  </a:lnTo>
                  <a:lnTo>
                    <a:pt x="19012" y="17305"/>
                  </a:lnTo>
                  <a:lnTo>
                    <a:pt x="19136" y="17736"/>
                  </a:lnTo>
                  <a:lnTo>
                    <a:pt x="19259" y="18113"/>
                  </a:lnTo>
                  <a:lnTo>
                    <a:pt x="19506" y="18544"/>
                  </a:lnTo>
                  <a:lnTo>
                    <a:pt x="19506" y="18976"/>
                  </a:lnTo>
                  <a:lnTo>
                    <a:pt x="19630" y="19191"/>
                  </a:lnTo>
                  <a:lnTo>
                    <a:pt x="19753" y="19461"/>
                  </a:lnTo>
                  <a:lnTo>
                    <a:pt x="19877" y="19730"/>
                  </a:lnTo>
                  <a:lnTo>
                    <a:pt x="19877" y="19946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29159" name="Group 135">
            <a:extLst>
              <a:ext uri="{FF2B5EF4-FFF2-40B4-BE49-F238E27FC236}">
                <a16:creationId xmlns:a16="http://schemas.microsoft.com/office/drawing/2014/main" id="{0CF34B3F-8C76-F843-22C5-2F888162581E}"/>
              </a:ext>
            </a:extLst>
          </p:cNvPr>
          <p:cNvGrpSpPr>
            <a:grpSpLocks/>
          </p:cNvGrpSpPr>
          <p:nvPr/>
        </p:nvGrpSpPr>
        <p:grpSpPr bwMode="auto">
          <a:xfrm>
            <a:off x="2771775" y="1341438"/>
            <a:ext cx="2190750" cy="647700"/>
            <a:chOff x="1746" y="1888"/>
            <a:chExt cx="1380" cy="408"/>
          </a:xfrm>
        </p:grpSpPr>
        <p:sp>
          <p:nvSpPr>
            <p:cNvPr id="40976" name="Text Box 7">
              <a:extLst>
                <a:ext uri="{FF2B5EF4-FFF2-40B4-BE49-F238E27FC236}">
                  <a16:creationId xmlns:a16="http://schemas.microsoft.com/office/drawing/2014/main" id="{45BF3535-F48D-39C1-7AFB-3B11E7862B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008"/>
              <a:ext cx="13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华文中宋" panose="02010600040101010101" pitchFamily="2" charset="-122"/>
                </a:rPr>
                <a:t>低频振动        </a:t>
              </a:r>
            </a:p>
          </p:txBody>
        </p:sp>
        <p:sp>
          <p:nvSpPr>
            <p:cNvPr id="40977" name="Line 133">
              <a:extLst>
                <a:ext uri="{FF2B5EF4-FFF2-40B4-BE49-F238E27FC236}">
                  <a16:creationId xmlns:a16="http://schemas.microsoft.com/office/drawing/2014/main" id="{D33CE2DC-53E6-39B1-47CA-C48BB3137F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0" y="1888"/>
              <a:ext cx="0" cy="1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9160" name="Group 136">
            <a:extLst>
              <a:ext uri="{FF2B5EF4-FFF2-40B4-BE49-F238E27FC236}">
                <a16:creationId xmlns:a16="http://schemas.microsoft.com/office/drawing/2014/main" id="{7EACECD0-B2AA-9FAC-CE97-830C197692C1}"/>
              </a:ext>
            </a:extLst>
          </p:cNvPr>
          <p:cNvGrpSpPr>
            <a:grpSpLocks/>
          </p:cNvGrpSpPr>
          <p:nvPr/>
        </p:nvGrpSpPr>
        <p:grpSpPr bwMode="auto">
          <a:xfrm>
            <a:off x="5724525" y="1341438"/>
            <a:ext cx="1993900" cy="647700"/>
            <a:chOff x="3606" y="1888"/>
            <a:chExt cx="1256" cy="408"/>
          </a:xfrm>
        </p:grpSpPr>
        <p:sp>
          <p:nvSpPr>
            <p:cNvPr id="40974" name="Text Box 8">
              <a:extLst>
                <a:ext uri="{FF2B5EF4-FFF2-40B4-BE49-F238E27FC236}">
                  <a16:creationId xmlns:a16="http://schemas.microsoft.com/office/drawing/2014/main" id="{819807ED-1F00-5CED-0CC5-ECF83A821E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2008"/>
              <a:ext cx="12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accent2"/>
                  </a:solidFill>
                  <a:latin typeface="华文中宋" panose="02010600040101010101" pitchFamily="2" charset="-122"/>
                </a:rPr>
                <a:t>高频振动      </a:t>
              </a:r>
            </a:p>
          </p:txBody>
        </p:sp>
        <p:sp>
          <p:nvSpPr>
            <p:cNvPr id="40975" name="Line 134">
              <a:extLst>
                <a:ext uri="{FF2B5EF4-FFF2-40B4-BE49-F238E27FC236}">
                  <a16:creationId xmlns:a16="http://schemas.microsoft.com/office/drawing/2014/main" id="{27624601-E45E-8121-A71A-C77DA03AA3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1888"/>
              <a:ext cx="0" cy="18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29161" name="Object 137">
            <a:extLst>
              <a:ext uri="{FF2B5EF4-FFF2-40B4-BE49-F238E27FC236}">
                <a16:creationId xmlns:a16="http://schemas.microsoft.com/office/drawing/2014/main" id="{B114DA23-AF48-06DE-8695-95B0849051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7500" y="2139950"/>
          <a:ext cx="334486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857588" imgH="295275" progId="Equation.3">
                  <p:embed/>
                </p:oleObj>
              </mc:Choice>
              <mc:Fallback>
                <p:oleObj name="公式" r:id="rId8" imgW="2857588" imgH="295275" progId="Equation.3">
                  <p:embed/>
                  <p:pic>
                    <p:nvPicPr>
                      <p:cNvPr id="0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0" y="2139950"/>
                        <a:ext cx="3344863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29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29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2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2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2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2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29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29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29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0"/>
                                        <p:tgtEl>
                                          <p:spTgt spid="129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0"/>
                                        <p:tgtEl>
                                          <p:spTgt spid="129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0"/>
                                        <p:tgtEl>
                                          <p:spTgt spid="129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5" grpId="0"/>
      <p:bldP spid="129037" grpId="0"/>
      <p:bldP spid="129040" grpId="0"/>
      <p:bldP spid="12904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4" name="Text Box 6">
            <a:extLst>
              <a:ext uri="{FF2B5EF4-FFF2-40B4-BE49-F238E27FC236}">
                <a16:creationId xmlns:a16="http://schemas.microsoft.com/office/drawing/2014/main" id="{2ECEA4E9-342C-0C1B-65E9-6406C186F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860800"/>
            <a:ext cx="741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100">
                <a:latin typeface="华文中宋" panose="02010600040101010101" pitchFamily="2" charset="-122"/>
              </a:rPr>
              <a:t>★</a:t>
            </a:r>
            <a:r>
              <a:rPr lang="en-US" altLang="zh-CN">
                <a:solidFill>
                  <a:srgbClr val="000080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拍频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 </a:t>
            </a:r>
            <a:r>
              <a:rPr lang="en-US" altLang="zh-CN" sz="2800">
                <a:solidFill>
                  <a:srgbClr val="000066"/>
                </a:solidFill>
                <a:latin typeface="华文中宋" panose="02010600040101010101" pitchFamily="2" charset="-122"/>
              </a:rPr>
              <a:t>—</a:t>
            </a:r>
            <a:r>
              <a:rPr lang="en-US" altLang="zh-CN">
                <a:solidFill>
                  <a:srgbClr val="000080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solidFill>
                  <a:srgbClr val="800000"/>
                </a:solidFill>
                <a:latin typeface="华文中宋" panose="02010600040101010101" pitchFamily="2" charset="-122"/>
              </a:rPr>
              <a:t>单位时间内合振幅极大出现的次数。</a:t>
            </a:r>
            <a:r>
              <a:rPr lang="zh-CN" altLang="en-US">
                <a:solidFill>
                  <a:srgbClr val="800000"/>
                </a:solidFill>
                <a:latin typeface="华文中宋" panose="02010600040101010101" pitchFamily="2" charset="-122"/>
              </a:rPr>
              <a:t>         </a:t>
            </a:r>
          </a:p>
        </p:txBody>
      </p:sp>
      <p:graphicFrame>
        <p:nvGraphicFramePr>
          <p:cNvPr id="130055" name="Object 7">
            <a:extLst>
              <a:ext uri="{FF2B5EF4-FFF2-40B4-BE49-F238E27FC236}">
                <a16:creationId xmlns:a16="http://schemas.microsoft.com/office/drawing/2014/main" id="{7D87E824-9660-D957-B47C-7AE17D2CA5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4437063"/>
          <a:ext cx="244792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95532" imgH="352425" progId="Equation.3">
                  <p:embed/>
                </p:oleObj>
              </mc:Choice>
              <mc:Fallback>
                <p:oleObj name="公式" r:id="rId2" imgW="2295532" imgH="35242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4437063"/>
                        <a:ext cx="2447925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0197" name="Group 149">
            <a:extLst>
              <a:ext uri="{FF2B5EF4-FFF2-40B4-BE49-F238E27FC236}">
                <a16:creationId xmlns:a16="http://schemas.microsoft.com/office/drawing/2014/main" id="{0171FDBC-FF49-22A2-22E0-C43401728DBE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1341438"/>
            <a:ext cx="7359650" cy="1403350"/>
            <a:chOff x="567" y="845"/>
            <a:chExt cx="4636" cy="884"/>
          </a:xfrm>
        </p:grpSpPr>
        <p:sp>
          <p:nvSpPr>
            <p:cNvPr id="42087" name="AutoShape 49">
              <a:extLst>
                <a:ext uri="{FF2B5EF4-FFF2-40B4-BE49-F238E27FC236}">
                  <a16:creationId xmlns:a16="http://schemas.microsoft.com/office/drawing/2014/main" id="{52D675E8-AF73-C7A5-7B69-A2A5D4BE9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" y="1242"/>
              <a:ext cx="120" cy="14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96"/>
                  </a:moveTo>
                  <a:lnTo>
                    <a:pt x="199" y="18457"/>
                  </a:lnTo>
                  <a:lnTo>
                    <a:pt x="498" y="17872"/>
                  </a:lnTo>
                  <a:lnTo>
                    <a:pt x="697" y="17287"/>
                  </a:lnTo>
                  <a:lnTo>
                    <a:pt x="697" y="16649"/>
                  </a:lnTo>
                  <a:lnTo>
                    <a:pt x="995" y="16064"/>
                  </a:lnTo>
                  <a:lnTo>
                    <a:pt x="1294" y="15479"/>
                  </a:lnTo>
                  <a:lnTo>
                    <a:pt x="1493" y="14894"/>
                  </a:lnTo>
                  <a:lnTo>
                    <a:pt x="1891" y="14255"/>
                  </a:lnTo>
                  <a:lnTo>
                    <a:pt x="2090" y="13670"/>
                  </a:lnTo>
                  <a:lnTo>
                    <a:pt x="2488" y="13138"/>
                  </a:lnTo>
                  <a:lnTo>
                    <a:pt x="2488" y="12553"/>
                  </a:lnTo>
                  <a:lnTo>
                    <a:pt x="2587" y="12021"/>
                  </a:lnTo>
                  <a:lnTo>
                    <a:pt x="2886" y="11489"/>
                  </a:lnTo>
                  <a:lnTo>
                    <a:pt x="2985" y="10904"/>
                  </a:lnTo>
                  <a:lnTo>
                    <a:pt x="3284" y="10372"/>
                  </a:lnTo>
                  <a:lnTo>
                    <a:pt x="3284" y="9840"/>
                  </a:lnTo>
                  <a:lnTo>
                    <a:pt x="3682" y="9255"/>
                  </a:lnTo>
                  <a:lnTo>
                    <a:pt x="4080" y="8723"/>
                  </a:lnTo>
                  <a:lnTo>
                    <a:pt x="4279" y="8191"/>
                  </a:lnTo>
                  <a:lnTo>
                    <a:pt x="4378" y="7766"/>
                  </a:lnTo>
                  <a:lnTo>
                    <a:pt x="4677" y="7234"/>
                  </a:lnTo>
                  <a:lnTo>
                    <a:pt x="4876" y="6755"/>
                  </a:lnTo>
                  <a:lnTo>
                    <a:pt x="5075" y="6330"/>
                  </a:lnTo>
                  <a:lnTo>
                    <a:pt x="5373" y="5904"/>
                  </a:lnTo>
                  <a:lnTo>
                    <a:pt x="5473" y="5426"/>
                  </a:lnTo>
                  <a:lnTo>
                    <a:pt x="5871" y="5000"/>
                  </a:lnTo>
                  <a:lnTo>
                    <a:pt x="5871" y="4521"/>
                  </a:lnTo>
                  <a:lnTo>
                    <a:pt x="6368" y="4149"/>
                  </a:lnTo>
                  <a:lnTo>
                    <a:pt x="6567" y="3777"/>
                  </a:lnTo>
                  <a:lnTo>
                    <a:pt x="6567" y="3404"/>
                  </a:lnTo>
                  <a:lnTo>
                    <a:pt x="7065" y="3032"/>
                  </a:lnTo>
                  <a:lnTo>
                    <a:pt x="7065" y="2713"/>
                  </a:lnTo>
                  <a:lnTo>
                    <a:pt x="7463" y="2447"/>
                  </a:lnTo>
                  <a:lnTo>
                    <a:pt x="7562" y="2128"/>
                  </a:lnTo>
                  <a:lnTo>
                    <a:pt x="7562" y="1809"/>
                  </a:lnTo>
                  <a:lnTo>
                    <a:pt x="7861" y="1543"/>
                  </a:lnTo>
                  <a:lnTo>
                    <a:pt x="7960" y="1330"/>
                  </a:lnTo>
                  <a:lnTo>
                    <a:pt x="8458" y="1064"/>
                  </a:lnTo>
                  <a:lnTo>
                    <a:pt x="8458" y="851"/>
                  </a:lnTo>
                  <a:lnTo>
                    <a:pt x="8856" y="691"/>
                  </a:lnTo>
                  <a:lnTo>
                    <a:pt x="8955" y="479"/>
                  </a:lnTo>
                  <a:lnTo>
                    <a:pt x="9154" y="372"/>
                  </a:lnTo>
                  <a:lnTo>
                    <a:pt x="9353" y="266"/>
                  </a:lnTo>
                  <a:lnTo>
                    <a:pt x="9353" y="106"/>
                  </a:lnTo>
                  <a:lnTo>
                    <a:pt x="9751" y="106"/>
                  </a:lnTo>
                  <a:lnTo>
                    <a:pt x="10149" y="53"/>
                  </a:lnTo>
                  <a:lnTo>
                    <a:pt x="10348" y="0"/>
                  </a:lnTo>
                  <a:lnTo>
                    <a:pt x="10647" y="53"/>
                  </a:lnTo>
                  <a:lnTo>
                    <a:pt x="10746" y="53"/>
                  </a:lnTo>
                  <a:lnTo>
                    <a:pt x="10846" y="106"/>
                  </a:lnTo>
                  <a:lnTo>
                    <a:pt x="11045" y="213"/>
                  </a:lnTo>
                  <a:lnTo>
                    <a:pt x="11443" y="319"/>
                  </a:lnTo>
                  <a:lnTo>
                    <a:pt x="11542" y="479"/>
                  </a:lnTo>
                  <a:lnTo>
                    <a:pt x="12040" y="745"/>
                  </a:lnTo>
                  <a:lnTo>
                    <a:pt x="12139" y="1011"/>
                  </a:lnTo>
                  <a:lnTo>
                    <a:pt x="12438" y="1277"/>
                  </a:lnTo>
                  <a:lnTo>
                    <a:pt x="12438" y="1543"/>
                  </a:lnTo>
                  <a:lnTo>
                    <a:pt x="12537" y="1915"/>
                  </a:lnTo>
                  <a:lnTo>
                    <a:pt x="12935" y="2287"/>
                  </a:lnTo>
                  <a:lnTo>
                    <a:pt x="12935" y="2713"/>
                  </a:lnTo>
                  <a:lnTo>
                    <a:pt x="13433" y="3138"/>
                  </a:lnTo>
                  <a:lnTo>
                    <a:pt x="13433" y="3564"/>
                  </a:lnTo>
                  <a:lnTo>
                    <a:pt x="13632" y="3989"/>
                  </a:lnTo>
                  <a:lnTo>
                    <a:pt x="14129" y="4415"/>
                  </a:lnTo>
                  <a:lnTo>
                    <a:pt x="14229" y="4947"/>
                  </a:lnTo>
                  <a:lnTo>
                    <a:pt x="14527" y="5479"/>
                  </a:lnTo>
                  <a:lnTo>
                    <a:pt x="14826" y="5957"/>
                  </a:lnTo>
                  <a:lnTo>
                    <a:pt x="15025" y="6489"/>
                  </a:lnTo>
                  <a:lnTo>
                    <a:pt x="15124" y="7074"/>
                  </a:lnTo>
                  <a:lnTo>
                    <a:pt x="15323" y="7606"/>
                  </a:lnTo>
                  <a:lnTo>
                    <a:pt x="15622" y="8191"/>
                  </a:lnTo>
                  <a:lnTo>
                    <a:pt x="15821" y="8777"/>
                  </a:lnTo>
                  <a:lnTo>
                    <a:pt x="16020" y="9362"/>
                  </a:lnTo>
                  <a:lnTo>
                    <a:pt x="16318" y="9894"/>
                  </a:lnTo>
                  <a:lnTo>
                    <a:pt x="16716" y="10426"/>
                  </a:lnTo>
                  <a:lnTo>
                    <a:pt x="16716" y="11011"/>
                  </a:lnTo>
                  <a:lnTo>
                    <a:pt x="17015" y="11649"/>
                  </a:lnTo>
                  <a:lnTo>
                    <a:pt x="17214" y="12181"/>
                  </a:lnTo>
                  <a:lnTo>
                    <a:pt x="17413" y="12766"/>
                  </a:lnTo>
                  <a:lnTo>
                    <a:pt x="17512" y="13298"/>
                  </a:lnTo>
                  <a:lnTo>
                    <a:pt x="17512" y="13830"/>
                  </a:lnTo>
                  <a:lnTo>
                    <a:pt x="17910" y="14415"/>
                  </a:lnTo>
                  <a:lnTo>
                    <a:pt x="17910" y="14947"/>
                  </a:lnTo>
                  <a:lnTo>
                    <a:pt x="18408" y="15479"/>
                  </a:lnTo>
                  <a:lnTo>
                    <a:pt x="18507" y="15904"/>
                  </a:lnTo>
                  <a:lnTo>
                    <a:pt x="18706" y="16436"/>
                  </a:lnTo>
                  <a:lnTo>
                    <a:pt x="18905" y="16862"/>
                  </a:lnTo>
                  <a:lnTo>
                    <a:pt x="19005" y="17340"/>
                  </a:lnTo>
                  <a:lnTo>
                    <a:pt x="19303" y="17713"/>
                  </a:lnTo>
                  <a:lnTo>
                    <a:pt x="19303" y="18138"/>
                  </a:lnTo>
                  <a:lnTo>
                    <a:pt x="19403" y="18511"/>
                  </a:lnTo>
                  <a:lnTo>
                    <a:pt x="19502" y="18883"/>
                  </a:lnTo>
                  <a:lnTo>
                    <a:pt x="19602" y="19149"/>
                  </a:lnTo>
                  <a:lnTo>
                    <a:pt x="19801" y="19521"/>
                  </a:lnTo>
                  <a:lnTo>
                    <a:pt x="19900" y="19734"/>
                  </a:lnTo>
                  <a:lnTo>
                    <a:pt x="19900" y="19947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88" name="AutoShape 50">
              <a:extLst>
                <a:ext uri="{FF2B5EF4-FFF2-40B4-BE49-F238E27FC236}">
                  <a16:creationId xmlns:a16="http://schemas.microsoft.com/office/drawing/2014/main" id="{8867F605-98E3-0078-B569-1C3142E4B2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1378"/>
              <a:ext cx="126" cy="1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89" y="661"/>
                  </a:lnTo>
                  <a:lnTo>
                    <a:pt x="377" y="1212"/>
                  </a:lnTo>
                  <a:lnTo>
                    <a:pt x="566" y="1873"/>
                  </a:lnTo>
                  <a:lnTo>
                    <a:pt x="660" y="2534"/>
                  </a:lnTo>
                  <a:lnTo>
                    <a:pt x="943" y="3140"/>
                  </a:lnTo>
                  <a:lnTo>
                    <a:pt x="1226" y="3691"/>
                  </a:lnTo>
                  <a:lnTo>
                    <a:pt x="1226" y="4298"/>
                  </a:lnTo>
                  <a:lnTo>
                    <a:pt x="1509" y="4959"/>
                  </a:lnTo>
                  <a:lnTo>
                    <a:pt x="1604" y="5565"/>
                  </a:lnTo>
                  <a:lnTo>
                    <a:pt x="2264" y="6171"/>
                  </a:lnTo>
                  <a:lnTo>
                    <a:pt x="2453" y="6777"/>
                  </a:lnTo>
                  <a:lnTo>
                    <a:pt x="2547" y="7328"/>
                  </a:lnTo>
                  <a:lnTo>
                    <a:pt x="2642" y="7879"/>
                  </a:lnTo>
                  <a:lnTo>
                    <a:pt x="2830" y="8485"/>
                  </a:lnTo>
                  <a:lnTo>
                    <a:pt x="3019" y="9036"/>
                  </a:lnTo>
                  <a:lnTo>
                    <a:pt x="3113" y="9642"/>
                  </a:lnTo>
                  <a:lnTo>
                    <a:pt x="3113" y="10138"/>
                  </a:lnTo>
                  <a:lnTo>
                    <a:pt x="3491" y="10689"/>
                  </a:lnTo>
                  <a:lnTo>
                    <a:pt x="3679" y="11185"/>
                  </a:lnTo>
                  <a:lnTo>
                    <a:pt x="3962" y="11736"/>
                  </a:lnTo>
                  <a:lnTo>
                    <a:pt x="4151" y="12176"/>
                  </a:lnTo>
                  <a:lnTo>
                    <a:pt x="4340" y="12727"/>
                  </a:lnTo>
                  <a:lnTo>
                    <a:pt x="4434" y="13223"/>
                  </a:lnTo>
                  <a:lnTo>
                    <a:pt x="4623" y="13664"/>
                  </a:lnTo>
                  <a:lnTo>
                    <a:pt x="4906" y="14105"/>
                  </a:lnTo>
                  <a:lnTo>
                    <a:pt x="5189" y="14545"/>
                  </a:lnTo>
                  <a:lnTo>
                    <a:pt x="5472" y="14986"/>
                  </a:lnTo>
                  <a:lnTo>
                    <a:pt x="5660" y="15482"/>
                  </a:lnTo>
                  <a:lnTo>
                    <a:pt x="5755" y="15868"/>
                  </a:lnTo>
                  <a:lnTo>
                    <a:pt x="6132" y="16198"/>
                  </a:lnTo>
                  <a:lnTo>
                    <a:pt x="6226" y="16584"/>
                  </a:lnTo>
                  <a:lnTo>
                    <a:pt x="6509" y="16970"/>
                  </a:lnTo>
                  <a:lnTo>
                    <a:pt x="6792" y="17245"/>
                  </a:lnTo>
                  <a:lnTo>
                    <a:pt x="6887" y="17631"/>
                  </a:lnTo>
                  <a:lnTo>
                    <a:pt x="7075" y="17906"/>
                  </a:lnTo>
                  <a:lnTo>
                    <a:pt x="7170" y="18182"/>
                  </a:lnTo>
                  <a:lnTo>
                    <a:pt x="7547" y="18457"/>
                  </a:lnTo>
                  <a:lnTo>
                    <a:pt x="7547" y="18733"/>
                  </a:lnTo>
                  <a:lnTo>
                    <a:pt x="7642" y="18953"/>
                  </a:lnTo>
                  <a:lnTo>
                    <a:pt x="7830" y="19118"/>
                  </a:lnTo>
                  <a:lnTo>
                    <a:pt x="8113" y="19339"/>
                  </a:lnTo>
                  <a:lnTo>
                    <a:pt x="8585" y="19504"/>
                  </a:lnTo>
                  <a:lnTo>
                    <a:pt x="8679" y="19669"/>
                  </a:lnTo>
                  <a:lnTo>
                    <a:pt x="8962" y="19725"/>
                  </a:lnTo>
                  <a:lnTo>
                    <a:pt x="9057" y="19890"/>
                  </a:lnTo>
                  <a:lnTo>
                    <a:pt x="9245" y="19890"/>
                  </a:lnTo>
                  <a:lnTo>
                    <a:pt x="9434" y="19945"/>
                  </a:lnTo>
                  <a:lnTo>
                    <a:pt x="9623" y="19945"/>
                  </a:lnTo>
                  <a:lnTo>
                    <a:pt x="9811" y="19945"/>
                  </a:lnTo>
                  <a:lnTo>
                    <a:pt x="10189" y="19890"/>
                  </a:lnTo>
                  <a:lnTo>
                    <a:pt x="10377" y="19890"/>
                  </a:lnTo>
                  <a:lnTo>
                    <a:pt x="10566" y="19725"/>
                  </a:lnTo>
                  <a:lnTo>
                    <a:pt x="10755" y="19504"/>
                  </a:lnTo>
                  <a:lnTo>
                    <a:pt x="10943" y="19339"/>
                  </a:lnTo>
                  <a:lnTo>
                    <a:pt x="11321" y="19118"/>
                  </a:lnTo>
                  <a:lnTo>
                    <a:pt x="11321" y="18843"/>
                  </a:lnTo>
                  <a:lnTo>
                    <a:pt x="11887" y="18567"/>
                  </a:lnTo>
                  <a:lnTo>
                    <a:pt x="12170" y="18237"/>
                  </a:lnTo>
                  <a:lnTo>
                    <a:pt x="12358" y="17851"/>
                  </a:lnTo>
                  <a:lnTo>
                    <a:pt x="12547" y="17466"/>
                  </a:lnTo>
                  <a:lnTo>
                    <a:pt x="12547" y="17190"/>
                  </a:lnTo>
                  <a:lnTo>
                    <a:pt x="12925" y="16749"/>
                  </a:lnTo>
                  <a:lnTo>
                    <a:pt x="13113" y="16309"/>
                  </a:lnTo>
                  <a:lnTo>
                    <a:pt x="13208" y="15813"/>
                  </a:lnTo>
                  <a:lnTo>
                    <a:pt x="13585" y="15317"/>
                  </a:lnTo>
                  <a:lnTo>
                    <a:pt x="13868" y="14876"/>
                  </a:lnTo>
                  <a:lnTo>
                    <a:pt x="14057" y="14325"/>
                  </a:lnTo>
                  <a:lnTo>
                    <a:pt x="14340" y="13829"/>
                  </a:lnTo>
                  <a:lnTo>
                    <a:pt x="14717" y="13278"/>
                  </a:lnTo>
                  <a:lnTo>
                    <a:pt x="14811" y="12837"/>
                  </a:lnTo>
                  <a:lnTo>
                    <a:pt x="15283" y="12176"/>
                  </a:lnTo>
                  <a:lnTo>
                    <a:pt x="15566" y="11680"/>
                  </a:lnTo>
                  <a:lnTo>
                    <a:pt x="15660" y="11129"/>
                  </a:lnTo>
                  <a:lnTo>
                    <a:pt x="15849" y="10579"/>
                  </a:lnTo>
                  <a:lnTo>
                    <a:pt x="16132" y="10028"/>
                  </a:lnTo>
                  <a:lnTo>
                    <a:pt x="16415" y="9477"/>
                  </a:lnTo>
                  <a:lnTo>
                    <a:pt x="16792" y="8871"/>
                  </a:lnTo>
                  <a:lnTo>
                    <a:pt x="16887" y="8375"/>
                  </a:lnTo>
                  <a:lnTo>
                    <a:pt x="16981" y="7824"/>
                  </a:lnTo>
                  <a:lnTo>
                    <a:pt x="17170" y="7273"/>
                  </a:lnTo>
                  <a:lnTo>
                    <a:pt x="17358" y="6777"/>
                  </a:lnTo>
                  <a:lnTo>
                    <a:pt x="17547" y="6226"/>
                  </a:lnTo>
                  <a:lnTo>
                    <a:pt x="17547" y="5730"/>
                  </a:lnTo>
                  <a:lnTo>
                    <a:pt x="18113" y="5234"/>
                  </a:lnTo>
                  <a:lnTo>
                    <a:pt x="18396" y="4738"/>
                  </a:lnTo>
                  <a:lnTo>
                    <a:pt x="18491" y="4298"/>
                  </a:lnTo>
                  <a:lnTo>
                    <a:pt x="18774" y="3857"/>
                  </a:lnTo>
                  <a:lnTo>
                    <a:pt x="18962" y="3416"/>
                  </a:lnTo>
                  <a:lnTo>
                    <a:pt x="19057" y="3030"/>
                  </a:lnTo>
                  <a:lnTo>
                    <a:pt x="19340" y="2590"/>
                  </a:lnTo>
                  <a:lnTo>
                    <a:pt x="19340" y="2204"/>
                  </a:lnTo>
                  <a:lnTo>
                    <a:pt x="19434" y="1928"/>
                  </a:lnTo>
                  <a:lnTo>
                    <a:pt x="19528" y="1598"/>
                  </a:lnTo>
                  <a:lnTo>
                    <a:pt x="19811" y="1377"/>
                  </a:lnTo>
                  <a:lnTo>
                    <a:pt x="19811" y="1047"/>
                  </a:lnTo>
                  <a:lnTo>
                    <a:pt x="19906" y="882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89" name="AutoShape 51">
              <a:extLst>
                <a:ext uri="{FF2B5EF4-FFF2-40B4-BE49-F238E27FC236}">
                  <a16:creationId xmlns:a16="http://schemas.microsoft.com/office/drawing/2014/main" id="{DF625B0E-A1CE-410B-2B8D-7554CB2B4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" y="1245"/>
              <a:ext cx="120" cy="1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71"/>
                  </a:moveTo>
                  <a:lnTo>
                    <a:pt x="199" y="18470"/>
                  </a:lnTo>
                  <a:lnTo>
                    <a:pt x="498" y="17869"/>
                  </a:lnTo>
                  <a:lnTo>
                    <a:pt x="697" y="17268"/>
                  </a:lnTo>
                  <a:lnTo>
                    <a:pt x="697" y="16721"/>
                  </a:lnTo>
                  <a:lnTo>
                    <a:pt x="995" y="16120"/>
                  </a:lnTo>
                  <a:lnTo>
                    <a:pt x="1294" y="15519"/>
                  </a:lnTo>
                  <a:lnTo>
                    <a:pt x="1493" y="14918"/>
                  </a:lnTo>
                  <a:lnTo>
                    <a:pt x="1891" y="14262"/>
                  </a:lnTo>
                  <a:lnTo>
                    <a:pt x="2090" y="13661"/>
                  </a:lnTo>
                  <a:lnTo>
                    <a:pt x="2488" y="13115"/>
                  </a:lnTo>
                  <a:lnTo>
                    <a:pt x="2488" y="12568"/>
                  </a:lnTo>
                  <a:lnTo>
                    <a:pt x="2587" y="12022"/>
                  </a:lnTo>
                  <a:lnTo>
                    <a:pt x="2886" y="11421"/>
                  </a:lnTo>
                  <a:lnTo>
                    <a:pt x="2985" y="10874"/>
                  </a:lnTo>
                  <a:lnTo>
                    <a:pt x="3284" y="10328"/>
                  </a:lnTo>
                  <a:lnTo>
                    <a:pt x="3284" y="9836"/>
                  </a:lnTo>
                  <a:lnTo>
                    <a:pt x="3682" y="9290"/>
                  </a:lnTo>
                  <a:lnTo>
                    <a:pt x="4080" y="8798"/>
                  </a:lnTo>
                  <a:lnTo>
                    <a:pt x="4279" y="8197"/>
                  </a:lnTo>
                  <a:lnTo>
                    <a:pt x="4378" y="7760"/>
                  </a:lnTo>
                  <a:lnTo>
                    <a:pt x="4677" y="7268"/>
                  </a:lnTo>
                  <a:lnTo>
                    <a:pt x="4876" y="6776"/>
                  </a:lnTo>
                  <a:lnTo>
                    <a:pt x="5075" y="6339"/>
                  </a:lnTo>
                  <a:lnTo>
                    <a:pt x="5373" y="5902"/>
                  </a:lnTo>
                  <a:lnTo>
                    <a:pt x="5473" y="5410"/>
                  </a:lnTo>
                  <a:lnTo>
                    <a:pt x="5871" y="5027"/>
                  </a:lnTo>
                  <a:lnTo>
                    <a:pt x="5871" y="4590"/>
                  </a:lnTo>
                  <a:lnTo>
                    <a:pt x="6368" y="4153"/>
                  </a:lnTo>
                  <a:lnTo>
                    <a:pt x="6567" y="3770"/>
                  </a:lnTo>
                  <a:lnTo>
                    <a:pt x="6567" y="3443"/>
                  </a:lnTo>
                  <a:lnTo>
                    <a:pt x="7065" y="3005"/>
                  </a:lnTo>
                  <a:lnTo>
                    <a:pt x="7065" y="2732"/>
                  </a:lnTo>
                  <a:lnTo>
                    <a:pt x="7463" y="2404"/>
                  </a:lnTo>
                  <a:lnTo>
                    <a:pt x="7562" y="2131"/>
                  </a:lnTo>
                  <a:lnTo>
                    <a:pt x="7562" y="1803"/>
                  </a:lnTo>
                  <a:lnTo>
                    <a:pt x="7861" y="1585"/>
                  </a:lnTo>
                  <a:lnTo>
                    <a:pt x="7960" y="1311"/>
                  </a:lnTo>
                  <a:lnTo>
                    <a:pt x="8458" y="1038"/>
                  </a:lnTo>
                  <a:lnTo>
                    <a:pt x="8458" y="874"/>
                  </a:lnTo>
                  <a:lnTo>
                    <a:pt x="8856" y="656"/>
                  </a:lnTo>
                  <a:lnTo>
                    <a:pt x="8955" y="492"/>
                  </a:lnTo>
                  <a:lnTo>
                    <a:pt x="9154" y="383"/>
                  </a:lnTo>
                  <a:lnTo>
                    <a:pt x="9353" y="273"/>
                  </a:lnTo>
                  <a:lnTo>
                    <a:pt x="9353" y="109"/>
                  </a:lnTo>
                  <a:lnTo>
                    <a:pt x="9751" y="109"/>
                  </a:lnTo>
                  <a:lnTo>
                    <a:pt x="10149" y="55"/>
                  </a:lnTo>
                  <a:lnTo>
                    <a:pt x="10348" y="0"/>
                  </a:lnTo>
                  <a:lnTo>
                    <a:pt x="10647" y="55"/>
                  </a:lnTo>
                  <a:lnTo>
                    <a:pt x="10746" y="55"/>
                  </a:lnTo>
                  <a:lnTo>
                    <a:pt x="10846" y="109"/>
                  </a:lnTo>
                  <a:lnTo>
                    <a:pt x="11045" y="219"/>
                  </a:lnTo>
                  <a:lnTo>
                    <a:pt x="11443" y="328"/>
                  </a:lnTo>
                  <a:lnTo>
                    <a:pt x="11542" y="492"/>
                  </a:lnTo>
                  <a:lnTo>
                    <a:pt x="12040" y="710"/>
                  </a:lnTo>
                  <a:lnTo>
                    <a:pt x="12139" y="984"/>
                  </a:lnTo>
                  <a:lnTo>
                    <a:pt x="12438" y="1257"/>
                  </a:lnTo>
                  <a:lnTo>
                    <a:pt x="12438" y="1585"/>
                  </a:lnTo>
                  <a:lnTo>
                    <a:pt x="12537" y="1913"/>
                  </a:lnTo>
                  <a:lnTo>
                    <a:pt x="12935" y="2295"/>
                  </a:lnTo>
                  <a:lnTo>
                    <a:pt x="12935" y="2732"/>
                  </a:lnTo>
                  <a:lnTo>
                    <a:pt x="13433" y="3115"/>
                  </a:lnTo>
                  <a:lnTo>
                    <a:pt x="13433" y="3497"/>
                  </a:lnTo>
                  <a:lnTo>
                    <a:pt x="13632" y="3989"/>
                  </a:lnTo>
                  <a:lnTo>
                    <a:pt x="14129" y="4426"/>
                  </a:lnTo>
                  <a:lnTo>
                    <a:pt x="14229" y="4973"/>
                  </a:lnTo>
                  <a:lnTo>
                    <a:pt x="14527" y="5519"/>
                  </a:lnTo>
                  <a:lnTo>
                    <a:pt x="14826" y="5956"/>
                  </a:lnTo>
                  <a:lnTo>
                    <a:pt x="15025" y="6503"/>
                  </a:lnTo>
                  <a:lnTo>
                    <a:pt x="15124" y="7049"/>
                  </a:lnTo>
                  <a:lnTo>
                    <a:pt x="15323" y="7596"/>
                  </a:lnTo>
                  <a:lnTo>
                    <a:pt x="15622" y="8197"/>
                  </a:lnTo>
                  <a:lnTo>
                    <a:pt x="15821" y="8798"/>
                  </a:lnTo>
                  <a:lnTo>
                    <a:pt x="16020" y="9344"/>
                  </a:lnTo>
                  <a:lnTo>
                    <a:pt x="16318" y="9891"/>
                  </a:lnTo>
                  <a:lnTo>
                    <a:pt x="16716" y="10492"/>
                  </a:lnTo>
                  <a:lnTo>
                    <a:pt x="16716" y="11038"/>
                  </a:lnTo>
                  <a:lnTo>
                    <a:pt x="17015" y="11585"/>
                  </a:lnTo>
                  <a:lnTo>
                    <a:pt x="17214" y="12186"/>
                  </a:lnTo>
                  <a:lnTo>
                    <a:pt x="17413" y="12732"/>
                  </a:lnTo>
                  <a:lnTo>
                    <a:pt x="17512" y="13279"/>
                  </a:lnTo>
                  <a:lnTo>
                    <a:pt x="17512" y="13880"/>
                  </a:lnTo>
                  <a:lnTo>
                    <a:pt x="17910" y="14426"/>
                  </a:lnTo>
                  <a:lnTo>
                    <a:pt x="17910" y="14918"/>
                  </a:lnTo>
                  <a:lnTo>
                    <a:pt x="18408" y="15410"/>
                  </a:lnTo>
                  <a:lnTo>
                    <a:pt x="18507" y="15956"/>
                  </a:lnTo>
                  <a:lnTo>
                    <a:pt x="18706" y="16448"/>
                  </a:lnTo>
                  <a:lnTo>
                    <a:pt x="18905" y="16885"/>
                  </a:lnTo>
                  <a:lnTo>
                    <a:pt x="19005" y="17268"/>
                  </a:lnTo>
                  <a:lnTo>
                    <a:pt x="19303" y="17760"/>
                  </a:lnTo>
                  <a:lnTo>
                    <a:pt x="19303" y="18197"/>
                  </a:lnTo>
                  <a:lnTo>
                    <a:pt x="19403" y="18525"/>
                  </a:lnTo>
                  <a:lnTo>
                    <a:pt x="19502" y="18852"/>
                  </a:lnTo>
                  <a:lnTo>
                    <a:pt x="19602" y="19180"/>
                  </a:lnTo>
                  <a:lnTo>
                    <a:pt x="19801" y="19508"/>
                  </a:lnTo>
                  <a:lnTo>
                    <a:pt x="19900" y="19727"/>
                  </a:lnTo>
                  <a:lnTo>
                    <a:pt x="19900" y="19945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90" name="AutoShape 52">
              <a:extLst>
                <a:ext uri="{FF2B5EF4-FFF2-40B4-BE49-F238E27FC236}">
                  <a16:creationId xmlns:a16="http://schemas.microsoft.com/office/drawing/2014/main" id="{408B82FB-F4C8-4DC9-7B67-DB8A19100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6" y="1377"/>
              <a:ext cx="127" cy="13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89" y="623"/>
                  </a:lnTo>
                  <a:lnTo>
                    <a:pt x="377" y="1246"/>
                  </a:lnTo>
                  <a:lnTo>
                    <a:pt x="566" y="1870"/>
                  </a:lnTo>
                  <a:lnTo>
                    <a:pt x="660" y="2493"/>
                  </a:lnTo>
                  <a:lnTo>
                    <a:pt x="943" y="3116"/>
                  </a:lnTo>
                  <a:lnTo>
                    <a:pt x="1226" y="3739"/>
                  </a:lnTo>
                  <a:lnTo>
                    <a:pt x="1226" y="4363"/>
                  </a:lnTo>
                  <a:lnTo>
                    <a:pt x="1509" y="4986"/>
                  </a:lnTo>
                  <a:lnTo>
                    <a:pt x="1604" y="5552"/>
                  </a:lnTo>
                  <a:lnTo>
                    <a:pt x="2264" y="6176"/>
                  </a:lnTo>
                  <a:lnTo>
                    <a:pt x="2453" y="6742"/>
                  </a:lnTo>
                  <a:lnTo>
                    <a:pt x="2547" y="7309"/>
                  </a:lnTo>
                  <a:lnTo>
                    <a:pt x="2642" y="7875"/>
                  </a:lnTo>
                  <a:lnTo>
                    <a:pt x="2830" y="8499"/>
                  </a:lnTo>
                  <a:lnTo>
                    <a:pt x="3019" y="9008"/>
                  </a:lnTo>
                  <a:lnTo>
                    <a:pt x="3113" y="9575"/>
                  </a:lnTo>
                  <a:lnTo>
                    <a:pt x="3113" y="10142"/>
                  </a:lnTo>
                  <a:lnTo>
                    <a:pt x="3491" y="10652"/>
                  </a:lnTo>
                  <a:lnTo>
                    <a:pt x="3679" y="11218"/>
                  </a:lnTo>
                  <a:lnTo>
                    <a:pt x="3962" y="11728"/>
                  </a:lnTo>
                  <a:lnTo>
                    <a:pt x="4151" y="12181"/>
                  </a:lnTo>
                  <a:lnTo>
                    <a:pt x="4340" y="12691"/>
                  </a:lnTo>
                  <a:lnTo>
                    <a:pt x="4434" y="13258"/>
                  </a:lnTo>
                  <a:lnTo>
                    <a:pt x="4623" y="13654"/>
                  </a:lnTo>
                  <a:lnTo>
                    <a:pt x="4906" y="14108"/>
                  </a:lnTo>
                  <a:lnTo>
                    <a:pt x="5189" y="14561"/>
                  </a:lnTo>
                  <a:lnTo>
                    <a:pt x="5472" y="15014"/>
                  </a:lnTo>
                  <a:lnTo>
                    <a:pt x="5660" y="15411"/>
                  </a:lnTo>
                  <a:lnTo>
                    <a:pt x="5755" y="15807"/>
                  </a:lnTo>
                  <a:lnTo>
                    <a:pt x="6132" y="16204"/>
                  </a:lnTo>
                  <a:lnTo>
                    <a:pt x="6226" y="16601"/>
                  </a:lnTo>
                  <a:lnTo>
                    <a:pt x="6509" y="16941"/>
                  </a:lnTo>
                  <a:lnTo>
                    <a:pt x="6792" y="17337"/>
                  </a:lnTo>
                  <a:lnTo>
                    <a:pt x="6887" y="17564"/>
                  </a:lnTo>
                  <a:lnTo>
                    <a:pt x="7075" y="17960"/>
                  </a:lnTo>
                  <a:lnTo>
                    <a:pt x="7170" y="18130"/>
                  </a:lnTo>
                  <a:lnTo>
                    <a:pt x="7547" y="18470"/>
                  </a:lnTo>
                  <a:lnTo>
                    <a:pt x="7547" y="18754"/>
                  </a:lnTo>
                  <a:lnTo>
                    <a:pt x="7642" y="18924"/>
                  </a:lnTo>
                  <a:lnTo>
                    <a:pt x="7830" y="19150"/>
                  </a:lnTo>
                  <a:lnTo>
                    <a:pt x="8113" y="19320"/>
                  </a:lnTo>
                  <a:lnTo>
                    <a:pt x="8585" y="19490"/>
                  </a:lnTo>
                  <a:lnTo>
                    <a:pt x="8679" y="19660"/>
                  </a:lnTo>
                  <a:lnTo>
                    <a:pt x="8962" y="19717"/>
                  </a:lnTo>
                  <a:lnTo>
                    <a:pt x="9057" y="19887"/>
                  </a:lnTo>
                  <a:lnTo>
                    <a:pt x="9245" y="19887"/>
                  </a:lnTo>
                  <a:lnTo>
                    <a:pt x="9434" y="19943"/>
                  </a:lnTo>
                  <a:lnTo>
                    <a:pt x="9623" y="19943"/>
                  </a:lnTo>
                  <a:lnTo>
                    <a:pt x="9811" y="19943"/>
                  </a:lnTo>
                  <a:lnTo>
                    <a:pt x="10189" y="19887"/>
                  </a:lnTo>
                  <a:lnTo>
                    <a:pt x="10377" y="19887"/>
                  </a:lnTo>
                  <a:lnTo>
                    <a:pt x="10566" y="19717"/>
                  </a:lnTo>
                  <a:lnTo>
                    <a:pt x="10755" y="19490"/>
                  </a:lnTo>
                  <a:lnTo>
                    <a:pt x="10943" y="19320"/>
                  </a:lnTo>
                  <a:lnTo>
                    <a:pt x="11321" y="19093"/>
                  </a:lnTo>
                  <a:lnTo>
                    <a:pt x="11321" y="18810"/>
                  </a:lnTo>
                  <a:lnTo>
                    <a:pt x="11887" y="18527"/>
                  </a:lnTo>
                  <a:lnTo>
                    <a:pt x="12170" y="18244"/>
                  </a:lnTo>
                  <a:lnTo>
                    <a:pt x="12358" y="17960"/>
                  </a:lnTo>
                  <a:lnTo>
                    <a:pt x="12547" y="17564"/>
                  </a:lnTo>
                  <a:lnTo>
                    <a:pt x="12547" y="17167"/>
                  </a:lnTo>
                  <a:lnTo>
                    <a:pt x="12925" y="16714"/>
                  </a:lnTo>
                  <a:lnTo>
                    <a:pt x="13113" y="16261"/>
                  </a:lnTo>
                  <a:lnTo>
                    <a:pt x="13208" y="15807"/>
                  </a:lnTo>
                  <a:lnTo>
                    <a:pt x="13585" y="15411"/>
                  </a:lnTo>
                  <a:lnTo>
                    <a:pt x="13868" y="14844"/>
                  </a:lnTo>
                  <a:lnTo>
                    <a:pt x="14057" y="14334"/>
                  </a:lnTo>
                  <a:lnTo>
                    <a:pt x="14340" y="13824"/>
                  </a:lnTo>
                  <a:lnTo>
                    <a:pt x="14717" y="13314"/>
                  </a:lnTo>
                  <a:lnTo>
                    <a:pt x="14811" y="12805"/>
                  </a:lnTo>
                  <a:lnTo>
                    <a:pt x="15283" y="12181"/>
                  </a:lnTo>
                  <a:lnTo>
                    <a:pt x="15566" y="11671"/>
                  </a:lnTo>
                  <a:lnTo>
                    <a:pt x="15660" y="11105"/>
                  </a:lnTo>
                  <a:lnTo>
                    <a:pt x="15849" y="10538"/>
                  </a:lnTo>
                  <a:lnTo>
                    <a:pt x="16132" y="10028"/>
                  </a:lnTo>
                  <a:lnTo>
                    <a:pt x="16415" y="9462"/>
                  </a:lnTo>
                  <a:lnTo>
                    <a:pt x="16792" y="8895"/>
                  </a:lnTo>
                  <a:lnTo>
                    <a:pt x="16887" y="8385"/>
                  </a:lnTo>
                  <a:lnTo>
                    <a:pt x="16981" y="7819"/>
                  </a:lnTo>
                  <a:lnTo>
                    <a:pt x="17170" y="7309"/>
                  </a:lnTo>
                  <a:lnTo>
                    <a:pt x="17358" y="6742"/>
                  </a:lnTo>
                  <a:lnTo>
                    <a:pt x="17547" y="6232"/>
                  </a:lnTo>
                  <a:lnTo>
                    <a:pt x="17547" y="5722"/>
                  </a:lnTo>
                  <a:lnTo>
                    <a:pt x="18113" y="5212"/>
                  </a:lnTo>
                  <a:lnTo>
                    <a:pt x="18396" y="4759"/>
                  </a:lnTo>
                  <a:lnTo>
                    <a:pt x="18491" y="4249"/>
                  </a:lnTo>
                  <a:lnTo>
                    <a:pt x="18774" y="3853"/>
                  </a:lnTo>
                  <a:lnTo>
                    <a:pt x="18962" y="3399"/>
                  </a:lnTo>
                  <a:lnTo>
                    <a:pt x="19057" y="3003"/>
                  </a:lnTo>
                  <a:lnTo>
                    <a:pt x="19340" y="2606"/>
                  </a:lnTo>
                  <a:lnTo>
                    <a:pt x="19340" y="2266"/>
                  </a:lnTo>
                  <a:lnTo>
                    <a:pt x="19434" y="1870"/>
                  </a:lnTo>
                  <a:lnTo>
                    <a:pt x="19528" y="1643"/>
                  </a:lnTo>
                  <a:lnTo>
                    <a:pt x="19811" y="1360"/>
                  </a:lnTo>
                  <a:lnTo>
                    <a:pt x="19811" y="1076"/>
                  </a:lnTo>
                  <a:lnTo>
                    <a:pt x="19906" y="8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91" name="AutoShape 53">
              <a:extLst>
                <a:ext uri="{FF2B5EF4-FFF2-40B4-BE49-F238E27FC236}">
                  <a16:creationId xmlns:a16="http://schemas.microsoft.com/office/drawing/2014/main" id="{84E45C20-3DCE-D98B-51EB-467C99913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" y="1238"/>
              <a:ext cx="119" cy="14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96"/>
                  </a:moveTo>
                  <a:lnTo>
                    <a:pt x="199" y="18457"/>
                  </a:lnTo>
                  <a:lnTo>
                    <a:pt x="498" y="17872"/>
                  </a:lnTo>
                  <a:lnTo>
                    <a:pt x="697" y="17287"/>
                  </a:lnTo>
                  <a:lnTo>
                    <a:pt x="697" y="16649"/>
                  </a:lnTo>
                  <a:lnTo>
                    <a:pt x="995" y="16064"/>
                  </a:lnTo>
                  <a:lnTo>
                    <a:pt x="1294" y="15479"/>
                  </a:lnTo>
                  <a:lnTo>
                    <a:pt x="1493" y="14894"/>
                  </a:lnTo>
                  <a:lnTo>
                    <a:pt x="1891" y="14255"/>
                  </a:lnTo>
                  <a:lnTo>
                    <a:pt x="2090" y="13670"/>
                  </a:lnTo>
                  <a:lnTo>
                    <a:pt x="2488" y="13138"/>
                  </a:lnTo>
                  <a:lnTo>
                    <a:pt x="2488" y="12553"/>
                  </a:lnTo>
                  <a:lnTo>
                    <a:pt x="2587" y="12021"/>
                  </a:lnTo>
                  <a:lnTo>
                    <a:pt x="2886" y="11489"/>
                  </a:lnTo>
                  <a:lnTo>
                    <a:pt x="2985" y="10904"/>
                  </a:lnTo>
                  <a:lnTo>
                    <a:pt x="3284" y="10372"/>
                  </a:lnTo>
                  <a:lnTo>
                    <a:pt x="3284" y="9840"/>
                  </a:lnTo>
                  <a:lnTo>
                    <a:pt x="3682" y="9255"/>
                  </a:lnTo>
                  <a:lnTo>
                    <a:pt x="4080" y="8723"/>
                  </a:lnTo>
                  <a:lnTo>
                    <a:pt x="4279" y="8191"/>
                  </a:lnTo>
                  <a:lnTo>
                    <a:pt x="4378" y="7766"/>
                  </a:lnTo>
                  <a:lnTo>
                    <a:pt x="4677" y="7234"/>
                  </a:lnTo>
                  <a:lnTo>
                    <a:pt x="4876" y="6755"/>
                  </a:lnTo>
                  <a:lnTo>
                    <a:pt x="5075" y="6330"/>
                  </a:lnTo>
                  <a:lnTo>
                    <a:pt x="5373" y="5904"/>
                  </a:lnTo>
                  <a:lnTo>
                    <a:pt x="5473" y="5426"/>
                  </a:lnTo>
                  <a:lnTo>
                    <a:pt x="5871" y="5000"/>
                  </a:lnTo>
                  <a:lnTo>
                    <a:pt x="5871" y="4521"/>
                  </a:lnTo>
                  <a:lnTo>
                    <a:pt x="6368" y="4149"/>
                  </a:lnTo>
                  <a:lnTo>
                    <a:pt x="6567" y="3777"/>
                  </a:lnTo>
                  <a:lnTo>
                    <a:pt x="6567" y="3404"/>
                  </a:lnTo>
                  <a:lnTo>
                    <a:pt x="7065" y="3032"/>
                  </a:lnTo>
                  <a:lnTo>
                    <a:pt x="7065" y="2713"/>
                  </a:lnTo>
                  <a:lnTo>
                    <a:pt x="7463" y="2447"/>
                  </a:lnTo>
                  <a:lnTo>
                    <a:pt x="7562" y="2128"/>
                  </a:lnTo>
                  <a:lnTo>
                    <a:pt x="7562" y="1809"/>
                  </a:lnTo>
                  <a:lnTo>
                    <a:pt x="7861" y="1543"/>
                  </a:lnTo>
                  <a:lnTo>
                    <a:pt x="7960" y="1330"/>
                  </a:lnTo>
                  <a:lnTo>
                    <a:pt x="8458" y="1064"/>
                  </a:lnTo>
                  <a:lnTo>
                    <a:pt x="8458" y="851"/>
                  </a:lnTo>
                  <a:lnTo>
                    <a:pt x="8856" y="691"/>
                  </a:lnTo>
                  <a:lnTo>
                    <a:pt x="8955" y="479"/>
                  </a:lnTo>
                  <a:lnTo>
                    <a:pt x="9154" y="372"/>
                  </a:lnTo>
                  <a:lnTo>
                    <a:pt x="9353" y="266"/>
                  </a:lnTo>
                  <a:lnTo>
                    <a:pt x="9353" y="106"/>
                  </a:lnTo>
                  <a:lnTo>
                    <a:pt x="9751" y="106"/>
                  </a:lnTo>
                  <a:lnTo>
                    <a:pt x="10149" y="53"/>
                  </a:lnTo>
                  <a:lnTo>
                    <a:pt x="10348" y="0"/>
                  </a:lnTo>
                  <a:lnTo>
                    <a:pt x="10647" y="53"/>
                  </a:lnTo>
                  <a:lnTo>
                    <a:pt x="10746" y="53"/>
                  </a:lnTo>
                  <a:lnTo>
                    <a:pt x="10846" y="106"/>
                  </a:lnTo>
                  <a:lnTo>
                    <a:pt x="11045" y="213"/>
                  </a:lnTo>
                  <a:lnTo>
                    <a:pt x="11443" y="319"/>
                  </a:lnTo>
                  <a:lnTo>
                    <a:pt x="11542" y="479"/>
                  </a:lnTo>
                  <a:lnTo>
                    <a:pt x="12040" y="745"/>
                  </a:lnTo>
                  <a:lnTo>
                    <a:pt x="12139" y="1011"/>
                  </a:lnTo>
                  <a:lnTo>
                    <a:pt x="12438" y="1277"/>
                  </a:lnTo>
                  <a:lnTo>
                    <a:pt x="12438" y="1543"/>
                  </a:lnTo>
                  <a:lnTo>
                    <a:pt x="12537" y="1915"/>
                  </a:lnTo>
                  <a:lnTo>
                    <a:pt x="12935" y="2287"/>
                  </a:lnTo>
                  <a:lnTo>
                    <a:pt x="12935" y="2713"/>
                  </a:lnTo>
                  <a:lnTo>
                    <a:pt x="13433" y="3138"/>
                  </a:lnTo>
                  <a:lnTo>
                    <a:pt x="13433" y="3564"/>
                  </a:lnTo>
                  <a:lnTo>
                    <a:pt x="13632" y="3989"/>
                  </a:lnTo>
                  <a:lnTo>
                    <a:pt x="14129" y="4415"/>
                  </a:lnTo>
                  <a:lnTo>
                    <a:pt x="14229" y="4947"/>
                  </a:lnTo>
                  <a:lnTo>
                    <a:pt x="14527" y="5479"/>
                  </a:lnTo>
                  <a:lnTo>
                    <a:pt x="14826" y="5957"/>
                  </a:lnTo>
                  <a:lnTo>
                    <a:pt x="15025" y="6489"/>
                  </a:lnTo>
                  <a:lnTo>
                    <a:pt x="15124" y="7074"/>
                  </a:lnTo>
                  <a:lnTo>
                    <a:pt x="15323" y="7606"/>
                  </a:lnTo>
                  <a:lnTo>
                    <a:pt x="15622" y="8191"/>
                  </a:lnTo>
                  <a:lnTo>
                    <a:pt x="15821" y="8777"/>
                  </a:lnTo>
                  <a:lnTo>
                    <a:pt x="16020" y="9362"/>
                  </a:lnTo>
                  <a:lnTo>
                    <a:pt x="16318" y="9894"/>
                  </a:lnTo>
                  <a:lnTo>
                    <a:pt x="16716" y="10426"/>
                  </a:lnTo>
                  <a:lnTo>
                    <a:pt x="16716" y="11011"/>
                  </a:lnTo>
                  <a:lnTo>
                    <a:pt x="17015" y="11649"/>
                  </a:lnTo>
                  <a:lnTo>
                    <a:pt x="17214" y="12181"/>
                  </a:lnTo>
                  <a:lnTo>
                    <a:pt x="17413" y="12766"/>
                  </a:lnTo>
                  <a:lnTo>
                    <a:pt x="17512" y="13298"/>
                  </a:lnTo>
                  <a:lnTo>
                    <a:pt x="17512" y="13830"/>
                  </a:lnTo>
                  <a:lnTo>
                    <a:pt x="17910" y="14415"/>
                  </a:lnTo>
                  <a:lnTo>
                    <a:pt x="17910" y="14947"/>
                  </a:lnTo>
                  <a:lnTo>
                    <a:pt x="18408" y="15479"/>
                  </a:lnTo>
                  <a:lnTo>
                    <a:pt x="18507" y="15904"/>
                  </a:lnTo>
                  <a:lnTo>
                    <a:pt x="18706" y="16436"/>
                  </a:lnTo>
                  <a:lnTo>
                    <a:pt x="18905" y="16862"/>
                  </a:lnTo>
                  <a:lnTo>
                    <a:pt x="19005" y="17340"/>
                  </a:lnTo>
                  <a:lnTo>
                    <a:pt x="19303" y="17713"/>
                  </a:lnTo>
                  <a:lnTo>
                    <a:pt x="19303" y="18138"/>
                  </a:lnTo>
                  <a:lnTo>
                    <a:pt x="19403" y="18511"/>
                  </a:lnTo>
                  <a:lnTo>
                    <a:pt x="19502" y="18883"/>
                  </a:lnTo>
                  <a:lnTo>
                    <a:pt x="19602" y="19149"/>
                  </a:lnTo>
                  <a:lnTo>
                    <a:pt x="19801" y="19521"/>
                  </a:lnTo>
                  <a:lnTo>
                    <a:pt x="19900" y="19734"/>
                  </a:lnTo>
                  <a:lnTo>
                    <a:pt x="19900" y="19947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92" name="AutoShape 54">
              <a:extLst>
                <a:ext uri="{FF2B5EF4-FFF2-40B4-BE49-F238E27FC236}">
                  <a16:creationId xmlns:a16="http://schemas.microsoft.com/office/drawing/2014/main" id="{DA0396FE-8A04-584D-4ACF-5204C06B0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" y="1374"/>
              <a:ext cx="127" cy="1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89" y="661"/>
                  </a:lnTo>
                  <a:lnTo>
                    <a:pt x="377" y="1212"/>
                  </a:lnTo>
                  <a:lnTo>
                    <a:pt x="566" y="1873"/>
                  </a:lnTo>
                  <a:lnTo>
                    <a:pt x="660" y="2534"/>
                  </a:lnTo>
                  <a:lnTo>
                    <a:pt x="943" y="3140"/>
                  </a:lnTo>
                  <a:lnTo>
                    <a:pt x="1226" y="3691"/>
                  </a:lnTo>
                  <a:lnTo>
                    <a:pt x="1226" y="4298"/>
                  </a:lnTo>
                  <a:lnTo>
                    <a:pt x="1509" y="4959"/>
                  </a:lnTo>
                  <a:lnTo>
                    <a:pt x="1604" y="5565"/>
                  </a:lnTo>
                  <a:lnTo>
                    <a:pt x="2264" y="6171"/>
                  </a:lnTo>
                  <a:lnTo>
                    <a:pt x="2453" y="6777"/>
                  </a:lnTo>
                  <a:lnTo>
                    <a:pt x="2547" y="7328"/>
                  </a:lnTo>
                  <a:lnTo>
                    <a:pt x="2642" y="7879"/>
                  </a:lnTo>
                  <a:lnTo>
                    <a:pt x="2830" y="8485"/>
                  </a:lnTo>
                  <a:lnTo>
                    <a:pt x="3019" y="9036"/>
                  </a:lnTo>
                  <a:lnTo>
                    <a:pt x="3113" y="9642"/>
                  </a:lnTo>
                  <a:lnTo>
                    <a:pt x="3113" y="10138"/>
                  </a:lnTo>
                  <a:lnTo>
                    <a:pt x="3491" y="10689"/>
                  </a:lnTo>
                  <a:lnTo>
                    <a:pt x="3679" y="11185"/>
                  </a:lnTo>
                  <a:lnTo>
                    <a:pt x="3962" y="11736"/>
                  </a:lnTo>
                  <a:lnTo>
                    <a:pt x="4151" y="12176"/>
                  </a:lnTo>
                  <a:lnTo>
                    <a:pt x="4340" y="12727"/>
                  </a:lnTo>
                  <a:lnTo>
                    <a:pt x="4434" y="13223"/>
                  </a:lnTo>
                  <a:lnTo>
                    <a:pt x="4623" y="13664"/>
                  </a:lnTo>
                  <a:lnTo>
                    <a:pt x="4906" y="14105"/>
                  </a:lnTo>
                  <a:lnTo>
                    <a:pt x="5189" y="14545"/>
                  </a:lnTo>
                  <a:lnTo>
                    <a:pt x="5472" y="14986"/>
                  </a:lnTo>
                  <a:lnTo>
                    <a:pt x="5660" y="15482"/>
                  </a:lnTo>
                  <a:lnTo>
                    <a:pt x="5755" y="15868"/>
                  </a:lnTo>
                  <a:lnTo>
                    <a:pt x="6132" y="16198"/>
                  </a:lnTo>
                  <a:lnTo>
                    <a:pt x="6226" y="16584"/>
                  </a:lnTo>
                  <a:lnTo>
                    <a:pt x="6509" y="16970"/>
                  </a:lnTo>
                  <a:lnTo>
                    <a:pt x="6792" y="17245"/>
                  </a:lnTo>
                  <a:lnTo>
                    <a:pt x="6887" y="17631"/>
                  </a:lnTo>
                  <a:lnTo>
                    <a:pt x="7075" y="17906"/>
                  </a:lnTo>
                  <a:lnTo>
                    <a:pt x="7170" y="18182"/>
                  </a:lnTo>
                  <a:lnTo>
                    <a:pt x="7547" y="18457"/>
                  </a:lnTo>
                  <a:lnTo>
                    <a:pt x="7547" y="18733"/>
                  </a:lnTo>
                  <a:lnTo>
                    <a:pt x="7642" y="18953"/>
                  </a:lnTo>
                  <a:lnTo>
                    <a:pt x="7830" y="19118"/>
                  </a:lnTo>
                  <a:lnTo>
                    <a:pt x="8113" y="19339"/>
                  </a:lnTo>
                  <a:lnTo>
                    <a:pt x="8585" y="19504"/>
                  </a:lnTo>
                  <a:lnTo>
                    <a:pt x="8679" y="19669"/>
                  </a:lnTo>
                  <a:lnTo>
                    <a:pt x="8962" y="19725"/>
                  </a:lnTo>
                  <a:lnTo>
                    <a:pt x="9057" y="19890"/>
                  </a:lnTo>
                  <a:lnTo>
                    <a:pt x="9245" y="19890"/>
                  </a:lnTo>
                  <a:lnTo>
                    <a:pt x="9434" y="19945"/>
                  </a:lnTo>
                  <a:lnTo>
                    <a:pt x="9623" y="19945"/>
                  </a:lnTo>
                  <a:lnTo>
                    <a:pt x="9811" y="19945"/>
                  </a:lnTo>
                  <a:lnTo>
                    <a:pt x="10189" y="19890"/>
                  </a:lnTo>
                  <a:lnTo>
                    <a:pt x="10377" y="19890"/>
                  </a:lnTo>
                  <a:lnTo>
                    <a:pt x="10566" y="19725"/>
                  </a:lnTo>
                  <a:lnTo>
                    <a:pt x="10755" y="19504"/>
                  </a:lnTo>
                  <a:lnTo>
                    <a:pt x="10943" y="19339"/>
                  </a:lnTo>
                  <a:lnTo>
                    <a:pt x="11321" y="19118"/>
                  </a:lnTo>
                  <a:lnTo>
                    <a:pt x="11321" y="18843"/>
                  </a:lnTo>
                  <a:lnTo>
                    <a:pt x="11887" y="18567"/>
                  </a:lnTo>
                  <a:lnTo>
                    <a:pt x="12170" y="18237"/>
                  </a:lnTo>
                  <a:lnTo>
                    <a:pt x="12358" y="17851"/>
                  </a:lnTo>
                  <a:lnTo>
                    <a:pt x="12547" y="17466"/>
                  </a:lnTo>
                  <a:lnTo>
                    <a:pt x="12547" y="17190"/>
                  </a:lnTo>
                  <a:lnTo>
                    <a:pt x="12925" y="16749"/>
                  </a:lnTo>
                  <a:lnTo>
                    <a:pt x="13113" y="16309"/>
                  </a:lnTo>
                  <a:lnTo>
                    <a:pt x="13208" y="15813"/>
                  </a:lnTo>
                  <a:lnTo>
                    <a:pt x="13585" y="15317"/>
                  </a:lnTo>
                  <a:lnTo>
                    <a:pt x="13868" y="14876"/>
                  </a:lnTo>
                  <a:lnTo>
                    <a:pt x="14057" y="14325"/>
                  </a:lnTo>
                  <a:lnTo>
                    <a:pt x="14340" y="13829"/>
                  </a:lnTo>
                  <a:lnTo>
                    <a:pt x="14717" y="13278"/>
                  </a:lnTo>
                  <a:lnTo>
                    <a:pt x="14811" y="12837"/>
                  </a:lnTo>
                  <a:lnTo>
                    <a:pt x="15283" y="12176"/>
                  </a:lnTo>
                  <a:lnTo>
                    <a:pt x="15566" y="11680"/>
                  </a:lnTo>
                  <a:lnTo>
                    <a:pt x="15660" y="11129"/>
                  </a:lnTo>
                  <a:lnTo>
                    <a:pt x="15849" y="10579"/>
                  </a:lnTo>
                  <a:lnTo>
                    <a:pt x="16132" y="10028"/>
                  </a:lnTo>
                  <a:lnTo>
                    <a:pt x="16415" y="9477"/>
                  </a:lnTo>
                  <a:lnTo>
                    <a:pt x="16792" y="8871"/>
                  </a:lnTo>
                  <a:lnTo>
                    <a:pt x="16887" y="8375"/>
                  </a:lnTo>
                  <a:lnTo>
                    <a:pt x="16981" y="7824"/>
                  </a:lnTo>
                  <a:lnTo>
                    <a:pt x="17170" y="7273"/>
                  </a:lnTo>
                  <a:lnTo>
                    <a:pt x="17358" y="6777"/>
                  </a:lnTo>
                  <a:lnTo>
                    <a:pt x="17547" y="6226"/>
                  </a:lnTo>
                  <a:lnTo>
                    <a:pt x="17547" y="5730"/>
                  </a:lnTo>
                  <a:lnTo>
                    <a:pt x="18113" y="5234"/>
                  </a:lnTo>
                  <a:lnTo>
                    <a:pt x="18396" y="4738"/>
                  </a:lnTo>
                  <a:lnTo>
                    <a:pt x="18491" y="4298"/>
                  </a:lnTo>
                  <a:lnTo>
                    <a:pt x="18774" y="3857"/>
                  </a:lnTo>
                  <a:lnTo>
                    <a:pt x="18962" y="3416"/>
                  </a:lnTo>
                  <a:lnTo>
                    <a:pt x="19057" y="3030"/>
                  </a:lnTo>
                  <a:lnTo>
                    <a:pt x="19340" y="2590"/>
                  </a:lnTo>
                  <a:lnTo>
                    <a:pt x="19340" y="2204"/>
                  </a:lnTo>
                  <a:lnTo>
                    <a:pt x="19434" y="1928"/>
                  </a:lnTo>
                  <a:lnTo>
                    <a:pt x="19528" y="1598"/>
                  </a:lnTo>
                  <a:lnTo>
                    <a:pt x="19811" y="1377"/>
                  </a:lnTo>
                  <a:lnTo>
                    <a:pt x="19811" y="1047"/>
                  </a:lnTo>
                  <a:lnTo>
                    <a:pt x="19906" y="882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93" name="AutoShape 55">
              <a:extLst>
                <a:ext uri="{FF2B5EF4-FFF2-40B4-BE49-F238E27FC236}">
                  <a16:creationId xmlns:a16="http://schemas.microsoft.com/office/drawing/2014/main" id="{28B0A5D4-D1B3-21AB-744B-691017786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1241"/>
              <a:ext cx="119" cy="1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71"/>
                  </a:moveTo>
                  <a:lnTo>
                    <a:pt x="199" y="18470"/>
                  </a:lnTo>
                  <a:lnTo>
                    <a:pt x="498" y="17869"/>
                  </a:lnTo>
                  <a:lnTo>
                    <a:pt x="697" y="17268"/>
                  </a:lnTo>
                  <a:lnTo>
                    <a:pt x="697" y="16721"/>
                  </a:lnTo>
                  <a:lnTo>
                    <a:pt x="995" y="16120"/>
                  </a:lnTo>
                  <a:lnTo>
                    <a:pt x="1294" y="15519"/>
                  </a:lnTo>
                  <a:lnTo>
                    <a:pt x="1493" y="14918"/>
                  </a:lnTo>
                  <a:lnTo>
                    <a:pt x="1891" y="14262"/>
                  </a:lnTo>
                  <a:lnTo>
                    <a:pt x="2090" y="13661"/>
                  </a:lnTo>
                  <a:lnTo>
                    <a:pt x="2488" y="13115"/>
                  </a:lnTo>
                  <a:lnTo>
                    <a:pt x="2488" y="12568"/>
                  </a:lnTo>
                  <a:lnTo>
                    <a:pt x="2587" y="12022"/>
                  </a:lnTo>
                  <a:lnTo>
                    <a:pt x="2886" y="11421"/>
                  </a:lnTo>
                  <a:lnTo>
                    <a:pt x="2985" y="10874"/>
                  </a:lnTo>
                  <a:lnTo>
                    <a:pt x="3284" y="10328"/>
                  </a:lnTo>
                  <a:lnTo>
                    <a:pt x="3284" y="9836"/>
                  </a:lnTo>
                  <a:lnTo>
                    <a:pt x="3682" y="9290"/>
                  </a:lnTo>
                  <a:lnTo>
                    <a:pt x="4080" y="8798"/>
                  </a:lnTo>
                  <a:lnTo>
                    <a:pt x="4279" y="8197"/>
                  </a:lnTo>
                  <a:lnTo>
                    <a:pt x="4378" y="7760"/>
                  </a:lnTo>
                  <a:lnTo>
                    <a:pt x="4677" y="7268"/>
                  </a:lnTo>
                  <a:lnTo>
                    <a:pt x="4876" y="6776"/>
                  </a:lnTo>
                  <a:lnTo>
                    <a:pt x="5075" y="6339"/>
                  </a:lnTo>
                  <a:lnTo>
                    <a:pt x="5373" y="5902"/>
                  </a:lnTo>
                  <a:lnTo>
                    <a:pt x="5473" y="5410"/>
                  </a:lnTo>
                  <a:lnTo>
                    <a:pt x="5871" y="5027"/>
                  </a:lnTo>
                  <a:lnTo>
                    <a:pt x="5871" y="4590"/>
                  </a:lnTo>
                  <a:lnTo>
                    <a:pt x="6368" y="4153"/>
                  </a:lnTo>
                  <a:lnTo>
                    <a:pt x="6567" y="3770"/>
                  </a:lnTo>
                  <a:lnTo>
                    <a:pt x="6567" y="3443"/>
                  </a:lnTo>
                  <a:lnTo>
                    <a:pt x="7065" y="3005"/>
                  </a:lnTo>
                  <a:lnTo>
                    <a:pt x="7065" y="2732"/>
                  </a:lnTo>
                  <a:lnTo>
                    <a:pt x="7463" y="2404"/>
                  </a:lnTo>
                  <a:lnTo>
                    <a:pt x="7562" y="2131"/>
                  </a:lnTo>
                  <a:lnTo>
                    <a:pt x="7562" y="1803"/>
                  </a:lnTo>
                  <a:lnTo>
                    <a:pt x="7861" y="1585"/>
                  </a:lnTo>
                  <a:lnTo>
                    <a:pt x="7960" y="1311"/>
                  </a:lnTo>
                  <a:lnTo>
                    <a:pt x="8458" y="1038"/>
                  </a:lnTo>
                  <a:lnTo>
                    <a:pt x="8458" y="874"/>
                  </a:lnTo>
                  <a:lnTo>
                    <a:pt x="8856" y="656"/>
                  </a:lnTo>
                  <a:lnTo>
                    <a:pt x="8955" y="492"/>
                  </a:lnTo>
                  <a:lnTo>
                    <a:pt x="9154" y="383"/>
                  </a:lnTo>
                  <a:lnTo>
                    <a:pt x="9353" y="273"/>
                  </a:lnTo>
                  <a:lnTo>
                    <a:pt x="9353" y="109"/>
                  </a:lnTo>
                  <a:lnTo>
                    <a:pt x="9751" y="109"/>
                  </a:lnTo>
                  <a:lnTo>
                    <a:pt x="10149" y="55"/>
                  </a:lnTo>
                  <a:lnTo>
                    <a:pt x="10348" y="0"/>
                  </a:lnTo>
                  <a:lnTo>
                    <a:pt x="10647" y="55"/>
                  </a:lnTo>
                  <a:lnTo>
                    <a:pt x="10746" y="55"/>
                  </a:lnTo>
                  <a:lnTo>
                    <a:pt x="10846" y="109"/>
                  </a:lnTo>
                  <a:lnTo>
                    <a:pt x="11045" y="219"/>
                  </a:lnTo>
                  <a:lnTo>
                    <a:pt x="11443" y="328"/>
                  </a:lnTo>
                  <a:lnTo>
                    <a:pt x="11542" y="492"/>
                  </a:lnTo>
                  <a:lnTo>
                    <a:pt x="12040" y="710"/>
                  </a:lnTo>
                  <a:lnTo>
                    <a:pt x="12139" y="984"/>
                  </a:lnTo>
                  <a:lnTo>
                    <a:pt x="12438" y="1257"/>
                  </a:lnTo>
                  <a:lnTo>
                    <a:pt x="12438" y="1585"/>
                  </a:lnTo>
                  <a:lnTo>
                    <a:pt x="12537" y="1913"/>
                  </a:lnTo>
                  <a:lnTo>
                    <a:pt x="12935" y="2295"/>
                  </a:lnTo>
                  <a:lnTo>
                    <a:pt x="12935" y="2732"/>
                  </a:lnTo>
                  <a:lnTo>
                    <a:pt x="13433" y="3115"/>
                  </a:lnTo>
                  <a:lnTo>
                    <a:pt x="13433" y="3497"/>
                  </a:lnTo>
                  <a:lnTo>
                    <a:pt x="13632" y="3989"/>
                  </a:lnTo>
                  <a:lnTo>
                    <a:pt x="14129" y="4426"/>
                  </a:lnTo>
                  <a:lnTo>
                    <a:pt x="14229" y="4973"/>
                  </a:lnTo>
                  <a:lnTo>
                    <a:pt x="14527" y="5519"/>
                  </a:lnTo>
                  <a:lnTo>
                    <a:pt x="14826" y="5956"/>
                  </a:lnTo>
                  <a:lnTo>
                    <a:pt x="15025" y="6503"/>
                  </a:lnTo>
                  <a:lnTo>
                    <a:pt x="15124" y="7049"/>
                  </a:lnTo>
                  <a:lnTo>
                    <a:pt x="15323" y="7596"/>
                  </a:lnTo>
                  <a:lnTo>
                    <a:pt x="15622" y="8197"/>
                  </a:lnTo>
                  <a:lnTo>
                    <a:pt x="15821" y="8798"/>
                  </a:lnTo>
                  <a:lnTo>
                    <a:pt x="16020" y="9344"/>
                  </a:lnTo>
                  <a:lnTo>
                    <a:pt x="16318" y="9891"/>
                  </a:lnTo>
                  <a:lnTo>
                    <a:pt x="16716" y="10492"/>
                  </a:lnTo>
                  <a:lnTo>
                    <a:pt x="16716" y="11038"/>
                  </a:lnTo>
                  <a:lnTo>
                    <a:pt x="17015" y="11585"/>
                  </a:lnTo>
                  <a:lnTo>
                    <a:pt x="17214" y="12186"/>
                  </a:lnTo>
                  <a:lnTo>
                    <a:pt x="17413" y="12732"/>
                  </a:lnTo>
                  <a:lnTo>
                    <a:pt x="17512" y="13279"/>
                  </a:lnTo>
                  <a:lnTo>
                    <a:pt x="17512" y="13880"/>
                  </a:lnTo>
                  <a:lnTo>
                    <a:pt x="17910" y="14426"/>
                  </a:lnTo>
                  <a:lnTo>
                    <a:pt x="17910" y="14918"/>
                  </a:lnTo>
                  <a:lnTo>
                    <a:pt x="18408" y="15410"/>
                  </a:lnTo>
                  <a:lnTo>
                    <a:pt x="18507" y="15956"/>
                  </a:lnTo>
                  <a:lnTo>
                    <a:pt x="18706" y="16448"/>
                  </a:lnTo>
                  <a:lnTo>
                    <a:pt x="18905" y="16885"/>
                  </a:lnTo>
                  <a:lnTo>
                    <a:pt x="19005" y="17268"/>
                  </a:lnTo>
                  <a:lnTo>
                    <a:pt x="19303" y="17760"/>
                  </a:lnTo>
                  <a:lnTo>
                    <a:pt x="19303" y="18197"/>
                  </a:lnTo>
                  <a:lnTo>
                    <a:pt x="19403" y="18525"/>
                  </a:lnTo>
                  <a:lnTo>
                    <a:pt x="19502" y="18852"/>
                  </a:lnTo>
                  <a:lnTo>
                    <a:pt x="19602" y="19180"/>
                  </a:lnTo>
                  <a:lnTo>
                    <a:pt x="19801" y="19508"/>
                  </a:lnTo>
                  <a:lnTo>
                    <a:pt x="19900" y="19727"/>
                  </a:lnTo>
                  <a:lnTo>
                    <a:pt x="19900" y="19945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94" name="AutoShape 56">
              <a:extLst>
                <a:ext uri="{FF2B5EF4-FFF2-40B4-BE49-F238E27FC236}">
                  <a16:creationId xmlns:a16="http://schemas.microsoft.com/office/drawing/2014/main" id="{2525744A-1A50-444F-432D-4338CD4C71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1373"/>
              <a:ext cx="125" cy="13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89" y="623"/>
                  </a:lnTo>
                  <a:lnTo>
                    <a:pt x="377" y="1246"/>
                  </a:lnTo>
                  <a:lnTo>
                    <a:pt x="566" y="1870"/>
                  </a:lnTo>
                  <a:lnTo>
                    <a:pt x="660" y="2493"/>
                  </a:lnTo>
                  <a:lnTo>
                    <a:pt x="943" y="3116"/>
                  </a:lnTo>
                  <a:lnTo>
                    <a:pt x="1226" y="3739"/>
                  </a:lnTo>
                  <a:lnTo>
                    <a:pt x="1226" y="4363"/>
                  </a:lnTo>
                  <a:lnTo>
                    <a:pt x="1509" y="4986"/>
                  </a:lnTo>
                  <a:lnTo>
                    <a:pt x="1604" y="5552"/>
                  </a:lnTo>
                  <a:lnTo>
                    <a:pt x="2264" y="6176"/>
                  </a:lnTo>
                  <a:lnTo>
                    <a:pt x="2453" y="6742"/>
                  </a:lnTo>
                  <a:lnTo>
                    <a:pt x="2547" y="7309"/>
                  </a:lnTo>
                  <a:lnTo>
                    <a:pt x="2642" y="7875"/>
                  </a:lnTo>
                  <a:lnTo>
                    <a:pt x="2830" y="8499"/>
                  </a:lnTo>
                  <a:lnTo>
                    <a:pt x="3019" y="9008"/>
                  </a:lnTo>
                  <a:lnTo>
                    <a:pt x="3113" y="9575"/>
                  </a:lnTo>
                  <a:lnTo>
                    <a:pt x="3113" y="10142"/>
                  </a:lnTo>
                  <a:lnTo>
                    <a:pt x="3491" y="10652"/>
                  </a:lnTo>
                  <a:lnTo>
                    <a:pt x="3679" y="11218"/>
                  </a:lnTo>
                  <a:lnTo>
                    <a:pt x="3962" y="11728"/>
                  </a:lnTo>
                  <a:lnTo>
                    <a:pt x="4151" y="12181"/>
                  </a:lnTo>
                  <a:lnTo>
                    <a:pt x="4340" y="12691"/>
                  </a:lnTo>
                  <a:lnTo>
                    <a:pt x="4434" y="13258"/>
                  </a:lnTo>
                  <a:lnTo>
                    <a:pt x="4623" y="13654"/>
                  </a:lnTo>
                  <a:lnTo>
                    <a:pt x="4906" y="14108"/>
                  </a:lnTo>
                  <a:lnTo>
                    <a:pt x="5189" y="14561"/>
                  </a:lnTo>
                  <a:lnTo>
                    <a:pt x="5472" y="15014"/>
                  </a:lnTo>
                  <a:lnTo>
                    <a:pt x="5660" y="15411"/>
                  </a:lnTo>
                  <a:lnTo>
                    <a:pt x="5755" y="15807"/>
                  </a:lnTo>
                  <a:lnTo>
                    <a:pt x="6132" y="16204"/>
                  </a:lnTo>
                  <a:lnTo>
                    <a:pt x="6226" y="16601"/>
                  </a:lnTo>
                  <a:lnTo>
                    <a:pt x="6509" y="16941"/>
                  </a:lnTo>
                  <a:lnTo>
                    <a:pt x="6792" y="17337"/>
                  </a:lnTo>
                  <a:lnTo>
                    <a:pt x="6887" y="17564"/>
                  </a:lnTo>
                  <a:lnTo>
                    <a:pt x="7075" y="17960"/>
                  </a:lnTo>
                  <a:lnTo>
                    <a:pt x="7170" y="18130"/>
                  </a:lnTo>
                  <a:lnTo>
                    <a:pt x="7547" y="18470"/>
                  </a:lnTo>
                  <a:lnTo>
                    <a:pt x="7547" y="18754"/>
                  </a:lnTo>
                  <a:lnTo>
                    <a:pt x="7642" y="18924"/>
                  </a:lnTo>
                  <a:lnTo>
                    <a:pt x="7830" y="19150"/>
                  </a:lnTo>
                  <a:lnTo>
                    <a:pt x="8113" y="19320"/>
                  </a:lnTo>
                  <a:lnTo>
                    <a:pt x="8585" y="19490"/>
                  </a:lnTo>
                  <a:lnTo>
                    <a:pt x="8679" y="19660"/>
                  </a:lnTo>
                  <a:lnTo>
                    <a:pt x="8962" y="19717"/>
                  </a:lnTo>
                  <a:lnTo>
                    <a:pt x="9057" y="19887"/>
                  </a:lnTo>
                  <a:lnTo>
                    <a:pt x="9245" y="19887"/>
                  </a:lnTo>
                  <a:lnTo>
                    <a:pt x="9434" y="19943"/>
                  </a:lnTo>
                  <a:lnTo>
                    <a:pt x="9623" y="19943"/>
                  </a:lnTo>
                  <a:lnTo>
                    <a:pt x="9811" y="19943"/>
                  </a:lnTo>
                  <a:lnTo>
                    <a:pt x="10189" y="19887"/>
                  </a:lnTo>
                  <a:lnTo>
                    <a:pt x="10377" y="19887"/>
                  </a:lnTo>
                  <a:lnTo>
                    <a:pt x="10566" y="19717"/>
                  </a:lnTo>
                  <a:lnTo>
                    <a:pt x="10755" y="19490"/>
                  </a:lnTo>
                  <a:lnTo>
                    <a:pt x="10943" y="19320"/>
                  </a:lnTo>
                  <a:lnTo>
                    <a:pt x="11321" y="19093"/>
                  </a:lnTo>
                  <a:lnTo>
                    <a:pt x="11321" y="18810"/>
                  </a:lnTo>
                  <a:lnTo>
                    <a:pt x="11887" y="18527"/>
                  </a:lnTo>
                  <a:lnTo>
                    <a:pt x="12170" y="18244"/>
                  </a:lnTo>
                  <a:lnTo>
                    <a:pt x="12358" y="17960"/>
                  </a:lnTo>
                  <a:lnTo>
                    <a:pt x="12547" y="17564"/>
                  </a:lnTo>
                  <a:lnTo>
                    <a:pt x="12547" y="17167"/>
                  </a:lnTo>
                  <a:lnTo>
                    <a:pt x="12925" y="16714"/>
                  </a:lnTo>
                  <a:lnTo>
                    <a:pt x="13113" y="16261"/>
                  </a:lnTo>
                  <a:lnTo>
                    <a:pt x="13208" y="15807"/>
                  </a:lnTo>
                  <a:lnTo>
                    <a:pt x="13585" y="15411"/>
                  </a:lnTo>
                  <a:lnTo>
                    <a:pt x="13868" y="14844"/>
                  </a:lnTo>
                  <a:lnTo>
                    <a:pt x="14057" y="14334"/>
                  </a:lnTo>
                  <a:lnTo>
                    <a:pt x="14340" y="13824"/>
                  </a:lnTo>
                  <a:lnTo>
                    <a:pt x="14717" y="13314"/>
                  </a:lnTo>
                  <a:lnTo>
                    <a:pt x="14811" y="12805"/>
                  </a:lnTo>
                  <a:lnTo>
                    <a:pt x="15283" y="12181"/>
                  </a:lnTo>
                  <a:lnTo>
                    <a:pt x="15566" y="11671"/>
                  </a:lnTo>
                  <a:lnTo>
                    <a:pt x="15660" y="11105"/>
                  </a:lnTo>
                  <a:lnTo>
                    <a:pt x="15849" y="10538"/>
                  </a:lnTo>
                  <a:lnTo>
                    <a:pt x="16132" y="10028"/>
                  </a:lnTo>
                  <a:lnTo>
                    <a:pt x="16415" y="9462"/>
                  </a:lnTo>
                  <a:lnTo>
                    <a:pt x="16792" y="8895"/>
                  </a:lnTo>
                  <a:lnTo>
                    <a:pt x="16887" y="8385"/>
                  </a:lnTo>
                  <a:lnTo>
                    <a:pt x="16981" y="7819"/>
                  </a:lnTo>
                  <a:lnTo>
                    <a:pt x="17170" y="7309"/>
                  </a:lnTo>
                  <a:lnTo>
                    <a:pt x="17358" y="6742"/>
                  </a:lnTo>
                  <a:lnTo>
                    <a:pt x="17547" y="6232"/>
                  </a:lnTo>
                  <a:lnTo>
                    <a:pt x="17547" y="5722"/>
                  </a:lnTo>
                  <a:lnTo>
                    <a:pt x="18113" y="5212"/>
                  </a:lnTo>
                  <a:lnTo>
                    <a:pt x="18396" y="4759"/>
                  </a:lnTo>
                  <a:lnTo>
                    <a:pt x="18491" y="4249"/>
                  </a:lnTo>
                  <a:lnTo>
                    <a:pt x="18774" y="3853"/>
                  </a:lnTo>
                  <a:lnTo>
                    <a:pt x="18962" y="3399"/>
                  </a:lnTo>
                  <a:lnTo>
                    <a:pt x="19057" y="3003"/>
                  </a:lnTo>
                  <a:lnTo>
                    <a:pt x="19340" y="2606"/>
                  </a:lnTo>
                  <a:lnTo>
                    <a:pt x="19340" y="2266"/>
                  </a:lnTo>
                  <a:lnTo>
                    <a:pt x="19434" y="1870"/>
                  </a:lnTo>
                  <a:lnTo>
                    <a:pt x="19528" y="1643"/>
                  </a:lnTo>
                  <a:lnTo>
                    <a:pt x="19811" y="1360"/>
                  </a:lnTo>
                  <a:lnTo>
                    <a:pt x="19811" y="1076"/>
                  </a:lnTo>
                  <a:lnTo>
                    <a:pt x="19906" y="8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95" name="AutoShape 57">
              <a:extLst>
                <a:ext uri="{FF2B5EF4-FFF2-40B4-BE49-F238E27FC236}">
                  <a16:creationId xmlns:a16="http://schemas.microsoft.com/office/drawing/2014/main" id="{E4D41ABE-1717-ECBC-7695-3597CF51D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242"/>
              <a:ext cx="138" cy="14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96"/>
                  </a:moveTo>
                  <a:lnTo>
                    <a:pt x="172" y="18457"/>
                  </a:lnTo>
                  <a:lnTo>
                    <a:pt x="429" y="17872"/>
                  </a:lnTo>
                  <a:lnTo>
                    <a:pt x="773" y="17287"/>
                  </a:lnTo>
                  <a:lnTo>
                    <a:pt x="773" y="16649"/>
                  </a:lnTo>
                  <a:lnTo>
                    <a:pt x="1030" y="16064"/>
                  </a:lnTo>
                  <a:lnTo>
                    <a:pt x="1288" y="15479"/>
                  </a:lnTo>
                  <a:lnTo>
                    <a:pt x="1459" y="14894"/>
                  </a:lnTo>
                  <a:lnTo>
                    <a:pt x="1803" y="14255"/>
                  </a:lnTo>
                  <a:lnTo>
                    <a:pt x="1974" y="13670"/>
                  </a:lnTo>
                  <a:lnTo>
                    <a:pt x="2489" y="13138"/>
                  </a:lnTo>
                  <a:lnTo>
                    <a:pt x="2489" y="12553"/>
                  </a:lnTo>
                  <a:lnTo>
                    <a:pt x="2575" y="12021"/>
                  </a:lnTo>
                  <a:lnTo>
                    <a:pt x="2833" y="11489"/>
                  </a:lnTo>
                  <a:lnTo>
                    <a:pt x="2918" y="10904"/>
                  </a:lnTo>
                  <a:lnTo>
                    <a:pt x="3176" y="10372"/>
                  </a:lnTo>
                  <a:lnTo>
                    <a:pt x="3176" y="9840"/>
                  </a:lnTo>
                  <a:lnTo>
                    <a:pt x="3691" y="9255"/>
                  </a:lnTo>
                  <a:lnTo>
                    <a:pt x="4034" y="8723"/>
                  </a:lnTo>
                  <a:lnTo>
                    <a:pt x="4206" y="8191"/>
                  </a:lnTo>
                  <a:lnTo>
                    <a:pt x="4292" y="7766"/>
                  </a:lnTo>
                  <a:lnTo>
                    <a:pt x="4549" y="7234"/>
                  </a:lnTo>
                  <a:lnTo>
                    <a:pt x="4721" y="6755"/>
                  </a:lnTo>
                  <a:lnTo>
                    <a:pt x="5236" y="6330"/>
                  </a:lnTo>
                  <a:lnTo>
                    <a:pt x="5494" y="5904"/>
                  </a:lnTo>
                  <a:lnTo>
                    <a:pt x="5579" y="5426"/>
                  </a:lnTo>
                  <a:lnTo>
                    <a:pt x="5923" y="5000"/>
                  </a:lnTo>
                  <a:lnTo>
                    <a:pt x="5923" y="4521"/>
                  </a:lnTo>
                  <a:lnTo>
                    <a:pt x="6352" y="4149"/>
                  </a:lnTo>
                  <a:lnTo>
                    <a:pt x="6695" y="3777"/>
                  </a:lnTo>
                  <a:lnTo>
                    <a:pt x="6695" y="3404"/>
                  </a:lnTo>
                  <a:lnTo>
                    <a:pt x="7124" y="3032"/>
                  </a:lnTo>
                  <a:lnTo>
                    <a:pt x="7124" y="2713"/>
                  </a:lnTo>
                  <a:lnTo>
                    <a:pt x="7468" y="2447"/>
                  </a:lnTo>
                  <a:lnTo>
                    <a:pt x="7554" y="2128"/>
                  </a:lnTo>
                  <a:lnTo>
                    <a:pt x="7554" y="1809"/>
                  </a:lnTo>
                  <a:lnTo>
                    <a:pt x="7811" y="1543"/>
                  </a:lnTo>
                  <a:lnTo>
                    <a:pt x="8069" y="1330"/>
                  </a:lnTo>
                  <a:lnTo>
                    <a:pt x="8498" y="1064"/>
                  </a:lnTo>
                  <a:lnTo>
                    <a:pt x="8498" y="851"/>
                  </a:lnTo>
                  <a:lnTo>
                    <a:pt x="8841" y="691"/>
                  </a:lnTo>
                  <a:lnTo>
                    <a:pt x="8927" y="479"/>
                  </a:lnTo>
                  <a:lnTo>
                    <a:pt x="9099" y="372"/>
                  </a:lnTo>
                  <a:lnTo>
                    <a:pt x="9442" y="266"/>
                  </a:lnTo>
                  <a:lnTo>
                    <a:pt x="9442" y="106"/>
                  </a:lnTo>
                  <a:lnTo>
                    <a:pt x="9785" y="106"/>
                  </a:lnTo>
                  <a:lnTo>
                    <a:pt x="10129" y="53"/>
                  </a:lnTo>
                  <a:lnTo>
                    <a:pt x="10300" y="0"/>
                  </a:lnTo>
                  <a:lnTo>
                    <a:pt x="10558" y="53"/>
                  </a:lnTo>
                  <a:lnTo>
                    <a:pt x="10815" y="53"/>
                  </a:lnTo>
                  <a:lnTo>
                    <a:pt x="10901" y="106"/>
                  </a:lnTo>
                  <a:lnTo>
                    <a:pt x="11073" y="213"/>
                  </a:lnTo>
                  <a:lnTo>
                    <a:pt x="11416" y="319"/>
                  </a:lnTo>
                  <a:lnTo>
                    <a:pt x="11502" y="479"/>
                  </a:lnTo>
                  <a:lnTo>
                    <a:pt x="11931" y="745"/>
                  </a:lnTo>
                  <a:lnTo>
                    <a:pt x="12189" y="1011"/>
                  </a:lnTo>
                  <a:lnTo>
                    <a:pt x="12446" y="1277"/>
                  </a:lnTo>
                  <a:lnTo>
                    <a:pt x="12446" y="1543"/>
                  </a:lnTo>
                  <a:lnTo>
                    <a:pt x="12532" y="1915"/>
                  </a:lnTo>
                  <a:lnTo>
                    <a:pt x="12876" y="2287"/>
                  </a:lnTo>
                  <a:lnTo>
                    <a:pt x="12876" y="2713"/>
                  </a:lnTo>
                  <a:lnTo>
                    <a:pt x="13305" y="3138"/>
                  </a:lnTo>
                  <a:lnTo>
                    <a:pt x="13305" y="3564"/>
                  </a:lnTo>
                  <a:lnTo>
                    <a:pt x="13648" y="3989"/>
                  </a:lnTo>
                  <a:lnTo>
                    <a:pt x="14077" y="4415"/>
                  </a:lnTo>
                  <a:lnTo>
                    <a:pt x="14163" y="4947"/>
                  </a:lnTo>
                  <a:lnTo>
                    <a:pt x="14421" y="5479"/>
                  </a:lnTo>
                  <a:lnTo>
                    <a:pt x="14678" y="5957"/>
                  </a:lnTo>
                  <a:lnTo>
                    <a:pt x="15193" y="6489"/>
                  </a:lnTo>
                  <a:lnTo>
                    <a:pt x="15279" y="7074"/>
                  </a:lnTo>
                  <a:lnTo>
                    <a:pt x="15451" y="7606"/>
                  </a:lnTo>
                  <a:lnTo>
                    <a:pt x="15708" y="8191"/>
                  </a:lnTo>
                  <a:lnTo>
                    <a:pt x="15880" y="8777"/>
                  </a:lnTo>
                  <a:lnTo>
                    <a:pt x="16052" y="9362"/>
                  </a:lnTo>
                  <a:lnTo>
                    <a:pt x="16309" y="9894"/>
                  </a:lnTo>
                  <a:lnTo>
                    <a:pt x="16824" y="10426"/>
                  </a:lnTo>
                  <a:lnTo>
                    <a:pt x="16824" y="11011"/>
                  </a:lnTo>
                  <a:lnTo>
                    <a:pt x="17082" y="11649"/>
                  </a:lnTo>
                  <a:lnTo>
                    <a:pt x="17253" y="12181"/>
                  </a:lnTo>
                  <a:lnTo>
                    <a:pt x="17425" y="12766"/>
                  </a:lnTo>
                  <a:lnTo>
                    <a:pt x="17511" y="13298"/>
                  </a:lnTo>
                  <a:lnTo>
                    <a:pt x="17511" y="13830"/>
                  </a:lnTo>
                  <a:lnTo>
                    <a:pt x="18026" y="14415"/>
                  </a:lnTo>
                  <a:lnTo>
                    <a:pt x="18026" y="14947"/>
                  </a:lnTo>
                  <a:lnTo>
                    <a:pt x="18455" y="15479"/>
                  </a:lnTo>
                  <a:lnTo>
                    <a:pt x="18541" y="15904"/>
                  </a:lnTo>
                  <a:lnTo>
                    <a:pt x="18712" y="16436"/>
                  </a:lnTo>
                  <a:lnTo>
                    <a:pt x="18884" y="16862"/>
                  </a:lnTo>
                  <a:lnTo>
                    <a:pt x="18970" y="17340"/>
                  </a:lnTo>
                  <a:lnTo>
                    <a:pt x="19227" y="17713"/>
                  </a:lnTo>
                  <a:lnTo>
                    <a:pt x="19227" y="18138"/>
                  </a:lnTo>
                  <a:lnTo>
                    <a:pt x="19485" y="18511"/>
                  </a:lnTo>
                  <a:lnTo>
                    <a:pt x="19571" y="18883"/>
                  </a:lnTo>
                  <a:lnTo>
                    <a:pt x="19657" y="19149"/>
                  </a:lnTo>
                  <a:lnTo>
                    <a:pt x="19828" y="19521"/>
                  </a:lnTo>
                  <a:lnTo>
                    <a:pt x="19914" y="19734"/>
                  </a:lnTo>
                  <a:lnTo>
                    <a:pt x="19914" y="19947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96" name="AutoShape 58">
              <a:extLst>
                <a:ext uri="{FF2B5EF4-FFF2-40B4-BE49-F238E27FC236}">
                  <a16:creationId xmlns:a16="http://schemas.microsoft.com/office/drawing/2014/main" id="{C4BF1180-EC98-0339-FC0F-3EBB7B6CA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7" y="1378"/>
              <a:ext cx="146" cy="1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62" y="661"/>
                  </a:lnTo>
                  <a:lnTo>
                    <a:pt x="324" y="1212"/>
                  </a:lnTo>
                  <a:lnTo>
                    <a:pt x="486" y="1873"/>
                  </a:lnTo>
                  <a:lnTo>
                    <a:pt x="567" y="2534"/>
                  </a:lnTo>
                  <a:lnTo>
                    <a:pt x="972" y="3140"/>
                  </a:lnTo>
                  <a:lnTo>
                    <a:pt x="1215" y="3691"/>
                  </a:lnTo>
                  <a:lnTo>
                    <a:pt x="1215" y="4298"/>
                  </a:lnTo>
                  <a:lnTo>
                    <a:pt x="1457" y="4959"/>
                  </a:lnTo>
                  <a:lnTo>
                    <a:pt x="1538" y="5565"/>
                  </a:lnTo>
                  <a:lnTo>
                    <a:pt x="2267" y="6171"/>
                  </a:lnTo>
                  <a:lnTo>
                    <a:pt x="2429" y="6777"/>
                  </a:lnTo>
                  <a:lnTo>
                    <a:pt x="2510" y="7328"/>
                  </a:lnTo>
                  <a:lnTo>
                    <a:pt x="2591" y="7879"/>
                  </a:lnTo>
                  <a:lnTo>
                    <a:pt x="2753" y="8485"/>
                  </a:lnTo>
                  <a:lnTo>
                    <a:pt x="2915" y="9036"/>
                  </a:lnTo>
                  <a:lnTo>
                    <a:pt x="2996" y="9642"/>
                  </a:lnTo>
                  <a:lnTo>
                    <a:pt x="2996" y="10138"/>
                  </a:lnTo>
                  <a:lnTo>
                    <a:pt x="3563" y="10689"/>
                  </a:lnTo>
                  <a:lnTo>
                    <a:pt x="3806" y="11185"/>
                  </a:lnTo>
                  <a:lnTo>
                    <a:pt x="4049" y="11736"/>
                  </a:lnTo>
                  <a:lnTo>
                    <a:pt x="4211" y="12176"/>
                  </a:lnTo>
                  <a:lnTo>
                    <a:pt x="4372" y="12727"/>
                  </a:lnTo>
                  <a:lnTo>
                    <a:pt x="4453" y="13223"/>
                  </a:lnTo>
                  <a:lnTo>
                    <a:pt x="4615" y="13664"/>
                  </a:lnTo>
                  <a:lnTo>
                    <a:pt x="4939" y="14105"/>
                  </a:lnTo>
                  <a:lnTo>
                    <a:pt x="5263" y="14545"/>
                  </a:lnTo>
                  <a:lnTo>
                    <a:pt x="5506" y="14986"/>
                  </a:lnTo>
                  <a:lnTo>
                    <a:pt x="5668" y="15482"/>
                  </a:lnTo>
                  <a:lnTo>
                    <a:pt x="5749" y="15868"/>
                  </a:lnTo>
                  <a:lnTo>
                    <a:pt x="6154" y="16198"/>
                  </a:lnTo>
                  <a:lnTo>
                    <a:pt x="6235" y="16584"/>
                  </a:lnTo>
                  <a:lnTo>
                    <a:pt x="6559" y="16970"/>
                  </a:lnTo>
                  <a:lnTo>
                    <a:pt x="6802" y="17245"/>
                  </a:lnTo>
                  <a:lnTo>
                    <a:pt x="6883" y="17631"/>
                  </a:lnTo>
                  <a:lnTo>
                    <a:pt x="7045" y="17906"/>
                  </a:lnTo>
                  <a:lnTo>
                    <a:pt x="7126" y="18182"/>
                  </a:lnTo>
                  <a:lnTo>
                    <a:pt x="7530" y="18457"/>
                  </a:lnTo>
                  <a:lnTo>
                    <a:pt x="7530" y="18733"/>
                  </a:lnTo>
                  <a:lnTo>
                    <a:pt x="7611" y="18953"/>
                  </a:lnTo>
                  <a:lnTo>
                    <a:pt x="7773" y="19118"/>
                  </a:lnTo>
                  <a:lnTo>
                    <a:pt x="8097" y="19339"/>
                  </a:lnTo>
                  <a:lnTo>
                    <a:pt x="8502" y="19504"/>
                  </a:lnTo>
                  <a:lnTo>
                    <a:pt x="8664" y="19669"/>
                  </a:lnTo>
                  <a:lnTo>
                    <a:pt x="8907" y="19725"/>
                  </a:lnTo>
                  <a:lnTo>
                    <a:pt x="8988" y="19890"/>
                  </a:lnTo>
                  <a:lnTo>
                    <a:pt x="9150" y="19890"/>
                  </a:lnTo>
                  <a:lnTo>
                    <a:pt x="9393" y="19945"/>
                  </a:lnTo>
                  <a:lnTo>
                    <a:pt x="9555" y="19945"/>
                  </a:lnTo>
                  <a:lnTo>
                    <a:pt x="9717" y="19945"/>
                  </a:lnTo>
                  <a:lnTo>
                    <a:pt x="10283" y="19890"/>
                  </a:lnTo>
                  <a:lnTo>
                    <a:pt x="10445" y="19890"/>
                  </a:lnTo>
                  <a:lnTo>
                    <a:pt x="10607" y="19725"/>
                  </a:lnTo>
                  <a:lnTo>
                    <a:pt x="10850" y="19504"/>
                  </a:lnTo>
                  <a:lnTo>
                    <a:pt x="11012" y="19339"/>
                  </a:lnTo>
                  <a:lnTo>
                    <a:pt x="11336" y="19118"/>
                  </a:lnTo>
                  <a:lnTo>
                    <a:pt x="11336" y="18843"/>
                  </a:lnTo>
                  <a:lnTo>
                    <a:pt x="11903" y="18567"/>
                  </a:lnTo>
                  <a:lnTo>
                    <a:pt x="12227" y="18237"/>
                  </a:lnTo>
                  <a:lnTo>
                    <a:pt x="12389" y="17851"/>
                  </a:lnTo>
                  <a:lnTo>
                    <a:pt x="12551" y="17466"/>
                  </a:lnTo>
                  <a:lnTo>
                    <a:pt x="12551" y="17190"/>
                  </a:lnTo>
                  <a:lnTo>
                    <a:pt x="12955" y="16749"/>
                  </a:lnTo>
                  <a:lnTo>
                    <a:pt x="13117" y="16309"/>
                  </a:lnTo>
                  <a:lnTo>
                    <a:pt x="13198" y="15813"/>
                  </a:lnTo>
                  <a:lnTo>
                    <a:pt x="13522" y="15317"/>
                  </a:lnTo>
                  <a:lnTo>
                    <a:pt x="13846" y="14876"/>
                  </a:lnTo>
                  <a:lnTo>
                    <a:pt x="14089" y="14325"/>
                  </a:lnTo>
                  <a:lnTo>
                    <a:pt x="14332" y="13829"/>
                  </a:lnTo>
                  <a:lnTo>
                    <a:pt x="14656" y="13278"/>
                  </a:lnTo>
                  <a:lnTo>
                    <a:pt x="14737" y="12837"/>
                  </a:lnTo>
                  <a:lnTo>
                    <a:pt x="15223" y="12176"/>
                  </a:lnTo>
                  <a:lnTo>
                    <a:pt x="15547" y="11680"/>
                  </a:lnTo>
                  <a:lnTo>
                    <a:pt x="15628" y="11129"/>
                  </a:lnTo>
                  <a:lnTo>
                    <a:pt x="15789" y="10579"/>
                  </a:lnTo>
                  <a:lnTo>
                    <a:pt x="16032" y="10028"/>
                  </a:lnTo>
                  <a:lnTo>
                    <a:pt x="16275" y="9477"/>
                  </a:lnTo>
                  <a:lnTo>
                    <a:pt x="16923" y="8871"/>
                  </a:lnTo>
                  <a:lnTo>
                    <a:pt x="17004" y="8375"/>
                  </a:lnTo>
                  <a:lnTo>
                    <a:pt x="17085" y="7824"/>
                  </a:lnTo>
                  <a:lnTo>
                    <a:pt x="17247" y="7273"/>
                  </a:lnTo>
                  <a:lnTo>
                    <a:pt x="17409" y="6777"/>
                  </a:lnTo>
                  <a:lnTo>
                    <a:pt x="17571" y="6226"/>
                  </a:lnTo>
                  <a:lnTo>
                    <a:pt x="17571" y="5730"/>
                  </a:lnTo>
                  <a:lnTo>
                    <a:pt x="18219" y="5234"/>
                  </a:lnTo>
                  <a:lnTo>
                    <a:pt x="18462" y="4738"/>
                  </a:lnTo>
                  <a:lnTo>
                    <a:pt x="18543" y="4298"/>
                  </a:lnTo>
                  <a:lnTo>
                    <a:pt x="18785" y="3857"/>
                  </a:lnTo>
                  <a:lnTo>
                    <a:pt x="18947" y="3416"/>
                  </a:lnTo>
                  <a:lnTo>
                    <a:pt x="19028" y="3030"/>
                  </a:lnTo>
                  <a:lnTo>
                    <a:pt x="19433" y="2590"/>
                  </a:lnTo>
                  <a:lnTo>
                    <a:pt x="19433" y="2204"/>
                  </a:lnTo>
                  <a:lnTo>
                    <a:pt x="19514" y="1928"/>
                  </a:lnTo>
                  <a:lnTo>
                    <a:pt x="19595" y="1598"/>
                  </a:lnTo>
                  <a:lnTo>
                    <a:pt x="19838" y="1377"/>
                  </a:lnTo>
                  <a:lnTo>
                    <a:pt x="19838" y="1047"/>
                  </a:lnTo>
                  <a:lnTo>
                    <a:pt x="19919" y="882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97" name="AutoShape 59">
              <a:extLst>
                <a:ext uri="{FF2B5EF4-FFF2-40B4-BE49-F238E27FC236}">
                  <a16:creationId xmlns:a16="http://schemas.microsoft.com/office/drawing/2014/main" id="{B1F0CB2E-56C4-9430-01F8-91B444F6F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" y="1245"/>
              <a:ext cx="139" cy="1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71"/>
                  </a:moveTo>
                  <a:lnTo>
                    <a:pt x="172" y="18470"/>
                  </a:lnTo>
                  <a:lnTo>
                    <a:pt x="429" y="17869"/>
                  </a:lnTo>
                  <a:lnTo>
                    <a:pt x="773" y="17268"/>
                  </a:lnTo>
                  <a:lnTo>
                    <a:pt x="773" y="16721"/>
                  </a:lnTo>
                  <a:lnTo>
                    <a:pt x="1030" y="16120"/>
                  </a:lnTo>
                  <a:lnTo>
                    <a:pt x="1288" y="15519"/>
                  </a:lnTo>
                  <a:lnTo>
                    <a:pt x="1459" y="14918"/>
                  </a:lnTo>
                  <a:lnTo>
                    <a:pt x="1803" y="14262"/>
                  </a:lnTo>
                  <a:lnTo>
                    <a:pt x="1974" y="13661"/>
                  </a:lnTo>
                  <a:lnTo>
                    <a:pt x="2489" y="13115"/>
                  </a:lnTo>
                  <a:lnTo>
                    <a:pt x="2489" y="12568"/>
                  </a:lnTo>
                  <a:lnTo>
                    <a:pt x="2575" y="12022"/>
                  </a:lnTo>
                  <a:lnTo>
                    <a:pt x="2833" y="11421"/>
                  </a:lnTo>
                  <a:lnTo>
                    <a:pt x="2918" y="10874"/>
                  </a:lnTo>
                  <a:lnTo>
                    <a:pt x="3176" y="10328"/>
                  </a:lnTo>
                  <a:lnTo>
                    <a:pt x="3176" y="9836"/>
                  </a:lnTo>
                  <a:lnTo>
                    <a:pt x="3691" y="9290"/>
                  </a:lnTo>
                  <a:lnTo>
                    <a:pt x="4034" y="8798"/>
                  </a:lnTo>
                  <a:lnTo>
                    <a:pt x="4206" y="8197"/>
                  </a:lnTo>
                  <a:lnTo>
                    <a:pt x="4292" y="7760"/>
                  </a:lnTo>
                  <a:lnTo>
                    <a:pt x="4549" y="7268"/>
                  </a:lnTo>
                  <a:lnTo>
                    <a:pt x="4721" y="6776"/>
                  </a:lnTo>
                  <a:lnTo>
                    <a:pt x="5236" y="6339"/>
                  </a:lnTo>
                  <a:lnTo>
                    <a:pt x="5494" y="5902"/>
                  </a:lnTo>
                  <a:lnTo>
                    <a:pt x="5579" y="5410"/>
                  </a:lnTo>
                  <a:lnTo>
                    <a:pt x="5923" y="5027"/>
                  </a:lnTo>
                  <a:lnTo>
                    <a:pt x="5923" y="4590"/>
                  </a:lnTo>
                  <a:lnTo>
                    <a:pt x="6352" y="4153"/>
                  </a:lnTo>
                  <a:lnTo>
                    <a:pt x="6695" y="3770"/>
                  </a:lnTo>
                  <a:lnTo>
                    <a:pt x="6695" y="3443"/>
                  </a:lnTo>
                  <a:lnTo>
                    <a:pt x="7124" y="3005"/>
                  </a:lnTo>
                  <a:lnTo>
                    <a:pt x="7124" y="2732"/>
                  </a:lnTo>
                  <a:lnTo>
                    <a:pt x="7468" y="2404"/>
                  </a:lnTo>
                  <a:lnTo>
                    <a:pt x="7554" y="2131"/>
                  </a:lnTo>
                  <a:lnTo>
                    <a:pt x="7554" y="1803"/>
                  </a:lnTo>
                  <a:lnTo>
                    <a:pt x="7811" y="1585"/>
                  </a:lnTo>
                  <a:lnTo>
                    <a:pt x="8069" y="1311"/>
                  </a:lnTo>
                  <a:lnTo>
                    <a:pt x="8498" y="1038"/>
                  </a:lnTo>
                  <a:lnTo>
                    <a:pt x="8498" y="874"/>
                  </a:lnTo>
                  <a:lnTo>
                    <a:pt x="8841" y="656"/>
                  </a:lnTo>
                  <a:lnTo>
                    <a:pt x="8927" y="492"/>
                  </a:lnTo>
                  <a:lnTo>
                    <a:pt x="9099" y="383"/>
                  </a:lnTo>
                  <a:lnTo>
                    <a:pt x="9442" y="273"/>
                  </a:lnTo>
                  <a:lnTo>
                    <a:pt x="9442" y="109"/>
                  </a:lnTo>
                  <a:lnTo>
                    <a:pt x="9785" y="109"/>
                  </a:lnTo>
                  <a:lnTo>
                    <a:pt x="10129" y="55"/>
                  </a:lnTo>
                  <a:lnTo>
                    <a:pt x="10300" y="0"/>
                  </a:lnTo>
                  <a:lnTo>
                    <a:pt x="10558" y="55"/>
                  </a:lnTo>
                  <a:lnTo>
                    <a:pt x="10815" y="55"/>
                  </a:lnTo>
                  <a:lnTo>
                    <a:pt x="10901" y="109"/>
                  </a:lnTo>
                  <a:lnTo>
                    <a:pt x="11073" y="219"/>
                  </a:lnTo>
                  <a:lnTo>
                    <a:pt x="11416" y="328"/>
                  </a:lnTo>
                  <a:lnTo>
                    <a:pt x="11502" y="492"/>
                  </a:lnTo>
                  <a:lnTo>
                    <a:pt x="11931" y="710"/>
                  </a:lnTo>
                  <a:lnTo>
                    <a:pt x="12189" y="984"/>
                  </a:lnTo>
                  <a:lnTo>
                    <a:pt x="12446" y="1257"/>
                  </a:lnTo>
                  <a:lnTo>
                    <a:pt x="12446" y="1585"/>
                  </a:lnTo>
                  <a:lnTo>
                    <a:pt x="12532" y="1913"/>
                  </a:lnTo>
                  <a:lnTo>
                    <a:pt x="12876" y="2295"/>
                  </a:lnTo>
                  <a:lnTo>
                    <a:pt x="12876" y="2732"/>
                  </a:lnTo>
                  <a:lnTo>
                    <a:pt x="13305" y="3115"/>
                  </a:lnTo>
                  <a:lnTo>
                    <a:pt x="13305" y="3497"/>
                  </a:lnTo>
                  <a:lnTo>
                    <a:pt x="13648" y="3989"/>
                  </a:lnTo>
                  <a:lnTo>
                    <a:pt x="14077" y="4426"/>
                  </a:lnTo>
                  <a:lnTo>
                    <a:pt x="14163" y="4973"/>
                  </a:lnTo>
                  <a:lnTo>
                    <a:pt x="14421" y="5519"/>
                  </a:lnTo>
                  <a:lnTo>
                    <a:pt x="14678" y="5956"/>
                  </a:lnTo>
                  <a:lnTo>
                    <a:pt x="15193" y="6503"/>
                  </a:lnTo>
                  <a:lnTo>
                    <a:pt x="15279" y="7049"/>
                  </a:lnTo>
                  <a:lnTo>
                    <a:pt x="15451" y="7596"/>
                  </a:lnTo>
                  <a:lnTo>
                    <a:pt x="15708" y="8197"/>
                  </a:lnTo>
                  <a:lnTo>
                    <a:pt x="15880" y="8798"/>
                  </a:lnTo>
                  <a:lnTo>
                    <a:pt x="16052" y="9344"/>
                  </a:lnTo>
                  <a:lnTo>
                    <a:pt x="16309" y="9891"/>
                  </a:lnTo>
                  <a:lnTo>
                    <a:pt x="16824" y="10492"/>
                  </a:lnTo>
                  <a:lnTo>
                    <a:pt x="16824" y="11038"/>
                  </a:lnTo>
                  <a:lnTo>
                    <a:pt x="17082" y="11585"/>
                  </a:lnTo>
                  <a:lnTo>
                    <a:pt x="17253" y="12186"/>
                  </a:lnTo>
                  <a:lnTo>
                    <a:pt x="17425" y="12732"/>
                  </a:lnTo>
                  <a:lnTo>
                    <a:pt x="17511" y="13279"/>
                  </a:lnTo>
                  <a:lnTo>
                    <a:pt x="17511" y="13880"/>
                  </a:lnTo>
                  <a:lnTo>
                    <a:pt x="18026" y="14426"/>
                  </a:lnTo>
                  <a:lnTo>
                    <a:pt x="18026" y="14918"/>
                  </a:lnTo>
                  <a:lnTo>
                    <a:pt x="18455" y="15410"/>
                  </a:lnTo>
                  <a:lnTo>
                    <a:pt x="18541" y="15956"/>
                  </a:lnTo>
                  <a:lnTo>
                    <a:pt x="18712" y="16448"/>
                  </a:lnTo>
                  <a:lnTo>
                    <a:pt x="18884" y="16885"/>
                  </a:lnTo>
                  <a:lnTo>
                    <a:pt x="18970" y="17268"/>
                  </a:lnTo>
                  <a:lnTo>
                    <a:pt x="19227" y="17760"/>
                  </a:lnTo>
                  <a:lnTo>
                    <a:pt x="19227" y="18197"/>
                  </a:lnTo>
                  <a:lnTo>
                    <a:pt x="19485" y="18525"/>
                  </a:lnTo>
                  <a:lnTo>
                    <a:pt x="19571" y="18852"/>
                  </a:lnTo>
                  <a:lnTo>
                    <a:pt x="19657" y="19180"/>
                  </a:lnTo>
                  <a:lnTo>
                    <a:pt x="19828" y="19508"/>
                  </a:lnTo>
                  <a:lnTo>
                    <a:pt x="19914" y="19727"/>
                  </a:lnTo>
                  <a:lnTo>
                    <a:pt x="19914" y="19945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98" name="AutoShape 60">
              <a:extLst>
                <a:ext uri="{FF2B5EF4-FFF2-40B4-BE49-F238E27FC236}">
                  <a16:creationId xmlns:a16="http://schemas.microsoft.com/office/drawing/2014/main" id="{842A6C25-B9F0-95A6-DF00-47B79F78B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6" y="1377"/>
              <a:ext cx="146" cy="13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62" y="623"/>
                  </a:lnTo>
                  <a:lnTo>
                    <a:pt x="324" y="1246"/>
                  </a:lnTo>
                  <a:lnTo>
                    <a:pt x="486" y="1870"/>
                  </a:lnTo>
                  <a:lnTo>
                    <a:pt x="567" y="2493"/>
                  </a:lnTo>
                  <a:lnTo>
                    <a:pt x="972" y="3116"/>
                  </a:lnTo>
                  <a:lnTo>
                    <a:pt x="1215" y="3739"/>
                  </a:lnTo>
                  <a:lnTo>
                    <a:pt x="1215" y="4363"/>
                  </a:lnTo>
                  <a:lnTo>
                    <a:pt x="1457" y="4986"/>
                  </a:lnTo>
                  <a:lnTo>
                    <a:pt x="1538" y="5552"/>
                  </a:lnTo>
                  <a:lnTo>
                    <a:pt x="2267" y="6176"/>
                  </a:lnTo>
                  <a:lnTo>
                    <a:pt x="2429" y="6742"/>
                  </a:lnTo>
                  <a:lnTo>
                    <a:pt x="2510" y="7309"/>
                  </a:lnTo>
                  <a:lnTo>
                    <a:pt x="2591" y="7875"/>
                  </a:lnTo>
                  <a:lnTo>
                    <a:pt x="2753" y="8499"/>
                  </a:lnTo>
                  <a:lnTo>
                    <a:pt x="2915" y="9008"/>
                  </a:lnTo>
                  <a:lnTo>
                    <a:pt x="2996" y="9575"/>
                  </a:lnTo>
                  <a:lnTo>
                    <a:pt x="2996" y="10142"/>
                  </a:lnTo>
                  <a:lnTo>
                    <a:pt x="3563" y="10652"/>
                  </a:lnTo>
                  <a:lnTo>
                    <a:pt x="3806" y="11218"/>
                  </a:lnTo>
                  <a:lnTo>
                    <a:pt x="4049" y="11728"/>
                  </a:lnTo>
                  <a:lnTo>
                    <a:pt x="4211" y="12181"/>
                  </a:lnTo>
                  <a:lnTo>
                    <a:pt x="4372" y="12691"/>
                  </a:lnTo>
                  <a:lnTo>
                    <a:pt x="4453" y="13258"/>
                  </a:lnTo>
                  <a:lnTo>
                    <a:pt x="4615" y="13654"/>
                  </a:lnTo>
                  <a:lnTo>
                    <a:pt x="4939" y="14108"/>
                  </a:lnTo>
                  <a:lnTo>
                    <a:pt x="5263" y="14561"/>
                  </a:lnTo>
                  <a:lnTo>
                    <a:pt x="5506" y="15014"/>
                  </a:lnTo>
                  <a:lnTo>
                    <a:pt x="5668" y="15411"/>
                  </a:lnTo>
                  <a:lnTo>
                    <a:pt x="5749" y="15807"/>
                  </a:lnTo>
                  <a:lnTo>
                    <a:pt x="6154" y="16204"/>
                  </a:lnTo>
                  <a:lnTo>
                    <a:pt x="6235" y="16601"/>
                  </a:lnTo>
                  <a:lnTo>
                    <a:pt x="6559" y="16941"/>
                  </a:lnTo>
                  <a:lnTo>
                    <a:pt x="6802" y="17337"/>
                  </a:lnTo>
                  <a:lnTo>
                    <a:pt x="6883" y="17564"/>
                  </a:lnTo>
                  <a:lnTo>
                    <a:pt x="7045" y="17960"/>
                  </a:lnTo>
                  <a:lnTo>
                    <a:pt x="7126" y="18130"/>
                  </a:lnTo>
                  <a:lnTo>
                    <a:pt x="7530" y="18470"/>
                  </a:lnTo>
                  <a:lnTo>
                    <a:pt x="7530" y="18754"/>
                  </a:lnTo>
                  <a:lnTo>
                    <a:pt x="7611" y="18924"/>
                  </a:lnTo>
                  <a:lnTo>
                    <a:pt x="7773" y="19150"/>
                  </a:lnTo>
                  <a:lnTo>
                    <a:pt x="8097" y="19320"/>
                  </a:lnTo>
                  <a:lnTo>
                    <a:pt x="8502" y="19490"/>
                  </a:lnTo>
                  <a:lnTo>
                    <a:pt x="8664" y="19660"/>
                  </a:lnTo>
                  <a:lnTo>
                    <a:pt x="8907" y="19717"/>
                  </a:lnTo>
                  <a:lnTo>
                    <a:pt x="8988" y="19887"/>
                  </a:lnTo>
                  <a:lnTo>
                    <a:pt x="9150" y="19887"/>
                  </a:lnTo>
                  <a:lnTo>
                    <a:pt x="9393" y="19943"/>
                  </a:lnTo>
                  <a:lnTo>
                    <a:pt x="9555" y="19943"/>
                  </a:lnTo>
                  <a:lnTo>
                    <a:pt x="9717" y="19943"/>
                  </a:lnTo>
                  <a:lnTo>
                    <a:pt x="10283" y="19887"/>
                  </a:lnTo>
                  <a:lnTo>
                    <a:pt x="10445" y="19887"/>
                  </a:lnTo>
                  <a:lnTo>
                    <a:pt x="10607" y="19717"/>
                  </a:lnTo>
                  <a:lnTo>
                    <a:pt x="10850" y="19490"/>
                  </a:lnTo>
                  <a:lnTo>
                    <a:pt x="11012" y="19320"/>
                  </a:lnTo>
                  <a:lnTo>
                    <a:pt x="11336" y="19093"/>
                  </a:lnTo>
                  <a:lnTo>
                    <a:pt x="11336" y="18810"/>
                  </a:lnTo>
                  <a:lnTo>
                    <a:pt x="11903" y="18527"/>
                  </a:lnTo>
                  <a:lnTo>
                    <a:pt x="12227" y="18244"/>
                  </a:lnTo>
                  <a:lnTo>
                    <a:pt x="12389" y="17960"/>
                  </a:lnTo>
                  <a:lnTo>
                    <a:pt x="12551" y="17564"/>
                  </a:lnTo>
                  <a:lnTo>
                    <a:pt x="12551" y="17167"/>
                  </a:lnTo>
                  <a:lnTo>
                    <a:pt x="12955" y="16714"/>
                  </a:lnTo>
                  <a:lnTo>
                    <a:pt x="13117" y="16261"/>
                  </a:lnTo>
                  <a:lnTo>
                    <a:pt x="13198" y="15807"/>
                  </a:lnTo>
                  <a:lnTo>
                    <a:pt x="13522" y="15411"/>
                  </a:lnTo>
                  <a:lnTo>
                    <a:pt x="13846" y="14844"/>
                  </a:lnTo>
                  <a:lnTo>
                    <a:pt x="14089" y="14334"/>
                  </a:lnTo>
                  <a:lnTo>
                    <a:pt x="14332" y="13824"/>
                  </a:lnTo>
                  <a:lnTo>
                    <a:pt x="14656" y="13314"/>
                  </a:lnTo>
                  <a:lnTo>
                    <a:pt x="14737" y="12805"/>
                  </a:lnTo>
                  <a:lnTo>
                    <a:pt x="15223" y="12181"/>
                  </a:lnTo>
                  <a:lnTo>
                    <a:pt x="15547" y="11671"/>
                  </a:lnTo>
                  <a:lnTo>
                    <a:pt x="15628" y="11105"/>
                  </a:lnTo>
                  <a:lnTo>
                    <a:pt x="15789" y="10538"/>
                  </a:lnTo>
                  <a:lnTo>
                    <a:pt x="16032" y="10028"/>
                  </a:lnTo>
                  <a:lnTo>
                    <a:pt x="16275" y="9462"/>
                  </a:lnTo>
                  <a:lnTo>
                    <a:pt x="16923" y="8895"/>
                  </a:lnTo>
                  <a:lnTo>
                    <a:pt x="17004" y="8385"/>
                  </a:lnTo>
                  <a:lnTo>
                    <a:pt x="17085" y="7819"/>
                  </a:lnTo>
                  <a:lnTo>
                    <a:pt x="17247" y="7309"/>
                  </a:lnTo>
                  <a:lnTo>
                    <a:pt x="17409" y="6742"/>
                  </a:lnTo>
                  <a:lnTo>
                    <a:pt x="17571" y="6232"/>
                  </a:lnTo>
                  <a:lnTo>
                    <a:pt x="17571" y="5722"/>
                  </a:lnTo>
                  <a:lnTo>
                    <a:pt x="18219" y="5212"/>
                  </a:lnTo>
                  <a:lnTo>
                    <a:pt x="18462" y="4759"/>
                  </a:lnTo>
                  <a:lnTo>
                    <a:pt x="18543" y="4249"/>
                  </a:lnTo>
                  <a:lnTo>
                    <a:pt x="18785" y="3853"/>
                  </a:lnTo>
                  <a:lnTo>
                    <a:pt x="18947" y="3399"/>
                  </a:lnTo>
                  <a:lnTo>
                    <a:pt x="19028" y="3003"/>
                  </a:lnTo>
                  <a:lnTo>
                    <a:pt x="19433" y="2606"/>
                  </a:lnTo>
                  <a:lnTo>
                    <a:pt x="19433" y="2266"/>
                  </a:lnTo>
                  <a:lnTo>
                    <a:pt x="19514" y="1870"/>
                  </a:lnTo>
                  <a:lnTo>
                    <a:pt x="19595" y="1643"/>
                  </a:lnTo>
                  <a:lnTo>
                    <a:pt x="19838" y="1360"/>
                  </a:lnTo>
                  <a:lnTo>
                    <a:pt x="19838" y="1076"/>
                  </a:lnTo>
                  <a:lnTo>
                    <a:pt x="19919" y="8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99" name="AutoShape 61">
              <a:extLst>
                <a:ext uri="{FF2B5EF4-FFF2-40B4-BE49-F238E27FC236}">
                  <a16:creationId xmlns:a16="http://schemas.microsoft.com/office/drawing/2014/main" id="{AB79BABA-EFAC-55DD-54F3-B3B5BB9F4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0" y="1238"/>
              <a:ext cx="138" cy="14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96"/>
                  </a:moveTo>
                  <a:lnTo>
                    <a:pt x="172" y="18457"/>
                  </a:lnTo>
                  <a:lnTo>
                    <a:pt x="429" y="17872"/>
                  </a:lnTo>
                  <a:lnTo>
                    <a:pt x="773" y="17287"/>
                  </a:lnTo>
                  <a:lnTo>
                    <a:pt x="773" y="16649"/>
                  </a:lnTo>
                  <a:lnTo>
                    <a:pt x="1030" y="16064"/>
                  </a:lnTo>
                  <a:lnTo>
                    <a:pt x="1288" y="15479"/>
                  </a:lnTo>
                  <a:lnTo>
                    <a:pt x="1459" y="14894"/>
                  </a:lnTo>
                  <a:lnTo>
                    <a:pt x="1803" y="14255"/>
                  </a:lnTo>
                  <a:lnTo>
                    <a:pt x="1974" y="13670"/>
                  </a:lnTo>
                  <a:lnTo>
                    <a:pt x="2489" y="13138"/>
                  </a:lnTo>
                  <a:lnTo>
                    <a:pt x="2489" y="12553"/>
                  </a:lnTo>
                  <a:lnTo>
                    <a:pt x="2575" y="12021"/>
                  </a:lnTo>
                  <a:lnTo>
                    <a:pt x="2833" y="11489"/>
                  </a:lnTo>
                  <a:lnTo>
                    <a:pt x="2918" y="10904"/>
                  </a:lnTo>
                  <a:lnTo>
                    <a:pt x="3176" y="10372"/>
                  </a:lnTo>
                  <a:lnTo>
                    <a:pt x="3176" y="9840"/>
                  </a:lnTo>
                  <a:lnTo>
                    <a:pt x="3691" y="9255"/>
                  </a:lnTo>
                  <a:lnTo>
                    <a:pt x="4034" y="8723"/>
                  </a:lnTo>
                  <a:lnTo>
                    <a:pt x="4206" y="8191"/>
                  </a:lnTo>
                  <a:lnTo>
                    <a:pt x="4292" y="7766"/>
                  </a:lnTo>
                  <a:lnTo>
                    <a:pt x="4549" y="7234"/>
                  </a:lnTo>
                  <a:lnTo>
                    <a:pt x="4721" y="6755"/>
                  </a:lnTo>
                  <a:lnTo>
                    <a:pt x="5236" y="6330"/>
                  </a:lnTo>
                  <a:lnTo>
                    <a:pt x="5494" y="5904"/>
                  </a:lnTo>
                  <a:lnTo>
                    <a:pt x="5579" y="5426"/>
                  </a:lnTo>
                  <a:lnTo>
                    <a:pt x="5923" y="5000"/>
                  </a:lnTo>
                  <a:lnTo>
                    <a:pt x="5923" y="4521"/>
                  </a:lnTo>
                  <a:lnTo>
                    <a:pt x="6352" y="4149"/>
                  </a:lnTo>
                  <a:lnTo>
                    <a:pt x="6695" y="3777"/>
                  </a:lnTo>
                  <a:lnTo>
                    <a:pt x="6695" y="3404"/>
                  </a:lnTo>
                  <a:lnTo>
                    <a:pt x="7124" y="3032"/>
                  </a:lnTo>
                  <a:lnTo>
                    <a:pt x="7124" y="2713"/>
                  </a:lnTo>
                  <a:lnTo>
                    <a:pt x="7468" y="2447"/>
                  </a:lnTo>
                  <a:lnTo>
                    <a:pt x="7554" y="2128"/>
                  </a:lnTo>
                  <a:lnTo>
                    <a:pt x="7554" y="1809"/>
                  </a:lnTo>
                  <a:lnTo>
                    <a:pt x="7811" y="1543"/>
                  </a:lnTo>
                  <a:lnTo>
                    <a:pt x="8069" y="1330"/>
                  </a:lnTo>
                  <a:lnTo>
                    <a:pt x="8498" y="1064"/>
                  </a:lnTo>
                  <a:lnTo>
                    <a:pt x="8498" y="851"/>
                  </a:lnTo>
                  <a:lnTo>
                    <a:pt x="8841" y="691"/>
                  </a:lnTo>
                  <a:lnTo>
                    <a:pt x="8927" y="479"/>
                  </a:lnTo>
                  <a:lnTo>
                    <a:pt x="9099" y="372"/>
                  </a:lnTo>
                  <a:lnTo>
                    <a:pt x="9442" y="266"/>
                  </a:lnTo>
                  <a:lnTo>
                    <a:pt x="9442" y="106"/>
                  </a:lnTo>
                  <a:lnTo>
                    <a:pt x="9785" y="106"/>
                  </a:lnTo>
                  <a:lnTo>
                    <a:pt x="10129" y="53"/>
                  </a:lnTo>
                  <a:lnTo>
                    <a:pt x="10300" y="0"/>
                  </a:lnTo>
                  <a:lnTo>
                    <a:pt x="10558" y="53"/>
                  </a:lnTo>
                  <a:lnTo>
                    <a:pt x="10815" y="53"/>
                  </a:lnTo>
                  <a:lnTo>
                    <a:pt x="10901" y="106"/>
                  </a:lnTo>
                  <a:lnTo>
                    <a:pt x="11073" y="213"/>
                  </a:lnTo>
                  <a:lnTo>
                    <a:pt x="11416" y="319"/>
                  </a:lnTo>
                  <a:lnTo>
                    <a:pt x="11502" y="479"/>
                  </a:lnTo>
                  <a:lnTo>
                    <a:pt x="11931" y="745"/>
                  </a:lnTo>
                  <a:lnTo>
                    <a:pt x="12189" y="1011"/>
                  </a:lnTo>
                  <a:lnTo>
                    <a:pt x="12446" y="1277"/>
                  </a:lnTo>
                  <a:lnTo>
                    <a:pt x="12446" y="1543"/>
                  </a:lnTo>
                  <a:lnTo>
                    <a:pt x="12532" y="1915"/>
                  </a:lnTo>
                  <a:lnTo>
                    <a:pt x="12876" y="2287"/>
                  </a:lnTo>
                  <a:lnTo>
                    <a:pt x="12876" y="2713"/>
                  </a:lnTo>
                  <a:lnTo>
                    <a:pt x="13305" y="3138"/>
                  </a:lnTo>
                  <a:lnTo>
                    <a:pt x="13305" y="3564"/>
                  </a:lnTo>
                  <a:lnTo>
                    <a:pt x="13648" y="3989"/>
                  </a:lnTo>
                  <a:lnTo>
                    <a:pt x="14077" y="4415"/>
                  </a:lnTo>
                  <a:lnTo>
                    <a:pt x="14163" y="4947"/>
                  </a:lnTo>
                  <a:lnTo>
                    <a:pt x="14421" y="5479"/>
                  </a:lnTo>
                  <a:lnTo>
                    <a:pt x="14678" y="5957"/>
                  </a:lnTo>
                  <a:lnTo>
                    <a:pt x="15193" y="6489"/>
                  </a:lnTo>
                  <a:lnTo>
                    <a:pt x="15279" y="7074"/>
                  </a:lnTo>
                  <a:lnTo>
                    <a:pt x="15451" y="7606"/>
                  </a:lnTo>
                  <a:lnTo>
                    <a:pt x="15708" y="8191"/>
                  </a:lnTo>
                  <a:lnTo>
                    <a:pt x="15880" y="8777"/>
                  </a:lnTo>
                  <a:lnTo>
                    <a:pt x="16052" y="9362"/>
                  </a:lnTo>
                  <a:lnTo>
                    <a:pt x="16309" y="9894"/>
                  </a:lnTo>
                  <a:lnTo>
                    <a:pt x="16824" y="10426"/>
                  </a:lnTo>
                  <a:lnTo>
                    <a:pt x="16824" y="11011"/>
                  </a:lnTo>
                  <a:lnTo>
                    <a:pt x="17082" y="11649"/>
                  </a:lnTo>
                  <a:lnTo>
                    <a:pt x="17253" y="12181"/>
                  </a:lnTo>
                  <a:lnTo>
                    <a:pt x="17425" y="12766"/>
                  </a:lnTo>
                  <a:lnTo>
                    <a:pt x="17511" y="13298"/>
                  </a:lnTo>
                  <a:lnTo>
                    <a:pt x="17511" y="13830"/>
                  </a:lnTo>
                  <a:lnTo>
                    <a:pt x="18026" y="14415"/>
                  </a:lnTo>
                  <a:lnTo>
                    <a:pt x="18026" y="14947"/>
                  </a:lnTo>
                  <a:lnTo>
                    <a:pt x="18455" y="15479"/>
                  </a:lnTo>
                  <a:lnTo>
                    <a:pt x="18541" y="15904"/>
                  </a:lnTo>
                  <a:lnTo>
                    <a:pt x="18712" y="16436"/>
                  </a:lnTo>
                  <a:lnTo>
                    <a:pt x="18884" y="16862"/>
                  </a:lnTo>
                  <a:lnTo>
                    <a:pt x="18970" y="17340"/>
                  </a:lnTo>
                  <a:lnTo>
                    <a:pt x="19227" y="17713"/>
                  </a:lnTo>
                  <a:lnTo>
                    <a:pt x="19227" y="18138"/>
                  </a:lnTo>
                  <a:lnTo>
                    <a:pt x="19485" y="18511"/>
                  </a:lnTo>
                  <a:lnTo>
                    <a:pt x="19571" y="18883"/>
                  </a:lnTo>
                  <a:lnTo>
                    <a:pt x="19657" y="19149"/>
                  </a:lnTo>
                  <a:lnTo>
                    <a:pt x="19828" y="19521"/>
                  </a:lnTo>
                  <a:lnTo>
                    <a:pt x="19914" y="19734"/>
                  </a:lnTo>
                  <a:lnTo>
                    <a:pt x="19914" y="19947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00" name="AutoShape 62">
              <a:extLst>
                <a:ext uri="{FF2B5EF4-FFF2-40B4-BE49-F238E27FC236}">
                  <a16:creationId xmlns:a16="http://schemas.microsoft.com/office/drawing/2014/main" id="{17EFE00B-0B8D-869A-9F01-EBA347C3F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1374"/>
              <a:ext cx="147" cy="1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62" y="661"/>
                  </a:lnTo>
                  <a:lnTo>
                    <a:pt x="324" y="1212"/>
                  </a:lnTo>
                  <a:lnTo>
                    <a:pt x="486" y="1873"/>
                  </a:lnTo>
                  <a:lnTo>
                    <a:pt x="567" y="2534"/>
                  </a:lnTo>
                  <a:lnTo>
                    <a:pt x="972" y="3140"/>
                  </a:lnTo>
                  <a:lnTo>
                    <a:pt x="1215" y="3691"/>
                  </a:lnTo>
                  <a:lnTo>
                    <a:pt x="1215" y="4298"/>
                  </a:lnTo>
                  <a:lnTo>
                    <a:pt x="1457" y="4959"/>
                  </a:lnTo>
                  <a:lnTo>
                    <a:pt x="1538" y="5565"/>
                  </a:lnTo>
                  <a:lnTo>
                    <a:pt x="2267" y="6171"/>
                  </a:lnTo>
                  <a:lnTo>
                    <a:pt x="2429" y="6777"/>
                  </a:lnTo>
                  <a:lnTo>
                    <a:pt x="2510" y="7328"/>
                  </a:lnTo>
                  <a:lnTo>
                    <a:pt x="2591" y="7879"/>
                  </a:lnTo>
                  <a:lnTo>
                    <a:pt x="2753" y="8485"/>
                  </a:lnTo>
                  <a:lnTo>
                    <a:pt x="2915" y="9036"/>
                  </a:lnTo>
                  <a:lnTo>
                    <a:pt x="2996" y="9642"/>
                  </a:lnTo>
                  <a:lnTo>
                    <a:pt x="2996" y="10138"/>
                  </a:lnTo>
                  <a:lnTo>
                    <a:pt x="3563" y="10689"/>
                  </a:lnTo>
                  <a:lnTo>
                    <a:pt x="3806" y="11185"/>
                  </a:lnTo>
                  <a:lnTo>
                    <a:pt x="4049" y="11736"/>
                  </a:lnTo>
                  <a:lnTo>
                    <a:pt x="4211" y="12176"/>
                  </a:lnTo>
                  <a:lnTo>
                    <a:pt x="4372" y="12727"/>
                  </a:lnTo>
                  <a:lnTo>
                    <a:pt x="4453" y="13223"/>
                  </a:lnTo>
                  <a:lnTo>
                    <a:pt x="4615" y="13664"/>
                  </a:lnTo>
                  <a:lnTo>
                    <a:pt x="4939" y="14105"/>
                  </a:lnTo>
                  <a:lnTo>
                    <a:pt x="5263" y="14545"/>
                  </a:lnTo>
                  <a:lnTo>
                    <a:pt x="5506" y="14986"/>
                  </a:lnTo>
                  <a:lnTo>
                    <a:pt x="5668" y="15482"/>
                  </a:lnTo>
                  <a:lnTo>
                    <a:pt x="5749" y="15868"/>
                  </a:lnTo>
                  <a:lnTo>
                    <a:pt x="6154" y="16198"/>
                  </a:lnTo>
                  <a:lnTo>
                    <a:pt x="6235" y="16584"/>
                  </a:lnTo>
                  <a:lnTo>
                    <a:pt x="6559" y="16970"/>
                  </a:lnTo>
                  <a:lnTo>
                    <a:pt x="6802" y="17245"/>
                  </a:lnTo>
                  <a:lnTo>
                    <a:pt x="6883" y="17631"/>
                  </a:lnTo>
                  <a:lnTo>
                    <a:pt x="7045" y="17906"/>
                  </a:lnTo>
                  <a:lnTo>
                    <a:pt x="7126" y="18182"/>
                  </a:lnTo>
                  <a:lnTo>
                    <a:pt x="7530" y="18457"/>
                  </a:lnTo>
                  <a:lnTo>
                    <a:pt x="7530" y="18733"/>
                  </a:lnTo>
                  <a:lnTo>
                    <a:pt x="7611" y="18953"/>
                  </a:lnTo>
                  <a:lnTo>
                    <a:pt x="7773" y="19118"/>
                  </a:lnTo>
                  <a:lnTo>
                    <a:pt x="8097" y="19339"/>
                  </a:lnTo>
                  <a:lnTo>
                    <a:pt x="8502" y="19504"/>
                  </a:lnTo>
                  <a:lnTo>
                    <a:pt x="8664" y="19669"/>
                  </a:lnTo>
                  <a:lnTo>
                    <a:pt x="8907" y="19725"/>
                  </a:lnTo>
                  <a:lnTo>
                    <a:pt x="8988" y="19890"/>
                  </a:lnTo>
                  <a:lnTo>
                    <a:pt x="9150" y="19890"/>
                  </a:lnTo>
                  <a:lnTo>
                    <a:pt x="9393" y="19945"/>
                  </a:lnTo>
                  <a:lnTo>
                    <a:pt x="9555" y="19945"/>
                  </a:lnTo>
                  <a:lnTo>
                    <a:pt x="9717" y="19945"/>
                  </a:lnTo>
                  <a:lnTo>
                    <a:pt x="10283" y="19890"/>
                  </a:lnTo>
                  <a:lnTo>
                    <a:pt x="10445" y="19890"/>
                  </a:lnTo>
                  <a:lnTo>
                    <a:pt x="10607" y="19725"/>
                  </a:lnTo>
                  <a:lnTo>
                    <a:pt x="10850" y="19504"/>
                  </a:lnTo>
                  <a:lnTo>
                    <a:pt x="11012" y="19339"/>
                  </a:lnTo>
                  <a:lnTo>
                    <a:pt x="11336" y="19118"/>
                  </a:lnTo>
                  <a:lnTo>
                    <a:pt x="11336" y="18843"/>
                  </a:lnTo>
                  <a:lnTo>
                    <a:pt x="11903" y="18567"/>
                  </a:lnTo>
                  <a:lnTo>
                    <a:pt x="12227" y="18237"/>
                  </a:lnTo>
                  <a:lnTo>
                    <a:pt x="12389" y="17851"/>
                  </a:lnTo>
                  <a:lnTo>
                    <a:pt x="12551" y="17466"/>
                  </a:lnTo>
                  <a:lnTo>
                    <a:pt x="12551" y="17190"/>
                  </a:lnTo>
                  <a:lnTo>
                    <a:pt x="12955" y="16749"/>
                  </a:lnTo>
                  <a:lnTo>
                    <a:pt x="13117" y="16309"/>
                  </a:lnTo>
                  <a:lnTo>
                    <a:pt x="13198" y="15813"/>
                  </a:lnTo>
                  <a:lnTo>
                    <a:pt x="13522" y="15317"/>
                  </a:lnTo>
                  <a:lnTo>
                    <a:pt x="13846" y="14876"/>
                  </a:lnTo>
                  <a:lnTo>
                    <a:pt x="14089" y="14325"/>
                  </a:lnTo>
                  <a:lnTo>
                    <a:pt x="14332" y="13829"/>
                  </a:lnTo>
                  <a:lnTo>
                    <a:pt x="14656" y="13278"/>
                  </a:lnTo>
                  <a:lnTo>
                    <a:pt x="14737" y="12837"/>
                  </a:lnTo>
                  <a:lnTo>
                    <a:pt x="15223" y="12176"/>
                  </a:lnTo>
                  <a:lnTo>
                    <a:pt x="15547" y="11680"/>
                  </a:lnTo>
                  <a:lnTo>
                    <a:pt x="15628" y="11129"/>
                  </a:lnTo>
                  <a:lnTo>
                    <a:pt x="15789" y="10579"/>
                  </a:lnTo>
                  <a:lnTo>
                    <a:pt x="16032" y="10028"/>
                  </a:lnTo>
                  <a:lnTo>
                    <a:pt x="16275" y="9477"/>
                  </a:lnTo>
                  <a:lnTo>
                    <a:pt x="16923" y="8871"/>
                  </a:lnTo>
                  <a:lnTo>
                    <a:pt x="17004" y="8375"/>
                  </a:lnTo>
                  <a:lnTo>
                    <a:pt x="17085" y="7824"/>
                  </a:lnTo>
                  <a:lnTo>
                    <a:pt x="17247" y="7273"/>
                  </a:lnTo>
                  <a:lnTo>
                    <a:pt x="17409" y="6777"/>
                  </a:lnTo>
                  <a:lnTo>
                    <a:pt x="17571" y="6226"/>
                  </a:lnTo>
                  <a:lnTo>
                    <a:pt x="17571" y="5730"/>
                  </a:lnTo>
                  <a:lnTo>
                    <a:pt x="18219" y="5234"/>
                  </a:lnTo>
                  <a:lnTo>
                    <a:pt x="18462" y="4738"/>
                  </a:lnTo>
                  <a:lnTo>
                    <a:pt x="18543" y="4298"/>
                  </a:lnTo>
                  <a:lnTo>
                    <a:pt x="18785" y="3857"/>
                  </a:lnTo>
                  <a:lnTo>
                    <a:pt x="18947" y="3416"/>
                  </a:lnTo>
                  <a:lnTo>
                    <a:pt x="19028" y="3030"/>
                  </a:lnTo>
                  <a:lnTo>
                    <a:pt x="19433" y="2590"/>
                  </a:lnTo>
                  <a:lnTo>
                    <a:pt x="19433" y="2204"/>
                  </a:lnTo>
                  <a:lnTo>
                    <a:pt x="19514" y="1928"/>
                  </a:lnTo>
                  <a:lnTo>
                    <a:pt x="19595" y="1598"/>
                  </a:lnTo>
                  <a:lnTo>
                    <a:pt x="19838" y="1377"/>
                  </a:lnTo>
                  <a:lnTo>
                    <a:pt x="19838" y="1047"/>
                  </a:lnTo>
                  <a:lnTo>
                    <a:pt x="19919" y="882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01" name="AutoShape 63">
              <a:extLst>
                <a:ext uri="{FF2B5EF4-FFF2-40B4-BE49-F238E27FC236}">
                  <a16:creationId xmlns:a16="http://schemas.microsoft.com/office/drawing/2014/main" id="{CB87F290-FAB0-8CB7-4B38-309F20E58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1241"/>
              <a:ext cx="139" cy="1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71"/>
                  </a:moveTo>
                  <a:lnTo>
                    <a:pt x="172" y="18470"/>
                  </a:lnTo>
                  <a:lnTo>
                    <a:pt x="429" y="17869"/>
                  </a:lnTo>
                  <a:lnTo>
                    <a:pt x="773" y="17268"/>
                  </a:lnTo>
                  <a:lnTo>
                    <a:pt x="773" y="16721"/>
                  </a:lnTo>
                  <a:lnTo>
                    <a:pt x="1030" y="16120"/>
                  </a:lnTo>
                  <a:lnTo>
                    <a:pt x="1288" y="15519"/>
                  </a:lnTo>
                  <a:lnTo>
                    <a:pt x="1459" y="14918"/>
                  </a:lnTo>
                  <a:lnTo>
                    <a:pt x="1803" y="14262"/>
                  </a:lnTo>
                  <a:lnTo>
                    <a:pt x="1974" y="13661"/>
                  </a:lnTo>
                  <a:lnTo>
                    <a:pt x="2489" y="13115"/>
                  </a:lnTo>
                  <a:lnTo>
                    <a:pt x="2489" y="12568"/>
                  </a:lnTo>
                  <a:lnTo>
                    <a:pt x="2575" y="12022"/>
                  </a:lnTo>
                  <a:lnTo>
                    <a:pt x="2833" y="11421"/>
                  </a:lnTo>
                  <a:lnTo>
                    <a:pt x="2918" y="10874"/>
                  </a:lnTo>
                  <a:lnTo>
                    <a:pt x="3176" y="10328"/>
                  </a:lnTo>
                  <a:lnTo>
                    <a:pt x="3176" y="9836"/>
                  </a:lnTo>
                  <a:lnTo>
                    <a:pt x="3691" y="9290"/>
                  </a:lnTo>
                  <a:lnTo>
                    <a:pt x="4034" y="8798"/>
                  </a:lnTo>
                  <a:lnTo>
                    <a:pt x="4206" y="8197"/>
                  </a:lnTo>
                  <a:lnTo>
                    <a:pt x="4292" y="7760"/>
                  </a:lnTo>
                  <a:lnTo>
                    <a:pt x="4549" y="7268"/>
                  </a:lnTo>
                  <a:lnTo>
                    <a:pt x="4721" y="6776"/>
                  </a:lnTo>
                  <a:lnTo>
                    <a:pt x="5236" y="6339"/>
                  </a:lnTo>
                  <a:lnTo>
                    <a:pt x="5494" y="5902"/>
                  </a:lnTo>
                  <a:lnTo>
                    <a:pt x="5579" y="5410"/>
                  </a:lnTo>
                  <a:lnTo>
                    <a:pt x="5923" y="5027"/>
                  </a:lnTo>
                  <a:lnTo>
                    <a:pt x="5923" y="4590"/>
                  </a:lnTo>
                  <a:lnTo>
                    <a:pt x="6352" y="4153"/>
                  </a:lnTo>
                  <a:lnTo>
                    <a:pt x="6695" y="3770"/>
                  </a:lnTo>
                  <a:lnTo>
                    <a:pt x="6695" y="3443"/>
                  </a:lnTo>
                  <a:lnTo>
                    <a:pt x="7124" y="3005"/>
                  </a:lnTo>
                  <a:lnTo>
                    <a:pt x="7124" y="2732"/>
                  </a:lnTo>
                  <a:lnTo>
                    <a:pt x="7468" y="2404"/>
                  </a:lnTo>
                  <a:lnTo>
                    <a:pt x="7554" y="2131"/>
                  </a:lnTo>
                  <a:lnTo>
                    <a:pt x="7554" y="1803"/>
                  </a:lnTo>
                  <a:lnTo>
                    <a:pt x="7811" y="1585"/>
                  </a:lnTo>
                  <a:lnTo>
                    <a:pt x="8069" y="1311"/>
                  </a:lnTo>
                  <a:lnTo>
                    <a:pt x="8498" y="1038"/>
                  </a:lnTo>
                  <a:lnTo>
                    <a:pt x="8498" y="874"/>
                  </a:lnTo>
                  <a:lnTo>
                    <a:pt x="8841" y="656"/>
                  </a:lnTo>
                  <a:lnTo>
                    <a:pt x="8927" y="492"/>
                  </a:lnTo>
                  <a:lnTo>
                    <a:pt x="9099" y="383"/>
                  </a:lnTo>
                  <a:lnTo>
                    <a:pt x="9442" y="273"/>
                  </a:lnTo>
                  <a:lnTo>
                    <a:pt x="9442" y="109"/>
                  </a:lnTo>
                  <a:lnTo>
                    <a:pt x="9785" y="109"/>
                  </a:lnTo>
                  <a:lnTo>
                    <a:pt x="10129" y="55"/>
                  </a:lnTo>
                  <a:lnTo>
                    <a:pt x="10300" y="0"/>
                  </a:lnTo>
                  <a:lnTo>
                    <a:pt x="10558" y="55"/>
                  </a:lnTo>
                  <a:lnTo>
                    <a:pt x="10815" y="55"/>
                  </a:lnTo>
                  <a:lnTo>
                    <a:pt x="10901" y="109"/>
                  </a:lnTo>
                  <a:lnTo>
                    <a:pt x="11073" y="219"/>
                  </a:lnTo>
                  <a:lnTo>
                    <a:pt x="11416" y="328"/>
                  </a:lnTo>
                  <a:lnTo>
                    <a:pt x="11502" y="492"/>
                  </a:lnTo>
                  <a:lnTo>
                    <a:pt x="11931" y="710"/>
                  </a:lnTo>
                  <a:lnTo>
                    <a:pt x="12189" y="984"/>
                  </a:lnTo>
                  <a:lnTo>
                    <a:pt x="12446" y="1257"/>
                  </a:lnTo>
                  <a:lnTo>
                    <a:pt x="12446" y="1585"/>
                  </a:lnTo>
                  <a:lnTo>
                    <a:pt x="12532" y="1913"/>
                  </a:lnTo>
                  <a:lnTo>
                    <a:pt x="12876" y="2295"/>
                  </a:lnTo>
                  <a:lnTo>
                    <a:pt x="12876" y="2732"/>
                  </a:lnTo>
                  <a:lnTo>
                    <a:pt x="13305" y="3115"/>
                  </a:lnTo>
                  <a:lnTo>
                    <a:pt x="13305" y="3497"/>
                  </a:lnTo>
                  <a:lnTo>
                    <a:pt x="13648" y="3989"/>
                  </a:lnTo>
                  <a:lnTo>
                    <a:pt x="14077" y="4426"/>
                  </a:lnTo>
                  <a:lnTo>
                    <a:pt x="14163" y="4973"/>
                  </a:lnTo>
                  <a:lnTo>
                    <a:pt x="14421" y="5519"/>
                  </a:lnTo>
                  <a:lnTo>
                    <a:pt x="14678" y="5956"/>
                  </a:lnTo>
                  <a:lnTo>
                    <a:pt x="15193" y="6503"/>
                  </a:lnTo>
                  <a:lnTo>
                    <a:pt x="15279" y="7049"/>
                  </a:lnTo>
                  <a:lnTo>
                    <a:pt x="15451" y="7596"/>
                  </a:lnTo>
                  <a:lnTo>
                    <a:pt x="15708" y="8197"/>
                  </a:lnTo>
                  <a:lnTo>
                    <a:pt x="15880" y="8798"/>
                  </a:lnTo>
                  <a:lnTo>
                    <a:pt x="16052" y="9344"/>
                  </a:lnTo>
                  <a:lnTo>
                    <a:pt x="16309" y="9891"/>
                  </a:lnTo>
                  <a:lnTo>
                    <a:pt x="16824" y="10492"/>
                  </a:lnTo>
                  <a:lnTo>
                    <a:pt x="16824" y="11038"/>
                  </a:lnTo>
                  <a:lnTo>
                    <a:pt x="17082" y="11585"/>
                  </a:lnTo>
                  <a:lnTo>
                    <a:pt x="17253" y="12186"/>
                  </a:lnTo>
                  <a:lnTo>
                    <a:pt x="17425" y="12732"/>
                  </a:lnTo>
                  <a:lnTo>
                    <a:pt x="17511" y="13279"/>
                  </a:lnTo>
                  <a:lnTo>
                    <a:pt x="17511" y="13880"/>
                  </a:lnTo>
                  <a:lnTo>
                    <a:pt x="18026" y="14426"/>
                  </a:lnTo>
                  <a:lnTo>
                    <a:pt x="18026" y="14918"/>
                  </a:lnTo>
                  <a:lnTo>
                    <a:pt x="18455" y="15410"/>
                  </a:lnTo>
                  <a:lnTo>
                    <a:pt x="18541" y="15956"/>
                  </a:lnTo>
                  <a:lnTo>
                    <a:pt x="18712" y="16448"/>
                  </a:lnTo>
                  <a:lnTo>
                    <a:pt x="18884" y="16885"/>
                  </a:lnTo>
                  <a:lnTo>
                    <a:pt x="18970" y="17268"/>
                  </a:lnTo>
                  <a:lnTo>
                    <a:pt x="19227" y="17760"/>
                  </a:lnTo>
                  <a:lnTo>
                    <a:pt x="19227" y="18197"/>
                  </a:lnTo>
                  <a:lnTo>
                    <a:pt x="19485" y="18525"/>
                  </a:lnTo>
                  <a:lnTo>
                    <a:pt x="19571" y="18852"/>
                  </a:lnTo>
                  <a:lnTo>
                    <a:pt x="19657" y="19180"/>
                  </a:lnTo>
                  <a:lnTo>
                    <a:pt x="19828" y="19508"/>
                  </a:lnTo>
                  <a:lnTo>
                    <a:pt x="19914" y="19727"/>
                  </a:lnTo>
                  <a:lnTo>
                    <a:pt x="19914" y="19945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02" name="AutoShape 64">
              <a:extLst>
                <a:ext uri="{FF2B5EF4-FFF2-40B4-BE49-F238E27FC236}">
                  <a16:creationId xmlns:a16="http://schemas.microsoft.com/office/drawing/2014/main" id="{1F650B5F-AE5A-640A-4E97-EE75FD4DF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1373"/>
              <a:ext cx="146" cy="13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62" y="623"/>
                  </a:lnTo>
                  <a:lnTo>
                    <a:pt x="324" y="1246"/>
                  </a:lnTo>
                  <a:lnTo>
                    <a:pt x="486" y="1870"/>
                  </a:lnTo>
                  <a:lnTo>
                    <a:pt x="567" y="2493"/>
                  </a:lnTo>
                  <a:lnTo>
                    <a:pt x="972" y="3116"/>
                  </a:lnTo>
                  <a:lnTo>
                    <a:pt x="1215" y="3739"/>
                  </a:lnTo>
                  <a:lnTo>
                    <a:pt x="1215" y="4363"/>
                  </a:lnTo>
                  <a:lnTo>
                    <a:pt x="1457" y="4986"/>
                  </a:lnTo>
                  <a:lnTo>
                    <a:pt x="1538" y="5552"/>
                  </a:lnTo>
                  <a:lnTo>
                    <a:pt x="2267" y="6176"/>
                  </a:lnTo>
                  <a:lnTo>
                    <a:pt x="2429" y="6742"/>
                  </a:lnTo>
                  <a:lnTo>
                    <a:pt x="2510" y="7309"/>
                  </a:lnTo>
                  <a:lnTo>
                    <a:pt x="2591" y="7875"/>
                  </a:lnTo>
                  <a:lnTo>
                    <a:pt x="2753" y="8499"/>
                  </a:lnTo>
                  <a:lnTo>
                    <a:pt x="2915" y="9008"/>
                  </a:lnTo>
                  <a:lnTo>
                    <a:pt x="2996" y="9575"/>
                  </a:lnTo>
                  <a:lnTo>
                    <a:pt x="2996" y="10142"/>
                  </a:lnTo>
                  <a:lnTo>
                    <a:pt x="3563" y="10652"/>
                  </a:lnTo>
                  <a:lnTo>
                    <a:pt x="3806" y="11218"/>
                  </a:lnTo>
                  <a:lnTo>
                    <a:pt x="4049" y="11728"/>
                  </a:lnTo>
                  <a:lnTo>
                    <a:pt x="4211" y="12181"/>
                  </a:lnTo>
                  <a:lnTo>
                    <a:pt x="4372" y="12691"/>
                  </a:lnTo>
                  <a:lnTo>
                    <a:pt x="4453" y="13258"/>
                  </a:lnTo>
                  <a:lnTo>
                    <a:pt x="4615" y="13654"/>
                  </a:lnTo>
                  <a:lnTo>
                    <a:pt x="4939" y="14108"/>
                  </a:lnTo>
                  <a:lnTo>
                    <a:pt x="5263" y="14561"/>
                  </a:lnTo>
                  <a:lnTo>
                    <a:pt x="5506" y="15014"/>
                  </a:lnTo>
                  <a:lnTo>
                    <a:pt x="5668" y="15411"/>
                  </a:lnTo>
                  <a:lnTo>
                    <a:pt x="5749" y="15807"/>
                  </a:lnTo>
                  <a:lnTo>
                    <a:pt x="6154" y="16204"/>
                  </a:lnTo>
                  <a:lnTo>
                    <a:pt x="6235" y="16601"/>
                  </a:lnTo>
                  <a:lnTo>
                    <a:pt x="6559" y="16941"/>
                  </a:lnTo>
                  <a:lnTo>
                    <a:pt x="6802" y="17337"/>
                  </a:lnTo>
                  <a:lnTo>
                    <a:pt x="6883" y="17564"/>
                  </a:lnTo>
                  <a:lnTo>
                    <a:pt x="7045" y="17960"/>
                  </a:lnTo>
                  <a:lnTo>
                    <a:pt x="7126" y="18130"/>
                  </a:lnTo>
                  <a:lnTo>
                    <a:pt x="7530" y="18470"/>
                  </a:lnTo>
                  <a:lnTo>
                    <a:pt x="7530" y="18754"/>
                  </a:lnTo>
                  <a:lnTo>
                    <a:pt x="7611" y="18924"/>
                  </a:lnTo>
                  <a:lnTo>
                    <a:pt x="7773" y="19150"/>
                  </a:lnTo>
                  <a:lnTo>
                    <a:pt x="8097" y="19320"/>
                  </a:lnTo>
                  <a:lnTo>
                    <a:pt x="8502" y="19490"/>
                  </a:lnTo>
                  <a:lnTo>
                    <a:pt x="8664" y="19660"/>
                  </a:lnTo>
                  <a:lnTo>
                    <a:pt x="8907" y="19717"/>
                  </a:lnTo>
                  <a:lnTo>
                    <a:pt x="8988" y="19887"/>
                  </a:lnTo>
                  <a:lnTo>
                    <a:pt x="9150" y="19887"/>
                  </a:lnTo>
                  <a:lnTo>
                    <a:pt x="9393" y="19943"/>
                  </a:lnTo>
                  <a:lnTo>
                    <a:pt x="9555" y="19943"/>
                  </a:lnTo>
                  <a:lnTo>
                    <a:pt x="9717" y="19943"/>
                  </a:lnTo>
                  <a:lnTo>
                    <a:pt x="10283" y="19887"/>
                  </a:lnTo>
                  <a:lnTo>
                    <a:pt x="10445" y="19887"/>
                  </a:lnTo>
                  <a:lnTo>
                    <a:pt x="10607" y="19717"/>
                  </a:lnTo>
                  <a:lnTo>
                    <a:pt x="10850" y="19490"/>
                  </a:lnTo>
                  <a:lnTo>
                    <a:pt x="11012" y="19320"/>
                  </a:lnTo>
                  <a:lnTo>
                    <a:pt x="11336" y="19093"/>
                  </a:lnTo>
                  <a:lnTo>
                    <a:pt x="11336" y="18810"/>
                  </a:lnTo>
                  <a:lnTo>
                    <a:pt x="11903" y="18527"/>
                  </a:lnTo>
                  <a:lnTo>
                    <a:pt x="12227" y="18244"/>
                  </a:lnTo>
                  <a:lnTo>
                    <a:pt x="12389" y="17960"/>
                  </a:lnTo>
                  <a:lnTo>
                    <a:pt x="12551" y="17564"/>
                  </a:lnTo>
                  <a:lnTo>
                    <a:pt x="12551" y="17167"/>
                  </a:lnTo>
                  <a:lnTo>
                    <a:pt x="12955" y="16714"/>
                  </a:lnTo>
                  <a:lnTo>
                    <a:pt x="13117" y="16261"/>
                  </a:lnTo>
                  <a:lnTo>
                    <a:pt x="13198" y="15807"/>
                  </a:lnTo>
                  <a:lnTo>
                    <a:pt x="13522" y="15411"/>
                  </a:lnTo>
                  <a:lnTo>
                    <a:pt x="13846" y="14844"/>
                  </a:lnTo>
                  <a:lnTo>
                    <a:pt x="14089" y="14334"/>
                  </a:lnTo>
                  <a:lnTo>
                    <a:pt x="14332" y="13824"/>
                  </a:lnTo>
                  <a:lnTo>
                    <a:pt x="14656" y="13314"/>
                  </a:lnTo>
                  <a:lnTo>
                    <a:pt x="14737" y="12805"/>
                  </a:lnTo>
                  <a:lnTo>
                    <a:pt x="15223" y="12181"/>
                  </a:lnTo>
                  <a:lnTo>
                    <a:pt x="15547" y="11671"/>
                  </a:lnTo>
                  <a:lnTo>
                    <a:pt x="15628" y="11105"/>
                  </a:lnTo>
                  <a:lnTo>
                    <a:pt x="15789" y="10538"/>
                  </a:lnTo>
                  <a:lnTo>
                    <a:pt x="16032" y="10028"/>
                  </a:lnTo>
                  <a:lnTo>
                    <a:pt x="16275" y="9462"/>
                  </a:lnTo>
                  <a:lnTo>
                    <a:pt x="16923" y="8895"/>
                  </a:lnTo>
                  <a:lnTo>
                    <a:pt x="17004" y="8385"/>
                  </a:lnTo>
                  <a:lnTo>
                    <a:pt x="17085" y="7819"/>
                  </a:lnTo>
                  <a:lnTo>
                    <a:pt x="17247" y="7309"/>
                  </a:lnTo>
                  <a:lnTo>
                    <a:pt x="17409" y="6742"/>
                  </a:lnTo>
                  <a:lnTo>
                    <a:pt x="17571" y="6232"/>
                  </a:lnTo>
                  <a:lnTo>
                    <a:pt x="17571" y="5722"/>
                  </a:lnTo>
                  <a:lnTo>
                    <a:pt x="18219" y="5212"/>
                  </a:lnTo>
                  <a:lnTo>
                    <a:pt x="18462" y="4759"/>
                  </a:lnTo>
                  <a:lnTo>
                    <a:pt x="18543" y="4249"/>
                  </a:lnTo>
                  <a:lnTo>
                    <a:pt x="18785" y="3853"/>
                  </a:lnTo>
                  <a:lnTo>
                    <a:pt x="18947" y="3399"/>
                  </a:lnTo>
                  <a:lnTo>
                    <a:pt x="19028" y="3003"/>
                  </a:lnTo>
                  <a:lnTo>
                    <a:pt x="19433" y="2606"/>
                  </a:lnTo>
                  <a:lnTo>
                    <a:pt x="19433" y="2266"/>
                  </a:lnTo>
                  <a:lnTo>
                    <a:pt x="19514" y="1870"/>
                  </a:lnTo>
                  <a:lnTo>
                    <a:pt x="19595" y="1643"/>
                  </a:lnTo>
                  <a:lnTo>
                    <a:pt x="19838" y="1360"/>
                  </a:lnTo>
                  <a:lnTo>
                    <a:pt x="19838" y="1076"/>
                  </a:lnTo>
                  <a:lnTo>
                    <a:pt x="19919" y="8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03" name="AutoShape 65">
              <a:extLst>
                <a:ext uri="{FF2B5EF4-FFF2-40B4-BE49-F238E27FC236}">
                  <a16:creationId xmlns:a16="http://schemas.microsoft.com/office/drawing/2014/main" id="{2BDA2411-B740-CAE9-EB27-4AE1F62D3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6" y="1233"/>
              <a:ext cx="130" cy="14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96"/>
                  </a:moveTo>
                  <a:lnTo>
                    <a:pt x="184" y="18457"/>
                  </a:lnTo>
                  <a:lnTo>
                    <a:pt x="461" y="17872"/>
                  </a:lnTo>
                  <a:lnTo>
                    <a:pt x="737" y="17287"/>
                  </a:lnTo>
                  <a:lnTo>
                    <a:pt x="737" y="16649"/>
                  </a:lnTo>
                  <a:lnTo>
                    <a:pt x="1014" y="16064"/>
                  </a:lnTo>
                  <a:lnTo>
                    <a:pt x="1290" y="15479"/>
                  </a:lnTo>
                  <a:lnTo>
                    <a:pt x="1475" y="14894"/>
                  </a:lnTo>
                  <a:lnTo>
                    <a:pt x="1843" y="14255"/>
                  </a:lnTo>
                  <a:lnTo>
                    <a:pt x="2028" y="13670"/>
                  </a:lnTo>
                  <a:lnTo>
                    <a:pt x="2488" y="13138"/>
                  </a:lnTo>
                  <a:lnTo>
                    <a:pt x="2488" y="12553"/>
                  </a:lnTo>
                  <a:lnTo>
                    <a:pt x="2581" y="12021"/>
                  </a:lnTo>
                  <a:lnTo>
                    <a:pt x="2857" y="11489"/>
                  </a:lnTo>
                  <a:lnTo>
                    <a:pt x="2949" y="10904"/>
                  </a:lnTo>
                  <a:lnTo>
                    <a:pt x="3226" y="10372"/>
                  </a:lnTo>
                  <a:lnTo>
                    <a:pt x="3226" y="9840"/>
                  </a:lnTo>
                  <a:lnTo>
                    <a:pt x="3687" y="9255"/>
                  </a:lnTo>
                  <a:lnTo>
                    <a:pt x="4055" y="8723"/>
                  </a:lnTo>
                  <a:lnTo>
                    <a:pt x="4240" y="8191"/>
                  </a:lnTo>
                  <a:lnTo>
                    <a:pt x="4332" y="7766"/>
                  </a:lnTo>
                  <a:lnTo>
                    <a:pt x="4608" y="7234"/>
                  </a:lnTo>
                  <a:lnTo>
                    <a:pt x="4793" y="6755"/>
                  </a:lnTo>
                  <a:lnTo>
                    <a:pt x="5161" y="6330"/>
                  </a:lnTo>
                  <a:lnTo>
                    <a:pt x="5438" y="5904"/>
                  </a:lnTo>
                  <a:lnTo>
                    <a:pt x="5530" y="5426"/>
                  </a:lnTo>
                  <a:lnTo>
                    <a:pt x="5899" y="5000"/>
                  </a:lnTo>
                  <a:lnTo>
                    <a:pt x="5899" y="4521"/>
                  </a:lnTo>
                  <a:lnTo>
                    <a:pt x="6359" y="4149"/>
                  </a:lnTo>
                  <a:lnTo>
                    <a:pt x="6636" y="3777"/>
                  </a:lnTo>
                  <a:lnTo>
                    <a:pt x="6636" y="3404"/>
                  </a:lnTo>
                  <a:lnTo>
                    <a:pt x="7097" y="3032"/>
                  </a:lnTo>
                  <a:lnTo>
                    <a:pt x="7097" y="2713"/>
                  </a:lnTo>
                  <a:lnTo>
                    <a:pt x="7465" y="2447"/>
                  </a:lnTo>
                  <a:lnTo>
                    <a:pt x="7558" y="2128"/>
                  </a:lnTo>
                  <a:lnTo>
                    <a:pt x="7558" y="1809"/>
                  </a:lnTo>
                  <a:lnTo>
                    <a:pt x="7834" y="1543"/>
                  </a:lnTo>
                  <a:lnTo>
                    <a:pt x="8018" y="1330"/>
                  </a:lnTo>
                  <a:lnTo>
                    <a:pt x="8479" y="1064"/>
                  </a:lnTo>
                  <a:lnTo>
                    <a:pt x="8479" y="851"/>
                  </a:lnTo>
                  <a:lnTo>
                    <a:pt x="8848" y="691"/>
                  </a:lnTo>
                  <a:lnTo>
                    <a:pt x="8940" y="479"/>
                  </a:lnTo>
                  <a:lnTo>
                    <a:pt x="9124" y="372"/>
                  </a:lnTo>
                  <a:lnTo>
                    <a:pt x="9401" y="266"/>
                  </a:lnTo>
                  <a:lnTo>
                    <a:pt x="9401" y="106"/>
                  </a:lnTo>
                  <a:lnTo>
                    <a:pt x="9770" y="106"/>
                  </a:lnTo>
                  <a:lnTo>
                    <a:pt x="10138" y="53"/>
                  </a:lnTo>
                  <a:lnTo>
                    <a:pt x="10323" y="0"/>
                  </a:lnTo>
                  <a:lnTo>
                    <a:pt x="10599" y="53"/>
                  </a:lnTo>
                  <a:lnTo>
                    <a:pt x="10783" y="53"/>
                  </a:lnTo>
                  <a:lnTo>
                    <a:pt x="10876" y="106"/>
                  </a:lnTo>
                  <a:lnTo>
                    <a:pt x="11060" y="213"/>
                  </a:lnTo>
                  <a:lnTo>
                    <a:pt x="11429" y="319"/>
                  </a:lnTo>
                  <a:lnTo>
                    <a:pt x="11521" y="479"/>
                  </a:lnTo>
                  <a:lnTo>
                    <a:pt x="11982" y="745"/>
                  </a:lnTo>
                  <a:lnTo>
                    <a:pt x="12166" y="1011"/>
                  </a:lnTo>
                  <a:lnTo>
                    <a:pt x="12442" y="1277"/>
                  </a:lnTo>
                  <a:lnTo>
                    <a:pt x="12442" y="1543"/>
                  </a:lnTo>
                  <a:lnTo>
                    <a:pt x="12535" y="1915"/>
                  </a:lnTo>
                  <a:lnTo>
                    <a:pt x="12903" y="2287"/>
                  </a:lnTo>
                  <a:lnTo>
                    <a:pt x="12903" y="2713"/>
                  </a:lnTo>
                  <a:lnTo>
                    <a:pt x="13364" y="3138"/>
                  </a:lnTo>
                  <a:lnTo>
                    <a:pt x="13364" y="3564"/>
                  </a:lnTo>
                  <a:lnTo>
                    <a:pt x="13641" y="3989"/>
                  </a:lnTo>
                  <a:lnTo>
                    <a:pt x="14101" y="4415"/>
                  </a:lnTo>
                  <a:lnTo>
                    <a:pt x="14194" y="4947"/>
                  </a:lnTo>
                  <a:lnTo>
                    <a:pt x="14470" y="5479"/>
                  </a:lnTo>
                  <a:lnTo>
                    <a:pt x="14747" y="5957"/>
                  </a:lnTo>
                  <a:lnTo>
                    <a:pt x="15115" y="6489"/>
                  </a:lnTo>
                  <a:lnTo>
                    <a:pt x="15207" y="7074"/>
                  </a:lnTo>
                  <a:lnTo>
                    <a:pt x="15392" y="7606"/>
                  </a:lnTo>
                  <a:lnTo>
                    <a:pt x="15668" y="8191"/>
                  </a:lnTo>
                  <a:lnTo>
                    <a:pt x="15853" y="8777"/>
                  </a:lnTo>
                  <a:lnTo>
                    <a:pt x="16037" y="9362"/>
                  </a:lnTo>
                  <a:lnTo>
                    <a:pt x="16313" y="9894"/>
                  </a:lnTo>
                  <a:lnTo>
                    <a:pt x="16774" y="10426"/>
                  </a:lnTo>
                  <a:lnTo>
                    <a:pt x="16774" y="11011"/>
                  </a:lnTo>
                  <a:lnTo>
                    <a:pt x="17051" y="11649"/>
                  </a:lnTo>
                  <a:lnTo>
                    <a:pt x="17235" y="12181"/>
                  </a:lnTo>
                  <a:lnTo>
                    <a:pt x="17419" y="12766"/>
                  </a:lnTo>
                  <a:lnTo>
                    <a:pt x="17512" y="13298"/>
                  </a:lnTo>
                  <a:lnTo>
                    <a:pt x="17512" y="13830"/>
                  </a:lnTo>
                  <a:lnTo>
                    <a:pt x="17972" y="14415"/>
                  </a:lnTo>
                  <a:lnTo>
                    <a:pt x="17972" y="14947"/>
                  </a:lnTo>
                  <a:lnTo>
                    <a:pt x="18433" y="15479"/>
                  </a:lnTo>
                  <a:lnTo>
                    <a:pt x="18525" y="15904"/>
                  </a:lnTo>
                  <a:lnTo>
                    <a:pt x="18710" y="16436"/>
                  </a:lnTo>
                  <a:lnTo>
                    <a:pt x="18894" y="16862"/>
                  </a:lnTo>
                  <a:lnTo>
                    <a:pt x="18986" y="17340"/>
                  </a:lnTo>
                  <a:lnTo>
                    <a:pt x="19263" y="17713"/>
                  </a:lnTo>
                  <a:lnTo>
                    <a:pt x="19263" y="18138"/>
                  </a:lnTo>
                  <a:lnTo>
                    <a:pt x="19447" y="18511"/>
                  </a:lnTo>
                  <a:lnTo>
                    <a:pt x="19539" y="18883"/>
                  </a:lnTo>
                  <a:lnTo>
                    <a:pt x="19631" y="19149"/>
                  </a:lnTo>
                  <a:lnTo>
                    <a:pt x="19816" y="19521"/>
                  </a:lnTo>
                  <a:lnTo>
                    <a:pt x="19908" y="19734"/>
                  </a:lnTo>
                  <a:lnTo>
                    <a:pt x="19908" y="19947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04" name="AutoShape 66">
              <a:extLst>
                <a:ext uri="{FF2B5EF4-FFF2-40B4-BE49-F238E27FC236}">
                  <a16:creationId xmlns:a16="http://schemas.microsoft.com/office/drawing/2014/main" id="{84998B0E-B3C1-1B21-1723-C15C80DF9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4" y="1368"/>
              <a:ext cx="137" cy="1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74" y="661"/>
                  </a:lnTo>
                  <a:lnTo>
                    <a:pt x="348" y="1212"/>
                  </a:lnTo>
                  <a:lnTo>
                    <a:pt x="522" y="1873"/>
                  </a:lnTo>
                  <a:lnTo>
                    <a:pt x="609" y="2534"/>
                  </a:lnTo>
                  <a:lnTo>
                    <a:pt x="957" y="3140"/>
                  </a:lnTo>
                  <a:lnTo>
                    <a:pt x="1217" y="3691"/>
                  </a:lnTo>
                  <a:lnTo>
                    <a:pt x="1217" y="4298"/>
                  </a:lnTo>
                  <a:lnTo>
                    <a:pt x="1478" y="4959"/>
                  </a:lnTo>
                  <a:lnTo>
                    <a:pt x="1565" y="5565"/>
                  </a:lnTo>
                  <a:lnTo>
                    <a:pt x="2261" y="6171"/>
                  </a:lnTo>
                  <a:lnTo>
                    <a:pt x="2435" y="6777"/>
                  </a:lnTo>
                  <a:lnTo>
                    <a:pt x="2522" y="7328"/>
                  </a:lnTo>
                  <a:lnTo>
                    <a:pt x="2609" y="7879"/>
                  </a:lnTo>
                  <a:lnTo>
                    <a:pt x="2783" y="8485"/>
                  </a:lnTo>
                  <a:lnTo>
                    <a:pt x="2957" y="9036"/>
                  </a:lnTo>
                  <a:lnTo>
                    <a:pt x="3043" y="9642"/>
                  </a:lnTo>
                  <a:lnTo>
                    <a:pt x="3043" y="10138"/>
                  </a:lnTo>
                  <a:lnTo>
                    <a:pt x="3565" y="10689"/>
                  </a:lnTo>
                  <a:lnTo>
                    <a:pt x="3739" y="11185"/>
                  </a:lnTo>
                  <a:lnTo>
                    <a:pt x="4000" y="11736"/>
                  </a:lnTo>
                  <a:lnTo>
                    <a:pt x="4174" y="12176"/>
                  </a:lnTo>
                  <a:lnTo>
                    <a:pt x="4348" y="12727"/>
                  </a:lnTo>
                  <a:lnTo>
                    <a:pt x="4435" y="13223"/>
                  </a:lnTo>
                  <a:lnTo>
                    <a:pt x="4609" y="13664"/>
                  </a:lnTo>
                  <a:lnTo>
                    <a:pt x="4957" y="14105"/>
                  </a:lnTo>
                  <a:lnTo>
                    <a:pt x="5217" y="14545"/>
                  </a:lnTo>
                  <a:lnTo>
                    <a:pt x="5478" y="14986"/>
                  </a:lnTo>
                  <a:lnTo>
                    <a:pt x="5652" y="15482"/>
                  </a:lnTo>
                  <a:lnTo>
                    <a:pt x="5739" y="15868"/>
                  </a:lnTo>
                  <a:lnTo>
                    <a:pt x="6174" y="16198"/>
                  </a:lnTo>
                  <a:lnTo>
                    <a:pt x="6261" y="16584"/>
                  </a:lnTo>
                  <a:lnTo>
                    <a:pt x="6522" y="16970"/>
                  </a:lnTo>
                  <a:lnTo>
                    <a:pt x="6783" y="17245"/>
                  </a:lnTo>
                  <a:lnTo>
                    <a:pt x="6870" y="17631"/>
                  </a:lnTo>
                  <a:lnTo>
                    <a:pt x="7043" y="17906"/>
                  </a:lnTo>
                  <a:lnTo>
                    <a:pt x="7130" y="18182"/>
                  </a:lnTo>
                  <a:lnTo>
                    <a:pt x="7565" y="18457"/>
                  </a:lnTo>
                  <a:lnTo>
                    <a:pt x="7565" y="18733"/>
                  </a:lnTo>
                  <a:lnTo>
                    <a:pt x="7652" y="18953"/>
                  </a:lnTo>
                  <a:lnTo>
                    <a:pt x="7826" y="19118"/>
                  </a:lnTo>
                  <a:lnTo>
                    <a:pt x="8087" y="19339"/>
                  </a:lnTo>
                  <a:lnTo>
                    <a:pt x="8522" y="19504"/>
                  </a:lnTo>
                  <a:lnTo>
                    <a:pt x="8696" y="19669"/>
                  </a:lnTo>
                  <a:lnTo>
                    <a:pt x="8957" y="19725"/>
                  </a:lnTo>
                  <a:lnTo>
                    <a:pt x="9043" y="19890"/>
                  </a:lnTo>
                  <a:lnTo>
                    <a:pt x="9217" y="19890"/>
                  </a:lnTo>
                  <a:lnTo>
                    <a:pt x="9391" y="19945"/>
                  </a:lnTo>
                  <a:lnTo>
                    <a:pt x="9565" y="19945"/>
                  </a:lnTo>
                  <a:lnTo>
                    <a:pt x="9739" y="19945"/>
                  </a:lnTo>
                  <a:lnTo>
                    <a:pt x="10261" y="19890"/>
                  </a:lnTo>
                  <a:lnTo>
                    <a:pt x="10435" y="19890"/>
                  </a:lnTo>
                  <a:lnTo>
                    <a:pt x="10609" y="19725"/>
                  </a:lnTo>
                  <a:lnTo>
                    <a:pt x="10783" y="19504"/>
                  </a:lnTo>
                  <a:lnTo>
                    <a:pt x="10957" y="19339"/>
                  </a:lnTo>
                  <a:lnTo>
                    <a:pt x="11304" y="19118"/>
                  </a:lnTo>
                  <a:lnTo>
                    <a:pt x="11304" y="18843"/>
                  </a:lnTo>
                  <a:lnTo>
                    <a:pt x="11913" y="18567"/>
                  </a:lnTo>
                  <a:lnTo>
                    <a:pt x="12174" y="18237"/>
                  </a:lnTo>
                  <a:lnTo>
                    <a:pt x="12348" y="17851"/>
                  </a:lnTo>
                  <a:lnTo>
                    <a:pt x="12522" y="17466"/>
                  </a:lnTo>
                  <a:lnTo>
                    <a:pt x="12522" y="17190"/>
                  </a:lnTo>
                  <a:lnTo>
                    <a:pt x="12957" y="16749"/>
                  </a:lnTo>
                  <a:lnTo>
                    <a:pt x="13130" y="16309"/>
                  </a:lnTo>
                  <a:lnTo>
                    <a:pt x="13217" y="15813"/>
                  </a:lnTo>
                  <a:lnTo>
                    <a:pt x="13565" y="15317"/>
                  </a:lnTo>
                  <a:lnTo>
                    <a:pt x="13826" y="14876"/>
                  </a:lnTo>
                  <a:lnTo>
                    <a:pt x="14087" y="14325"/>
                  </a:lnTo>
                  <a:lnTo>
                    <a:pt x="14348" y="13829"/>
                  </a:lnTo>
                  <a:lnTo>
                    <a:pt x="14696" y="13278"/>
                  </a:lnTo>
                  <a:lnTo>
                    <a:pt x="14783" y="12837"/>
                  </a:lnTo>
                  <a:lnTo>
                    <a:pt x="15217" y="12176"/>
                  </a:lnTo>
                  <a:lnTo>
                    <a:pt x="15565" y="11680"/>
                  </a:lnTo>
                  <a:lnTo>
                    <a:pt x="15652" y="11129"/>
                  </a:lnTo>
                  <a:lnTo>
                    <a:pt x="15826" y="10579"/>
                  </a:lnTo>
                  <a:lnTo>
                    <a:pt x="16087" y="10028"/>
                  </a:lnTo>
                  <a:lnTo>
                    <a:pt x="16348" y="9477"/>
                  </a:lnTo>
                  <a:lnTo>
                    <a:pt x="16870" y="8871"/>
                  </a:lnTo>
                  <a:lnTo>
                    <a:pt x="16957" y="8375"/>
                  </a:lnTo>
                  <a:lnTo>
                    <a:pt x="17043" y="7824"/>
                  </a:lnTo>
                  <a:lnTo>
                    <a:pt x="17217" y="7273"/>
                  </a:lnTo>
                  <a:lnTo>
                    <a:pt x="17391" y="6777"/>
                  </a:lnTo>
                  <a:lnTo>
                    <a:pt x="17565" y="6226"/>
                  </a:lnTo>
                  <a:lnTo>
                    <a:pt x="17565" y="5730"/>
                  </a:lnTo>
                  <a:lnTo>
                    <a:pt x="18174" y="5234"/>
                  </a:lnTo>
                  <a:lnTo>
                    <a:pt x="18435" y="4738"/>
                  </a:lnTo>
                  <a:lnTo>
                    <a:pt x="18522" y="4298"/>
                  </a:lnTo>
                  <a:lnTo>
                    <a:pt x="18783" y="3857"/>
                  </a:lnTo>
                  <a:lnTo>
                    <a:pt x="18957" y="3416"/>
                  </a:lnTo>
                  <a:lnTo>
                    <a:pt x="19043" y="3030"/>
                  </a:lnTo>
                  <a:lnTo>
                    <a:pt x="19391" y="2590"/>
                  </a:lnTo>
                  <a:lnTo>
                    <a:pt x="19391" y="2204"/>
                  </a:lnTo>
                  <a:lnTo>
                    <a:pt x="19478" y="1928"/>
                  </a:lnTo>
                  <a:lnTo>
                    <a:pt x="19565" y="1598"/>
                  </a:lnTo>
                  <a:lnTo>
                    <a:pt x="19826" y="1377"/>
                  </a:lnTo>
                  <a:lnTo>
                    <a:pt x="19826" y="1047"/>
                  </a:lnTo>
                  <a:lnTo>
                    <a:pt x="19913" y="882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05" name="AutoShape 67">
              <a:extLst>
                <a:ext uri="{FF2B5EF4-FFF2-40B4-BE49-F238E27FC236}">
                  <a16:creationId xmlns:a16="http://schemas.microsoft.com/office/drawing/2014/main" id="{137F5D6E-76D8-8825-10A3-2D6D49316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6" y="1236"/>
              <a:ext cx="129" cy="1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71"/>
                  </a:moveTo>
                  <a:lnTo>
                    <a:pt x="184" y="18470"/>
                  </a:lnTo>
                  <a:lnTo>
                    <a:pt x="461" y="17869"/>
                  </a:lnTo>
                  <a:lnTo>
                    <a:pt x="737" y="17268"/>
                  </a:lnTo>
                  <a:lnTo>
                    <a:pt x="737" y="16721"/>
                  </a:lnTo>
                  <a:lnTo>
                    <a:pt x="1014" y="16120"/>
                  </a:lnTo>
                  <a:lnTo>
                    <a:pt x="1290" y="15519"/>
                  </a:lnTo>
                  <a:lnTo>
                    <a:pt x="1475" y="14918"/>
                  </a:lnTo>
                  <a:lnTo>
                    <a:pt x="1843" y="14262"/>
                  </a:lnTo>
                  <a:lnTo>
                    <a:pt x="2028" y="13661"/>
                  </a:lnTo>
                  <a:lnTo>
                    <a:pt x="2488" y="13115"/>
                  </a:lnTo>
                  <a:lnTo>
                    <a:pt x="2488" y="12568"/>
                  </a:lnTo>
                  <a:lnTo>
                    <a:pt x="2581" y="12022"/>
                  </a:lnTo>
                  <a:lnTo>
                    <a:pt x="2857" y="11421"/>
                  </a:lnTo>
                  <a:lnTo>
                    <a:pt x="2949" y="10874"/>
                  </a:lnTo>
                  <a:lnTo>
                    <a:pt x="3226" y="10328"/>
                  </a:lnTo>
                  <a:lnTo>
                    <a:pt x="3226" y="9836"/>
                  </a:lnTo>
                  <a:lnTo>
                    <a:pt x="3687" y="9290"/>
                  </a:lnTo>
                  <a:lnTo>
                    <a:pt x="4055" y="8798"/>
                  </a:lnTo>
                  <a:lnTo>
                    <a:pt x="4240" y="8197"/>
                  </a:lnTo>
                  <a:lnTo>
                    <a:pt x="4332" y="7760"/>
                  </a:lnTo>
                  <a:lnTo>
                    <a:pt x="4608" y="7268"/>
                  </a:lnTo>
                  <a:lnTo>
                    <a:pt x="4793" y="6776"/>
                  </a:lnTo>
                  <a:lnTo>
                    <a:pt x="5161" y="6339"/>
                  </a:lnTo>
                  <a:lnTo>
                    <a:pt x="5438" y="5902"/>
                  </a:lnTo>
                  <a:lnTo>
                    <a:pt x="5530" y="5410"/>
                  </a:lnTo>
                  <a:lnTo>
                    <a:pt x="5899" y="5027"/>
                  </a:lnTo>
                  <a:lnTo>
                    <a:pt x="5899" y="4590"/>
                  </a:lnTo>
                  <a:lnTo>
                    <a:pt x="6359" y="4153"/>
                  </a:lnTo>
                  <a:lnTo>
                    <a:pt x="6636" y="3770"/>
                  </a:lnTo>
                  <a:lnTo>
                    <a:pt x="6636" y="3443"/>
                  </a:lnTo>
                  <a:lnTo>
                    <a:pt x="7097" y="3005"/>
                  </a:lnTo>
                  <a:lnTo>
                    <a:pt x="7097" y="2732"/>
                  </a:lnTo>
                  <a:lnTo>
                    <a:pt x="7465" y="2404"/>
                  </a:lnTo>
                  <a:lnTo>
                    <a:pt x="7558" y="2131"/>
                  </a:lnTo>
                  <a:lnTo>
                    <a:pt x="7558" y="1803"/>
                  </a:lnTo>
                  <a:lnTo>
                    <a:pt x="7834" y="1585"/>
                  </a:lnTo>
                  <a:lnTo>
                    <a:pt x="8018" y="1311"/>
                  </a:lnTo>
                  <a:lnTo>
                    <a:pt x="8479" y="1038"/>
                  </a:lnTo>
                  <a:lnTo>
                    <a:pt x="8479" y="874"/>
                  </a:lnTo>
                  <a:lnTo>
                    <a:pt x="8848" y="656"/>
                  </a:lnTo>
                  <a:lnTo>
                    <a:pt x="8940" y="492"/>
                  </a:lnTo>
                  <a:lnTo>
                    <a:pt x="9124" y="383"/>
                  </a:lnTo>
                  <a:lnTo>
                    <a:pt x="9401" y="273"/>
                  </a:lnTo>
                  <a:lnTo>
                    <a:pt x="9401" y="109"/>
                  </a:lnTo>
                  <a:lnTo>
                    <a:pt x="9770" y="109"/>
                  </a:lnTo>
                  <a:lnTo>
                    <a:pt x="10138" y="55"/>
                  </a:lnTo>
                  <a:lnTo>
                    <a:pt x="10323" y="0"/>
                  </a:lnTo>
                  <a:lnTo>
                    <a:pt x="10599" y="55"/>
                  </a:lnTo>
                  <a:lnTo>
                    <a:pt x="10783" y="55"/>
                  </a:lnTo>
                  <a:lnTo>
                    <a:pt x="10876" y="109"/>
                  </a:lnTo>
                  <a:lnTo>
                    <a:pt x="11060" y="219"/>
                  </a:lnTo>
                  <a:lnTo>
                    <a:pt x="11429" y="328"/>
                  </a:lnTo>
                  <a:lnTo>
                    <a:pt x="11521" y="492"/>
                  </a:lnTo>
                  <a:lnTo>
                    <a:pt x="11982" y="710"/>
                  </a:lnTo>
                  <a:lnTo>
                    <a:pt x="12166" y="984"/>
                  </a:lnTo>
                  <a:lnTo>
                    <a:pt x="12442" y="1257"/>
                  </a:lnTo>
                  <a:lnTo>
                    <a:pt x="12442" y="1585"/>
                  </a:lnTo>
                  <a:lnTo>
                    <a:pt x="12535" y="1913"/>
                  </a:lnTo>
                  <a:lnTo>
                    <a:pt x="12903" y="2295"/>
                  </a:lnTo>
                  <a:lnTo>
                    <a:pt x="12903" y="2732"/>
                  </a:lnTo>
                  <a:lnTo>
                    <a:pt x="13364" y="3115"/>
                  </a:lnTo>
                  <a:lnTo>
                    <a:pt x="13364" y="3497"/>
                  </a:lnTo>
                  <a:lnTo>
                    <a:pt x="13641" y="3989"/>
                  </a:lnTo>
                  <a:lnTo>
                    <a:pt x="14101" y="4426"/>
                  </a:lnTo>
                  <a:lnTo>
                    <a:pt x="14194" y="4973"/>
                  </a:lnTo>
                  <a:lnTo>
                    <a:pt x="14470" y="5519"/>
                  </a:lnTo>
                  <a:lnTo>
                    <a:pt x="14747" y="5956"/>
                  </a:lnTo>
                  <a:lnTo>
                    <a:pt x="15115" y="6503"/>
                  </a:lnTo>
                  <a:lnTo>
                    <a:pt x="15207" y="7049"/>
                  </a:lnTo>
                  <a:lnTo>
                    <a:pt x="15392" y="7596"/>
                  </a:lnTo>
                  <a:lnTo>
                    <a:pt x="15668" y="8197"/>
                  </a:lnTo>
                  <a:lnTo>
                    <a:pt x="15853" y="8798"/>
                  </a:lnTo>
                  <a:lnTo>
                    <a:pt x="16037" y="9344"/>
                  </a:lnTo>
                  <a:lnTo>
                    <a:pt x="16313" y="9891"/>
                  </a:lnTo>
                  <a:lnTo>
                    <a:pt x="16774" y="10492"/>
                  </a:lnTo>
                  <a:lnTo>
                    <a:pt x="16774" y="11038"/>
                  </a:lnTo>
                  <a:lnTo>
                    <a:pt x="17051" y="11585"/>
                  </a:lnTo>
                  <a:lnTo>
                    <a:pt x="17235" y="12186"/>
                  </a:lnTo>
                  <a:lnTo>
                    <a:pt x="17419" y="12732"/>
                  </a:lnTo>
                  <a:lnTo>
                    <a:pt x="17512" y="13279"/>
                  </a:lnTo>
                  <a:lnTo>
                    <a:pt x="17512" y="13880"/>
                  </a:lnTo>
                  <a:lnTo>
                    <a:pt x="17972" y="14426"/>
                  </a:lnTo>
                  <a:lnTo>
                    <a:pt x="17972" y="14918"/>
                  </a:lnTo>
                  <a:lnTo>
                    <a:pt x="18433" y="15410"/>
                  </a:lnTo>
                  <a:lnTo>
                    <a:pt x="18525" y="15956"/>
                  </a:lnTo>
                  <a:lnTo>
                    <a:pt x="18710" y="16448"/>
                  </a:lnTo>
                  <a:lnTo>
                    <a:pt x="18894" y="16885"/>
                  </a:lnTo>
                  <a:lnTo>
                    <a:pt x="18986" y="17268"/>
                  </a:lnTo>
                  <a:lnTo>
                    <a:pt x="19263" y="17760"/>
                  </a:lnTo>
                  <a:lnTo>
                    <a:pt x="19263" y="18197"/>
                  </a:lnTo>
                  <a:lnTo>
                    <a:pt x="19447" y="18525"/>
                  </a:lnTo>
                  <a:lnTo>
                    <a:pt x="19539" y="18852"/>
                  </a:lnTo>
                  <a:lnTo>
                    <a:pt x="19631" y="19180"/>
                  </a:lnTo>
                  <a:lnTo>
                    <a:pt x="19816" y="19508"/>
                  </a:lnTo>
                  <a:lnTo>
                    <a:pt x="19908" y="19727"/>
                  </a:lnTo>
                  <a:lnTo>
                    <a:pt x="19908" y="19945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06" name="AutoShape 68">
              <a:extLst>
                <a:ext uri="{FF2B5EF4-FFF2-40B4-BE49-F238E27FC236}">
                  <a16:creationId xmlns:a16="http://schemas.microsoft.com/office/drawing/2014/main" id="{DF8CC178-8923-CB68-2206-2ADC95D9D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4" y="1367"/>
              <a:ext cx="137" cy="13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74" y="623"/>
                  </a:lnTo>
                  <a:lnTo>
                    <a:pt x="348" y="1246"/>
                  </a:lnTo>
                  <a:lnTo>
                    <a:pt x="522" y="1870"/>
                  </a:lnTo>
                  <a:lnTo>
                    <a:pt x="609" y="2493"/>
                  </a:lnTo>
                  <a:lnTo>
                    <a:pt x="957" y="3116"/>
                  </a:lnTo>
                  <a:lnTo>
                    <a:pt x="1217" y="3739"/>
                  </a:lnTo>
                  <a:lnTo>
                    <a:pt x="1217" y="4363"/>
                  </a:lnTo>
                  <a:lnTo>
                    <a:pt x="1478" y="4986"/>
                  </a:lnTo>
                  <a:lnTo>
                    <a:pt x="1565" y="5552"/>
                  </a:lnTo>
                  <a:lnTo>
                    <a:pt x="2261" y="6176"/>
                  </a:lnTo>
                  <a:lnTo>
                    <a:pt x="2435" y="6742"/>
                  </a:lnTo>
                  <a:lnTo>
                    <a:pt x="2522" y="7309"/>
                  </a:lnTo>
                  <a:lnTo>
                    <a:pt x="2609" y="7875"/>
                  </a:lnTo>
                  <a:lnTo>
                    <a:pt x="2783" y="8499"/>
                  </a:lnTo>
                  <a:lnTo>
                    <a:pt x="2957" y="9008"/>
                  </a:lnTo>
                  <a:lnTo>
                    <a:pt x="3043" y="9575"/>
                  </a:lnTo>
                  <a:lnTo>
                    <a:pt x="3043" y="10142"/>
                  </a:lnTo>
                  <a:lnTo>
                    <a:pt x="3565" y="10652"/>
                  </a:lnTo>
                  <a:lnTo>
                    <a:pt x="3739" y="11218"/>
                  </a:lnTo>
                  <a:lnTo>
                    <a:pt x="4000" y="11728"/>
                  </a:lnTo>
                  <a:lnTo>
                    <a:pt x="4174" y="12181"/>
                  </a:lnTo>
                  <a:lnTo>
                    <a:pt x="4348" y="12691"/>
                  </a:lnTo>
                  <a:lnTo>
                    <a:pt x="4435" y="13258"/>
                  </a:lnTo>
                  <a:lnTo>
                    <a:pt x="4609" y="13654"/>
                  </a:lnTo>
                  <a:lnTo>
                    <a:pt x="4957" y="14108"/>
                  </a:lnTo>
                  <a:lnTo>
                    <a:pt x="5217" y="14561"/>
                  </a:lnTo>
                  <a:lnTo>
                    <a:pt x="5478" y="15014"/>
                  </a:lnTo>
                  <a:lnTo>
                    <a:pt x="5652" y="15411"/>
                  </a:lnTo>
                  <a:lnTo>
                    <a:pt x="5739" y="15807"/>
                  </a:lnTo>
                  <a:lnTo>
                    <a:pt x="6174" y="16204"/>
                  </a:lnTo>
                  <a:lnTo>
                    <a:pt x="6261" y="16601"/>
                  </a:lnTo>
                  <a:lnTo>
                    <a:pt x="6522" y="16941"/>
                  </a:lnTo>
                  <a:lnTo>
                    <a:pt x="6783" y="17337"/>
                  </a:lnTo>
                  <a:lnTo>
                    <a:pt x="6870" y="17564"/>
                  </a:lnTo>
                  <a:lnTo>
                    <a:pt x="7043" y="17960"/>
                  </a:lnTo>
                  <a:lnTo>
                    <a:pt x="7130" y="18130"/>
                  </a:lnTo>
                  <a:lnTo>
                    <a:pt x="7565" y="18470"/>
                  </a:lnTo>
                  <a:lnTo>
                    <a:pt x="7565" y="18754"/>
                  </a:lnTo>
                  <a:lnTo>
                    <a:pt x="7652" y="18924"/>
                  </a:lnTo>
                  <a:lnTo>
                    <a:pt x="7826" y="19150"/>
                  </a:lnTo>
                  <a:lnTo>
                    <a:pt x="8087" y="19320"/>
                  </a:lnTo>
                  <a:lnTo>
                    <a:pt x="8522" y="19490"/>
                  </a:lnTo>
                  <a:lnTo>
                    <a:pt x="8696" y="19660"/>
                  </a:lnTo>
                  <a:lnTo>
                    <a:pt x="8957" y="19717"/>
                  </a:lnTo>
                  <a:lnTo>
                    <a:pt x="9043" y="19887"/>
                  </a:lnTo>
                  <a:lnTo>
                    <a:pt x="9217" y="19887"/>
                  </a:lnTo>
                  <a:lnTo>
                    <a:pt x="9391" y="19943"/>
                  </a:lnTo>
                  <a:lnTo>
                    <a:pt x="9565" y="19943"/>
                  </a:lnTo>
                  <a:lnTo>
                    <a:pt x="9739" y="19943"/>
                  </a:lnTo>
                  <a:lnTo>
                    <a:pt x="10261" y="19887"/>
                  </a:lnTo>
                  <a:lnTo>
                    <a:pt x="10435" y="19887"/>
                  </a:lnTo>
                  <a:lnTo>
                    <a:pt x="10609" y="19717"/>
                  </a:lnTo>
                  <a:lnTo>
                    <a:pt x="10783" y="19490"/>
                  </a:lnTo>
                  <a:lnTo>
                    <a:pt x="10957" y="19320"/>
                  </a:lnTo>
                  <a:lnTo>
                    <a:pt x="11304" y="19093"/>
                  </a:lnTo>
                  <a:lnTo>
                    <a:pt x="11304" y="18810"/>
                  </a:lnTo>
                  <a:lnTo>
                    <a:pt x="11913" y="18527"/>
                  </a:lnTo>
                  <a:lnTo>
                    <a:pt x="12174" y="18244"/>
                  </a:lnTo>
                  <a:lnTo>
                    <a:pt x="12348" y="17960"/>
                  </a:lnTo>
                  <a:lnTo>
                    <a:pt x="12522" y="17564"/>
                  </a:lnTo>
                  <a:lnTo>
                    <a:pt x="12522" y="17167"/>
                  </a:lnTo>
                  <a:lnTo>
                    <a:pt x="12957" y="16714"/>
                  </a:lnTo>
                  <a:lnTo>
                    <a:pt x="13130" y="16261"/>
                  </a:lnTo>
                  <a:lnTo>
                    <a:pt x="13217" y="15807"/>
                  </a:lnTo>
                  <a:lnTo>
                    <a:pt x="13565" y="15411"/>
                  </a:lnTo>
                  <a:lnTo>
                    <a:pt x="13826" y="14844"/>
                  </a:lnTo>
                  <a:lnTo>
                    <a:pt x="14087" y="14334"/>
                  </a:lnTo>
                  <a:lnTo>
                    <a:pt x="14348" y="13824"/>
                  </a:lnTo>
                  <a:lnTo>
                    <a:pt x="14696" y="13314"/>
                  </a:lnTo>
                  <a:lnTo>
                    <a:pt x="14783" y="12805"/>
                  </a:lnTo>
                  <a:lnTo>
                    <a:pt x="15217" y="12181"/>
                  </a:lnTo>
                  <a:lnTo>
                    <a:pt x="15565" y="11671"/>
                  </a:lnTo>
                  <a:lnTo>
                    <a:pt x="15652" y="11105"/>
                  </a:lnTo>
                  <a:lnTo>
                    <a:pt x="15826" y="10538"/>
                  </a:lnTo>
                  <a:lnTo>
                    <a:pt x="16087" y="10028"/>
                  </a:lnTo>
                  <a:lnTo>
                    <a:pt x="16348" y="9462"/>
                  </a:lnTo>
                  <a:lnTo>
                    <a:pt x="16870" y="8895"/>
                  </a:lnTo>
                  <a:lnTo>
                    <a:pt x="16957" y="8385"/>
                  </a:lnTo>
                  <a:lnTo>
                    <a:pt x="17043" y="7819"/>
                  </a:lnTo>
                  <a:lnTo>
                    <a:pt x="17217" y="7309"/>
                  </a:lnTo>
                  <a:lnTo>
                    <a:pt x="17391" y="6742"/>
                  </a:lnTo>
                  <a:lnTo>
                    <a:pt x="17565" y="6232"/>
                  </a:lnTo>
                  <a:lnTo>
                    <a:pt x="17565" y="5722"/>
                  </a:lnTo>
                  <a:lnTo>
                    <a:pt x="18174" y="5212"/>
                  </a:lnTo>
                  <a:lnTo>
                    <a:pt x="18435" y="4759"/>
                  </a:lnTo>
                  <a:lnTo>
                    <a:pt x="18522" y="4249"/>
                  </a:lnTo>
                  <a:lnTo>
                    <a:pt x="18783" y="3853"/>
                  </a:lnTo>
                  <a:lnTo>
                    <a:pt x="18957" y="3399"/>
                  </a:lnTo>
                  <a:lnTo>
                    <a:pt x="19043" y="3003"/>
                  </a:lnTo>
                  <a:lnTo>
                    <a:pt x="19391" y="2606"/>
                  </a:lnTo>
                  <a:lnTo>
                    <a:pt x="19391" y="2266"/>
                  </a:lnTo>
                  <a:lnTo>
                    <a:pt x="19478" y="1870"/>
                  </a:lnTo>
                  <a:lnTo>
                    <a:pt x="19565" y="1643"/>
                  </a:lnTo>
                  <a:lnTo>
                    <a:pt x="19826" y="1360"/>
                  </a:lnTo>
                  <a:lnTo>
                    <a:pt x="19826" y="1076"/>
                  </a:lnTo>
                  <a:lnTo>
                    <a:pt x="19913" y="8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07" name="AutoShape 69">
              <a:extLst>
                <a:ext uri="{FF2B5EF4-FFF2-40B4-BE49-F238E27FC236}">
                  <a16:creationId xmlns:a16="http://schemas.microsoft.com/office/drawing/2014/main" id="{AE58ACFB-0299-049B-3E66-34475898C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229"/>
              <a:ext cx="129" cy="14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96"/>
                  </a:moveTo>
                  <a:lnTo>
                    <a:pt x="184" y="18457"/>
                  </a:lnTo>
                  <a:lnTo>
                    <a:pt x="461" y="17872"/>
                  </a:lnTo>
                  <a:lnTo>
                    <a:pt x="737" y="17287"/>
                  </a:lnTo>
                  <a:lnTo>
                    <a:pt x="737" y="16649"/>
                  </a:lnTo>
                  <a:lnTo>
                    <a:pt x="1014" y="16064"/>
                  </a:lnTo>
                  <a:lnTo>
                    <a:pt x="1290" y="15479"/>
                  </a:lnTo>
                  <a:lnTo>
                    <a:pt x="1475" y="14894"/>
                  </a:lnTo>
                  <a:lnTo>
                    <a:pt x="1843" y="14255"/>
                  </a:lnTo>
                  <a:lnTo>
                    <a:pt x="2028" y="13670"/>
                  </a:lnTo>
                  <a:lnTo>
                    <a:pt x="2488" y="13138"/>
                  </a:lnTo>
                  <a:lnTo>
                    <a:pt x="2488" y="12553"/>
                  </a:lnTo>
                  <a:lnTo>
                    <a:pt x="2581" y="12021"/>
                  </a:lnTo>
                  <a:lnTo>
                    <a:pt x="2857" y="11489"/>
                  </a:lnTo>
                  <a:lnTo>
                    <a:pt x="2949" y="10904"/>
                  </a:lnTo>
                  <a:lnTo>
                    <a:pt x="3226" y="10372"/>
                  </a:lnTo>
                  <a:lnTo>
                    <a:pt x="3226" y="9840"/>
                  </a:lnTo>
                  <a:lnTo>
                    <a:pt x="3687" y="9255"/>
                  </a:lnTo>
                  <a:lnTo>
                    <a:pt x="4055" y="8723"/>
                  </a:lnTo>
                  <a:lnTo>
                    <a:pt x="4240" y="8191"/>
                  </a:lnTo>
                  <a:lnTo>
                    <a:pt x="4332" y="7766"/>
                  </a:lnTo>
                  <a:lnTo>
                    <a:pt x="4608" y="7234"/>
                  </a:lnTo>
                  <a:lnTo>
                    <a:pt x="4793" y="6755"/>
                  </a:lnTo>
                  <a:lnTo>
                    <a:pt x="5161" y="6330"/>
                  </a:lnTo>
                  <a:lnTo>
                    <a:pt x="5438" y="5904"/>
                  </a:lnTo>
                  <a:lnTo>
                    <a:pt x="5530" y="5426"/>
                  </a:lnTo>
                  <a:lnTo>
                    <a:pt x="5899" y="5000"/>
                  </a:lnTo>
                  <a:lnTo>
                    <a:pt x="5899" y="4521"/>
                  </a:lnTo>
                  <a:lnTo>
                    <a:pt x="6359" y="4149"/>
                  </a:lnTo>
                  <a:lnTo>
                    <a:pt x="6636" y="3777"/>
                  </a:lnTo>
                  <a:lnTo>
                    <a:pt x="6636" y="3404"/>
                  </a:lnTo>
                  <a:lnTo>
                    <a:pt x="7097" y="3032"/>
                  </a:lnTo>
                  <a:lnTo>
                    <a:pt x="7097" y="2713"/>
                  </a:lnTo>
                  <a:lnTo>
                    <a:pt x="7465" y="2447"/>
                  </a:lnTo>
                  <a:lnTo>
                    <a:pt x="7558" y="2128"/>
                  </a:lnTo>
                  <a:lnTo>
                    <a:pt x="7558" y="1809"/>
                  </a:lnTo>
                  <a:lnTo>
                    <a:pt x="7834" y="1543"/>
                  </a:lnTo>
                  <a:lnTo>
                    <a:pt x="8018" y="1330"/>
                  </a:lnTo>
                  <a:lnTo>
                    <a:pt x="8479" y="1064"/>
                  </a:lnTo>
                  <a:lnTo>
                    <a:pt x="8479" y="851"/>
                  </a:lnTo>
                  <a:lnTo>
                    <a:pt x="8848" y="691"/>
                  </a:lnTo>
                  <a:lnTo>
                    <a:pt x="8940" y="479"/>
                  </a:lnTo>
                  <a:lnTo>
                    <a:pt x="9124" y="372"/>
                  </a:lnTo>
                  <a:lnTo>
                    <a:pt x="9401" y="266"/>
                  </a:lnTo>
                  <a:lnTo>
                    <a:pt x="9401" y="106"/>
                  </a:lnTo>
                  <a:lnTo>
                    <a:pt x="9770" y="106"/>
                  </a:lnTo>
                  <a:lnTo>
                    <a:pt x="10138" y="53"/>
                  </a:lnTo>
                  <a:lnTo>
                    <a:pt x="10323" y="0"/>
                  </a:lnTo>
                  <a:lnTo>
                    <a:pt x="10599" y="53"/>
                  </a:lnTo>
                  <a:lnTo>
                    <a:pt x="10783" y="53"/>
                  </a:lnTo>
                  <a:lnTo>
                    <a:pt x="10876" y="106"/>
                  </a:lnTo>
                  <a:lnTo>
                    <a:pt x="11060" y="213"/>
                  </a:lnTo>
                  <a:lnTo>
                    <a:pt x="11429" y="319"/>
                  </a:lnTo>
                  <a:lnTo>
                    <a:pt x="11521" y="479"/>
                  </a:lnTo>
                  <a:lnTo>
                    <a:pt x="11982" y="745"/>
                  </a:lnTo>
                  <a:lnTo>
                    <a:pt x="12166" y="1011"/>
                  </a:lnTo>
                  <a:lnTo>
                    <a:pt x="12442" y="1277"/>
                  </a:lnTo>
                  <a:lnTo>
                    <a:pt x="12442" y="1543"/>
                  </a:lnTo>
                  <a:lnTo>
                    <a:pt x="12535" y="1915"/>
                  </a:lnTo>
                  <a:lnTo>
                    <a:pt x="12903" y="2287"/>
                  </a:lnTo>
                  <a:lnTo>
                    <a:pt x="12903" y="2713"/>
                  </a:lnTo>
                  <a:lnTo>
                    <a:pt x="13364" y="3138"/>
                  </a:lnTo>
                  <a:lnTo>
                    <a:pt x="13364" y="3564"/>
                  </a:lnTo>
                  <a:lnTo>
                    <a:pt x="13641" y="3989"/>
                  </a:lnTo>
                  <a:lnTo>
                    <a:pt x="14101" y="4415"/>
                  </a:lnTo>
                  <a:lnTo>
                    <a:pt x="14194" y="4947"/>
                  </a:lnTo>
                  <a:lnTo>
                    <a:pt x="14470" y="5479"/>
                  </a:lnTo>
                  <a:lnTo>
                    <a:pt x="14747" y="5957"/>
                  </a:lnTo>
                  <a:lnTo>
                    <a:pt x="15115" y="6489"/>
                  </a:lnTo>
                  <a:lnTo>
                    <a:pt x="15207" y="7074"/>
                  </a:lnTo>
                  <a:lnTo>
                    <a:pt x="15392" y="7606"/>
                  </a:lnTo>
                  <a:lnTo>
                    <a:pt x="15668" y="8191"/>
                  </a:lnTo>
                  <a:lnTo>
                    <a:pt x="15853" y="8777"/>
                  </a:lnTo>
                  <a:lnTo>
                    <a:pt x="16037" y="9362"/>
                  </a:lnTo>
                  <a:lnTo>
                    <a:pt x="16313" y="9894"/>
                  </a:lnTo>
                  <a:lnTo>
                    <a:pt x="16774" y="10426"/>
                  </a:lnTo>
                  <a:lnTo>
                    <a:pt x="16774" y="11011"/>
                  </a:lnTo>
                  <a:lnTo>
                    <a:pt x="17051" y="11649"/>
                  </a:lnTo>
                  <a:lnTo>
                    <a:pt x="17235" y="12181"/>
                  </a:lnTo>
                  <a:lnTo>
                    <a:pt x="17419" y="12766"/>
                  </a:lnTo>
                  <a:lnTo>
                    <a:pt x="17512" y="13298"/>
                  </a:lnTo>
                  <a:lnTo>
                    <a:pt x="17512" y="13830"/>
                  </a:lnTo>
                  <a:lnTo>
                    <a:pt x="17972" y="14415"/>
                  </a:lnTo>
                  <a:lnTo>
                    <a:pt x="17972" y="14947"/>
                  </a:lnTo>
                  <a:lnTo>
                    <a:pt x="18433" y="15479"/>
                  </a:lnTo>
                  <a:lnTo>
                    <a:pt x="18525" y="15904"/>
                  </a:lnTo>
                  <a:lnTo>
                    <a:pt x="18710" y="16436"/>
                  </a:lnTo>
                  <a:lnTo>
                    <a:pt x="18894" y="16862"/>
                  </a:lnTo>
                  <a:lnTo>
                    <a:pt x="18986" y="17340"/>
                  </a:lnTo>
                  <a:lnTo>
                    <a:pt x="19263" y="17713"/>
                  </a:lnTo>
                  <a:lnTo>
                    <a:pt x="19263" y="18138"/>
                  </a:lnTo>
                  <a:lnTo>
                    <a:pt x="19447" y="18511"/>
                  </a:lnTo>
                  <a:lnTo>
                    <a:pt x="19539" y="18883"/>
                  </a:lnTo>
                  <a:lnTo>
                    <a:pt x="19631" y="19149"/>
                  </a:lnTo>
                  <a:lnTo>
                    <a:pt x="19816" y="19521"/>
                  </a:lnTo>
                  <a:lnTo>
                    <a:pt x="19908" y="19734"/>
                  </a:lnTo>
                  <a:lnTo>
                    <a:pt x="19908" y="19947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08" name="AutoShape 70">
              <a:extLst>
                <a:ext uri="{FF2B5EF4-FFF2-40B4-BE49-F238E27FC236}">
                  <a16:creationId xmlns:a16="http://schemas.microsoft.com/office/drawing/2014/main" id="{28F7E81A-5C26-5EF5-EA39-0CBBC5424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1365"/>
              <a:ext cx="137" cy="1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74" y="661"/>
                  </a:lnTo>
                  <a:lnTo>
                    <a:pt x="348" y="1212"/>
                  </a:lnTo>
                  <a:lnTo>
                    <a:pt x="522" y="1873"/>
                  </a:lnTo>
                  <a:lnTo>
                    <a:pt x="609" y="2534"/>
                  </a:lnTo>
                  <a:lnTo>
                    <a:pt x="957" y="3140"/>
                  </a:lnTo>
                  <a:lnTo>
                    <a:pt x="1217" y="3691"/>
                  </a:lnTo>
                  <a:lnTo>
                    <a:pt x="1217" y="4298"/>
                  </a:lnTo>
                  <a:lnTo>
                    <a:pt x="1478" y="4959"/>
                  </a:lnTo>
                  <a:lnTo>
                    <a:pt x="1565" y="5565"/>
                  </a:lnTo>
                  <a:lnTo>
                    <a:pt x="2261" y="6171"/>
                  </a:lnTo>
                  <a:lnTo>
                    <a:pt x="2435" y="6777"/>
                  </a:lnTo>
                  <a:lnTo>
                    <a:pt x="2522" y="7328"/>
                  </a:lnTo>
                  <a:lnTo>
                    <a:pt x="2609" y="7879"/>
                  </a:lnTo>
                  <a:lnTo>
                    <a:pt x="2783" y="8485"/>
                  </a:lnTo>
                  <a:lnTo>
                    <a:pt x="2957" y="9036"/>
                  </a:lnTo>
                  <a:lnTo>
                    <a:pt x="3043" y="9642"/>
                  </a:lnTo>
                  <a:lnTo>
                    <a:pt x="3043" y="10138"/>
                  </a:lnTo>
                  <a:lnTo>
                    <a:pt x="3565" y="10689"/>
                  </a:lnTo>
                  <a:lnTo>
                    <a:pt x="3739" y="11185"/>
                  </a:lnTo>
                  <a:lnTo>
                    <a:pt x="4000" y="11736"/>
                  </a:lnTo>
                  <a:lnTo>
                    <a:pt x="4174" y="12176"/>
                  </a:lnTo>
                  <a:lnTo>
                    <a:pt x="4348" y="12727"/>
                  </a:lnTo>
                  <a:lnTo>
                    <a:pt x="4435" y="13223"/>
                  </a:lnTo>
                  <a:lnTo>
                    <a:pt x="4609" y="13664"/>
                  </a:lnTo>
                  <a:lnTo>
                    <a:pt x="4957" y="14105"/>
                  </a:lnTo>
                  <a:lnTo>
                    <a:pt x="5217" y="14545"/>
                  </a:lnTo>
                  <a:lnTo>
                    <a:pt x="5478" y="14986"/>
                  </a:lnTo>
                  <a:lnTo>
                    <a:pt x="5652" y="15482"/>
                  </a:lnTo>
                  <a:lnTo>
                    <a:pt x="5739" y="15868"/>
                  </a:lnTo>
                  <a:lnTo>
                    <a:pt x="6174" y="16198"/>
                  </a:lnTo>
                  <a:lnTo>
                    <a:pt x="6261" y="16584"/>
                  </a:lnTo>
                  <a:lnTo>
                    <a:pt x="6522" y="16970"/>
                  </a:lnTo>
                  <a:lnTo>
                    <a:pt x="6783" y="17245"/>
                  </a:lnTo>
                  <a:lnTo>
                    <a:pt x="6870" y="17631"/>
                  </a:lnTo>
                  <a:lnTo>
                    <a:pt x="7043" y="17906"/>
                  </a:lnTo>
                  <a:lnTo>
                    <a:pt x="7130" y="18182"/>
                  </a:lnTo>
                  <a:lnTo>
                    <a:pt x="7565" y="18457"/>
                  </a:lnTo>
                  <a:lnTo>
                    <a:pt x="7565" y="18733"/>
                  </a:lnTo>
                  <a:lnTo>
                    <a:pt x="7652" y="18953"/>
                  </a:lnTo>
                  <a:lnTo>
                    <a:pt x="7826" y="19118"/>
                  </a:lnTo>
                  <a:lnTo>
                    <a:pt x="8087" y="19339"/>
                  </a:lnTo>
                  <a:lnTo>
                    <a:pt x="8522" y="19504"/>
                  </a:lnTo>
                  <a:lnTo>
                    <a:pt x="8696" y="19669"/>
                  </a:lnTo>
                  <a:lnTo>
                    <a:pt x="8957" y="19725"/>
                  </a:lnTo>
                  <a:lnTo>
                    <a:pt x="9043" y="19890"/>
                  </a:lnTo>
                  <a:lnTo>
                    <a:pt x="9217" y="19890"/>
                  </a:lnTo>
                  <a:lnTo>
                    <a:pt x="9391" y="19945"/>
                  </a:lnTo>
                  <a:lnTo>
                    <a:pt x="9565" y="19945"/>
                  </a:lnTo>
                  <a:lnTo>
                    <a:pt x="9739" y="19945"/>
                  </a:lnTo>
                  <a:lnTo>
                    <a:pt x="10261" y="19890"/>
                  </a:lnTo>
                  <a:lnTo>
                    <a:pt x="10435" y="19890"/>
                  </a:lnTo>
                  <a:lnTo>
                    <a:pt x="10609" y="19725"/>
                  </a:lnTo>
                  <a:lnTo>
                    <a:pt x="10783" y="19504"/>
                  </a:lnTo>
                  <a:lnTo>
                    <a:pt x="10957" y="19339"/>
                  </a:lnTo>
                  <a:lnTo>
                    <a:pt x="11304" y="19118"/>
                  </a:lnTo>
                  <a:lnTo>
                    <a:pt x="11304" y="18843"/>
                  </a:lnTo>
                  <a:lnTo>
                    <a:pt x="11913" y="18567"/>
                  </a:lnTo>
                  <a:lnTo>
                    <a:pt x="12174" y="18237"/>
                  </a:lnTo>
                  <a:lnTo>
                    <a:pt x="12348" y="17851"/>
                  </a:lnTo>
                  <a:lnTo>
                    <a:pt x="12522" y="17466"/>
                  </a:lnTo>
                  <a:lnTo>
                    <a:pt x="12522" y="17190"/>
                  </a:lnTo>
                  <a:lnTo>
                    <a:pt x="12957" y="16749"/>
                  </a:lnTo>
                  <a:lnTo>
                    <a:pt x="13130" y="16309"/>
                  </a:lnTo>
                  <a:lnTo>
                    <a:pt x="13217" y="15813"/>
                  </a:lnTo>
                  <a:lnTo>
                    <a:pt x="13565" y="15317"/>
                  </a:lnTo>
                  <a:lnTo>
                    <a:pt x="13826" y="14876"/>
                  </a:lnTo>
                  <a:lnTo>
                    <a:pt x="14087" y="14325"/>
                  </a:lnTo>
                  <a:lnTo>
                    <a:pt x="14348" y="13829"/>
                  </a:lnTo>
                  <a:lnTo>
                    <a:pt x="14696" y="13278"/>
                  </a:lnTo>
                  <a:lnTo>
                    <a:pt x="14783" y="12837"/>
                  </a:lnTo>
                  <a:lnTo>
                    <a:pt x="15217" y="12176"/>
                  </a:lnTo>
                  <a:lnTo>
                    <a:pt x="15565" y="11680"/>
                  </a:lnTo>
                  <a:lnTo>
                    <a:pt x="15652" y="11129"/>
                  </a:lnTo>
                  <a:lnTo>
                    <a:pt x="15826" y="10579"/>
                  </a:lnTo>
                  <a:lnTo>
                    <a:pt x="16087" y="10028"/>
                  </a:lnTo>
                  <a:lnTo>
                    <a:pt x="16348" y="9477"/>
                  </a:lnTo>
                  <a:lnTo>
                    <a:pt x="16870" y="8871"/>
                  </a:lnTo>
                  <a:lnTo>
                    <a:pt x="16957" y="8375"/>
                  </a:lnTo>
                  <a:lnTo>
                    <a:pt x="17043" y="7824"/>
                  </a:lnTo>
                  <a:lnTo>
                    <a:pt x="17217" y="7273"/>
                  </a:lnTo>
                  <a:lnTo>
                    <a:pt x="17391" y="6777"/>
                  </a:lnTo>
                  <a:lnTo>
                    <a:pt x="17565" y="6226"/>
                  </a:lnTo>
                  <a:lnTo>
                    <a:pt x="17565" y="5730"/>
                  </a:lnTo>
                  <a:lnTo>
                    <a:pt x="18174" y="5234"/>
                  </a:lnTo>
                  <a:lnTo>
                    <a:pt x="18435" y="4738"/>
                  </a:lnTo>
                  <a:lnTo>
                    <a:pt x="18522" y="4298"/>
                  </a:lnTo>
                  <a:lnTo>
                    <a:pt x="18783" y="3857"/>
                  </a:lnTo>
                  <a:lnTo>
                    <a:pt x="18957" y="3416"/>
                  </a:lnTo>
                  <a:lnTo>
                    <a:pt x="19043" y="3030"/>
                  </a:lnTo>
                  <a:lnTo>
                    <a:pt x="19391" y="2590"/>
                  </a:lnTo>
                  <a:lnTo>
                    <a:pt x="19391" y="2204"/>
                  </a:lnTo>
                  <a:lnTo>
                    <a:pt x="19478" y="1928"/>
                  </a:lnTo>
                  <a:lnTo>
                    <a:pt x="19565" y="1598"/>
                  </a:lnTo>
                  <a:lnTo>
                    <a:pt x="19826" y="1377"/>
                  </a:lnTo>
                  <a:lnTo>
                    <a:pt x="19826" y="1047"/>
                  </a:lnTo>
                  <a:lnTo>
                    <a:pt x="19913" y="882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09" name="AutoShape 71">
              <a:extLst>
                <a:ext uri="{FF2B5EF4-FFF2-40B4-BE49-F238E27FC236}">
                  <a16:creationId xmlns:a16="http://schemas.microsoft.com/office/drawing/2014/main" id="{5364A204-E1B1-A9C4-6DF6-619E26C65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0" y="1232"/>
              <a:ext cx="128" cy="1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71"/>
                  </a:moveTo>
                  <a:lnTo>
                    <a:pt x="184" y="18470"/>
                  </a:lnTo>
                  <a:lnTo>
                    <a:pt x="461" y="17869"/>
                  </a:lnTo>
                  <a:lnTo>
                    <a:pt x="737" y="17268"/>
                  </a:lnTo>
                  <a:lnTo>
                    <a:pt x="737" y="16721"/>
                  </a:lnTo>
                  <a:lnTo>
                    <a:pt x="1014" y="16120"/>
                  </a:lnTo>
                  <a:lnTo>
                    <a:pt x="1290" y="15519"/>
                  </a:lnTo>
                  <a:lnTo>
                    <a:pt x="1475" y="14918"/>
                  </a:lnTo>
                  <a:lnTo>
                    <a:pt x="1843" y="14262"/>
                  </a:lnTo>
                  <a:lnTo>
                    <a:pt x="2028" y="13661"/>
                  </a:lnTo>
                  <a:lnTo>
                    <a:pt x="2488" y="13115"/>
                  </a:lnTo>
                  <a:lnTo>
                    <a:pt x="2488" y="12568"/>
                  </a:lnTo>
                  <a:lnTo>
                    <a:pt x="2581" y="12022"/>
                  </a:lnTo>
                  <a:lnTo>
                    <a:pt x="2857" y="11421"/>
                  </a:lnTo>
                  <a:lnTo>
                    <a:pt x="2949" y="10874"/>
                  </a:lnTo>
                  <a:lnTo>
                    <a:pt x="3226" y="10328"/>
                  </a:lnTo>
                  <a:lnTo>
                    <a:pt x="3226" y="9836"/>
                  </a:lnTo>
                  <a:lnTo>
                    <a:pt x="3687" y="9290"/>
                  </a:lnTo>
                  <a:lnTo>
                    <a:pt x="4055" y="8798"/>
                  </a:lnTo>
                  <a:lnTo>
                    <a:pt x="4240" y="8197"/>
                  </a:lnTo>
                  <a:lnTo>
                    <a:pt x="4332" y="7760"/>
                  </a:lnTo>
                  <a:lnTo>
                    <a:pt x="4608" y="7268"/>
                  </a:lnTo>
                  <a:lnTo>
                    <a:pt x="4793" y="6776"/>
                  </a:lnTo>
                  <a:lnTo>
                    <a:pt x="5161" y="6339"/>
                  </a:lnTo>
                  <a:lnTo>
                    <a:pt x="5438" y="5902"/>
                  </a:lnTo>
                  <a:lnTo>
                    <a:pt x="5530" y="5410"/>
                  </a:lnTo>
                  <a:lnTo>
                    <a:pt x="5899" y="5027"/>
                  </a:lnTo>
                  <a:lnTo>
                    <a:pt x="5899" y="4590"/>
                  </a:lnTo>
                  <a:lnTo>
                    <a:pt x="6359" y="4153"/>
                  </a:lnTo>
                  <a:lnTo>
                    <a:pt x="6636" y="3770"/>
                  </a:lnTo>
                  <a:lnTo>
                    <a:pt x="6636" y="3443"/>
                  </a:lnTo>
                  <a:lnTo>
                    <a:pt x="7097" y="3005"/>
                  </a:lnTo>
                  <a:lnTo>
                    <a:pt x="7097" y="2732"/>
                  </a:lnTo>
                  <a:lnTo>
                    <a:pt x="7465" y="2404"/>
                  </a:lnTo>
                  <a:lnTo>
                    <a:pt x="7558" y="2131"/>
                  </a:lnTo>
                  <a:lnTo>
                    <a:pt x="7558" y="1803"/>
                  </a:lnTo>
                  <a:lnTo>
                    <a:pt x="7834" y="1585"/>
                  </a:lnTo>
                  <a:lnTo>
                    <a:pt x="8018" y="1311"/>
                  </a:lnTo>
                  <a:lnTo>
                    <a:pt x="8479" y="1038"/>
                  </a:lnTo>
                  <a:lnTo>
                    <a:pt x="8479" y="874"/>
                  </a:lnTo>
                  <a:lnTo>
                    <a:pt x="8848" y="656"/>
                  </a:lnTo>
                  <a:lnTo>
                    <a:pt x="8940" y="492"/>
                  </a:lnTo>
                  <a:lnTo>
                    <a:pt x="9124" y="383"/>
                  </a:lnTo>
                  <a:lnTo>
                    <a:pt x="9401" y="273"/>
                  </a:lnTo>
                  <a:lnTo>
                    <a:pt x="9401" y="109"/>
                  </a:lnTo>
                  <a:lnTo>
                    <a:pt x="9770" y="109"/>
                  </a:lnTo>
                  <a:lnTo>
                    <a:pt x="10138" y="55"/>
                  </a:lnTo>
                  <a:lnTo>
                    <a:pt x="10323" y="0"/>
                  </a:lnTo>
                  <a:lnTo>
                    <a:pt x="10599" y="55"/>
                  </a:lnTo>
                  <a:lnTo>
                    <a:pt x="10783" y="55"/>
                  </a:lnTo>
                  <a:lnTo>
                    <a:pt x="10876" y="109"/>
                  </a:lnTo>
                  <a:lnTo>
                    <a:pt x="11060" y="219"/>
                  </a:lnTo>
                  <a:lnTo>
                    <a:pt x="11429" y="328"/>
                  </a:lnTo>
                  <a:lnTo>
                    <a:pt x="11521" y="492"/>
                  </a:lnTo>
                  <a:lnTo>
                    <a:pt x="11982" y="710"/>
                  </a:lnTo>
                  <a:lnTo>
                    <a:pt x="12166" y="984"/>
                  </a:lnTo>
                  <a:lnTo>
                    <a:pt x="12442" y="1257"/>
                  </a:lnTo>
                  <a:lnTo>
                    <a:pt x="12442" y="1585"/>
                  </a:lnTo>
                  <a:lnTo>
                    <a:pt x="12535" y="1913"/>
                  </a:lnTo>
                  <a:lnTo>
                    <a:pt x="12903" y="2295"/>
                  </a:lnTo>
                  <a:lnTo>
                    <a:pt x="12903" y="2732"/>
                  </a:lnTo>
                  <a:lnTo>
                    <a:pt x="13364" y="3115"/>
                  </a:lnTo>
                  <a:lnTo>
                    <a:pt x="13364" y="3497"/>
                  </a:lnTo>
                  <a:lnTo>
                    <a:pt x="13641" y="3989"/>
                  </a:lnTo>
                  <a:lnTo>
                    <a:pt x="14101" y="4426"/>
                  </a:lnTo>
                  <a:lnTo>
                    <a:pt x="14194" y="4973"/>
                  </a:lnTo>
                  <a:lnTo>
                    <a:pt x="14470" y="5519"/>
                  </a:lnTo>
                  <a:lnTo>
                    <a:pt x="14747" y="5956"/>
                  </a:lnTo>
                  <a:lnTo>
                    <a:pt x="15115" y="6503"/>
                  </a:lnTo>
                  <a:lnTo>
                    <a:pt x="15207" y="7049"/>
                  </a:lnTo>
                  <a:lnTo>
                    <a:pt x="15392" y="7596"/>
                  </a:lnTo>
                  <a:lnTo>
                    <a:pt x="15668" y="8197"/>
                  </a:lnTo>
                  <a:lnTo>
                    <a:pt x="15853" y="8798"/>
                  </a:lnTo>
                  <a:lnTo>
                    <a:pt x="16037" y="9344"/>
                  </a:lnTo>
                  <a:lnTo>
                    <a:pt x="16313" y="9891"/>
                  </a:lnTo>
                  <a:lnTo>
                    <a:pt x="16774" y="10492"/>
                  </a:lnTo>
                  <a:lnTo>
                    <a:pt x="16774" y="11038"/>
                  </a:lnTo>
                  <a:lnTo>
                    <a:pt x="17051" y="11585"/>
                  </a:lnTo>
                  <a:lnTo>
                    <a:pt x="17235" y="12186"/>
                  </a:lnTo>
                  <a:lnTo>
                    <a:pt x="17419" y="12732"/>
                  </a:lnTo>
                  <a:lnTo>
                    <a:pt x="17512" y="13279"/>
                  </a:lnTo>
                  <a:lnTo>
                    <a:pt x="17512" y="13880"/>
                  </a:lnTo>
                  <a:lnTo>
                    <a:pt x="17972" y="14426"/>
                  </a:lnTo>
                  <a:lnTo>
                    <a:pt x="17972" y="14918"/>
                  </a:lnTo>
                  <a:lnTo>
                    <a:pt x="18433" y="15410"/>
                  </a:lnTo>
                  <a:lnTo>
                    <a:pt x="18525" y="15956"/>
                  </a:lnTo>
                  <a:lnTo>
                    <a:pt x="18710" y="16448"/>
                  </a:lnTo>
                  <a:lnTo>
                    <a:pt x="18894" y="16885"/>
                  </a:lnTo>
                  <a:lnTo>
                    <a:pt x="18986" y="17268"/>
                  </a:lnTo>
                  <a:lnTo>
                    <a:pt x="19263" y="17760"/>
                  </a:lnTo>
                  <a:lnTo>
                    <a:pt x="19263" y="18197"/>
                  </a:lnTo>
                  <a:lnTo>
                    <a:pt x="19447" y="18525"/>
                  </a:lnTo>
                  <a:lnTo>
                    <a:pt x="19539" y="18852"/>
                  </a:lnTo>
                  <a:lnTo>
                    <a:pt x="19631" y="19180"/>
                  </a:lnTo>
                  <a:lnTo>
                    <a:pt x="19816" y="19508"/>
                  </a:lnTo>
                  <a:lnTo>
                    <a:pt x="19908" y="19727"/>
                  </a:lnTo>
                  <a:lnTo>
                    <a:pt x="19908" y="19945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10" name="AutoShape 72">
              <a:extLst>
                <a:ext uri="{FF2B5EF4-FFF2-40B4-BE49-F238E27FC236}">
                  <a16:creationId xmlns:a16="http://schemas.microsoft.com/office/drawing/2014/main" id="{A564010A-3787-6A11-658C-340FAB9B6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7" y="1364"/>
              <a:ext cx="136" cy="13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74" y="623"/>
                  </a:lnTo>
                  <a:lnTo>
                    <a:pt x="348" y="1246"/>
                  </a:lnTo>
                  <a:lnTo>
                    <a:pt x="522" y="1870"/>
                  </a:lnTo>
                  <a:lnTo>
                    <a:pt x="609" y="2493"/>
                  </a:lnTo>
                  <a:lnTo>
                    <a:pt x="957" y="3116"/>
                  </a:lnTo>
                  <a:lnTo>
                    <a:pt x="1217" y="3739"/>
                  </a:lnTo>
                  <a:lnTo>
                    <a:pt x="1217" y="4363"/>
                  </a:lnTo>
                  <a:lnTo>
                    <a:pt x="1478" y="4986"/>
                  </a:lnTo>
                  <a:lnTo>
                    <a:pt x="1565" y="5552"/>
                  </a:lnTo>
                  <a:lnTo>
                    <a:pt x="2261" y="6176"/>
                  </a:lnTo>
                  <a:lnTo>
                    <a:pt x="2435" y="6742"/>
                  </a:lnTo>
                  <a:lnTo>
                    <a:pt x="2522" y="7309"/>
                  </a:lnTo>
                  <a:lnTo>
                    <a:pt x="2609" y="7875"/>
                  </a:lnTo>
                  <a:lnTo>
                    <a:pt x="2783" y="8499"/>
                  </a:lnTo>
                  <a:lnTo>
                    <a:pt x="2957" y="9008"/>
                  </a:lnTo>
                  <a:lnTo>
                    <a:pt x="3043" y="9575"/>
                  </a:lnTo>
                  <a:lnTo>
                    <a:pt x="3043" y="10142"/>
                  </a:lnTo>
                  <a:lnTo>
                    <a:pt x="3565" y="10652"/>
                  </a:lnTo>
                  <a:lnTo>
                    <a:pt x="3739" y="11218"/>
                  </a:lnTo>
                  <a:lnTo>
                    <a:pt x="4000" y="11728"/>
                  </a:lnTo>
                  <a:lnTo>
                    <a:pt x="4174" y="12181"/>
                  </a:lnTo>
                  <a:lnTo>
                    <a:pt x="4348" y="12691"/>
                  </a:lnTo>
                  <a:lnTo>
                    <a:pt x="4435" y="13258"/>
                  </a:lnTo>
                  <a:lnTo>
                    <a:pt x="4609" y="13654"/>
                  </a:lnTo>
                  <a:lnTo>
                    <a:pt x="4957" y="14108"/>
                  </a:lnTo>
                  <a:lnTo>
                    <a:pt x="5217" y="14561"/>
                  </a:lnTo>
                  <a:lnTo>
                    <a:pt x="5478" y="15014"/>
                  </a:lnTo>
                  <a:lnTo>
                    <a:pt x="5652" y="15411"/>
                  </a:lnTo>
                  <a:lnTo>
                    <a:pt x="5739" y="15807"/>
                  </a:lnTo>
                  <a:lnTo>
                    <a:pt x="6174" y="16204"/>
                  </a:lnTo>
                  <a:lnTo>
                    <a:pt x="6261" y="16601"/>
                  </a:lnTo>
                  <a:lnTo>
                    <a:pt x="6522" y="16941"/>
                  </a:lnTo>
                  <a:lnTo>
                    <a:pt x="6783" y="17337"/>
                  </a:lnTo>
                  <a:lnTo>
                    <a:pt x="6870" y="17564"/>
                  </a:lnTo>
                  <a:lnTo>
                    <a:pt x="7043" y="17960"/>
                  </a:lnTo>
                  <a:lnTo>
                    <a:pt x="7130" y="18130"/>
                  </a:lnTo>
                  <a:lnTo>
                    <a:pt x="7565" y="18470"/>
                  </a:lnTo>
                  <a:lnTo>
                    <a:pt x="7565" y="18754"/>
                  </a:lnTo>
                  <a:lnTo>
                    <a:pt x="7652" y="18924"/>
                  </a:lnTo>
                  <a:lnTo>
                    <a:pt x="7826" y="19150"/>
                  </a:lnTo>
                  <a:lnTo>
                    <a:pt x="8087" y="19320"/>
                  </a:lnTo>
                  <a:lnTo>
                    <a:pt x="8522" y="19490"/>
                  </a:lnTo>
                  <a:lnTo>
                    <a:pt x="8696" y="19660"/>
                  </a:lnTo>
                  <a:lnTo>
                    <a:pt x="8957" y="19717"/>
                  </a:lnTo>
                  <a:lnTo>
                    <a:pt x="9043" y="19887"/>
                  </a:lnTo>
                  <a:lnTo>
                    <a:pt x="9217" y="19887"/>
                  </a:lnTo>
                  <a:lnTo>
                    <a:pt x="9391" y="19943"/>
                  </a:lnTo>
                  <a:lnTo>
                    <a:pt x="9565" y="19943"/>
                  </a:lnTo>
                  <a:lnTo>
                    <a:pt x="9739" y="19943"/>
                  </a:lnTo>
                  <a:lnTo>
                    <a:pt x="10261" y="19887"/>
                  </a:lnTo>
                  <a:lnTo>
                    <a:pt x="10435" y="19887"/>
                  </a:lnTo>
                  <a:lnTo>
                    <a:pt x="10609" y="19717"/>
                  </a:lnTo>
                  <a:lnTo>
                    <a:pt x="10783" y="19490"/>
                  </a:lnTo>
                  <a:lnTo>
                    <a:pt x="10957" y="19320"/>
                  </a:lnTo>
                  <a:lnTo>
                    <a:pt x="11304" y="19093"/>
                  </a:lnTo>
                  <a:lnTo>
                    <a:pt x="11304" y="18810"/>
                  </a:lnTo>
                  <a:lnTo>
                    <a:pt x="11913" y="18527"/>
                  </a:lnTo>
                  <a:lnTo>
                    <a:pt x="12174" y="18244"/>
                  </a:lnTo>
                  <a:lnTo>
                    <a:pt x="12348" y="17960"/>
                  </a:lnTo>
                  <a:lnTo>
                    <a:pt x="12522" y="17564"/>
                  </a:lnTo>
                  <a:lnTo>
                    <a:pt x="12522" y="17167"/>
                  </a:lnTo>
                  <a:lnTo>
                    <a:pt x="12957" y="16714"/>
                  </a:lnTo>
                  <a:lnTo>
                    <a:pt x="13130" y="16261"/>
                  </a:lnTo>
                  <a:lnTo>
                    <a:pt x="13217" y="15807"/>
                  </a:lnTo>
                  <a:lnTo>
                    <a:pt x="13565" y="15411"/>
                  </a:lnTo>
                  <a:lnTo>
                    <a:pt x="13826" y="14844"/>
                  </a:lnTo>
                  <a:lnTo>
                    <a:pt x="14087" y="14334"/>
                  </a:lnTo>
                  <a:lnTo>
                    <a:pt x="14348" y="13824"/>
                  </a:lnTo>
                  <a:lnTo>
                    <a:pt x="14696" y="13314"/>
                  </a:lnTo>
                  <a:lnTo>
                    <a:pt x="14783" y="12805"/>
                  </a:lnTo>
                  <a:lnTo>
                    <a:pt x="15217" y="12181"/>
                  </a:lnTo>
                  <a:lnTo>
                    <a:pt x="15565" y="11671"/>
                  </a:lnTo>
                  <a:lnTo>
                    <a:pt x="15652" y="11105"/>
                  </a:lnTo>
                  <a:lnTo>
                    <a:pt x="15826" y="10538"/>
                  </a:lnTo>
                  <a:lnTo>
                    <a:pt x="16087" y="10028"/>
                  </a:lnTo>
                  <a:lnTo>
                    <a:pt x="16348" y="9462"/>
                  </a:lnTo>
                  <a:lnTo>
                    <a:pt x="16870" y="8895"/>
                  </a:lnTo>
                  <a:lnTo>
                    <a:pt x="16957" y="8385"/>
                  </a:lnTo>
                  <a:lnTo>
                    <a:pt x="17043" y="7819"/>
                  </a:lnTo>
                  <a:lnTo>
                    <a:pt x="17217" y="7309"/>
                  </a:lnTo>
                  <a:lnTo>
                    <a:pt x="17391" y="6742"/>
                  </a:lnTo>
                  <a:lnTo>
                    <a:pt x="17565" y="6232"/>
                  </a:lnTo>
                  <a:lnTo>
                    <a:pt x="17565" y="5722"/>
                  </a:lnTo>
                  <a:lnTo>
                    <a:pt x="18174" y="5212"/>
                  </a:lnTo>
                  <a:lnTo>
                    <a:pt x="18435" y="4759"/>
                  </a:lnTo>
                  <a:lnTo>
                    <a:pt x="18522" y="4249"/>
                  </a:lnTo>
                  <a:lnTo>
                    <a:pt x="18783" y="3853"/>
                  </a:lnTo>
                  <a:lnTo>
                    <a:pt x="18957" y="3399"/>
                  </a:lnTo>
                  <a:lnTo>
                    <a:pt x="19043" y="3003"/>
                  </a:lnTo>
                  <a:lnTo>
                    <a:pt x="19391" y="2606"/>
                  </a:lnTo>
                  <a:lnTo>
                    <a:pt x="19391" y="2266"/>
                  </a:lnTo>
                  <a:lnTo>
                    <a:pt x="19478" y="1870"/>
                  </a:lnTo>
                  <a:lnTo>
                    <a:pt x="19565" y="1643"/>
                  </a:lnTo>
                  <a:lnTo>
                    <a:pt x="19826" y="1360"/>
                  </a:lnTo>
                  <a:lnTo>
                    <a:pt x="19826" y="1076"/>
                  </a:lnTo>
                  <a:lnTo>
                    <a:pt x="19913" y="8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11" name="AutoShape 73">
              <a:extLst>
                <a:ext uri="{FF2B5EF4-FFF2-40B4-BE49-F238E27FC236}">
                  <a16:creationId xmlns:a16="http://schemas.microsoft.com/office/drawing/2014/main" id="{0920DCB2-E8D4-ED43-F034-B03E26618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4" y="1233"/>
              <a:ext cx="152" cy="14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96"/>
                  </a:moveTo>
                  <a:lnTo>
                    <a:pt x="156" y="18457"/>
                  </a:lnTo>
                  <a:lnTo>
                    <a:pt x="391" y="17872"/>
                  </a:lnTo>
                  <a:lnTo>
                    <a:pt x="547" y="17287"/>
                  </a:lnTo>
                  <a:lnTo>
                    <a:pt x="547" y="16649"/>
                  </a:lnTo>
                  <a:lnTo>
                    <a:pt x="859" y="16064"/>
                  </a:lnTo>
                  <a:lnTo>
                    <a:pt x="1250" y="15479"/>
                  </a:lnTo>
                  <a:lnTo>
                    <a:pt x="1484" y="14894"/>
                  </a:lnTo>
                  <a:lnTo>
                    <a:pt x="1719" y="14255"/>
                  </a:lnTo>
                  <a:lnTo>
                    <a:pt x="1875" y="13670"/>
                  </a:lnTo>
                  <a:lnTo>
                    <a:pt x="2422" y="13138"/>
                  </a:lnTo>
                  <a:lnTo>
                    <a:pt x="2500" y="12553"/>
                  </a:lnTo>
                  <a:lnTo>
                    <a:pt x="2578" y="12021"/>
                  </a:lnTo>
                  <a:lnTo>
                    <a:pt x="2813" y="11489"/>
                  </a:lnTo>
                  <a:lnTo>
                    <a:pt x="2969" y="10904"/>
                  </a:lnTo>
                  <a:lnTo>
                    <a:pt x="3281" y="10372"/>
                  </a:lnTo>
                  <a:lnTo>
                    <a:pt x="3438" y="9840"/>
                  </a:lnTo>
                  <a:lnTo>
                    <a:pt x="3672" y="9255"/>
                  </a:lnTo>
                  <a:lnTo>
                    <a:pt x="3984" y="8723"/>
                  </a:lnTo>
                  <a:lnTo>
                    <a:pt x="4063" y="8191"/>
                  </a:lnTo>
                  <a:lnTo>
                    <a:pt x="4219" y="7766"/>
                  </a:lnTo>
                  <a:lnTo>
                    <a:pt x="4609" y="7234"/>
                  </a:lnTo>
                  <a:lnTo>
                    <a:pt x="4688" y="6755"/>
                  </a:lnTo>
                  <a:lnTo>
                    <a:pt x="5313" y="6330"/>
                  </a:lnTo>
                  <a:lnTo>
                    <a:pt x="5469" y="5904"/>
                  </a:lnTo>
                  <a:lnTo>
                    <a:pt x="5547" y="5426"/>
                  </a:lnTo>
                  <a:lnTo>
                    <a:pt x="6094" y="5000"/>
                  </a:lnTo>
                  <a:lnTo>
                    <a:pt x="6094" y="4521"/>
                  </a:lnTo>
                  <a:lnTo>
                    <a:pt x="6406" y="4149"/>
                  </a:lnTo>
                  <a:lnTo>
                    <a:pt x="6563" y="3777"/>
                  </a:lnTo>
                  <a:lnTo>
                    <a:pt x="6563" y="3404"/>
                  </a:lnTo>
                  <a:lnTo>
                    <a:pt x="7188" y="3032"/>
                  </a:lnTo>
                  <a:lnTo>
                    <a:pt x="7188" y="2713"/>
                  </a:lnTo>
                  <a:lnTo>
                    <a:pt x="7578" y="2447"/>
                  </a:lnTo>
                  <a:lnTo>
                    <a:pt x="7656" y="2128"/>
                  </a:lnTo>
                  <a:lnTo>
                    <a:pt x="7656" y="1809"/>
                  </a:lnTo>
                  <a:lnTo>
                    <a:pt x="7891" y="1543"/>
                  </a:lnTo>
                  <a:lnTo>
                    <a:pt x="8047" y="1330"/>
                  </a:lnTo>
                  <a:lnTo>
                    <a:pt x="8516" y="1064"/>
                  </a:lnTo>
                  <a:lnTo>
                    <a:pt x="8516" y="851"/>
                  </a:lnTo>
                  <a:lnTo>
                    <a:pt x="8750" y="691"/>
                  </a:lnTo>
                  <a:lnTo>
                    <a:pt x="8828" y="479"/>
                  </a:lnTo>
                  <a:lnTo>
                    <a:pt x="9141" y="372"/>
                  </a:lnTo>
                  <a:lnTo>
                    <a:pt x="9453" y="266"/>
                  </a:lnTo>
                  <a:lnTo>
                    <a:pt x="9453" y="106"/>
                  </a:lnTo>
                  <a:lnTo>
                    <a:pt x="9766" y="106"/>
                  </a:lnTo>
                  <a:lnTo>
                    <a:pt x="10156" y="53"/>
                  </a:lnTo>
                  <a:lnTo>
                    <a:pt x="10313" y="0"/>
                  </a:lnTo>
                  <a:lnTo>
                    <a:pt x="10547" y="53"/>
                  </a:lnTo>
                  <a:lnTo>
                    <a:pt x="10781" y="53"/>
                  </a:lnTo>
                  <a:lnTo>
                    <a:pt x="10859" y="106"/>
                  </a:lnTo>
                  <a:lnTo>
                    <a:pt x="11172" y="213"/>
                  </a:lnTo>
                  <a:lnTo>
                    <a:pt x="11328" y="319"/>
                  </a:lnTo>
                  <a:lnTo>
                    <a:pt x="11484" y="479"/>
                  </a:lnTo>
                  <a:lnTo>
                    <a:pt x="11953" y="745"/>
                  </a:lnTo>
                  <a:lnTo>
                    <a:pt x="12109" y="1011"/>
                  </a:lnTo>
                  <a:lnTo>
                    <a:pt x="12344" y="1277"/>
                  </a:lnTo>
                  <a:lnTo>
                    <a:pt x="12344" y="1543"/>
                  </a:lnTo>
                  <a:lnTo>
                    <a:pt x="12422" y="1915"/>
                  </a:lnTo>
                  <a:lnTo>
                    <a:pt x="12813" y="2287"/>
                  </a:lnTo>
                  <a:lnTo>
                    <a:pt x="12813" y="2713"/>
                  </a:lnTo>
                  <a:lnTo>
                    <a:pt x="13438" y="3138"/>
                  </a:lnTo>
                  <a:lnTo>
                    <a:pt x="13438" y="3564"/>
                  </a:lnTo>
                  <a:lnTo>
                    <a:pt x="13594" y="3989"/>
                  </a:lnTo>
                  <a:lnTo>
                    <a:pt x="13906" y="4415"/>
                  </a:lnTo>
                  <a:lnTo>
                    <a:pt x="14141" y="4947"/>
                  </a:lnTo>
                  <a:lnTo>
                    <a:pt x="14453" y="5479"/>
                  </a:lnTo>
                  <a:lnTo>
                    <a:pt x="14688" y="5957"/>
                  </a:lnTo>
                  <a:lnTo>
                    <a:pt x="15234" y="6489"/>
                  </a:lnTo>
                  <a:lnTo>
                    <a:pt x="15313" y="7074"/>
                  </a:lnTo>
                  <a:lnTo>
                    <a:pt x="15469" y="7606"/>
                  </a:lnTo>
                  <a:lnTo>
                    <a:pt x="15781" y="8191"/>
                  </a:lnTo>
                  <a:lnTo>
                    <a:pt x="15938" y="8777"/>
                  </a:lnTo>
                  <a:lnTo>
                    <a:pt x="16094" y="9362"/>
                  </a:lnTo>
                  <a:lnTo>
                    <a:pt x="16328" y="9894"/>
                  </a:lnTo>
                  <a:lnTo>
                    <a:pt x="16563" y="10426"/>
                  </a:lnTo>
                  <a:lnTo>
                    <a:pt x="16719" y="11011"/>
                  </a:lnTo>
                  <a:lnTo>
                    <a:pt x="17031" y="11649"/>
                  </a:lnTo>
                  <a:lnTo>
                    <a:pt x="17266" y="12181"/>
                  </a:lnTo>
                  <a:lnTo>
                    <a:pt x="17422" y="12766"/>
                  </a:lnTo>
                  <a:lnTo>
                    <a:pt x="17500" y="13298"/>
                  </a:lnTo>
                  <a:lnTo>
                    <a:pt x="17578" y="13830"/>
                  </a:lnTo>
                  <a:lnTo>
                    <a:pt x="18125" y="14415"/>
                  </a:lnTo>
                  <a:lnTo>
                    <a:pt x="18125" y="14947"/>
                  </a:lnTo>
                  <a:lnTo>
                    <a:pt x="18438" y="15479"/>
                  </a:lnTo>
                  <a:lnTo>
                    <a:pt x="18516" y="15904"/>
                  </a:lnTo>
                  <a:lnTo>
                    <a:pt x="18750" y="16436"/>
                  </a:lnTo>
                  <a:lnTo>
                    <a:pt x="18906" y="16862"/>
                  </a:lnTo>
                  <a:lnTo>
                    <a:pt x="19141" y="17340"/>
                  </a:lnTo>
                  <a:lnTo>
                    <a:pt x="19453" y="17713"/>
                  </a:lnTo>
                  <a:lnTo>
                    <a:pt x="19453" y="18138"/>
                  </a:lnTo>
                  <a:lnTo>
                    <a:pt x="19531" y="18511"/>
                  </a:lnTo>
                  <a:lnTo>
                    <a:pt x="19609" y="18883"/>
                  </a:lnTo>
                  <a:lnTo>
                    <a:pt x="19688" y="19149"/>
                  </a:lnTo>
                  <a:lnTo>
                    <a:pt x="19844" y="19521"/>
                  </a:lnTo>
                  <a:lnTo>
                    <a:pt x="19922" y="19734"/>
                  </a:lnTo>
                  <a:lnTo>
                    <a:pt x="19922" y="19947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12" name="AutoShape 74">
              <a:extLst>
                <a:ext uri="{FF2B5EF4-FFF2-40B4-BE49-F238E27FC236}">
                  <a16:creationId xmlns:a16="http://schemas.microsoft.com/office/drawing/2014/main" id="{C5EE0299-2012-A200-CD90-D80F5EB458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3" y="1368"/>
              <a:ext cx="164" cy="1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45" y="661"/>
                  </a:lnTo>
                  <a:lnTo>
                    <a:pt x="291" y="1212"/>
                  </a:lnTo>
                  <a:lnTo>
                    <a:pt x="436" y="1873"/>
                  </a:lnTo>
                  <a:lnTo>
                    <a:pt x="582" y="2534"/>
                  </a:lnTo>
                  <a:lnTo>
                    <a:pt x="800" y="3140"/>
                  </a:lnTo>
                  <a:lnTo>
                    <a:pt x="1164" y="3691"/>
                  </a:lnTo>
                  <a:lnTo>
                    <a:pt x="1164" y="4298"/>
                  </a:lnTo>
                  <a:lnTo>
                    <a:pt x="1455" y="4959"/>
                  </a:lnTo>
                  <a:lnTo>
                    <a:pt x="1600" y="5565"/>
                  </a:lnTo>
                  <a:lnTo>
                    <a:pt x="2182" y="6171"/>
                  </a:lnTo>
                  <a:lnTo>
                    <a:pt x="2327" y="6777"/>
                  </a:lnTo>
                  <a:lnTo>
                    <a:pt x="2400" y="7328"/>
                  </a:lnTo>
                  <a:lnTo>
                    <a:pt x="2618" y="7879"/>
                  </a:lnTo>
                  <a:lnTo>
                    <a:pt x="2764" y="8485"/>
                  </a:lnTo>
                  <a:lnTo>
                    <a:pt x="3055" y="9036"/>
                  </a:lnTo>
                  <a:lnTo>
                    <a:pt x="3127" y="9642"/>
                  </a:lnTo>
                  <a:lnTo>
                    <a:pt x="3200" y="10138"/>
                  </a:lnTo>
                  <a:lnTo>
                    <a:pt x="3636" y="10689"/>
                  </a:lnTo>
                  <a:lnTo>
                    <a:pt x="3782" y="11185"/>
                  </a:lnTo>
                  <a:lnTo>
                    <a:pt x="4073" y="11736"/>
                  </a:lnTo>
                  <a:lnTo>
                    <a:pt x="4218" y="12176"/>
                  </a:lnTo>
                  <a:lnTo>
                    <a:pt x="4364" y="12727"/>
                  </a:lnTo>
                  <a:lnTo>
                    <a:pt x="4509" y="13223"/>
                  </a:lnTo>
                  <a:lnTo>
                    <a:pt x="4655" y="13664"/>
                  </a:lnTo>
                  <a:lnTo>
                    <a:pt x="4873" y="14105"/>
                  </a:lnTo>
                  <a:lnTo>
                    <a:pt x="5236" y="14545"/>
                  </a:lnTo>
                  <a:lnTo>
                    <a:pt x="5455" y="14986"/>
                  </a:lnTo>
                  <a:lnTo>
                    <a:pt x="5600" y="15482"/>
                  </a:lnTo>
                  <a:lnTo>
                    <a:pt x="5745" y="15868"/>
                  </a:lnTo>
                  <a:lnTo>
                    <a:pt x="6109" y="16198"/>
                  </a:lnTo>
                  <a:lnTo>
                    <a:pt x="6109" y="16584"/>
                  </a:lnTo>
                  <a:lnTo>
                    <a:pt x="6473" y="16970"/>
                  </a:lnTo>
                  <a:lnTo>
                    <a:pt x="6691" y="17245"/>
                  </a:lnTo>
                  <a:lnTo>
                    <a:pt x="6836" y="17631"/>
                  </a:lnTo>
                  <a:lnTo>
                    <a:pt x="7127" y="17906"/>
                  </a:lnTo>
                  <a:lnTo>
                    <a:pt x="7127" y="18182"/>
                  </a:lnTo>
                  <a:lnTo>
                    <a:pt x="7564" y="18457"/>
                  </a:lnTo>
                  <a:lnTo>
                    <a:pt x="7564" y="18733"/>
                  </a:lnTo>
                  <a:lnTo>
                    <a:pt x="7709" y="18953"/>
                  </a:lnTo>
                  <a:lnTo>
                    <a:pt x="7855" y="19118"/>
                  </a:lnTo>
                  <a:lnTo>
                    <a:pt x="8073" y="19339"/>
                  </a:lnTo>
                  <a:lnTo>
                    <a:pt x="8509" y="19504"/>
                  </a:lnTo>
                  <a:lnTo>
                    <a:pt x="8582" y="19669"/>
                  </a:lnTo>
                  <a:lnTo>
                    <a:pt x="9018" y="19725"/>
                  </a:lnTo>
                  <a:lnTo>
                    <a:pt x="9091" y="19890"/>
                  </a:lnTo>
                  <a:lnTo>
                    <a:pt x="9236" y="19890"/>
                  </a:lnTo>
                  <a:lnTo>
                    <a:pt x="9455" y="19945"/>
                  </a:lnTo>
                  <a:lnTo>
                    <a:pt x="9600" y="19945"/>
                  </a:lnTo>
                  <a:lnTo>
                    <a:pt x="9745" y="19945"/>
                  </a:lnTo>
                  <a:lnTo>
                    <a:pt x="10255" y="19890"/>
                  </a:lnTo>
                  <a:lnTo>
                    <a:pt x="10400" y="19890"/>
                  </a:lnTo>
                  <a:lnTo>
                    <a:pt x="10545" y="19725"/>
                  </a:lnTo>
                  <a:lnTo>
                    <a:pt x="10764" y="19504"/>
                  </a:lnTo>
                  <a:lnTo>
                    <a:pt x="10909" y="19339"/>
                  </a:lnTo>
                  <a:lnTo>
                    <a:pt x="11418" y="19118"/>
                  </a:lnTo>
                  <a:lnTo>
                    <a:pt x="11418" y="18843"/>
                  </a:lnTo>
                  <a:lnTo>
                    <a:pt x="11927" y="18567"/>
                  </a:lnTo>
                  <a:lnTo>
                    <a:pt x="12145" y="18237"/>
                  </a:lnTo>
                  <a:lnTo>
                    <a:pt x="12291" y="17851"/>
                  </a:lnTo>
                  <a:lnTo>
                    <a:pt x="12436" y="17466"/>
                  </a:lnTo>
                  <a:lnTo>
                    <a:pt x="12582" y="17190"/>
                  </a:lnTo>
                  <a:lnTo>
                    <a:pt x="12873" y="16749"/>
                  </a:lnTo>
                  <a:lnTo>
                    <a:pt x="13164" y="16309"/>
                  </a:lnTo>
                  <a:lnTo>
                    <a:pt x="13309" y="15813"/>
                  </a:lnTo>
                  <a:lnTo>
                    <a:pt x="13600" y="15317"/>
                  </a:lnTo>
                  <a:lnTo>
                    <a:pt x="13891" y="14876"/>
                  </a:lnTo>
                  <a:lnTo>
                    <a:pt x="14109" y="14325"/>
                  </a:lnTo>
                  <a:lnTo>
                    <a:pt x="14400" y="13829"/>
                  </a:lnTo>
                  <a:lnTo>
                    <a:pt x="14691" y="13278"/>
                  </a:lnTo>
                  <a:lnTo>
                    <a:pt x="14764" y="12837"/>
                  </a:lnTo>
                  <a:lnTo>
                    <a:pt x="15273" y="12176"/>
                  </a:lnTo>
                  <a:lnTo>
                    <a:pt x="15491" y="11680"/>
                  </a:lnTo>
                  <a:lnTo>
                    <a:pt x="15636" y="11129"/>
                  </a:lnTo>
                  <a:lnTo>
                    <a:pt x="15782" y="10579"/>
                  </a:lnTo>
                  <a:lnTo>
                    <a:pt x="16000" y="10028"/>
                  </a:lnTo>
                  <a:lnTo>
                    <a:pt x="16291" y="9477"/>
                  </a:lnTo>
                  <a:lnTo>
                    <a:pt x="16727" y="8871"/>
                  </a:lnTo>
                  <a:lnTo>
                    <a:pt x="16873" y="8375"/>
                  </a:lnTo>
                  <a:lnTo>
                    <a:pt x="17091" y="7824"/>
                  </a:lnTo>
                  <a:lnTo>
                    <a:pt x="17236" y="7273"/>
                  </a:lnTo>
                  <a:lnTo>
                    <a:pt x="17382" y="6777"/>
                  </a:lnTo>
                  <a:lnTo>
                    <a:pt x="17673" y="6226"/>
                  </a:lnTo>
                  <a:lnTo>
                    <a:pt x="17673" y="5730"/>
                  </a:lnTo>
                  <a:lnTo>
                    <a:pt x="18255" y="5234"/>
                  </a:lnTo>
                  <a:lnTo>
                    <a:pt x="18473" y="4738"/>
                  </a:lnTo>
                  <a:lnTo>
                    <a:pt x="18545" y="4298"/>
                  </a:lnTo>
                  <a:lnTo>
                    <a:pt x="18836" y="3857"/>
                  </a:lnTo>
                  <a:lnTo>
                    <a:pt x="19127" y="3416"/>
                  </a:lnTo>
                  <a:lnTo>
                    <a:pt x="19200" y="3030"/>
                  </a:lnTo>
                  <a:lnTo>
                    <a:pt x="19418" y="2590"/>
                  </a:lnTo>
                  <a:lnTo>
                    <a:pt x="19418" y="2204"/>
                  </a:lnTo>
                  <a:lnTo>
                    <a:pt x="19564" y="1928"/>
                  </a:lnTo>
                  <a:lnTo>
                    <a:pt x="19636" y="1598"/>
                  </a:lnTo>
                  <a:lnTo>
                    <a:pt x="19855" y="1377"/>
                  </a:lnTo>
                  <a:lnTo>
                    <a:pt x="19855" y="1047"/>
                  </a:lnTo>
                  <a:lnTo>
                    <a:pt x="19927" y="882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13" name="AutoShape 75">
              <a:extLst>
                <a:ext uri="{FF2B5EF4-FFF2-40B4-BE49-F238E27FC236}">
                  <a16:creationId xmlns:a16="http://schemas.microsoft.com/office/drawing/2014/main" id="{E8529915-24F7-7091-1B16-D811523E99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" y="1236"/>
              <a:ext cx="152" cy="1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71"/>
                  </a:moveTo>
                  <a:lnTo>
                    <a:pt x="156" y="18470"/>
                  </a:lnTo>
                  <a:lnTo>
                    <a:pt x="391" y="17869"/>
                  </a:lnTo>
                  <a:lnTo>
                    <a:pt x="547" y="17268"/>
                  </a:lnTo>
                  <a:lnTo>
                    <a:pt x="547" y="16721"/>
                  </a:lnTo>
                  <a:lnTo>
                    <a:pt x="859" y="16120"/>
                  </a:lnTo>
                  <a:lnTo>
                    <a:pt x="1250" y="15519"/>
                  </a:lnTo>
                  <a:lnTo>
                    <a:pt x="1484" y="14918"/>
                  </a:lnTo>
                  <a:lnTo>
                    <a:pt x="1719" y="14262"/>
                  </a:lnTo>
                  <a:lnTo>
                    <a:pt x="1875" y="13661"/>
                  </a:lnTo>
                  <a:lnTo>
                    <a:pt x="2422" y="13115"/>
                  </a:lnTo>
                  <a:lnTo>
                    <a:pt x="2500" y="12568"/>
                  </a:lnTo>
                  <a:lnTo>
                    <a:pt x="2578" y="12022"/>
                  </a:lnTo>
                  <a:lnTo>
                    <a:pt x="2813" y="11421"/>
                  </a:lnTo>
                  <a:lnTo>
                    <a:pt x="2969" y="10874"/>
                  </a:lnTo>
                  <a:lnTo>
                    <a:pt x="3281" y="10328"/>
                  </a:lnTo>
                  <a:lnTo>
                    <a:pt x="3438" y="9836"/>
                  </a:lnTo>
                  <a:lnTo>
                    <a:pt x="3672" y="9290"/>
                  </a:lnTo>
                  <a:lnTo>
                    <a:pt x="3984" y="8798"/>
                  </a:lnTo>
                  <a:lnTo>
                    <a:pt x="4063" y="8197"/>
                  </a:lnTo>
                  <a:lnTo>
                    <a:pt x="4219" y="7760"/>
                  </a:lnTo>
                  <a:lnTo>
                    <a:pt x="4609" y="7268"/>
                  </a:lnTo>
                  <a:lnTo>
                    <a:pt x="4688" y="6776"/>
                  </a:lnTo>
                  <a:lnTo>
                    <a:pt x="5313" y="6339"/>
                  </a:lnTo>
                  <a:lnTo>
                    <a:pt x="5469" y="5902"/>
                  </a:lnTo>
                  <a:lnTo>
                    <a:pt x="5547" y="5410"/>
                  </a:lnTo>
                  <a:lnTo>
                    <a:pt x="6094" y="5027"/>
                  </a:lnTo>
                  <a:lnTo>
                    <a:pt x="6094" y="4590"/>
                  </a:lnTo>
                  <a:lnTo>
                    <a:pt x="6406" y="4153"/>
                  </a:lnTo>
                  <a:lnTo>
                    <a:pt x="6563" y="3770"/>
                  </a:lnTo>
                  <a:lnTo>
                    <a:pt x="6563" y="3443"/>
                  </a:lnTo>
                  <a:lnTo>
                    <a:pt x="7188" y="3005"/>
                  </a:lnTo>
                  <a:lnTo>
                    <a:pt x="7188" y="2732"/>
                  </a:lnTo>
                  <a:lnTo>
                    <a:pt x="7578" y="2404"/>
                  </a:lnTo>
                  <a:lnTo>
                    <a:pt x="7656" y="2131"/>
                  </a:lnTo>
                  <a:lnTo>
                    <a:pt x="7656" y="1803"/>
                  </a:lnTo>
                  <a:lnTo>
                    <a:pt x="7891" y="1585"/>
                  </a:lnTo>
                  <a:lnTo>
                    <a:pt x="8047" y="1311"/>
                  </a:lnTo>
                  <a:lnTo>
                    <a:pt x="8516" y="1038"/>
                  </a:lnTo>
                  <a:lnTo>
                    <a:pt x="8516" y="874"/>
                  </a:lnTo>
                  <a:lnTo>
                    <a:pt x="8750" y="656"/>
                  </a:lnTo>
                  <a:lnTo>
                    <a:pt x="8828" y="492"/>
                  </a:lnTo>
                  <a:lnTo>
                    <a:pt x="9141" y="383"/>
                  </a:lnTo>
                  <a:lnTo>
                    <a:pt x="9453" y="273"/>
                  </a:lnTo>
                  <a:lnTo>
                    <a:pt x="9453" y="109"/>
                  </a:lnTo>
                  <a:lnTo>
                    <a:pt x="9766" y="109"/>
                  </a:lnTo>
                  <a:lnTo>
                    <a:pt x="10156" y="55"/>
                  </a:lnTo>
                  <a:lnTo>
                    <a:pt x="10313" y="0"/>
                  </a:lnTo>
                  <a:lnTo>
                    <a:pt x="10547" y="55"/>
                  </a:lnTo>
                  <a:lnTo>
                    <a:pt x="10781" y="55"/>
                  </a:lnTo>
                  <a:lnTo>
                    <a:pt x="10859" y="109"/>
                  </a:lnTo>
                  <a:lnTo>
                    <a:pt x="11172" y="219"/>
                  </a:lnTo>
                  <a:lnTo>
                    <a:pt x="11328" y="328"/>
                  </a:lnTo>
                  <a:lnTo>
                    <a:pt x="11484" y="492"/>
                  </a:lnTo>
                  <a:lnTo>
                    <a:pt x="11953" y="710"/>
                  </a:lnTo>
                  <a:lnTo>
                    <a:pt x="12109" y="984"/>
                  </a:lnTo>
                  <a:lnTo>
                    <a:pt x="12344" y="1257"/>
                  </a:lnTo>
                  <a:lnTo>
                    <a:pt x="12344" y="1585"/>
                  </a:lnTo>
                  <a:lnTo>
                    <a:pt x="12422" y="1913"/>
                  </a:lnTo>
                  <a:lnTo>
                    <a:pt x="12813" y="2295"/>
                  </a:lnTo>
                  <a:lnTo>
                    <a:pt x="12813" y="2732"/>
                  </a:lnTo>
                  <a:lnTo>
                    <a:pt x="13438" y="3115"/>
                  </a:lnTo>
                  <a:lnTo>
                    <a:pt x="13438" y="3497"/>
                  </a:lnTo>
                  <a:lnTo>
                    <a:pt x="13594" y="3989"/>
                  </a:lnTo>
                  <a:lnTo>
                    <a:pt x="13906" y="4426"/>
                  </a:lnTo>
                  <a:lnTo>
                    <a:pt x="14141" y="4973"/>
                  </a:lnTo>
                  <a:lnTo>
                    <a:pt x="14453" y="5519"/>
                  </a:lnTo>
                  <a:lnTo>
                    <a:pt x="14688" y="5956"/>
                  </a:lnTo>
                  <a:lnTo>
                    <a:pt x="15234" y="6503"/>
                  </a:lnTo>
                  <a:lnTo>
                    <a:pt x="15313" y="7049"/>
                  </a:lnTo>
                  <a:lnTo>
                    <a:pt x="15469" y="7596"/>
                  </a:lnTo>
                  <a:lnTo>
                    <a:pt x="15781" y="8197"/>
                  </a:lnTo>
                  <a:lnTo>
                    <a:pt x="15938" y="8798"/>
                  </a:lnTo>
                  <a:lnTo>
                    <a:pt x="16094" y="9344"/>
                  </a:lnTo>
                  <a:lnTo>
                    <a:pt x="16328" y="9891"/>
                  </a:lnTo>
                  <a:lnTo>
                    <a:pt x="16563" y="10492"/>
                  </a:lnTo>
                  <a:lnTo>
                    <a:pt x="16719" y="11038"/>
                  </a:lnTo>
                  <a:lnTo>
                    <a:pt x="17031" y="11585"/>
                  </a:lnTo>
                  <a:lnTo>
                    <a:pt x="17266" y="12186"/>
                  </a:lnTo>
                  <a:lnTo>
                    <a:pt x="17422" y="12732"/>
                  </a:lnTo>
                  <a:lnTo>
                    <a:pt x="17500" y="13279"/>
                  </a:lnTo>
                  <a:lnTo>
                    <a:pt x="17578" y="13880"/>
                  </a:lnTo>
                  <a:lnTo>
                    <a:pt x="18125" y="14426"/>
                  </a:lnTo>
                  <a:lnTo>
                    <a:pt x="18125" y="14918"/>
                  </a:lnTo>
                  <a:lnTo>
                    <a:pt x="18438" y="15410"/>
                  </a:lnTo>
                  <a:lnTo>
                    <a:pt x="18516" y="15956"/>
                  </a:lnTo>
                  <a:lnTo>
                    <a:pt x="18750" y="16448"/>
                  </a:lnTo>
                  <a:lnTo>
                    <a:pt x="18906" y="16885"/>
                  </a:lnTo>
                  <a:lnTo>
                    <a:pt x="19141" y="17268"/>
                  </a:lnTo>
                  <a:lnTo>
                    <a:pt x="19453" y="17760"/>
                  </a:lnTo>
                  <a:lnTo>
                    <a:pt x="19453" y="18197"/>
                  </a:lnTo>
                  <a:lnTo>
                    <a:pt x="19531" y="18525"/>
                  </a:lnTo>
                  <a:lnTo>
                    <a:pt x="19609" y="18852"/>
                  </a:lnTo>
                  <a:lnTo>
                    <a:pt x="19688" y="19180"/>
                  </a:lnTo>
                  <a:lnTo>
                    <a:pt x="19844" y="19508"/>
                  </a:lnTo>
                  <a:lnTo>
                    <a:pt x="19922" y="19727"/>
                  </a:lnTo>
                  <a:lnTo>
                    <a:pt x="19922" y="19945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14" name="AutoShape 76">
              <a:extLst>
                <a:ext uri="{FF2B5EF4-FFF2-40B4-BE49-F238E27FC236}">
                  <a16:creationId xmlns:a16="http://schemas.microsoft.com/office/drawing/2014/main" id="{EF495C7C-ED1C-F805-D0E3-6EB08383D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" y="1367"/>
              <a:ext cx="163" cy="13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45" y="623"/>
                  </a:lnTo>
                  <a:lnTo>
                    <a:pt x="291" y="1246"/>
                  </a:lnTo>
                  <a:lnTo>
                    <a:pt x="436" y="1870"/>
                  </a:lnTo>
                  <a:lnTo>
                    <a:pt x="582" y="2493"/>
                  </a:lnTo>
                  <a:lnTo>
                    <a:pt x="800" y="3116"/>
                  </a:lnTo>
                  <a:lnTo>
                    <a:pt x="1164" y="3739"/>
                  </a:lnTo>
                  <a:lnTo>
                    <a:pt x="1164" y="4363"/>
                  </a:lnTo>
                  <a:lnTo>
                    <a:pt x="1455" y="4986"/>
                  </a:lnTo>
                  <a:lnTo>
                    <a:pt x="1600" y="5552"/>
                  </a:lnTo>
                  <a:lnTo>
                    <a:pt x="2182" y="6176"/>
                  </a:lnTo>
                  <a:lnTo>
                    <a:pt x="2327" y="6742"/>
                  </a:lnTo>
                  <a:lnTo>
                    <a:pt x="2400" y="7309"/>
                  </a:lnTo>
                  <a:lnTo>
                    <a:pt x="2618" y="7875"/>
                  </a:lnTo>
                  <a:lnTo>
                    <a:pt x="2764" y="8499"/>
                  </a:lnTo>
                  <a:lnTo>
                    <a:pt x="3055" y="9008"/>
                  </a:lnTo>
                  <a:lnTo>
                    <a:pt x="3127" y="9575"/>
                  </a:lnTo>
                  <a:lnTo>
                    <a:pt x="3200" y="10142"/>
                  </a:lnTo>
                  <a:lnTo>
                    <a:pt x="3636" y="10652"/>
                  </a:lnTo>
                  <a:lnTo>
                    <a:pt x="3782" y="11218"/>
                  </a:lnTo>
                  <a:lnTo>
                    <a:pt x="4073" y="11728"/>
                  </a:lnTo>
                  <a:lnTo>
                    <a:pt x="4218" y="12181"/>
                  </a:lnTo>
                  <a:lnTo>
                    <a:pt x="4364" y="12691"/>
                  </a:lnTo>
                  <a:lnTo>
                    <a:pt x="4509" y="13258"/>
                  </a:lnTo>
                  <a:lnTo>
                    <a:pt x="4655" y="13654"/>
                  </a:lnTo>
                  <a:lnTo>
                    <a:pt x="4873" y="14108"/>
                  </a:lnTo>
                  <a:lnTo>
                    <a:pt x="5236" y="14561"/>
                  </a:lnTo>
                  <a:lnTo>
                    <a:pt x="5455" y="15014"/>
                  </a:lnTo>
                  <a:lnTo>
                    <a:pt x="5600" y="15411"/>
                  </a:lnTo>
                  <a:lnTo>
                    <a:pt x="5745" y="15807"/>
                  </a:lnTo>
                  <a:lnTo>
                    <a:pt x="6109" y="16204"/>
                  </a:lnTo>
                  <a:lnTo>
                    <a:pt x="6109" y="16601"/>
                  </a:lnTo>
                  <a:lnTo>
                    <a:pt x="6473" y="16941"/>
                  </a:lnTo>
                  <a:lnTo>
                    <a:pt x="6691" y="17337"/>
                  </a:lnTo>
                  <a:lnTo>
                    <a:pt x="6836" y="17564"/>
                  </a:lnTo>
                  <a:lnTo>
                    <a:pt x="7127" y="17960"/>
                  </a:lnTo>
                  <a:lnTo>
                    <a:pt x="7127" y="18130"/>
                  </a:lnTo>
                  <a:lnTo>
                    <a:pt x="7564" y="18470"/>
                  </a:lnTo>
                  <a:lnTo>
                    <a:pt x="7564" y="18754"/>
                  </a:lnTo>
                  <a:lnTo>
                    <a:pt x="7709" y="18924"/>
                  </a:lnTo>
                  <a:lnTo>
                    <a:pt x="7855" y="19150"/>
                  </a:lnTo>
                  <a:lnTo>
                    <a:pt x="8073" y="19320"/>
                  </a:lnTo>
                  <a:lnTo>
                    <a:pt x="8509" y="19490"/>
                  </a:lnTo>
                  <a:lnTo>
                    <a:pt x="8582" y="19660"/>
                  </a:lnTo>
                  <a:lnTo>
                    <a:pt x="9018" y="19717"/>
                  </a:lnTo>
                  <a:lnTo>
                    <a:pt x="9091" y="19887"/>
                  </a:lnTo>
                  <a:lnTo>
                    <a:pt x="9236" y="19887"/>
                  </a:lnTo>
                  <a:lnTo>
                    <a:pt x="9455" y="19943"/>
                  </a:lnTo>
                  <a:lnTo>
                    <a:pt x="9600" y="19943"/>
                  </a:lnTo>
                  <a:lnTo>
                    <a:pt x="9745" y="19943"/>
                  </a:lnTo>
                  <a:lnTo>
                    <a:pt x="10255" y="19887"/>
                  </a:lnTo>
                  <a:lnTo>
                    <a:pt x="10400" y="19887"/>
                  </a:lnTo>
                  <a:lnTo>
                    <a:pt x="10545" y="19717"/>
                  </a:lnTo>
                  <a:lnTo>
                    <a:pt x="10764" y="19490"/>
                  </a:lnTo>
                  <a:lnTo>
                    <a:pt x="10909" y="19320"/>
                  </a:lnTo>
                  <a:lnTo>
                    <a:pt x="11418" y="19093"/>
                  </a:lnTo>
                  <a:lnTo>
                    <a:pt x="11418" y="18810"/>
                  </a:lnTo>
                  <a:lnTo>
                    <a:pt x="11927" y="18527"/>
                  </a:lnTo>
                  <a:lnTo>
                    <a:pt x="12145" y="18244"/>
                  </a:lnTo>
                  <a:lnTo>
                    <a:pt x="12291" y="17960"/>
                  </a:lnTo>
                  <a:lnTo>
                    <a:pt x="12436" y="17564"/>
                  </a:lnTo>
                  <a:lnTo>
                    <a:pt x="12582" y="17167"/>
                  </a:lnTo>
                  <a:lnTo>
                    <a:pt x="12873" y="16714"/>
                  </a:lnTo>
                  <a:lnTo>
                    <a:pt x="13164" y="16261"/>
                  </a:lnTo>
                  <a:lnTo>
                    <a:pt x="13309" y="15807"/>
                  </a:lnTo>
                  <a:lnTo>
                    <a:pt x="13600" y="15411"/>
                  </a:lnTo>
                  <a:lnTo>
                    <a:pt x="13891" y="14844"/>
                  </a:lnTo>
                  <a:lnTo>
                    <a:pt x="14109" y="14334"/>
                  </a:lnTo>
                  <a:lnTo>
                    <a:pt x="14400" y="13824"/>
                  </a:lnTo>
                  <a:lnTo>
                    <a:pt x="14691" y="13314"/>
                  </a:lnTo>
                  <a:lnTo>
                    <a:pt x="14764" y="12805"/>
                  </a:lnTo>
                  <a:lnTo>
                    <a:pt x="15273" y="12181"/>
                  </a:lnTo>
                  <a:lnTo>
                    <a:pt x="15491" y="11671"/>
                  </a:lnTo>
                  <a:lnTo>
                    <a:pt x="15636" y="11105"/>
                  </a:lnTo>
                  <a:lnTo>
                    <a:pt x="15782" y="10538"/>
                  </a:lnTo>
                  <a:lnTo>
                    <a:pt x="16000" y="10028"/>
                  </a:lnTo>
                  <a:lnTo>
                    <a:pt x="16291" y="9462"/>
                  </a:lnTo>
                  <a:lnTo>
                    <a:pt x="16727" y="8895"/>
                  </a:lnTo>
                  <a:lnTo>
                    <a:pt x="16873" y="8385"/>
                  </a:lnTo>
                  <a:lnTo>
                    <a:pt x="17091" y="7819"/>
                  </a:lnTo>
                  <a:lnTo>
                    <a:pt x="17236" y="7309"/>
                  </a:lnTo>
                  <a:lnTo>
                    <a:pt x="17382" y="6742"/>
                  </a:lnTo>
                  <a:lnTo>
                    <a:pt x="17673" y="6232"/>
                  </a:lnTo>
                  <a:lnTo>
                    <a:pt x="17673" y="5722"/>
                  </a:lnTo>
                  <a:lnTo>
                    <a:pt x="18255" y="5212"/>
                  </a:lnTo>
                  <a:lnTo>
                    <a:pt x="18473" y="4759"/>
                  </a:lnTo>
                  <a:lnTo>
                    <a:pt x="18545" y="4249"/>
                  </a:lnTo>
                  <a:lnTo>
                    <a:pt x="18836" y="3853"/>
                  </a:lnTo>
                  <a:lnTo>
                    <a:pt x="19127" y="3399"/>
                  </a:lnTo>
                  <a:lnTo>
                    <a:pt x="19200" y="3003"/>
                  </a:lnTo>
                  <a:lnTo>
                    <a:pt x="19418" y="2606"/>
                  </a:lnTo>
                  <a:lnTo>
                    <a:pt x="19418" y="2266"/>
                  </a:lnTo>
                  <a:lnTo>
                    <a:pt x="19564" y="1870"/>
                  </a:lnTo>
                  <a:lnTo>
                    <a:pt x="19636" y="1643"/>
                  </a:lnTo>
                  <a:lnTo>
                    <a:pt x="19855" y="1360"/>
                  </a:lnTo>
                  <a:lnTo>
                    <a:pt x="19855" y="1076"/>
                  </a:lnTo>
                  <a:lnTo>
                    <a:pt x="19927" y="8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15" name="AutoShape 77">
              <a:extLst>
                <a:ext uri="{FF2B5EF4-FFF2-40B4-BE49-F238E27FC236}">
                  <a16:creationId xmlns:a16="http://schemas.microsoft.com/office/drawing/2014/main" id="{3DC81959-E099-2FBD-D3C1-D69776D36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1229"/>
              <a:ext cx="152" cy="14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96"/>
                  </a:moveTo>
                  <a:lnTo>
                    <a:pt x="156" y="18457"/>
                  </a:lnTo>
                  <a:lnTo>
                    <a:pt x="391" y="17872"/>
                  </a:lnTo>
                  <a:lnTo>
                    <a:pt x="547" y="17287"/>
                  </a:lnTo>
                  <a:lnTo>
                    <a:pt x="547" y="16649"/>
                  </a:lnTo>
                  <a:lnTo>
                    <a:pt x="859" y="16064"/>
                  </a:lnTo>
                  <a:lnTo>
                    <a:pt x="1250" y="15479"/>
                  </a:lnTo>
                  <a:lnTo>
                    <a:pt x="1484" y="14894"/>
                  </a:lnTo>
                  <a:lnTo>
                    <a:pt x="1719" y="14255"/>
                  </a:lnTo>
                  <a:lnTo>
                    <a:pt x="1875" y="13670"/>
                  </a:lnTo>
                  <a:lnTo>
                    <a:pt x="2422" y="13138"/>
                  </a:lnTo>
                  <a:lnTo>
                    <a:pt x="2500" y="12553"/>
                  </a:lnTo>
                  <a:lnTo>
                    <a:pt x="2578" y="12021"/>
                  </a:lnTo>
                  <a:lnTo>
                    <a:pt x="2813" y="11489"/>
                  </a:lnTo>
                  <a:lnTo>
                    <a:pt x="2969" y="10904"/>
                  </a:lnTo>
                  <a:lnTo>
                    <a:pt x="3281" y="10372"/>
                  </a:lnTo>
                  <a:lnTo>
                    <a:pt x="3438" y="9840"/>
                  </a:lnTo>
                  <a:lnTo>
                    <a:pt x="3672" y="9255"/>
                  </a:lnTo>
                  <a:lnTo>
                    <a:pt x="3984" y="8723"/>
                  </a:lnTo>
                  <a:lnTo>
                    <a:pt x="4063" y="8191"/>
                  </a:lnTo>
                  <a:lnTo>
                    <a:pt x="4219" y="7766"/>
                  </a:lnTo>
                  <a:lnTo>
                    <a:pt x="4609" y="7234"/>
                  </a:lnTo>
                  <a:lnTo>
                    <a:pt x="4688" y="6755"/>
                  </a:lnTo>
                  <a:lnTo>
                    <a:pt x="5313" y="6330"/>
                  </a:lnTo>
                  <a:lnTo>
                    <a:pt x="5469" y="5904"/>
                  </a:lnTo>
                  <a:lnTo>
                    <a:pt x="5547" y="5426"/>
                  </a:lnTo>
                  <a:lnTo>
                    <a:pt x="6094" y="5000"/>
                  </a:lnTo>
                  <a:lnTo>
                    <a:pt x="6094" y="4521"/>
                  </a:lnTo>
                  <a:lnTo>
                    <a:pt x="6406" y="4149"/>
                  </a:lnTo>
                  <a:lnTo>
                    <a:pt x="6563" y="3777"/>
                  </a:lnTo>
                  <a:lnTo>
                    <a:pt x="6563" y="3404"/>
                  </a:lnTo>
                  <a:lnTo>
                    <a:pt x="7188" y="3032"/>
                  </a:lnTo>
                  <a:lnTo>
                    <a:pt x="7188" y="2713"/>
                  </a:lnTo>
                  <a:lnTo>
                    <a:pt x="7578" y="2447"/>
                  </a:lnTo>
                  <a:lnTo>
                    <a:pt x="7656" y="2128"/>
                  </a:lnTo>
                  <a:lnTo>
                    <a:pt x="7656" y="1809"/>
                  </a:lnTo>
                  <a:lnTo>
                    <a:pt x="7891" y="1543"/>
                  </a:lnTo>
                  <a:lnTo>
                    <a:pt x="8047" y="1330"/>
                  </a:lnTo>
                  <a:lnTo>
                    <a:pt x="8516" y="1064"/>
                  </a:lnTo>
                  <a:lnTo>
                    <a:pt x="8516" y="851"/>
                  </a:lnTo>
                  <a:lnTo>
                    <a:pt x="8750" y="691"/>
                  </a:lnTo>
                  <a:lnTo>
                    <a:pt x="8828" y="479"/>
                  </a:lnTo>
                  <a:lnTo>
                    <a:pt x="9141" y="372"/>
                  </a:lnTo>
                  <a:lnTo>
                    <a:pt x="9453" y="266"/>
                  </a:lnTo>
                  <a:lnTo>
                    <a:pt x="9453" y="106"/>
                  </a:lnTo>
                  <a:lnTo>
                    <a:pt x="9766" y="106"/>
                  </a:lnTo>
                  <a:lnTo>
                    <a:pt x="10156" y="53"/>
                  </a:lnTo>
                  <a:lnTo>
                    <a:pt x="10313" y="0"/>
                  </a:lnTo>
                  <a:lnTo>
                    <a:pt x="10547" y="53"/>
                  </a:lnTo>
                  <a:lnTo>
                    <a:pt x="10781" y="53"/>
                  </a:lnTo>
                  <a:lnTo>
                    <a:pt x="10859" y="106"/>
                  </a:lnTo>
                  <a:lnTo>
                    <a:pt x="11172" y="213"/>
                  </a:lnTo>
                  <a:lnTo>
                    <a:pt x="11328" y="319"/>
                  </a:lnTo>
                  <a:lnTo>
                    <a:pt x="11484" y="479"/>
                  </a:lnTo>
                  <a:lnTo>
                    <a:pt x="11953" y="745"/>
                  </a:lnTo>
                  <a:lnTo>
                    <a:pt x="12109" y="1011"/>
                  </a:lnTo>
                  <a:lnTo>
                    <a:pt x="12344" y="1277"/>
                  </a:lnTo>
                  <a:lnTo>
                    <a:pt x="12344" y="1543"/>
                  </a:lnTo>
                  <a:lnTo>
                    <a:pt x="12422" y="1915"/>
                  </a:lnTo>
                  <a:lnTo>
                    <a:pt x="12813" y="2287"/>
                  </a:lnTo>
                  <a:lnTo>
                    <a:pt x="12813" y="2713"/>
                  </a:lnTo>
                  <a:lnTo>
                    <a:pt x="13438" y="3138"/>
                  </a:lnTo>
                  <a:lnTo>
                    <a:pt x="13438" y="3564"/>
                  </a:lnTo>
                  <a:lnTo>
                    <a:pt x="13594" y="3989"/>
                  </a:lnTo>
                  <a:lnTo>
                    <a:pt x="13906" y="4415"/>
                  </a:lnTo>
                  <a:lnTo>
                    <a:pt x="14141" y="4947"/>
                  </a:lnTo>
                  <a:lnTo>
                    <a:pt x="14453" y="5479"/>
                  </a:lnTo>
                  <a:lnTo>
                    <a:pt x="14688" y="5957"/>
                  </a:lnTo>
                  <a:lnTo>
                    <a:pt x="15234" y="6489"/>
                  </a:lnTo>
                  <a:lnTo>
                    <a:pt x="15313" y="7074"/>
                  </a:lnTo>
                  <a:lnTo>
                    <a:pt x="15469" y="7606"/>
                  </a:lnTo>
                  <a:lnTo>
                    <a:pt x="15781" y="8191"/>
                  </a:lnTo>
                  <a:lnTo>
                    <a:pt x="15938" y="8777"/>
                  </a:lnTo>
                  <a:lnTo>
                    <a:pt x="16094" y="9362"/>
                  </a:lnTo>
                  <a:lnTo>
                    <a:pt x="16328" y="9894"/>
                  </a:lnTo>
                  <a:lnTo>
                    <a:pt x="16563" y="10426"/>
                  </a:lnTo>
                  <a:lnTo>
                    <a:pt x="16719" y="11011"/>
                  </a:lnTo>
                  <a:lnTo>
                    <a:pt x="17031" y="11649"/>
                  </a:lnTo>
                  <a:lnTo>
                    <a:pt x="17266" y="12181"/>
                  </a:lnTo>
                  <a:lnTo>
                    <a:pt x="17422" y="12766"/>
                  </a:lnTo>
                  <a:lnTo>
                    <a:pt x="17500" y="13298"/>
                  </a:lnTo>
                  <a:lnTo>
                    <a:pt x="17578" y="13830"/>
                  </a:lnTo>
                  <a:lnTo>
                    <a:pt x="18125" y="14415"/>
                  </a:lnTo>
                  <a:lnTo>
                    <a:pt x="18125" y="14947"/>
                  </a:lnTo>
                  <a:lnTo>
                    <a:pt x="18438" y="15479"/>
                  </a:lnTo>
                  <a:lnTo>
                    <a:pt x="18516" y="15904"/>
                  </a:lnTo>
                  <a:lnTo>
                    <a:pt x="18750" y="16436"/>
                  </a:lnTo>
                  <a:lnTo>
                    <a:pt x="18906" y="16862"/>
                  </a:lnTo>
                  <a:lnTo>
                    <a:pt x="19141" y="17340"/>
                  </a:lnTo>
                  <a:lnTo>
                    <a:pt x="19453" y="17713"/>
                  </a:lnTo>
                  <a:lnTo>
                    <a:pt x="19453" y="18138"/>
                  </a:lnTo>
                  <a:lnTo>
                    <a:pt x="19531" y="18511"/>
                  </a:lnTo>
                  <a:lnTo>
                    <a:pt x="19609" y="18883"/>
                  </a:lnTo>
                  <a:lnTo>
                    <a:pt x="19688" y="19149"/>
                  </a:lnTo>
                  <a:lnTo>
                    <a:pt x="19844" y="19521"/>
                  </a:lnTo>
                  <a:lnTo>
                    <a:pt x="19922" y="19734"/>
                  </a:lnTo>
                  <a:lnTo>
                    <a:pt x="19922" y="19947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16" name="Line 78">
              <a:extLst>
                <a:ext uri="{FF2B5EF4-FFF2-40B4-BE49-F238E27FC236}">
                  <a16:creationId xmlns:a16="http://schemas.microsoft.com/office/drawing/2014/main" id="{C273C9E1-B023-96E5-4334-A651C84AC4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8" y="1371"/>
              <a:ext cx="41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17" name="Line 79">
              <a:extLst>
                <a:ext uri="{FF2B5EF4-FFF2-40B4-BE49-F238E27FC236}">
                  <a16:creationId xmlns:a16="http://schemas.microsoft.com/office/drawing/2014/main" id="{9BCB29C8-7C6D-8D75-32F0-E672B9F751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8" y="1027"/>
              <a:ext cx="1" cy="606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round/>
              <a:headEnd type="triangle" w="sm" len="lg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18" name="Text Box 80">
              <a:extLst>
                <a:ext uri="{FF2B5EF4-FFF2-40B4-BE49-F238E27FC236}">
                  <a16:creationId xmlns:a16="http://schemas.microsoft.com/office/drawing/2014/main" id="{76BDC87F-C9F9-AFA7-C263-A931C93B18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845"/>
              <a:ext cx="45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6" tIns="45712" rIns="91426" bIns="45712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>
                  <a:solidFill>
                    <a:schemeClr val="tx1"/>
                  </a:solidFill>
                </a:rPr>
                <a:t>x</a:t>
              </a:r>
              <a:r>
                <a:rPr lang="en-US" altLang="zh-CN" sz="2800" baseline="-25000">
                  <a:solidFill>
                    <a:schemeClr val="tx1"/>
                  </a:solidFill>
                </a:rPr>
                <a:t>2</a:t>
              </a:r>
              <a:endParaRPr lang="en-US" altLang="zh-CN" sz="2800">
                <a:solidFill>
                  <a:schemeClr val="tx1"/>
                </a:solidFill>
              </a:endParaRPr>
            </a:p>
          </p:txBody>
        </p:sp>
        <p:sp>
          <p:nvSpPr>
            <p:cNvPr id="42119" name="Text Box 81">
              <a:extLst>
                <a:ext uri="{FF2B5EF4-FFF2-40B4-BE49-F238E27FC236}">
                  <a16:creationId xmlns:a16="http://schemas.microsoft.com/office/drawing/2014/main" id="{62E3954F-BDA1-C670-737D-2927A92BF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9" y="1341"/>
              <a:ext cx="2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6" tIns="45712" rIns="91426" bIns="45712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42120" name="Line 82">
              <a:extLst>
                <a:ext uri="{FF2B5EF4-FFF2-40B4-BE49-F238E27FC236}">
                  <a16:creationId xmlns:a16="http://schemas.microsoft.com/office/drawing/2014/main" id="{541B5F19-FC56-C82E-6DBB-2E892A023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9" y="1027"/>
              <a:ext cx="0" cy="6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21" name="Line 83">
              <a:extLst>
                <a:ext uri="{FF2B5EF4-FFF2-40B4-BE49-F238E27FC236}">
                  <a16:creationId xmlns:a16="http://schemas.microsoft.com/office/drawing/2014/main" id="{4087DA4C-022B-9139-9112-BDEE2C1061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52" y="1027"/>
              <a:ext cx="0" cy="62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22" name="Line 84">
              <a:extLst>
                <a:ext uri="{FF2B5EF4-FFF2-40B4-BE49-F238E27FC236}">
                  <a16:creationId xmlns:a16="http://schemas.microsoft.com/office/drawing/2014/main" id="{10E1134D-F5DE-DD92-541E-C640AEA7D1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7" y="1011"/>
              <a:ext cx="0" cy="7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30196" name="Group 148">
            <a:extLst>
              <a:ext uri="{FF2B5EF4-FFF2-40B4-BE49-F238E27FC236}">
                <a16:creationId xmlns:a16="http://schemas.microsoft.com/office/drawing/2014/main" id="{C46B8770-3C46-870C-DDB8-C3EBC27AD77E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260350"/>
            <a:ext cx="7534275" cy="1370013"/>
            <a:chOff x="567" y="164"/>
            <a:chExt cx="4746" cy="863"/>
          </a:xfrm>
        </p:grpSpPr>
        <p:sp>
          <p:nvSpPr>
            <p:cNvPr id="42037" name="Line 85">
              <a:extLst>
                <a:ext uri="{FF2B5EF4-FFF2-40B4-BE49-F238E27FC236}">
                  <a16:creationId xmlns:a16="http://schemas.microsoft.com/office/drawing/2014/main" id="{85B6230C-755B-9EF1-3D4F-05EC1DFC29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" y="354"/>
              <a:ext cx="1" cy="583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round/>
              <a:headEnd type="triangle" w="sm" len="lg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38" name="Line 86">
              <a:extLst>
                <a:ext uri="{FF2B5EF4-FFF2-40B4-BE49-F238E27FC236}">
                  <a16:creationId xmlns:a16="http://schemas.microsoft.com/office/drawing/2014/main" id="{3C5A7CE0-213E-F3F9-F606-CBE3D528A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" y="698"/>
              <a:ext cx="4185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2039" name="Group 147">
              <a:extLst>
                <a:ext uri="{FF2B5EF4-FFF2-40B4-BE49-F238E27FC236}">
                  <a16:creationId xmlns:a16="http://schemas.microsoft.com/office/drawing/2014/main" id="{67337D1D-3875-433C-428B-0CA6F540D2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6" y="554"/>
              <a:ext cx="3898" cy="286"/>
              <a:chOff x="906" y="554"/>
              <a:chExt cx="3898" cy="286"/>
            </a:xfrm>
          </p:grpSpPr>
          <p:sp>
            <p:nvSpPr>
              <p:cNvPr id="42045" name="AutoShape 87">
                <a:extLst>
                  <a:ext uri="{FF2B5EF4-FFF2-40B4-BE49-F238E27FC236}">
                    <a16:creationId xmlns:a16="http://schemas.microsoft.com/office/drawing/2014/main" id="{E98B6626-4D9A-8065-9805-CC84995758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" y="563"/>
                <a:ext cx="88" cy="144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063"/>
                    </a:moveTo>
                    <a:lnTo>
                      <a:pt x="272" y="18490"/>
                    </a:lnTo>
                    <a:lnTo>
                      <a:pt x="544" y="17865"/>
                    </a:lnTo>
                    <a:lnTo>
                      <a:pt x="680" y="17292"/>
                    </a:lnTo>
                    <a:lnTo>
                      <a:pt x="816" y="16667"/>
                    </a:lnTo>
                    <a:lnTo>
                      <a:pt x="1088" y="16042"/>
                    </a:lnTo>
                    <a:lnTo>
                      <a:pt x="1361" y="15469"/>
                    </a:lnTo>
                    <a:lnTo>
                      <a:pt x="1633" y="14896"/>
                    </a:lnTo>
                    <a:lnTo>
                      <a:pt x="1769" y="14271"/>
                    </a:lnTo>
                    <a:lnTo>
                      <a:pt x="1905" y="13698"/>
                    </a:lnTo>
                    <a:lnTo>
                      <a:pt x="2177" y="13177"/>
                    </a:lnTo>
                    <a:lnTo>
                      <a:pt x="2449" y="12552"/>
                    </a:lnTo>
                    <a:lnTo>
                      <a:pt x="2721" y="12031"/>
                    </a:lnTo>
                    <a:lnTo>
                      <a:pt x="2993" y="11458"/>
                    </a:lnTo>
                    <a:lnTo>
                      <a:pt x="2993" y="10885"/>
                    </a:lnTo>
                    <a:lnTo>
                      <a:pt x="3265" y="10313"/>
                    </a:lnTo>
                    <a:lnTo>
                      <a:pt x="3537" y="9792"/>
                    </a:lnTo>
                    <a:lnTo>
                      <a:pt x="3810" y="9271"/>
                    </a:lnTo>
                    <a:lnTo>
                      <a:pt x="4082" y="8750"/>
                    </a:lnTo>
                    <a:lnTo>
                      <a:pt x="4218" y="8229"/>
                    </a:lnTo>
                    <a:lnTo>
                      <a:pt x="4354" y="7708"/>
                    </a:lnTo>
                    <a:lnTo>
                      <a:pt x="4762" y="7292"/>
                    </a:lnTo>
                    <a:lnTo>
                      <a:pt x="4898" y="6771"/>
                    </a:lnTo>
                    <a:lnTo>
                      <a:pt x="5170" y="6354"/>
                    </a:lnTo>
                    <a:lnTo>
                      <a:pt x="5306" y="5885"/>
                    </a:lnTo>
                    <a:lnTo>
                      <a:pt x="5442" y="5469"/>
                    </a:lnTo>
                    <a:lnTo>
                      <a:pt x="5850" y="5000"/>
                    </a:lnTo>
                    <a:lnTo>
                      <a:pt x="5850" y="4531"/>
                    </a:lnTo>
                    <a:lnTo>
                      <a:pt x="6259" y="4167"/>
                    </a:lnTo>
                    <a:lnTo>
                      <a:pt x="6531" y="3802"/>
                    </a:lnTo>
                    <a:lnTo>
                      <a:pt x="6531" y="3438"/>
                    </a:lnTo>
                    <a:lnTo>
                      <a:pt x="6939" y="3073"/>
                    </a:lnTo>
                    <a:lnTo>
                      <a:pt x="7075" y="2708"/>
                    </a:lnTo>
                    <a:lnTo>
                      <a:pt x="7347" y="2448"/>
                    </a:lnTo>
                    <a:lnTo>
                      <a:pt x="7483" y="2083"/>
                    </a:lnTo>
                    <a:lnTo>
                      <a:pt x="7619" y="1823"/>
                    </a:lnTo>
                    <a:lnTo>
                      <a:pt x="7891" y="1563"/>
                    </a:lnTo>
                    <a:lnTo>
                      <a:pt x="8163" y="1302"/>
                    </a:lnTo>
                    <a:lnTo>
                      <a:pt x="8435" y="1042"/>
                    </a:lnTo>
                    <a:lnTo>
                      <a:pt x="8571" y="833"/>
                    </a:lnTo>
                    <a:lnTo>
                      <a:pt x="8844" y="677"/>
                    </a:lnTo>
                    <a:lnTo>
                      <a:pt x="8980" y="521"/>
                    </a:lnTo>
                    <a:lnTo>
                      <a:pt x="9116" y="365"/>
                    </a:lnTo>
                    <a:lnTo>
                      <a:pt x="9524" y="260"/>
                    </a:lnTo>
                    <a:lnTo>
                      <a:pt x="9524" y="104"/>
                    </a:lnTo>
                    <a:lnTo>
                      <a:pt x="9932" y="104"/>
                    </a:lnTo>
                    <a:lnTo>
                      <a:pt x="10068" y="52"/>
                    </a:lnTo>
                    <a:lnTo>
                      <a:pt x="10204" y="0"/>
                    </a:lnTo>
                    <a:lnTo>
                      <a:pt x="10476" y="52"/>
                    </a:lnTo>
                    <a:lnTo>
                      <a:pt x="10748" y="52"/>
                    </a:lnTo>
                    <a:lnTo>
                      <a:pt x="10884" y="104"/>
                    </a:lnTo>
                    <a:lnTo>
                      <a:pt x="11156" y="208"/>
                    </a:lnTo>
                    <a:lnTo>
                      <a:pt x="11293" y="313"/>
                    </a:lnTo>
                    <a:lnTo>
                      <a:pt x="11565" y="521"/>
                    </a:lnTo>
                    <a:lnTo>
                      <a:pt x="11837" y="781"/>
                    </a:lnTo>
                    <a:lnTo>
                      <a:pt x="12109" y="990"/>
                    </a:lnTo>
                    <a:lnTo>
                      <a:pt x="12245" y="1250"/>
                    </a:lnTo>
                    <a:lnTo>
                      <a:pt x="12381" y="1563"/>
                    </a:lnTo>
                    <a:lnTo>
                      <a:pt x="12653" y="1875"/>
                    </a:lnTo>
                    <a:lnTo>
                      <a:pt x="12925" y="2292"/>
                    </a:lnTo>
                    <a:lnTo>
                      <a:pt x="13061" y="2708"/>
                    </a:lnTo>
                    <a:lnTo>
                      <a:pt x="13469" y="3125"/>
                    </a:lnTo>
                    <a:lnTo>
                      <a:pt x="13469" y="3542"/>
                    </a:lnTo>
                    <a:lnTo>
                      <a:pt x="13741" y="4010"/>
                    </a:lnTo>
                    <a:lnTo>
                      <a:pt x="14150" y="4427"/>
                    </a:lnTo>
                    <a:lnTo>
                      <a:pt x="14286" y="4948"/>
                    </a:lnTo>
                    <a:lnTo>
                      <a:pt x="14558" y="5469"/>
                    </a:lnTo>
                    <a:lnTo>
                      <a:pt x="14694" y="5990"/>
                    </a:lnTo>
                    <a:lnTo>
                      <a:pt x="14966" y="6510"/>
                    </a:lnTo>
                    <a:lnTo>
                      <a:pt x="15102" y="7083"/>
                    </a:lnTo>
                    <a:lnTo>
                      <a:pt x="15374" y="7656"/>
                    </a:lnTo>
                    <a:lnTo>
                      <a:pt x="15646" y="8177"/>
                    </a:lnTo>
                    <a:lnTo>
                      <a:pt x="15918" y="8802"/>
                    </a:lnTo>
                    <a:lnTo>
                      <a:pt x="16054" y="9375"/>
                    </a:lnTo>
                    <a:lnTo>
                      <a:pt x="16190" y="9896"/>
                    </a:lnTo>
                    <a:lnTo>
                      <a:pt x="16599" y="10469"/>
                    </a:lnTo>
                    <a:lnTo>
                      <a:pt x="16735" y="10990"/>
                    </a:lnTo>
                    <a:lnTo>
                      <a:pt x="17007" y="11615"/>
                    </a:lnTo>
                    <a:lnTo>
                      <a:pt x="17143" y="12135"/>
                    </a:lnTo>
                    <a:lnTo>
                      <a:pt x="17279" y="12708"/>
                    </a:lnTo>
                    <a:lnTo>
                      <a:pt x="17551" y="13281"/>
                    </a:lnTo>
                    <a:lnTo>
                      <a:pt x="17687" y="13854"/>
                    </a:lnTo>
                    <a:lnTo>
                      <a:pt x="17959" y="14375"/>
                    </a:lnTo>
                    <a:lnTo>
                      <a:pt x="18095" y="14948"/>
                    </a:lnTo>
                    <a:lnTo>
                      <a:pt x="18231" y="15469"/>
                    </a:lnTo>
                    <a:lnTo>
                      <a:pt x="18367" y="15938"/>
                    </a:lnTo>
                    <a:lnTo>
                      <a:pt x="18639" y="16406"/>
                    </a:lnTo>
                    <a:lnTo>
                      <a:pt x="18776" y="16875"/>
                    </a:lnTo>
                    <a:lnTo>
                      <a:pt x="19048" y="17292"/>
                    </a:lnTo>
                    <a:lnTo>
                      <a:pt x="19184" y="17708"/>
                    </a:lnTo>
                    <a:lnTo>
                      <a:pt x="19320" y="18177"/>
                    </a:lnTo>
                    <a:lnTo>
                      <a:pt x="19456" y="18542"/>
                    </a:lnTo>
                    <a:lnTo>
                      <a:pt x="19456" y="18906"/>
                    </a:lnTo>
                    <a:lnTo>
                      <a:pt x="19592" y="19167"/>
                    </a:lnTo>
                    <a:lnTo>
                      <a:pt x="19728" y="19479"/>
                    </a:lnTo>
                    <a:lnTo>
                      <a:pt x="19864" y="19740"/>
                    </a:lnTo>
                    <a:lnTo>
                      <a:pt x="19864" y="19948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46" name="AutoShape 88">
                <a:extLst>
                  <a:ext uri="{FF2B5EF4-FFF2-40B4-BE49-F238E27FC236}">
                    <a16:creationId xmlns:a16="http://schemas.microsoft.com/office/drawing/2014/main" id="{DC0F1265-6C38-546E-6536-F3F6E1610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702"/>
                <a:ext cx="93" cy="138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55" y="647"/>
                    </a:lnTo>
                    <a:lnTo>
                      <a:pt x="382" y="1240"/>
                    </a:lnTo>
                    <a:lnTo>
                      <a:pt x="510" y="1887"/>
                    </a:lnTo>
                    <a:lnTo>
                      <a:pt x="764" y="2534"/>
                    </a:lnTo>
                    <a:lnTo>
                      <a:pt x="892" y="3127"/>
                    </a:lnTo>
                    <a:lnTo>
                      <a:pt x="1274" y="3720"/>
                    </a:lnTo>
                    <a:lnTo>
                      <a:pt x="1401" y="4367"/>
                    </a:lnTo>
                    <a:lnTo>
                      <a:pt x="1656" y="4960"/>
                    </a:lnTo>
                    <a:lnTo>
                      <a:pt x="1656" y="5553"/>
                    </a:lnTo>
                    <a:lnTo>
                      <a:pt x="2038" y="6146"/>
                    </a:lnTo>
                    <a:lnTo>
                      <a:pt x="2166" y="6739"/>
                    </a:lnTo>
                    <a:lnTo>
                      <a:pt x="2420" y="7278"/>
                    </a:lnTo>
                    <a:lnTo>
                      <a:pt x="2675" y="7925"/>
                    </a:lnTo>
                    <a:lnTo>
                      <a:pt x="2803" y="8464"/>
                    </a:lnTo>
                    <a:lnTo>
                      <a:pt x="2930" y="9003"/>
                    </a:lnTo>
                    <a:lnTo>
                      <a:pt x="3185" y="9596"/>
                    </a:lnTo>
                    <a:lnTo>
                      <a:pt x="3312" y="10135"/>
                    </a:lnTo>
                    <a:lnTo>
                      <a:pt x="3567" y="10674"/>
                    </a:lnTo>
                    <a:lnTo>
                      <a:pt x="3822" y="11213"/>
                    </a:lnTo>
                    <a:lnTo>
                      <a:pt x="3949" y="11698"/>
                    </a:lnTo>
                    <a:lnTo>
                      <a:pt x="4076" y="12237"/>
                    </a:lnTo>
                    <a:lnTo>
                      <a:pt x="4331" y="12722"/>
                    </a:lnTo>
                    <a:lnTo>
                      <a:pt x="4586" y="13154"/>
                    </a:lnTo>
                    <a:lnTo>
                      <a:pt x="4713" y="13693"/>
                    </a:lnTo>
                    <a:lnTo>
                      <a:pt x="4968" y="14124"/>
                    </a:lnTo>
                    <a:lnTo>
                      <a:pt x="5096" y="14555"/>
                    </a:lnTo>
                    <a:lnTo>
                      <a:pt x="5350" y="14987"/>
                    </a:lnTo>
                    <a:lnTo>
                      <a:pt x="5605" y="15472"/>
                    </a:lnTo>
                    <a:lnTo>
                      <a:pt x="5732" y="15849"/>
                    </a:lnTo>
                    <a:lnTo>
                      <a:pt x="6115" y="16226"/>
                    </a:lnTo>
                    <a:lnTo>
                      <a:pt x="6115" y="16604"/>
                    </a:lnTo>
                    <a:lnTo>
                      <a:pt x="6369" y="16981"/>
                    </a:lnTo>
                    <a:lnTo>
                      <a:pt x="6624" y="17251"/>
                    </a:lnTo>
                    <a:lnTo>
                      <a:pt x="6752" y="17628"/>
                    </a:lnTo>
                    <a:lnTo>
                      <a:pt x="7006" y="17898"/>
                    </a:lnTo>
                    <a:lnTo>
                      <a:pt x="7261" y="18167"/>
                    </a:lnTo>
                    <a:lnTo>
                      <a:pt x="7389" y="18491"/>
                    </a:lnTo>
                    <a:lnTo>
                      <a:pt x="7516" y="18760"/>
                    </a:lnTo>
                    <a:lnTo>
                      <a:pt x="7898" y="18976"/>
                    </a:lnTo>
                    <a:lnTo>
                      <a:pt x="8025" y="19137"/>
                    </a:lnTo>
                    <a:lnTo>
                      <a:pt x="8280" y="19353"/>
                    </a:lnTo>
                    <a:lnTo>
                      <a:pt x="8408" y="19461"/>
                    </a:lnTo>
                    <a:lnTo>
                      <a:pt x="8535" y="19677"/>
                    </a:lnTo>
                    <a:lnTo>
                      <a:pt x="8917" y="19730"/>
                    </a:lnTo>
                    <a:lnTo>
                      <a:pt x="9045" y="19892"/>
                    </a:lnTo>
                    <a:lnTo>
                      <a:pt x="9299" y="19892"/>
                    </a:lnTo>
                    <a:lnTo>
                      <a:pt x="9427" y="19946"/>
                    </a:lnTo>
                    <a:lnTo>
                      <a:pt x="9682" y="19946"/>
                    </a:lnTo>
                    <a:lnTo>
                      <a:pt x="9936" y="19946"/>
                    </a:lnTo>
                    <a:lnTo>
                      <a:pt x="10064" y="19892"/>
                    </a:lnTo>
                    <a:lnTo>
                      <a:pt x="10318" y="19892"/>
                    </a:lnTo>
                    <a:lnTo>
                      <a:pt x="10573" y="19677"/>
                    </a:lnTo>
                    <a:lnTo>
                      <a:pt x="10701" y="19515"/>
                    </a:lnTo>
                    <a:lnTo>
                      <a:pt x="10955" y="19353"/>
                    </a:lnTo>
                    <a:lnTo>
                      <a:pt x="11338" y="19137"/>
                    </a:lnTo>
                    <a:lnTo>
                      <a:pt x="11465" y="18868"/>
                    </a:lnTo>
                    <a:lnTo>
                      <a:pt x="11720" y="18544"/>
                    </a:lnTo>
                    <a:lnTo>
                      <a:pt x="11975" y="18275"/>
                    </a:lnTo>
                    <a:lnTo>
                      <a:pt x="12102" y="17844"/>
                    </a:lnTo>
                    <a:lnTo>
                      <a:pt x="12484" y="17466"/>
                    </a:lnTo>
                    <a:lnTo>
                      <a:pt x="12739" y="17197"/>
                    </a:lnTo>
                    <a:lnTo>
                      <a:pt x="12866" y="16765"/>
                    </a:lnTo>
                    <a:lnTo>
                      <a:pt x="13248" y="16280"/>
                    </a:lnTo>
                    <a:lnTo>
                      <a:pt x="13376" y="15849"/>
                    </a:lnTo>
                    <a:lnTo>
                      <a:pt x="13758" y="15364"/>
                    </a:lnTo>
                    <a:lnTo>
                      <a:pt x="13885" y="14879"/>
                    </a:lnTo>
                    <a:lnTo>
                      <a:pt x="14140" y="14340"/>
                    </a:lnTo>
                    <a:lnTo>
                      <a:pt x="14395" y="13801"/>
                    </a:lnTo>
                    <a:lnTo>
                      <a:pt x="14777" y="13315"/>
                    </a:lnTo>
                    <a:lnTo>
                      <a:pt x="14904" y="12776"/>
                    </a:lnTo>
                    <a:lnTo>
                      <a:pt x="15159" y="12237"/>
                    </a:lnTo>
                    <a:lnTo>
                      <a:pt x="15414" y="11644"/>
                    </a:lnTo>
                    <a:lnTo>
                      <a:pt x="15669" y="11105"/>
                    </a:lnTo>
                    <a:lnTo>
                      <a:pt x="15924" y="10566"/>
                    </a:lnTo>
                    <a:lnTo>
                      <a:pt x="16051" y="10027"/>
                    </a:lnTo>
                    <a:lnTo>
                      <a:pt x="16306" y="9488"/>
                    </a:lnTo>
                    <a:lnTo>
                      <a:pt x="16561" y="8895"/>
                    </a:lnTo>
                    <a:lnTo>
                      <a:pt x="16815" y="8356"/>
                    </a:lnTo>
                    <a:lnTo>
                      <a:pt x="17070" y="7763"/>
                    </a:lnTo>
                    <a:lnTo>
                      <a:pt x="17197" y="7278"/>
                    </a:lnTo>
                    <a:lnTo>
                      <a:pt x="17325" y="6792"/>
                    </a:lnTo>
                    <a:lnTo>
                      <a:pt x="17707" y="6253"/>
                    </a:lnTo>
                    <a:lnTo>
                      <a:pt x="17834" y="5714"/>
                    </a:lnTo>
                    <a:lnTo>
                      <a:pt x="18217" y="5229"/>
                    </a:lnTo>
                    <a:lnTo>
                      <a:pt x="18344" y="4744"/>
                    </a:lnTo>
                    <a:lnTo>
                      <a:pt x="18344" y="4313"/>
                    </a:lnTo>
                    <a:lnTo>
                      <a:pt x="18726" y="3881"/>
                    </a:lnTo>
                    <a:lnTo>
                      <a:pt x="18854" y="3396"/>
                    </a:lnTo>
                    <a:lnTo>
                      <a:pt x="19108" y="3019"/>
                    </a:lnTo>
                    <a:lnTo>
                      <a:pt x="19236" y="2588"/>
                    </a:lnTo>
                    <a:lnTo>
                      <a:pt x="19363" y="2210"/>
                    </a:lnTo>
                    <a:lnTo>
                      <a:pt x="19490" y="1887"/>
                    </a:lnTo>
                    <a:lnTo>
                      <a:pt x="19490" y="1671"/>
                    </a:lnTo>
                    <a:lnTo>
                      <a:pt x="19745" y="1348"/>
                    </a:lnTo>
                    <a:lnTo>
                      <a:pt x="19745" y="1024"/>
                    </a:lnTo>
                    <a:lnTo>
                      <a:pt x="19873" y="863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47" name="AutoShape 89">
                <a:extLst>
                  <a:ext uri="{FF2B5EF4-FFF2-40B4-BE49-F238E27FC236}">
                    <a16:creationId xmlns:a16="http://schemas.microsoft.com/office/drawing/2014/main" id="{8B47AB2A-AF42-1877-BEFD-194C1B5AB5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9" y="566"/>
                <a:ext cx="87" cy="13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088"/>
                    </a:moveTo>
                    <a:lnTo>
                      <a:pt x="272" y="18499"/>
                    </a:lnTo>
                    <a:lnTo>
                      <a:pt x="544" y="17909"/>
                    </a:lnTo>
                    <a:lnTo>
                      <a:pt x="680" y="17265"/>
                    </a:lnTo>
                    <a:lnTo>
                      <a:pt x="816" y="16676"/>
                    </a:lnTo>
                    <a:lnTo>
                      <a:pt x="1088" y="16086"/>
                    </a:lnTo>
                    <a:lnTo>
                      <a:pt x="1361" y="15496"/>
                    </a:lnTo>
                    <a:lnTo>
                      <a:pt x="1633" y="14906"/>
                    </a:lnTo>
                    <a:lnTo>
                      <a:pt x="1769" y="14316"/>
                    </a:lnTo>
                    <a:lnTo>
                      <a:pt x="1905" y="13673"/>
                    </a:lnTo>
                    <a:lnTo>
                      <a:pt x="2177" y="13137"/>
                    </a:lnTo>
                    <a:lnTo>
                      <a:pt x="2449" y="12601"/>
                    </a:lnTo>
                    <a:lnTo>
                      <a:pt x="2721" y="12064"/>
                    </a:lnTo>
                    <a:lnTo>
                      <a:pt x="2993" y="11421"/>
                    </a:lnTo>
                    <a:lnTo>
                      <a:pt x="2993" y="10885"/>
                    </a:lnTo>
                    <a:lnTo>
                      <a:pt x="3265" y="10349"/>
                    </a:lnTo>
                    <a:lnTo>
                      <a:pt x="3537" y="9812"/>
                    </a:lnTo>
                    <a:lnTo>
                      <a:pt x="3810" y="9276"/>
                    </a:lnTo>
                    <a:lnTo>
                      <a:pt x="4082" y="8794"/>
                    </a:lnTo>
                    <a:lnTo>
                      <a:pt x="4218" y="8257"/>
                    </a:lnTo>
                    <a:lnTo>
                      <a:pt x="4354" y="7721"/>
                    </a:lnTo>
                    <a:lnTo>
                      <a:pt x="4762" y="7239"/>
                    </a:lnTo>
                    <a:lnTo>
                      <a:pt x="4898" y="6756"/>
                    </a:lnTo>
                    <a:lnTo>
                      <a:pt x="5170" y="6327"/>
                    </a:lnTo>
                    <a:lnTo>
                      <a:pt x="5306" y="5898"/>
                    </a:lnTo>
                    <a:lnTo>
                      <a:pt x="5442" y="5469"/>
                    </a:lnTo>
                    <a:lnTo>
                      <a:pt x="5850" y="4987"/>
                    </a:lnTo>
                    <a:lnTo>
                      <a:pt x="5850" y="4558"/>
                    </a:lnTo>
                    <a:lnTo>
                      <a:pt x="6259" y="4129"/>
                    </a:lnTo>
                    <a:lnTo>
                      <a:pt x="6531" y="3753"/>
                    </a:lnTo>
                    <a:lnTo>
                      <a:pt x="6531" y="3432"/>
                    </a:lnTo>
                    <a:lnTo>
                      <a:pt x="6939" y="3003"/>
                    </a:lnTo>
                    <a:lnTo>
                      <a:pt x="7075" y="2735"/>
                    </a:lnTo>
                    <a:lnTo>
                      <a:pt x="7347" y="2413"/>
                    </a:lnTo>
                    <a:lnTo>
                      <a:pt x="7483" y="2091"/>
                    </a:lnTo>
                    <a:lnTo>
                      <a:pt x="7619" y="1823"/>
                    </a:lnTo>
                    <a:lnTo>
                      <a:pt x="7891" y="1609"/>
                    </a:lnTo>
                    <a:lnTo>
                      <a:pt x="8163" y="1287"/>
                    </a:lnTo>
                    <a:lnTo>
                      <a:pt x="8435" y="1019"/>
                    </a:lnTo>
                    <a:lnTo>
                      <a:pt x="8571" y="858"/>
                    </a:lnTo>
                    <a:lnTo>
                      <a:pt x="8844" y="643"/>
                    </a:lnTo>
                    <a:lnTo>
                      <a:pt x="8980" y="483"/>
                    </a:lnTo>
                    <a:lnTo>
                      <a:pt x="9116" y="375"/>
                    </a:lnTo>
                    <a:lnTo>
                      <a:pt x="9524" y="268"/>
                    </a:lnTo>
                    <a:lnTo>
                      <a:pt x="9524" y="107"/>
                    </a:lnTo>
                    <a:lnTo>
                      <a:pt x="9932" y="107"/>
                    </a:lnTo>
                    <a:lnTo>
                      <a:pt x="10068" y="54"/>
                    </a:lnTo>
                    <a:lnTo>
                      <a:pt x="10204" y="0"/>
                    </a:lnTo>
                    <a:lnTo>
                      <a:pt x="10476" y="54"/>
                    </a:lnTo>
                    <a:lnTo>
                      <a:pt x="10748" y="54"/>
                    </a:lnTo>
                    <a:lnTo>
                      <a:pt x="10884" y="107"/>
                    </a:lnTo>
                    <a:lnTo>
                      <a:pt x="11156" y="214"/>
                    </a:lnTo>
                    <a:lnTo>
                      <a:pt x="11293" y="322"/>
                    </a:lnTo>
                    <a:lnTo>
                      <a:pt x="11565" y="536"/>
                    </a:lnTo>
                    <a:lnTo>
                      <a:pt x="11837" y="751"/>
                    </a:lnTo>
                    <a:lnTo>
                      <a:pt x="12109" y="1019"/>
                    </a:lnTo>
                    <a:lnTo>
                      <a:pt x="12245" y="1233"/>
                    </a:lnTo>
                    <a:lnTo>
                      <a:pt x="12381" y="1609"/>
                    </a:lnTo>
                    <a:lnTo>
                      <a:pt x="12653" y="1877"/>
                    </a:lnTo>
                    <a:lnTo>
                      <a:pt x="12925" y="2306"/>
                    </a:lnTo>
                    <a:lnTo>
                      <a:pt x="13061" y="2735"/>
                    </a:lnTo>
                    <a:lnTo>
                      <a:pt x="13469" y="3110"/>
                    </a:lnTo>
                    <a:lnTo>
                      <a:pt x="13469" y="3539"/>
                    </a:lnTo>
                    <a:lnTo>
                      <a:pt x="13741" y="3968"/>
                    </a:lnTo>
                    <a:lnTo>
                      <a:pt x="14150" y="4450"/>
                    </a:lnTo>
                    <a:lnTo>
                      <a:pt x="14286" y="4987"/>
                    </a:lnTo>
                    <a:lnTo>
                      <a:pt x="14558" y="5469"/>
                    </a:lnTo>
                    <a:lnTo>
                      <a:pt x="14694" y="6005"/>
                    </a:lnTo>
                    <a:lnTo>
                      <a:pt x="14966" y="6542"/>
                    </a:lnTo>
                    <a:lnTo>
                      <a:pt x="15102" y="7024"/>
                    </a:lnTo>
                    <a:lnTo>
                      <a:pt x="15374" y="7614"/>
                    </a:lnTo>
                    <a:lnTo>
                      <a:pt x="15646" y="8150"/>
                    </a:lnTo>
                    <a:lnTo>
                      <a:pt x="15918" y="8794"/>
                    </a:lnTo>
                    <a:lnTo>
                      <a:pt x="16054" y="9330"/>
                    </a:lnTo>
                    <a:lnTo>
                      <a:pt x="16190" y="9866"/>
                    </a:lnTo>
                    <a:lnTo>
                      <a:pt x="16599" y="10456"/>
                    </a:lnTo>
                    <a:lnTo>
                      <a:pt x="16735" y="11046"/>
                    </a:lnTo>
                    <a:lnTo>
                      <a:pt x="17007" y="11635"/>
                    </a:lnTo>
                    <a:lnTo>
                      <a:pt x="17143" y="12172"/>
                    </a:lnTo>
                    <a:lnTo>
                      <a:pt x="17279" y="12761"/>
                    </a:lnTo>
                    <a:lnTo>
                      <a:pt x="17551" y="13298"/>
                    </a:lnTo>
                    <a:lnTo>
                      <a:pt x="17687" y="13834"/>
                    </a:lnTo>
                    <a:lnTo>
                      <a:pt x="17959" y="14370"/>
                    </a:lnTo>
                    <a:lnTo>
                      <a:pt x="18095" y="14960"/>
                    </a:lnTo>
                    <a:lnTo>
                      <a:pt x="18231" y="15442"/>
                    </a:lnTo>
                    <a:lnTo>
                      <a:pt x="18367" y="15871"/>
                    </a:lnTo>
                    <a:lnTo>
                      <a:pt x="18639" y="16461"/>
                    </a:lnTo>
                    <a:lnTo>
                      <a:pt x="18776" y="16836"/>
                    </a:lnTo>
                    <a:lnTo>
                      <a:pt x="19048" y="17265"/>
                    </a:lnTo>
                    <a:lnTo>
                      <a:pt x="19184" y="17748"/>
                    </a:lnTo>
                    <a:lnTo>
                      <a:pt x="19320" y="18177"/>
                    </a:lnTo>
                    <a:lnTo>
                      <a:pt x="19456" y="18552"/>
                    </a:lnTo>
                    <a:lnTo>
                      <a:pt x="19456" y="18874"/>
                    </a:lnTo>
                    <a:lnTo>
                      <a:pt x="19592" y="19196"/>
                    </a:lnTo>
                    <a:lnTo>
                      <a:pt x="19728" y="19517"/>
                    </a:lnTo>
                    <a:lnTo>
                      <a:pt x="19864" y="19732"/>
                    </a:lnTo>
                    <a:lnTo>
                      <a:pt x="19864" y="19946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48" name="AutoShape 90">
                <a:extLst>
                  <a:ext uri="{FF2B5EF4-FFF2-40B4-BE49-F238E27FC236}">
                    <a16:creationId xmlns:a16="http://schemas.microsoft.com/office/drawing/2014/main" id="{DF9E36F9-86B4-9A50-409A-F3E40086B5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5" y="701"/>
                <a:ext cx="93" cy="134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55" y="611"/>
                    </a:lnTo>
                    <a:lnTo>
                      <a:pt x="382" y="1278"/>
                    </a:lnTo>
                    <a:lnTo>
                      <a:pt x="510" y="1889"/>
                    </a:lnTo>
                    <a:lnTo>
                      <a:pt x="764" y="2500"/>
                    </a:lnTo>
                    <a:lnTo>
                      <a:pt x="892" y="3111"/>
                    </a:lnTo>
                    <a:lnTo>
                      <a:pt x="1274" y="3722"/>
                    </a:lnTo>
                    <a:lnTo>
                      <a:pt x="1401" y="4333"/>
                    </a:lnTo>
                    <a:lnTo>
                      <a:pt x="1656" y="4944"/>
                    </a:lnTo>
                    <a:lnTo>
                      <a:pt x="1656" y="5556"/>
                    </a:lnTo>
                    <a:lnTo>
                      <a:pt x="2038" y="6167"/>
                    </a:lnTo>
                    <a:lnTo>
                      <a:pt x="2166" y="6778"/>
                    </a:lnTo>
                    <a:lnTo>
                      <a:pt x="2420" y="7278"/>
                    </a:lnTo>
                    <a:lnTo>
                      <a:pt x="2675" y="7889"/>
                    </a:lnTo>
                    <a:lnTo>
                      <a:pt x="2803" y="8444"/>
                    </a:lnTo>
                    <a:lnTo>
                      <a:pt x="2930" y="9000"/>
                    </a:lnTo>
                    <a:lnTo>
                      <a:pt x="3185" y="9611"/>
                    </a:lnTo>
                    <a:lnTo>
                      <a:pt x="3312" y="10167"/>
                    </a:lnTo>
                    <a:lnTo>
                      <a:pt x="3567" y="10667"/>
                    </a:lnTo>
                    <a:lnTo>
                      <a:pt x="3822" y="11167"/>
                    </a:lnTo>
                    <a:lnTo>
                      <a:pt x="3949" y="11722"/>
                    </a:lnTo>
                    <a:lnTo>
                      <a:pt x="4076" y="12167"/>
                    </a:lnTo>
                    <a:lnTo>
                      <a:pt x="4331" y="12722"/>
                    </a:lnTo>
                    <a:lnTo>
                      <a:pt x="4586" y="13222"/>
                    </a:lnTo>
                    <a:lnTo>
                      <a:pt x="4713" y="13667"/>
                    </a:lnTo>
                    <a:lnTo>
                      <a:pt x="4968" y="14111"/>
                    </a:lnTo>
                    <a:lnTo>
                      <a:pt x="5096" y="14556"/>
                    </a:lnTo>
                    <a:lnTo>
                      <a:pt x="5350" y="15056"/>
                    </a:lnTo>
                    <a:lnTo>
                      <a:pt x="5605" y="15444"/>
                    </a:lnTo>
                    <a:lnTo>
                      <a:pt x="5732" y="15833"/>
                    </a:lnTo>
                    <a:lnTo>
                      <a:pt x="6115" y="16222"/>
                    </a:lnTo>
                    <a:lnTo>
                      <a:pt x="6115" y="16611"/>
                    </a:lnTo>
                    <a:lnTo>
                      <a:pt x="6369" y="16944"/>
                    </a:lnTo>
                    <a:lnTo>
                      <a:pt x="6624" y="17333"/>
                    </a:lnTo>
                    <a:lnTo>
                      <a:pt x="6752" y="17611"/>
                    </a:lnTo>
                    <a:lnTo>
                      <a:pt x="7006" y="17944"/>
                    </a:lnTo>
                    <a:lnTo>
                      <a:pt x="7261" y="18167"/>
                    </a:lnTo>
                    <a:lnTo>
                      <a:pt x="7389" y="18500"/>
                    </a:lnTo>
                    <a:lnTo>
                      <a:pt x="7516" y="18722"/>
                    </a:lnTo>
                    <a:lnTo>
                      <a:pt x="7898" y="18944"/>
                    </a:lnTo>
                    <a:lnTo>
                      <a:pt x="8025" y="19167"/>
                    </a:lnTo>
                    <a:lnTo>
                      <a:pt x="8280" y="19333"/>
                    </a:lnTo>
                    <a:lnTo>
                      <a:pt x="8408" y="19500"/>
                    </a:lnTo>
                    <a:lnTo>
                      <a:pt x="8535" y="19667"/>
                    </a:lnTo>
                    <a:lnTo>
                      <a:pt x="8917" y="19722"/>
                    </a:lnTo>
                    <a:lnTo>
                      <a:pt x="9045" y="19889"/>
                    </a:lnTo>
                    <a:lnTo>
                      <a:pt x="9299" y="19889"/>
                    </a:lnTo>
                    <a:lnTo>
                      <a:pt x="9427" y="19944"/>
                    </a:lnTo>
                    <a:lnTo>
                      <a:pt x="9682" y="19944"/>
                    </a:lnTo>
                    <a:lnTo>
                      <a:pt x="9936" y="19944"/>
                    </a:lnTo>
                    <a:lnTo>
                      <a:pt x="10064" y="19889"/>
                    </a:lnTo>
                    <a:lnTo>
                      <a:pt x="10318" y="19889"/>
                    </a:lnTo>
                    <a:lnTo>
                      <a:pt x="10573" y="19722"/>
                    </a:lnTo>
                    <a:lnTo>
                      <a:pt x="10701" y="19500"/>
                    </a:lnTo>
                    <a:lnTo>
                      <a:pt x="10955" y="19333"/>
                    </a:lnTo>
                    <a:lnTo>
                      <a:pt x="11338" y="19111"/>
                    </a:lnTo>
                    <a:lnTo>
                      <a:pt x="11465" y="18833"/>
                    </a:lnTo>
                    <a:lnTo>
                      <a:pt x="11720" y="18500"/>
                    </a:lnTo>
                    <a:lnTo>
                      <a:pt x="11975" y="18278"/>
                    </a:lnTo>
                    <a:lnTo>
                      <a:pt x="12102" y="17944"/>
                    </a:lnTo>
                    <a:lnTo>
                      <a:pt x="12484" y="17556"/>
                    </a:lnTo>
                    <a:lnTo>
                      <a:pt x="12739" y="17111"/>
                    </a:lnTo>
                    <a:lnTo>
                      <a:pt x="12866" y="16722"/>
                    </a:lnTo>
                    <a:lnTo>
                      <a:pt x="13248" y="16278"/>
                    </a:lnTo>
                    <a:lnTo>
                      <a:pt x="13376" y="15778"/>
                    </a:lnTo>
                    <a:lnTo>
                      <a:pt x="13758" y="15333"/>
                    </a:lnTo>
                    <a:lnTo>
                      <a:pt x="13885" y="14833"/>
                    </a:lnTo>
                    <a:lnTo>
                      <a:pt x="14140" y="14389"/>
                    </a:lnTo>
                    <a:lnTo>
                      <a:pt x="14395" y="13833"/>
                    </a:lnTo>
                    <a:lnTo>
                      <a:pt x="14777" y="13333"/>
                    </a:lnTo>
                    <a:lnTo>
                      <a:pt x="14904" y="12778"/>
                    </a:lnTo>
                    <a:lnTo>
                      <a:pt x="15159" y="12167"/>
                    </a:lnTo>
                    <a:lnTo>
                      <a:pt x="15414" y="11611"/>
                    </a:lnTo>
                    <a:lnTo>
                      <a:pt x="15669" y="11111"/>
                    </a:lnTo>
                    <a:lnTo>
                      <a:pt x="15924" y="10556"/>
                    </a:lnTo>
                    <a:lnTo>
                      <a:pt x="16051" y="10000"/>
                    </a:lnTo>
                    <a:lnTo>
                      <a:pt x="16306" y="9444"/>
                    </a:lnTo>
                    <a:lnTo>
                      <a:pt x="16561" y="8944"/>
                    </a:lnTo>
                    <a:lnTo>
                      <a:pt x="16815" y="8389"/>
                    </a:lnTo>
                    <a:lnTo>
                      <a:pt x="17070" y="7833"/>
                    </a:lnTo>
                    <a:lnTo>
                      <a:pt x="17197" y="7278"/>
                    </a:lnTo>
                    <a:lnTo>
                      <a:pt x="17325" y="6778"/>
                    </a:lnTo>
                    <a:lnTo>
                      <a:pt x="17707" y="6222"/>
                    </a:lnTo>
                    <a:lnTo>
                      <a:pt x="17834" y="5722"/>
                    </a:lnTo>
                    <a:lnTo>
                      <a:pt x="18217" y="5222"/>
                    </a:lnTo>
                    <a:lnTo>
                      <a:pt x="18344" y="4722"/>
                    </a:lnTo>
                    <a:lnTo>
                      <a:pt x="18344" y="4278"/>
                    </a:lnTo>
                    <a:lnTo>
                      <a:pt x="18726" y="3833"/>
                    </a:lnTo>
                    <a:lnTo>
                      <a:pt x="18854" y="3389"/>
                    </a:lnTo>
                    <a:lnTo>
                      <a:pt x="19108" y="3000"/>
                    </a:lnTo>
                    <a:lnTo>
                      <a:pt x="19236" y="2611"/>
                    </a:lnTo>
                    <a:lnTo>
                      <a:pt x="19363" y="2278"/>
                    </a:lnTo>
                    <a:lnTo>
                      <a:pt x="19490" y="1889"/>
                    </a:lnTo>
                    <a:lnTo>
                      <a:pt x="19490" y="1611"/>
                    </a:lnTo>
                    <a:lnTo>
                      <a:pt x="19745" y="1333"/>
                    </a:lnTo>
                    <a:lnTo>
                      <a:pt x="19745" y="1056"/>
                    </a:lnTo>
                    <a:lnTo>
                      <a:pt x="19873" y="833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49" name="AutoShape 91">
                <a:extLst>
                  <a:ext uri="{FF2B5EF4-FFF2-40B4-BE49-F238E27FC236}">
                    <a16:creationId xmlns:a16="http://schemas.microsoft.com/office/drawing/2014/main" id="{8E4E38D3-FADF-6943-D745-878C2BD8DC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8" y="560"/>
                <a:ext cx="88" cy="14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063"/>
                    </a:moveTo>
                    <a:lnTo>
                      <a:pt x="272" y="18490"/>
                    </a:lnTo>
                    <a:lnTo>
                      <a:pt x="544" y="17865"/>
                    </a:lnTo>
                    <a:lnTo>
                      <a:pt x="680" y="17292"/>
                    </a:lnTo>
                    <a:lnTo>
                      <a:pt x="816" y="16667"/>
                    </a:lnTo>
                    <a:lnTo>
                      <a:pt x="1088" y="16042"/>
                    </a:lnTo>
                    <a:lnTo>
                      <a:pt x="1361" y="15469"/>
                    </a:lnTo>
                    <a:lnTo>
                      <a:pt x="1633" y="14896"/>
                    </a:lnTo>
                    <a:lnTo>
                      <a:pt x="1769" y="14271"/>
                    </a:lnTo>
                    <a:lnTo>
                      <a:pt x="1905" y="13698"/>
                    </a:lnTo>
                    <a:lnTo>
                      <a:pt x="2177" y="13177"/>
                    </a:lnTo>
                    <a:lnTo>
                      <a:pt x="2449" y="12552"/>
                    </a:lnTo>
                    <a:lnTo>
                      <a:pt x="2721" y="12031"/>
                    </a:lnTo>
                    <a:lnTo>
                      <a:pt x="2993" y="11458"/>
                    </a:lnTo>
                    <a:lnTo>
                      <a:pt x="2993" y="10885"/>
                    </a:lnTo>
                    <a:lnTo>
                      <a:pt x="3265" y="10313"/>
                    </a:lnTo>
                    <a:lnTo>
                      <a:pt x="3537" y="9792"/>
                    </a:lnTo>
                    <a:lnTo>
                      <a:pt x="3810" y="9271"/>
                    </a:lnTo>
                    <a:lnTo>
                      <a:pt x="4082" y="8750"/>
                    </a:lnTo>
                    <a:lnTo>
                      <a:pt x="4218" y="8229"/>
                    </a:lnTo>
                    <a:lnTo>
                      <a:pt x="4354" y="7708"/>
                    </a:lnTo>
                    <a:lnTo>
                      <a:pt x="4762" y="7292"/>
                    </a:lnTo>
                    <a:lnTo>
                      <a:pt x="4898" y="6771"/>
                    </a:lnTo>
                    <a:lnTo>
                      <a:pt x="5170" y="6354"/>
                    </a:lnTo>
                    <a:lnTo>
                      <a:pt x="5306" y="5885"/>
                    </a:lnTo>
                    <a:lnTo>
                      <a:pt x="5442" y="5469"/>
                    </a:lnTo>
                    <a:lnTo>
                      <a:pt x="5850" y="5000"/>
                    </a:lnTo>
                    <a:lnTo>
                      <a:pt x="5850" y="4531"/>
                    </a:lnTo>
                    <a:lnTo>
                      <a:pt x="6259" y="4167"/>
                    </a:lnTo>
                    <a:lnTo>
                      <a:pt x="6531" y="3802"/>
                    </a:lnTo>
                    <a:lnTo>
                      <a:pt x="6531" y="3438"/>
                    </a:lnTo>
                    <a:lnTo>
                      <a:pt x="6939" y="3073"/>
                    </a:lnTo>
                    <a:lnTo>
                      <a:pt x="7075" y="2708"/>
                    </a:lnTo>
                    <a:lnTo>
                      <a:pt x="7347" y="2448"/>
                    </a:lnTo>
                    <a:lnTo>
                      <a:pt x="7483" y="2083"/>
                    </a:lnTo>
                    <a:lnTo>
                      <a:pt x="7619" y="1823"/>
                    </a:lnTo>
                    <a:lnTo>
                      <a:pt x="7891" y="1563"/>
                    </a:lnTo>
                    <a:lnTo>
                      <a:pt x="8163" y="1302"/>
                    </a:lnTo>
                    <a:lnTo>
                      <a:pt x="8435" y="1042"/>
                    </a:lnTo>
                    <a:lnTo>
                      <a:pt x="8571" y="833"/>
                    </a:lnTo>
                    <a:lnTo>
                      <a:pt x="8844" y="677"/>
                    </a:lnTo>
                    <a:lnTo>
                      <a:pt x="8980" y="521"/>
                    </a:lnTo>
                    <a:lnTo>
                      <a:pt x="9116" y="365"/>
                    </a:lnTo>
                    <a:lnTo>
                      <a:pt x="9524" y="260"/>
                    </a:lnTo>
                    <a:lnTo>
                      <a:pt x="9524" y="104"/>
                    </a:lnTo>
                    <a:lnTo>
                      <a:pt x="9932" y="104"/>
                    </a:lnTo>
                    <a:lnTo>
                      <a:pt x="10068" y="52"/>
                    </a:lnTo>
                    <a:lnTo>
                      <a:pt x="10204" y="0"/>
                    </a:lnTo>
                    <a:lnTo>
                      <a:pt x="10476" y="52"/>
                    </a:lnTo>
                    <a:lnTo>
                      <a:pt x="10748" y="52"/>
                    </a:lnTo>
                    <a:lnTo>
                      <a:pt x="10884" y="104"/>
                    </a:lnTo>
                    <a:lnTo>
                      <a:pt x="11156" y="208"/>
                    </a:lnTo>
                    <a:lnTo>
                      <a:pt x="11293" y="313"/>
                    </a:lnTo>
                    <a:lnTo>
                      <a:pt x="11565" y="521"/>
                    </a:lnTo>
                    <a:lnTo>
                      <a:pt x="11837" y="781"/>
                    </a:lnTo>
                    <a:lnTo>
                      <a:pt x="12109" y="990"/>
                    </a:lnTo>
                    <a:lnTo>
                      <a:pt x="12245" y="1250"/>
                    </a:lnTo>
                    <a:lnTo>
                      <a:pt x="12381" y="1563"/>
                    </a:lnTo>
                    <a:lnTo>
                      <a:pt x="12653" y="1875"/>
                    </a:lnTo>
                    <a:lnTo>
                      <a:pt x="12925" y="2292"/>
                    </a:lnTo>
                    <a:lnTo>
                      <a:pt x="13061" y="2708"/>
                    </a:lnTo>
                    <a:lnTo>
                      <a:pt x="13469" y="3125"/>
                    </a:lnTo>
                    <a:lnTo>
                      <a:pt x="13469" y="3542"/>
                    </a:lnTo>
                    <a:lnTo>
                      <a:pt x="13741" y="4010"/>
                    </a:lnTo>
                    <a:lnTo>
                      <a:pt x="14150" y="4427"/>
                    </a:lnTo>
                    <a:lnTo>
                      <a:pt x="14286" y="4948"/>
                    </a:lnTo>
                    <a:lnTo>
                      <a:pt x="14558" y="5469"/>
                    </a:lnTo>
                    <a:lnTo>
                      <a:pt x="14694" y="5990"/>
                    </a:lnTo>
                    <a:lnTo>
                      <a:pt x="14966" y="6510"/>
                    </a:lnTo>
                    <a:lnTo>
                      <a:pt x="15102" y="7083"/>
                    </a:lnTo>
                    <a:lnTo>
                      <a:pt x="15374" y="7656"/>
                    </a:lnTo>
                    <a:lnTo>
                      <a:pt x="15646" y="8177"/>
                    </a:lnTo>
                    <a:lnTo>
                      <a:pt x="15918" y="8802"/>
                    </a:lnTo>
                    <a:lnTo>
                      <a:pt x="16054" y="9375"/>
                    </a:lnTo>
                    <a:lnTo>
                      <a:pt x="16190" y="9896"/>
                    </a:lnTo>
                    <a:lnTo>
                      <a:pt x="16599" y="10469"/>
                    </a:lnTo>
                    <a:lnTo>
                      <a:pt x="16735" y="10990"/>
                    </a:lnTo>
                    <a:lnTo>
                      <a:pt x="17007" y="11615"/>
                    </a:lnTo>
                    <a:lnTo>
                      <a:pt x="17143" y="12135"/>
                    </a:lnTo>
                    <a:lnTo>
                      <a:pt x="17279" y="12708"/>
                    </a:lnTo>
                    <a:lnTo>
                      <a:pt x="17551" y="13281"/>
                    </a:lnTo>
                    <a:lnTo>
                      <a:pt x="17687" y="13854"/>
                    </a:lnTo>
                    <a:lnTo>
                      <a:pt x="17959" y="14375"/>
                    </a:lnTo>
                    <a:lnTo>
                      <a:pt x="18095" y="14948"/>
                    </a:lnTo>
                    <a:lnTo>
                      <a:pt x="18231" y="15469"/>
                    </a:lnTo>
                    <a:lnTo>
                      <a:pt x="18367" y="15938"/>
                    </a:lnTo>
                    <a:lnTo>
                      <a:pt x="18639" y="16406"/>
                    </a:lnTo>
                    <a:lnTo>
                      <a:pt x="18776" y="16875"/>
                    </a:lnTo>
                    <a:lnTo>
                      <a:pt x="19048" y="17292"/>
                    </a:lnTo>
                    <a:lnTo>
                      <a:pt x="19184" y="17708"/>
                    </a:lnTo>
                    <a:lnTo>
                      <a:pt x="19320" y="18177"/>
                    </a:lnTo>
                    <a:lnTo>
                      <a:pt x="19456" y="18542"/>
                    </a:lnTo>
                    <a:lnTo>
                      <a:pt x="19456" y="18906"/>
                    </a:lnTo>
                    <a:lnTo>
                      <a:pt x="19592" y="19167"/>
                    </a:lnTo>
                    <a:lnTo>
                      <a:pt x="19728" y="19479"/>
                    </a:lnTo>
                    <a:lnTo>
                      <a:pt x="19864" y="19740"/>
                    </a:lnTo>
                    <a:lnTo>
                      <a:pt x="19864" y="19948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50" name="AutoShape 92">
                <a:extLst>
                  <a:ext uri="{FF2B5EF4-FFF2-40B4-BE49-F238E27FC236}">
                    <a16:creationId xmlns:a16="http://schemas.microsoft.com/office/drawing/2014/main" id="{46563595-2FEC-E2A5-1168-2D5A40468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5" y="698"/>
                <a:ext cx="93" cy="138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55" y="647"/>
                    </a:lnTo>
                    <a:lnTo>
                      <a:pt x="382" y="1240"/>
                    </a:lnTo>
                    <a:lnTo>
                      <a:pt x="510" y="1887"/>
                    </a:lnTo>
                    <a:lnTo>
                      <a:pt x="764" y="2534"/>
                    </a:lnTo>
                    <a:lnTo>
                      <a:pt x="892" y="3127"/>
                    </a:lnTo>
                    <a:lnTo>
                      <a:pt x="1274" y="3720"/>
                    </a:lnTo>
                    <a:lnTo>
                      <a:pt x="1401" y="4367"/>
                    </a:lnTo>
                    <a:lnTo>
                      <a:pt x="1656" y="4960"/>
                    </a:lnTo>
                    <a:lnTo>
                      <a:pt x="1656" y="5553"/>
                    </a:lnTo>
                    <a:lnTo>
                      <a:pt x="2038" y="6146"/>
                    </a:lnTo>
                    <a:lnTo>
                      <a:pt x="2166" y="6739"/>
                    </a:lnTo>
                    <a:lnTo>
                      <a:pt x="2420" y="7278"/>
                    </a:lnTo>
                    <a:lnTo>
                      <a:pt x="2675" y="7925"/>
                    </a:lnTo>
                    <a:lnTo>
                      <a:pt x="2803" y="8464"/>
                    </a:lnTo>
                    <a:lnTo>
                      <a:pt x="2930" y="9003"/>
                    </a:lnTo>
                    <a:lnTo>
                      <a:pt x="3185" y="9596"/>
                    </a:lnTo>
                    <a:lnTo>
                      <a:pt x="3312" y="10135"/>
                    </a:lnTo>
                    <a:lnTo>
                      <a:pt x="3567" y="10674"/>
                    </a:lnTo>
                    <a:lnTo>
                      <a:pt x="3822" y="11213"/>
                    </a:lnTo>
                    <a:lnTo>
                      <a:pt x="3949" y="11698"/>
                    </a:lnTo>
                    <a:lnTo>
                      <a:pt x="4076" y="12237"/>
                    </a:lnTo>
                    <a:lnTo>
                      <a:pt x="4331" y="12722"/>
                    </a:lnTo>
                    <a:lnTo>
                      <a:pt x="4586" y="13154"/>
                    </a:lnTo>
                    <a:lnTo>
                      <a:pt x="4713" y="13693"/>
                    </a:lnTo>
                    <a:lnTo>
                      <a:pt x="4968" y="14124"/>
                    </a:lnTo>
                    <a:lnTo>
                      <a:pt x="5096" y="14555"/>
                    </a:lnTo>
                    <a:lnTo>
                      <a:pt x="5350" y="14987"/>
                    </a:lnTo>
                    <a:lnTo>
                      <a:pt x="5605" y="15472"/>
                    </a:lnTo>
                    <a:lnTo>
                      <a:pt x="5732" y="15849"/>
                    </a:lnTo>
                    <a:lnTo>
                      <a:pt x="6115" y="16226"/>
                    </a:lnTo>
                    <a:lnTo>
                      <a:pt x="6115" y="16604"/>
                    </a:lnTo>
                    <a:lnTo>
                      <a:pt x="6369" y="16981"/>
                    </a:lnTo>
                    <a:lnTo>
                      <a:pt x="6624" y="17251"/>
                    </a:lnTo>
                    <a:lnTo>
                      <a:pt x="6752" y="17628"/>
                    </a:lnTo>
                    <a:lnTo>
                      <a:pt x="7006" y="17898"/>
                    </a:lnTo>
                    <a:lnTo>
                      <a:pt x="7261" y="18167"/>
                    </a:lnTo>
                    <a:lnTo>
                      <a:pt x="7389" y="18491"/>
                    </a:lnTo>
                    <a:lnTo>
                      <a:pt x="7516" y="18760"/>
                    </a:lnTo>
                    <a:lnTo>
                      <a:pt x="7898" y="18976"/>
                    </a:lnTo>
                    <a:lnTo>
                      <a:pt x="8025" y="19137"/>
                    </a:lnTo>
                    <a:lnTo>
                      <a:pt x="8280" y="19353"/>
                    </a:lnTo>
                    <a:lnTo>
                      <a:pt x="8408" y="19461"/>
                    </a:lnTo>
                    <a:lnTo>
                      <a:pt x="8535" y="19677"/>
                    </a:lnTo>
                    <a:lnTo>
                      <a:pt x="8917" y="19730"/>
                    </a:lnTo>
                    <a:lnTo>
                      <a:pt x="9045" y="19892"/>
                    </a:lnTo>
                    <a:lnTo>
                      <a:pt x="9299" y="19892"/>
                    </a:lnTo>
                    <a:lnTo>
                      <a:pt x="9427" y="19946"/>
                    </a:lnTo>
                    <a:lnTo>
                      <a:pt x="9682" y="19946"/>
                    </a:lnTo>
                    <a:lnTo>
                      <a:pt x="9936" y="19946"/>
                    </a:lnTo>
                    <a:lnTo>
                      <a:pt x="10064" y="19892"/>
                    </a:lnTo>
                    <a:lnTo>
                      <a:pt x="10318" y="19892"/>
                    </a:lnTo>
                    <a:lnTo>
                      <a:pt x="10573" y="19677"/>
                    </a:lnTo>
                    <a:lnTo>
                      <a:pt x="10701" y="19515"/>
                    </a:lnTo>
                    <a:lnTo>
                      <a:pt x="10955" y="19353"/>
                    </a:lnTo>
                    <a:lnTo>
                      <a:pt x="11338" y="19137"/>
                    </a:lnTo>
                    <a:lnTo>
                      <a:pt x="11465" y="18868"/>
                    </a:lnTo>
                    <a:lnTo>
                      <a:pt x="11720" y="18544"/>
                    </a:lnTo>
                    <a:lnTo>
                      <a:pt x="11975" y="18275"/>
                    </a:lnTo>
                    <a:lnTo>
                      <a:pt x="12102" y="17844"/>
                    </a:lnTo>
                    <a:lnTo>
                      <a:pt x="12484" y="17466"/>
                    </a:lnTo>
                    <a:lnTo>
                      <a:pt x="12739" y="17197"/>
                    </a:lnTo>
                    <a:lnTo>
                      <a:pt x="12866" y="16765"/>
                    </a:lnTo>
                    <a:lnTo>
                      <a:pt x="13248" y="16280"/>
                    </a:lnTo>
                    <a:lnTo>
                      <a:pt x="13376" y="15849"/>
                    </a:lnTo>
                    <a:lnTo>
                      <a:pt x="13758" y="15364"/>
                    </a:lnTo>
                    <a:lnTo>
                      <a:pt x="13885" y="14879"/>
                    </a:lnTo>
                    <a:lnTo>
                      <a:pt x="14140" y="14340"/>
                    </a:lnTo>
                    <a:lnTo>
                      <a:pt x="14395" y="13801"/>
                    </a:lnTo>
                    <a:lnTo>
                      <a:pt x="14777" y="13315"/>
                    </a:lnTo>
                    <a:lnTo>
                      <a:pt x="14904" y="12776"/>
                    </a:lnTo>
                    <a:lnTo>
                      <a:pt x="15159" y="12237"/>
                    </a:lnTo>
                    <a:lnTo>
                      <a:pt x="15414" y="11644"/>
                    </a:lnTo>
                    <a:lnTo>
                      <a:pt x="15669" y="11105"/>
                    </a:lnTo>
                    <a:lnTo>
                      <a:pt x="15924" y="10566"/>
                    </a:lnTo>
                    <a:lnTo>
                      <a:pt x="16051" y="10027"/>
                    </a:lnTo>
                    <a:lnTo>
                      <a:pt x="16306" y="9488"/>
                    </a:lnTo>
                    <a:lnTo>
                      <a:pt x="16561" y="8895"/>
                    </a:lnTo>
                    <a:lnTo>
                      <a:pt x="16815" y="8356"/>
                    </a:lnTo>
                    <a:lnTo>
                      <a:pt x="17070" y="7763"/>
                    </a:lnTo>
                    <a:lnTo>
                      <a:pt x="17197" y="7278"/>
                    </a:lnTo>
                    <a:lnTo>
                      <a:pt x="17325" y="6792"/>
                    </a:lnTo>
                    <a:lnTo>
                      <a:pt x="17707" y="6253"/>
                    </a:lnTo>
                    <a:lnTo>
                      <a:pt x="17834" y="5714"/>
                    </a:lnTo>
                    <a:lnTo>
                      <a:pt x="18217" y="5229"/>
                    </a:lnTo>
                    <a:lnTo>
                      <a:pt x="18344" y="4744"/>
                    </a:lnTo>
                    <a:lnTo>
                      <a:pt x="18344" y="4313"/>
                    </a:lnTo>
                    <a:lnTo>
                      <a:pt x="18726" y="3881"/>
                    </a:lnTo>
                    <a:lnTo>
                      <a:pt x="18854" y="3396"/>
                    </a:lnTo>
                    <a:lnTo>
                      <a:pt x="19108" y="3019"/>
                    </a:lnTo>
                    <a:lnTo>
                      <a:pt x="19236" y="2588"/>
                    </a:lnTo>
                    <a:lnTo>
                      <a:pt x="19363" y="2210"/>
                    </a:lnTo>
                    <a:lnTo>
                      <a:pt x="19490" y="1887"/>
                    </a:lnTo>
                    <a:lnTo>
                      <a:pt x="19490" y="1671"/>
                    </a:lnTo>
                    <a:lnTo>
                      <a:pt x="19745" y="1348"/>
                    </a:lnTo>
                    <a:lnTo>
                      <a:pt x="19745" y="1024"/>
                    </a:lnTo>
                    <a:lnTo>
                      <a:pt x="19873" y="863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51" name="AutoShape 93">
                <a:extLst>
                  <a:ext uri="{FF2B5EF4-FFF2-40B4-BE49-F238E27FC236}">
                    <a16:creationId xmlns:a16="http://schemas.microsoft.com/office/drawing/2014/main" id="{79A458AC-609C-B61F-4CF0-B24CF30FCD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1" y="563"/>
                <a:ext cx="88" cy="14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088"/>
                    </a:moveTo>
                    <a:lnTo>
                      <a:pt x="272" y="18499"/>
                    </a:lnTo>
                    <a:lnTo>
                      <a:pt x="544" y="17909"/>
                    </a:lnTo>
                    <a:lnTo>
                      <a:pt x="680" y="17265"/>
                    </a:lnTo>
                    <a:lnTo>
                      <a:pt x="816" y="16676"/>
                    </a:lnTo>
                    <a:lnTo>
                      <a:pt x="1088" y="16086"/>
                    </a:lnTo>
                    <a:lnTo>
                      <a:pt x="1361" y="15496"/>
                    </a:lnTo>
                    <a:lnTo>
                      <a:pt x="1633" y="14906"/>
                    </a:lnTo>
                    <a:lnTo>
                      <a:pt x="1769" y="14316"/>
                    </a:lnTo>
                    <a:lnTo>
                      <a:pt x="1905" y="13673"/>
                    </a:lnTo>
                    <a:lnTo>
                      <a:pt x="2177" y="13137"/>
                    </a:lnTo>
                    <a:lnTo>
                      <a:pt x="2449" y="12601"/>
                    </a:lnTo>
                    <a:lnTo>
                      <a:pt x="2721" y="12064"/>
                    </a:lnTo>
                    <a:lnTo>
                      <a:pt x="2993" y="11421"/>
                    </a:lnTo>
                    <a:lnTo>
                      <a:pt x="2993" y="10885"/>
                    </a:lnTo>
                    <a:lnTo>
                      <a:pt x="3265" y="10349"/>
                    </a:lnTo>
                    <a:lnTo>
                      <a:pt x="3537" y="9812"/>
                    </a:lnTo>
                    <a:lnTo>
                      <a:pt x="3810" y="9276"/>
                    </a:lnTo>
                    <a:lnTo>
                      <a:pt x="4082" y="8794"/>
                    </a:lnTo>
                    <a:lnTo>
                      <a:pt x="4218" y="8257"/>
                    </a:lnTo>
                    <a:lnTo>
                      <a:pt x="4354" y="7721"/>
                    </a:lnTo>
                    <a:lnTo>
                      <a:pt x="4762" y="7239"/>
                    </a:lnTo>
                    <a:lnTo>
                      <a:pt x="4898" y="6756"/>
                    </a:lnTo>
                    <a:lnTo>
                      <a:pt x="5170" y="6327"/>
                    </a:lnTo>
                    <a:lnTo>
                      <a:pt x="5306" y="5898"/>
                    </a:lnTo>
                    <a:lnTo>
                      <a:pt x="5442" y="5469"/>
                    </a:lnTo>
                    <a:lnTo>
                      <a:pt x="5850" y="4987"/>
                    </a:lnTo>
                    <a:lnTo>
                      <a:pt x="5850" y="4558"/>
                    </a:lnTo>
                    <a:lnTo>
                      <a:pt x="6259" y="4129"/>
                    </a:lnTo>
                    <a:lnTo>
                      <a:pt x="6531" y="3753"/>
                    </a:lnTo>
                    <a:lnTo>
                      <a:pt x="6531" y="3432"/>
                    </a:lnTo>
                    <a:lnTo>
                      <a:pt x="6939" y="3003"/>
                    </a:lnTo>
                    <a:lnTo>
                      <a:pt x="7075" y="2735"/>
                    </a:lnTo>
                    <a:lnTo>
                      <a:pt x="7347" y="2413"/>
                    </a:lnTo>
                    <a:lnTo>
                      <a:pt x="7483" y="2091"/>
                    </a:lnTo>
                    <a:lnTo>
                      <a:pt x="7619" y="1823"/>
                    </a:lnTo>
                    <a:lnTo>
                      <a:pt x="7891" y="1609"/>
                    </a:lnTo>
                    <a:lnTo>
                      <a:pt x="8163" y="1287"/>
                    </a:lnTo>
                    <a:lnTo>
                      <a:pt x="8435" y="1019"/>
                    </a:lnTo>
                    <a:lnTo>
                      <a:pt x="8571" y="858"/>
                    </a:lnTo>
                    <a:lnTo>
                      <a:pt x="8844" y="643"/>
                    </a:lnTo>
                    <a:lnTo>
                      <a:pt x="8980" y="483"/>
                    </a:lnTo>
                    <a:lnTo>
                      <a:pt x="9116" y="375"/>
                    </a:lnTo>
                    <a:lnTo>
                      <a:pt x="9524" y="268"/>
                    </a:lnTo>
                    <a:lnTo>
                      <a:pt x="9524" y="107"/>
                    </a:lnTo>
                    <a:lnTo>
                      <a:pt x="9932" y="107"/>
                    </a:lnTo>
                    <a:lnTo>
                      <a:pt x="10068" y="54"/>
                    </a:lnTo>
                    <a:lnTo>
                      <a:pt x="10204" y="0"/>
                    </a:lnTo>
                    <a:lnTo>
                      <a:pt x="10476" y="54"/>
                    </a:lnTo>
                    <a:lnTo>
                      <a:pt x="10748" y="54"/>
                    </a:lnTo>
                    <a:lnTo>
                      <a:pt x="10884" y="107"/>
                    </a:lnTo>
                    <a:lnTo>
                      <a:pt x="11156" y="214"/>
                    </a:lnTo>
                    <a:lnTo>
                      <a:pt x="11293" y="322"/>
                    </a:lnTo>
                    <a:lnTo>
                      <a:pt x="11565" y="536"/>
                    </a:lnTo>
                    <a:lnTo>
                      <a:pt x="11837" y="751"/>
                    </a:lnTo>
                    <a:lnTo>
                      <a:pt x="12109" y="1019"/>
                    </a:lnTo>
                    <a:lnTo>
                      <a:pt x="12245" y="1233"/>
                    </a:lnTo>
                    <a:lnTo>
                      <a:pt x="12381" y="1609"/>
                    </a:lnTo>
                    <a:lnTo>
                      <a:pt x="12653" y="1877"/>
                    </a:lnTo>
                    <a:lnTo>
                      <a:pt x="12925" y="2306"/>
                    </a:lnTo>
                    <a:lnTo>
                      <a:pt x="13061" y="2735"/>
                    </a:lnTo>
                    <a:lnTo>
                      <a:pt x="13469" y="3110"/>
                    </a:lnTo>
                    <a:lnTo>
                      <a:pt x="13469" y="3539"/>
                    </a:lnTo>
                    <a:lnTo>
                      <a:pt x="13741" y="3968"/>
                    </a:lnTo>
                    <a:lnTo>
                      <a:pt x="14150" y="4450"/>
                    </a:lnTo>
                    <a:lnTo>
                      <a:pt x="14286" y="4987"/>
                    </a:lnTo>
                    <a:lnTo>
                      <a:pt x="14558" y="5469"/>
                    </a:lnTo>
                    <a:lnTo>
                      <a:pt x="14694" y="6005"/>
                    </a:lnTo>
                    <a:lnTo>
                      <a:pt x="14966" y="6542"/>
                    </a:lnTo>
                    <a:lnTo>
                      <a:pt x="15102" y="7024"/>
                    </a:lnTo>
                    <a:lnTo>
                      <a:pt x="15374" y="7614"/>
                    </a:lnTo>
                    <a:lnTo>
                      <a:pt x="15646" y="8150"/>
                    </a:lnTo>
                    <a:lnTo>
                      <a:pt x="15918" y="8794"/>
                    </a:lnTo>
                    <a:lnTo>
                      <a:pt x="16054" y="9330"/>
                    </a:lnTo>
                    <a:lnTo>
                      <a:pt x="16190" y="9866"/>
                    </a:lnTo>
                    <a:lnTo>
                      <a:pt x="16599" y="10456"/>
                    </a:lnTo>
                    <a:lnTo>
                      <a:pt x="16735" y="11046"/>
                    </a:lnTo>
                    <a:lnTo>
                      <a:pt x="17007" y="11635"/>
                    </a:lnTo>
                    <a:lnTo>
                      <a:pt x="17143" y="12172"/>
                    </a:lnTo>
                    <a:lnTo>
                      <a:pt x="17279" y="12761"/>
                    </a:lnTo>
                    <a:lnTo>
                      <a:pt x="17551" y="13298"/>
                    </a:lnTo>
                    <a:lnTo>
                      <a:pt x="17687" y="13834"/>
                    </a:lnTo>
                    <a:lnTo>
                      <a:pt x="17959" y="14370"/>
                    </a:lnTo>
                    <a:lnTo>
                      <a:pt x="18095" y="14960"/>
                    </a:lnTo>
                    <a:lnTo>
                      <a:pt x="18231" y="15442"/>
                    </a:lnTo>
                    <a:lnTo>
                      <a:pt x="18367" y="15871"/>
                    </a:lnTo>
                    <a:lnTo>
                      <a:pt x="18639" y="16461"/>
                    </a:lnTo>
                    <a:lnTo>
                      <a:pt x="18776" y="16836"/>
                    </a:lnTo>
                    <a:lnTo>
                      <a:pt x="19048" y="17265"/>
                    </a:lnTo>
                    <a:lnTo>
                      <a:pt x="19184" y="17748"/>
                    </a:lnTo>
                    <a:lnTo>
                      <a:pt x="19320" y="18177"/>
                    </a:lnTo>
                    <a:lnTo>
                      <a:pt x="19456" y="18552"/>
                    </a:lnTo>
                    <a:lnTo>
                      <a:pt x="19456" y="18874"/>
                    </a:lnTo>
                    <a:lnTo>
                      <a:pt x="19592" y="19196"/>
                    </a:lnTo>
                    <a:lnTo>
                      <a:pt x="19728" y="19517"/>
                    </a:lnTo>
                    <a:lnTo>
                      <a:pt x="19864" y="19732"/>
                    </a:lnTo>
                    <a:lnTo>
                      <a:pt x="19864" y="19946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52" name="AutoShape 94">
                <a:extLst>
                  <a:ext uri="{FF2B5EF4-FFF2-40B4-BE49-F238E27FC236}">
                    <a16:creationId xmlns:a16="http://schemas.microsoft.com/office/drawing/2014/main" id="{58FB1DD5-135A-2B76-575A-78752B85FB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" y="697"/>
                <a:ext cx="93" cy="13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55" y="611"/>
                    </a:lnTo>
                    <a:lnTo>
                      <a:pt x="382" y="1278"/>
                    </a:lnTo>
                    <a:lnTo>
                      <a:pt x="510" y="1889"/>
                    </a:lnTo>
                    <a:lnTo>
                      <a:pt x="764" y="2500"/>
                    </a:lnTo>
                    <a:lnTo>
                      <a:pt x="892" y="3111"/>
                    </a:lnTo>
                    <a:lnTo>
                      <a:pt x="1274" y="3722"/>
                    </a:lnTo>
                    <a:lnTo>
                      <a:pt x="1401" y="4333"/>
                    </a:lnTo>
                    <a:lnTo>
                      <a:pt x="1656" y="4944"/>
                    </a:lnTo>
                    <a:lnTo>
                      <a:pt x="1656" y="5556"/>
                    </a:lnTo>
                    <a:lnTo>
                      <a:pt x="2038" y="6167"/>
                    </a:lnTo>
                    <a:lnTo>
                      <a:pt x="2166" y="6778"/>
                    </a:lnTo>
                    <a:lnTo>
                      <a:pt x="2420" y="7278"/>
                    </a:lnTo>
                    <a:lnTo>
                      <a:pt x="2675" y="7889"/>
                    </a:lnTo>
                    <a:lnTo>
                      <a:pt x="2803" y="8444"/>
                    </a:lnTo>
                    <a:lnTo>
                      <a:pt x="2930" y="9000"/>
                    </a:lnTo>
                    <a:lnTo>
                      <a:pt x="3185" y="9611"/>
                    </a:lnTo>
                    <a:lnTo>
                      <a:pt x="3312" y="10167"/>
                    </a:lnTo>
                    <a:lnTo>
                      <a:pt x="3567" y="10667"/>
                    </a:lnTo>
                    <a:lnTo>
                      <a:pt x="3822" y="11167"/>
                    </a:lnTo>
                    <a:lnTo>
                      <a:pt x="3949" y="11722"/>
                    </a:lnTo>
                    <a:lnTo>
                      <a:pt x="4076" y="12167"/>
                    </a:lnTo>
                    <a:lnTo>
                      <a:pt x="4331" y="12722"/>
                    </a:lnTo>
                    <a:lnTo>
                      <a:pt x="4586" y="13222"/>
                    </a:lnTo>
                    <a:lnTo>
                      <a:pt x="4713" y="13667"/>
                    </a:lnTo>
                    <a:lnTo>
                      <a:pt x="4968" y="14111"/>
                    </a:lnTo>
                    <a:lnTo>
                      <a:pt x="5096" y="14556"/>
                    </a:lnTo>
                    <a:lnTo>
                      <a:pt x="5350" y="15056"/>
                    </a:lnTo>
                    <a:lnTo>
                      <a:pt x="5605" y="15444"/>
                    </a:lnTo>
                    <a:lnTo>
                      <a:pt x="5732" y="15833"/>
                    </a:lnTo>
                    <a:lnTo>
                      <a:pt x="6115" y="16222"/>
                    </a:lnTo>
                    <a:lnTo>
                      <a:pt x="6115" y="16611"/>
                    </a:lnTo>
                    <a:lnTo>
                      <a:pt x="6369" y="16944"/>
                    </a:lnTo>
                    <a:lnTo>
                      <a:pt x="6624" y="17333"/>
                    </a:lnTo>
                    <a:lnTo>
                      <a:pt x="6752" y="17611"/>
                    </a:lnTo>
                    <a:lnTo>
                      <a:pt x="7006" y="17944"/>
                    </a:lnTo>
                    <a:lnTo>
                      <a:pt x="7261" y="18167"/>
                    </a:lnTo>
                    <a:lnTo>
                      <a:pt x="7389" y="18500"/>
                    </a:lnTo>
                    <a:lnTo>
                      <a:pt x="7516" y="18722"/>
                    </a:lnTo>
                    <a:lnTo>
                      <a:pt x="7898" y="18944"/>
                    </a:lnTo>
                    <a:lnTo>
                      <a:pt x="8025" y="19167"/>
                    </a:lnTo>
                    <a:lnTo>
                      <a:pt x="8280" y="19333"/>
                    </a:lnTo>
                    <a:lnTo>
                      <a:pt x="8408" y="19500"/>
                    </a:lnTo>
                    <a:lnTo>
                      <a:pt x="8535" y="19667"/>
                    </a:lnTo>
                    <a:lnTo>
                      <a:pt x="8917" y="19722"/>
                    </a:lnTo>
                    <a:lnTo>
                      <a:pt x="9045" y="19889"/>
                    </a:lnTo>
                    <a:lnTo>
                      <a:pt x="9299" y="19889"/>
                    </a:lnTo>
                    <a:lnTo>
                      <a:pt x="9427" y="19944"/>
                    </a:lnTo>
                    <a:lnTo>
                      <a:pt x="9682" y="19944"/>
                    </a:lnTo>
                    <a:lnTo>
                      <a:pt x="9936" y="19944"/>
                    </a:lnTo>
                    <a:lnTo>
                      <a:pt x="10064" y="19889"/>
                    </a:lnTo>
                    <a:lnTo>
                      <a:pt x="10318" y="19889"/>
                    </a:lnTo>
                    <a:lnTo>
                      <a:pt x="10573" y="19722"/>
                    </a:lnTo>
                    <a:lnTo>
                      <a:pt x="10701" y="19500"/>
                    </a:lnTo>
                    <a:lnTo>
                      <a:pt x="10955" y="19333"/>
                    </a:lnTo>
                    <a:lnTo>
                      <a:pt x="11338" y="19111"/>
                    </a:lnTo>
                    <a:lnTo>
                      <a:pt x="11465" y="18833"/>
                    </a:lnTo>
                    <a:lnTo>
                      <a:pt x="11720" y="18500"/>
                    </a:lnTo>
                    <a:lnTo>
                      <a:pt x="11975" y="18278"/>
                    </a:lnTo>
                    <a:lnTo>
                      <a:pt x="12102" y="17944"/>
                    </a:lnTo>
                    <a:lnTo>
                      <a:pt x="12484" y="17556"/>
                    </a:lnTo>
                    <a:lnTo>
                      <a:pt x="12739" y="17111"/>
                    </a:lnTo>
                    <a:lnTo>
                      <a:pt x="12866" y="16722"/>
                    </a:lnTo>
                    <a:lnTo>
                      <a:pt x="13248" y="16278"/>
                    </a:lnTo>
                    <a:lnTo>
                      <a:pt x="13376" y="15778"/>
                    </a:lnTo>
                    <a:lnTo>
                      <a:pt x="13758" y="15333"/>
                    </a:lnTo>
                    <a:lnTo>
                      <a:pt x="13885" y="14833"/>
                    </a:lnTo>
                    <a:lnTo>
                      <a:pt x="14140" y="14389"/>
                    </a:lnTo>
                    <a:lnTo>
                      <a:pt x="14395" y="13833"/>
                    </a:lnTo>
                    <a:lnTo>
                      <a:pt x="14777" y="13333"/>
                    </a:lnTo>
                    <a:lnTo>
                      <a:pt x="14904" y="12778"/>
                    </a:lnTo>
                    <a:lnTo>
                      <a:pt x="15159" y="12167"/>
                    </a:lnTo>
                    <a:lnTo>
                      <a:pt x="15414" y="11611"/>
                    </a:lnTo>
                    <a:lnTo>
                      <a:pt x="15669" y="11111"/>
                    </a:lnTo>
                    <a:lnTo>
                      <a:pt x="15924" y="10556"/>
                    </a:lnTo>
                    <a:lnTo>
                      <a:pt x="16051" y="10000"/>
                    </a:lnTo>
                    <a:lnTo>
                      <a:pt x="16306" y="9444"/>
                    </a:lnTo>
                    <a:lnTo>
                      <a:pt x="16561" y="8944"/>
                    </a:lnTo>
                    <a:lnTo>
                      <a:pt x="16815" y="8389"/>
                    </a:lnTo>
                    <a:lnTo>
                      <a:pt x="17070" y="7833"/>
                    </a:lnTo>
                    <a:lnTo>
                      <a:pt x="17197" y="7278"/>
                    </a:lnTo>
                    <a:lnTo>
                      <a:pt x="17325" y="6778"/>
                    </a:lnTo>
                    <a:lnTo>
                      <a:pt x="17707" y="6222"/>
                    </a:lnTo>
                    <a:lnTo>
                      <a:pt x="17834" y="5722"/>
                    </a:lnTo>
                    <a:lnTo>
                      <a:pt x="18217" y="5222"/>
                    </a:lnTo>
                    <a:lnTo>
                      <a:pt x="18344" y="4722"/>
                    </a:lnTo>
                    <a:lnTo>
                      <a:pt x="18344" y="4278"/>
                    </a:lnTo>
                    <a:lnTo>
                      <a:pt x="18726" y="3833"/>
                    </a:lnTo>
                    <a:lnTo>
                      <a:pt x="18854" y="3389"/>
                    </a:lnTo>
                    <a:lnTo>
                      <a:pt x="19108" y="3000"/>
                    </a:lnTo>
                    <a:lnTo>
                      <a:pt x="19236" y="2611"/>
                    </a:lnTo>
                    <a:lnTo>
                      <a:pt x="19363" y="2278"/>
                    </a:lnTo>
                    <a:lnTo>
                      <a:pt x="19490" y="1889"/>
                    </a:lnTo>
                    <a:lnTo>
                      <a:pt x="19490" y="1611"/>
                    </a:lnTo>
                    <a:lnTo>
                      <a:pt x="19745" y="1333"/>
                    </a:lnTo>
                    <a:lnTo>
                      <a:pt x="19745" y="1056"/>
                    </a:lnTo>
                    <a:lnTo>
                      <a:pt x="19873" y="833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53" name="AutoShape 95">
                <a:extLst>
                  <a:ext uri="{FF2B5EF4-FFF2-40B4-BE49-F238E27FC236}">
                    <a16:creationId xmlns:a16="http://schemas.microsoft.com/office/drawing/2014/main" id="{53B90E23-B72E-48F8-6760-7FF66857BB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4" y="559"/>
                <a:ext cx="87" cy="14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063"/>
                    </a:moveTo>
                    <a:lnTo>
                      <a:pt x="272" y="18490"/>
                    </a:lnTo>
                    <a:lnTo>
                      <a:pt x="544" y="17865"/>
                    </a:lnTo>
                    <a:lnTo>
                      <a:pt x="680" y="17292"/>
                    </a:lnTo>
                    <a:lnTo>
                      <a:pt x="816" y="16667"/>
                    </a:lnTo>
                    <a:lnTo>
                      <a:pt x="1088" y="16042"/>
                    </a:lnTo>
                    <a:lnTo>
                      <a:pt x="1361" y="15469"/>
                    </a:lnTo>
                    <a:lnTo>
                      <a:pt x="1633" y="14896"/>
                    </a:lnTo>
                    <a:lnTo>
                      <a:pt x="1769" y="14271"/>
                    </a:lnTo>
                    <a:lnTo>
                      <a:pt x="1905" y="13698"/>
                    </a:lnTo>
                    <a:lnTo>
                      <a:pt x="2177" y="13177"/>
                    </a:lnTo>
                    <a:lnTo>
                      <a:pt x="2449" y="12552"/>
                    </a:lnTo>
                    <a:lnTo>
                      <a:pt x="2721" y="12031"/>
                    </a:lnTo>
                    <a:lnTo>
                      <a:pt x="2993" y="11458"/>
                    </a:lnTo>
                    <a:lnTo>
                      <a:pt x="2993" y="10885"/>
                    </a:lnTo>
                    <a:lnTo>
                      <a:pt x="3265" y="10313"/>
                    </a:lnTo>
                    <a:lnTo>
                      <a:pt x="3537" y="9792"/>
                    </a:lnTo>
                    <a:lnTo>
                      <a:pt x="3810" y="9271"/>
                    </a:lnTo>
                    <a:lnTo>
                      <a:pt x="4082" y="8750"/>
                    </a:lnTo>
                    <a:lnTo>
                      <a:pt x="4218" y="8229"/>
                    </a:lnTo>
                    <a:lnTo>
                      <a:pt x="4354" y="7708"/>
                    </a:lnTo>
                    <a:lnTo>
                      <a:pt x="4762" y="7292"/>
                    </a:lnTo>
                    <a:lnTo>
                      <a:pt x="4898" y="6771"/>
                    </a:lnTo>
                    <a:lnTo>
                      <a:pt x="5170" y="6354"/>
                    </a:lnTo>
                    <a:lnTo>
                      <a:pt x="5306" y="5885"/>
                    </a:lnTo>
                    <a:lnTo>
                      <a:pt x="5442" y="5469"/>
                    </a:lnTo>
                    <a:lnTo>
                      <a:pt x="5850" y="5000"/>
                    </a:lnTo>
                    <a:lnTo>
                      <a:pt x="5850" y="4531"/>
                    </a:lnTo>
                    <a:lnTo>
                      <a:pt x="6259" y="4167"/>
                    </a:lnTo>
                    <a:lnTo>
                      <a:pt x="6531" y="3802"/>
                    </a:lnTo>
                    <a:lnTo>
                      <a:pt x="6531" y="3438"/>
                    </a:lnTo>
                    <a:lnTo>
                      <a:pt x="6939" y="3073"/>
                    </a:lnTo>
                    <a:lnTo>
                      <a:pt x="7075" y="2708"/>
                    </a:lnTo>
                    <a:lnTo>
                      <a:pt x="7347" y="2448"/>
                    </a:lnTo>
                    <a:lnTo>
                      <a:pt x="7483" y="2083"/>
                    </a:lnTo>
                    <a:lnTo>
                      <a:pt x="7619" y="1823"/>
                    </a:lnTo>
                    <a:lnTo>
                      <a:pt x="7891" y="1563"/>
                    </a:lnTo>
                    <a:lnTo>
                      <a:pt x="8163" y="1302"/>
                    </a:lnTo>
                    <a:lnTo>
                      <a:pt x="8435" y="1042"/>
                    </a:lnTo>
                    <a:lnTo>
                      <a:pt x="8571" y="833"/>
                    </a:lnTo>
                    <a:lnTo>
                      <a:pt x="8844" y="677"/>
                    </a:lnTo>
                    <a:lnTo>
                      <a:pt x="8980" y="521"/>
                    </a:lnTo>
                    <a:lnTo>
                      <a:pt x="9116" y="365"/>
                    </a:lnTo>
                    <a:lnTo>
                      <a:pt x="9524" y="260"/>
                    </a:lnTo>
                    <a:lnTo>
                      <a:pt x="9524" y="104"/>
                    </a:lnTo>
                    <a:lnTo>
                      <a:pt x="9932" y="104"/>
                    </a:lnTo>
                    <a:lnTo>
                      <a:pt x="10068" y="52"/>
                    </a:lnTo>
                    <a:lnTo>
                      <a:pt x="10204" y="0"/>
                    </a:lnTo>
                    <a:lnTo>
                      <a:pt x="10476" y="52"/>
                    </a:lnTo>
                    <a:lnTo>
                      <a:pt x="10748" y="52"/>
                    </a:lnTo>
                    <a:lnTo>
                      <a:pt x="10884" y="104"/>
                    </a:lnTo>
                    <a:lnTo>
                      <a:pt x="11156" y="208"/>
                    </a:lnTo>
                    <a:lnTo>
                      <a:pt x="11293" y="313"/>
                    </a:lnTo>
                    <a:lnTo>
                      <a:pt x="11565" y="521"/>
                    </a:lnTo>
                    <a:lnTo>
                      <a:pt x="11837" y="781"/>
                    </a:lnTo>
                    <a:lnTo>
                      <a:pt x="12109" y="990"/>
                    </a:lnTo>
                    <a:lnTo>
                      <a:pt x="12245" y="1250"/>
                    </a:lnTo>
                    <a:lnTo>
                      <a:pt x="12381" y="1563"/>
                    </a:lnTo>
                    <a:lnTo>
                      <a:pt x="12653" y="1875"/>
                    </a:lnTo>
                    <a:lnTo>
                      <a:pt x="12925" y="2292"/>
                    </a:lnTo>
                    <a:lnTo>
                      <a:pt x="13061" y="2708"/>
                    </a:lnTo>
                    <a:lnTo>
                      <a:pt x="13469" y="3125"/>
                    </a:lnTo>
                    <a:lnTo>
                      <a:pt x="13469" y="3542"/>
                    </a:lnTo>
                    <a:lnTo>
                      <a:pt x="13741" y="4010"/>
                    </a:lnTo>
                    <a:lnTo>
                      <a:pt x="14150" y="4427"/>
                    </a:lnTo>
                    <a:lnTo>
                      <a:pt x="14286" y="4948"/>
                    </a:lnTo>
                    <a:lnTo>
                      <a:pt x="14558" y="5469"/>
                    </a:lnTo>
                    <a:lnTo>
                      <a:pt x="14694" y="5990"/>
                    </a:lnTo>
                    <a:lnTo>
                      <a:pt x="14966" y="6510"/>
                    </a:lnTo>
                    <a:lnTo>
                      <a:pt x="15102" y="7083"/>
                    </a:lnTo>
                    <a:lnTo>
                      <a:pt x="15374" y="7656"/>
                    </a:lnTo>
                    <a:lnTo>
                      <a:pt x="15646" y="8177"/>
                    </a:lnTo>
                    <a:lnTo>
                      <a:pt x="15918" y="8802"/>
                    </a:lnTo>
                    <a:lnTo>
                      <a:pt x="16054" y="9375"/>
                    </a:lnTo>
                    <a:lnTo>
                      <a:pt x="16190" y="9896"/>
                    </a:lnTo>
                    <a:lnTo>
                      <a:pt x="16599" y="10469"/>
                    </a:lnTo>
                    <a:lnTo>
                      <a:pt x="16735" y="10990"/>
                    </a:lnTo>
                    <a:lnTo>
                      <a:pt x="17007" y="11615"/>
                    </a:lnTo>
                    <a:lnTo>
                      <a:pt x="17143" y="12135"/>
                    </a:lnTo>
                    <a:lnTo>
                      <a:pt x="17279" y="12708"/>
                    </a:lnTo>
                    <a:lnTo>
                      <a:pt x="17551" y="13281"/>
                    </a:lnTo>
                    <a:lnTo>
                      <a:pt x="17687" y="13854"/>
                    </a:lnTo>
                    <a:lnTo>
                      <a:pt x="17959" y="14375"/>
                    </a:lnTo>
                    <a:lnTo>
                      <a:pt x="18095" y="14948"/>
                    </a:lnTo>
                    <a:lnTo>
                      <a:pt x="18231" y="15469"/>
                    </a:lnTo>
                    <a:lnTo>
                      <a:pt x="18367" y="15938"/>
                    </a:lnTo>
                    <a:lnTo>
                      <a:pt x="18639" y="16406"/>
                    </a:lnTo>
                    <a:lnTo>
                      <a:pt x="18776" y="16875"/>
                    </a:lnTo>
                    <a:lnTo>
                      <a:pt x="19048" y="17292"/>
                    </a:lnTo>
                    <a:lnTo>
                      <a:pt x="19184" y="17708"/>
                    </a:lnTo>
                    <a:lnTo>
                      <a:pt x="19320" y="18177"/>
                    </a:lnTo>
                    <a:lnTo>
                      <a:pt x="19456" y="18542"/>
                    </a:lnTo>
                    <a:lnTo>
                      <a:pt x="19456" y="18906"/>
                    </a:lnTo>
                    <a:lnTo>
                      <a:pt x="19592" y="19167"/>
                    </a:lnTo>
                    <a:lnTo>
                      <a:pt x="19728" y="19479"/>
                    </a:lnTo>
                    <a:lnTo>
                      <a:pt x="19864" y="19740"/>
                    </a:lnTo>
                    <a:lnTo>
                      <a:pt x="19864" y="19948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54" name="AutoShape 96">
                <a:extLst>
                  <a:ext uri="{FF2B5EF4-FFF2-40B4-BE49-F238E27FC236}">
                    <a16:creationId xmlns:a16="http://schemas.microsoft.com/office/drawing/2014/main" id="{942D5266-3F09-8C73-2734-D8E64B36D2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0" y="696"/>
                <a:ext cx="93" cy="13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55" y="647"/>
                    </a:lnTo>
                    <a:lnTo>
                      <a:pt x="382" y="1240"/>
                    </a:lnTo>
                    <a:lnTo>
                      <a:pt x="510" y="1887"/>
                    </a:lnTo>
                    <a:lnTo>
                      <a:pt x="764" y="2534"/>
                    </a:lnTo>
                    <a:lnTo>
                      <a:pt x="892" y="3127"/>
                    </a:lnTo>
                    <a:lnTo>
                      <a:pt x="1274" y="3720"/>
                    </a:lnTo>
                    <a:lnTo>
                      <a:pt x="1401" y="4367"/>
                    </a:lnTo>
                    <a:lnTo>
                      <a:pt x="1656" y="4960"/>
                    </a:lnTo>
                    <a:lnTo>
                      <a:pt x="1656" y="5553"/>
                    </a:lnTo>
                    <a:lnTo>
                      <a:pt x="2038" y="6146"/>
                    </a:lnTo>
                    <a:lnTo>
                      <a:pt x="2166" y="6739"/>
                    </a:lnTo>
                    <a:lnTo>
                      <a:pt x="2420" y="7278"/>
                    </a:lnTo>
                    <a:lnTo>
                      <a:pt x="2675" y="7925"/>
                    </a:lnTo>
                    <a:lnTo>
                      <a:pt x="2803" y="8464"/>
                    </a:lnTo>
                    <a:lnTo>
                      <a:pt x="2930" y="9003"/>
                    </a:lnTo>
                    <a:lnTo>
                      <a:pt x="3185" y="9596"/>
                    </a:lnTo>
                    <a:lnTo>
                      <a:pt x="3312" y="10135"/>
                    </a:lnTo>
                    <a:lnTo>
                      <a:pt x="3567" y="10674"/>
                    </a:lnTo>
                    <a:lnTo>
                      <a:pt x="3822" y="11213"/>
                    </a:lnTo>
                    <a:lnTo>
                      <a:pt x="3949" y="11698"/>
                    </a:lnTo>
                    <a:lnTo>
                      <a:pt x="4076" y="12237"/>
                    </a:lnTo>
                    <a:lnTo>
                      <a:pt x="4331" y="12722"/>
                    </a:lnTo>
                    <a:lnTo>
                      <a:pt x="4586" y="13154"/>
                    </a:lnTo>
                    <a:lnTo>
                      <a:pt x="4713" y="13693"/>
                    </a:lnTo>
                    <a:lnTo>
                      <a:pt x="4968" y="14124"/>
                    </a:lnTo>
                    <a:lnTo>
                      <a:pt x="5096" y="14555"/>
                    </a:lnTo>
                    <a:lnTo>
                      <a:pt x="5350" y="14987"/>
                    </a:lnTo>
                    <a:lnTo>
                      <a:pt x="5605" y="15472"/>
                    </a:lnTo>
                    <a:lnTo>
                      <a:pt x="5732" y="15849"/>
                    </a:lnTo>
                    <a:lnTo>
                      <a:pt x="6115" y="16226"/>
                    </a:lnTo>
                    <a:lnTo>
                      <a:pt x="6115" y="16604"/>
                    </a:lnTo>
                    <a:lnTo>
                      <a:pt x="6369" y="16981"/>
                    </a:lnTo>
                    <a:lnTo>
                      <a:pt x="6624" y="17251"/>
                    </a:lnTo>
                    <a:lnTo>
                      <a:pt x="6752" y="17628"/>
                    </a:lnTo>
                    <a:lnTo>
                      <a:pt x="7006" y="17898"/>
                    </a:lnTo>
                    <a:lnTo>
                      <a:pt x="7261" y="18167"/>
                    </a:lnTo>
                    <a:lnTo>
                      <a:pt x="7389" y="18491"/>
                    </a:lnTo>
                    <a:lnTo>
                      <a:pt x="7516" y="18760"/>
                    </a:lnTo>
                    <a:lnTo>
                      <a:pt x="7898" y="18976"/>
                    </a:lnTo>
                    <a:lnTo>
                      <a:pt x="8025" y="19137"/>
                    </a:lnTo>
                    <a:lnTo>
                      <a:pt x="8280" y="19353"/>
                    </a:lnTo>
                    <a:lnTo>
                      <a:pt x="8408" y="19461"/>
                    </a:lnTo>
                    <a:lnTo>
                      <a:pt x="8535" y="19677"/>
                    </a:lnTo>
                    <a:lnTo>
                      <a:pt x="8917" y="19730"/>
                    </a:lnTo>
                    <a:lnTo>
                      <a:pt x="9045" y="19892"/>
                    </a:lnTo>
                    <a:lnTo>
                      <a:pt x="9299" y="19892"/>
                    </a:lnTo>
                    <a:lnTo>
                      <a:pt x="9427" y="19946"/>
                    </a:lnTo>
                    <a:lnTo>
                      <a:pt x="9682" y="19946"/>
                    </a:lnTo>
                    <a:lnTo>
                      <a:pt x="9936" y="19946"/>
                    </a:lnTo>
                    <a:lnTo>
                      <a:pt x="10064" y="19892"/>
                    </a:lnTo>
                    <a:lnTo>
                      <a:pt x="10318" y="19892"/>
                    </a:lnTo>
                    <a:lnTo>
                      <a:pt x="10573" y="19677"/>
                    </a:lnTo>
                    <a:lnTo>
                      <a:pt x="10701" y="19515"/>
                    </a:lnTo>
                    <a:lnTo>
                      <a:pt x="10955" y="19353"/>
                    </a:lnTo>
                    <a:lnTo>
                      <a:pt x="11338" y="19137"/>
                    </a:lnTo>
                    <a:lnTo>
                      <a:pt x="11465" y="18868"/>
                    </a:lnTo>
                    <a:lnTo>
                      <a:pt x="11720" y="18544"/>
                    </a:lnTo>
                    <a:lnTo>
                      <a:pt x="11975" y="18275"/>
                    </a:lnTo>
                    <a:lnTo>
                      <a:pt x="12102" y="17844"/>
                    </a:lnTo>
                    <a:lnTo>
                      <a:pt x="12484" y="17466"/>
                    </a:lnTo>
                    <a:lnTo>
                      <a:pt x="12739" y="17197"/>
                    </a:lnTo>
                    <a:lnTo>
                      <a:pt x="12866" y="16765"/>
                    </a:lnTo>
                    <a:lnTo>
                      <a:pt x="13248" y="16280"/>
                    </a:lnTo>
                    <a:lnTo>
                      <a:pt x="13376" y="15849"/>
                    </a:lnTo>
                    <a:lnTo>
                      <a:pt x="13758" y="15364"/>
                    </a:lnTo>
                    <a:lnTo>
                      <a:pt x="13885" y="14879"/>
                    </a:lnTo>
                    <a:lnTo>
                      <a:pt x="14140" y="14340"/>
                    </a:lnTo>
                    <a:lnTo>
                      <a:pt x="14395" y="13801"/>
                    </a:lnTo>
                    <a:lnTo>
                      <a:pt x="14777" y="13315"/>
                    </a:lnTo>
                    <a:lnTo>
                      <a:pt x="14904" y="12776"/>
                    </a:lnTo>
                    <a:lnTo>
                      <a:pt x="15159" y="12237"/>
                    </a:lnTo>
                    <a:lnTo>
                      <a:pt x="15414" y="11644"/>
                    </a:lnTo>
                    <a:lnTo>
                      <a:pt x="15669" y="11105"/>
                    </a:lnTo>
                    <a:lnTo>
                      <a:pt x="15924" y="10566"/>
                    </a:lnTo>
                    <a:lnTo>
                      <a:pt x="16051" y="10027"/>
                    </a:lnTo>
                    <a:lnTo>
                      <a:pt x="16306" y="9488"/>
                    </a:lnTo>
                    <a:lnTo>
                      <a:pt x="16561" y="8895"/>
                    </a:lnTo>
                    <a:lnTo>
                      <a:pt x="16815" y="8356"/>
                    </a:lnTo>
                    <a:lnTo>
                      <a:pt x="17070" y="7763"/>
                    </a:lnTo>
                    <a:lnTo>
                      <a:pt x="17197" y="7278"/>
                    </a:lnTo>
                    <a:lnTo>
                      <a:pt x="17325" y="6792"/>
                    </a:lnTo>
                    <a:lnTo>
                      <a:pt x="17707" y="6253"/>
                    </a:lnTo>
                    <a:lnTo>
                      <a:pt x="17834" y="5714"/>
                    </a:lnTo>
                    <a:lnTo>
                      <a:pt x="18217" y="5229"/>
                    </a:lnTo>
                    <a:lnTo>
                      <a:pt x="18344" y="4744"/>
                    </a:lnTo>
                    <a:lnTo>
                      <a:pt x="18344" y="4313"/>
                    </a:lnTo>
                    <a:lnTo>
                      <a:pt x="18726" y="3881"/>
                    </a:lnTo>
                    <a:lnTo>
                      <a:pt x="18854" y="3396"/>
                    </a:lnTo>
                    <a:lnTo>
                      <a:pt x="19108" y="3019"/>
                    </a:lnTo>
                    <a:lnTo>
                      <a:pt x="19236" y="2588"/>
                    </a:lnTo>
                    <a:lnTo>
                      <a:pt x="19363" y="2210"/>
                    </a:lnTo>
                    <a:lnTo>
                      <a:pt x="19490" y="1887"/>
                    </a:lnTo>
                    <a:lnTo>
                      <a:pt x="19490" y="1671"/>
                    </a:lnTo>
                    <a:lnTo>
                      <a:pt x="19745" y="1348"/>
                    </a:lnTo>
                    <a:lnTo>
                      <a:pt x="19745" y="1024"/>
                    </a:lnTo>
                    <a:lnTo>
                      <a:pt x="19873" y="863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55" name="AutoShape 97">
                <a:extLst>
                  <a:ext uri="{FF2B5EF4-FFF2-40B4-BE49-F238E27FC236}">
                    <a16:creationId xmlns:a16="http://schemas.microsoft.com/office/drawing/2014/main" id="{ED5137F1-2B69-6135-4DB8-5DB8C0DF9A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6" y="563"/>
                <a:ext cx="87" cy="14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088"/>
                    </a:moveTo>
                    <a:lnTo>
                      <a:pt x="272" y="18499"/>
                    </a:lnTo>
                    <a:lnTo>
                      <a:pt x="544" y="17909"/>
                    </a:lnTo>
                    <a:lnTo>
                      <a:pt x="680" y="17265"/>
                    </a:lnTo>
                    <a:lnTo>
                      <a:pt x="816" y="16676"/>
                    </a:lnTo>
                    <a:lnTo>
                      <a:pt x="1088" y="16086"/>
                    </a:lnTo>
                    <a:lnTo>
                      <a:pt x="1361" y="15496"/>
                    </a:lnTo>
                    <a:lnTo>
                      <a:pt x="1633" y="14906"/>
                    </a:lnTo>
                    <a:lnTo>
                      <a:pt x="1769" y="14316"/>
                    </a:lnTo>
                    <a:lnTo>
                      <a:pt x="1905" y="13673"/>
                    </a:lnTo>
                    <a:lnTo>
                      <a:pt x="2177" y="13137"/>
                    </a:lnTo>
                    <a:lnTo>
                      <a:pt x="2449" y="12601"/>
                    </a:lnTo>
                    <a:lnTo>
                      <a:pt x="2721" y="12064"/>
                    </a:lnTo>
                    <a:lnTo>
                      <a:pt x="2993" y="11421"/>
                    </a:lnTo>
                    <a:lnTo>
                      <a:pt x="2993" y="10885"/>
                    </a:lnTo>
                    <a:lnTo>
                      <a:pt x="3265" y="10349"/>
                    </a:lnTo>
                    <a:lnTo>
                      <a:pt x="3537" y="9812"/>
                    </a:lnTo>
                    <a:lnTo>
                      <a:pt x="3810" y="9276"/>
                    </a:lnTo>
                    <a:lnTo>
                      <a:pt x="4082" y="8794"/>
                    </a:lnTo>
                    <a:lnTo>
                      <a:pt x="4218" y="8257"/>
                    </a:lnTo>
                    <a:lnTo>
                      <a:pt x="4354" y="7721"/>
                    </a:lnTo>
                    <a:lnTo>
                      <a:pt x="4762" y="7239"/>
                    </a:lnTo>
                    <a:lnTo>
                      <a:pt x="4898" y="6756"/>
                    </a:lnTo>
                    <a:lnTo>
                      <a:pt x="5170" y="6327"/>
                    </a:lnTo>
                    <a:lnTo>
                      <a:pt x="5306" y="5898"/>
                    </a:lnTo>
                    <a:lnTo>
                      <a:pt x="5442" y="5469"/>
                    </a:lnTo>
                    <a:lnTo>
                      <a:pt x="5850" y="4987"/>
                    </a:lnTo>
                    <a:lnTo>
                      <a:pt x="5850" y="4558"/>
                    </a:lnTo>
                    <a:lnTo>
                      <a:pt x="6259" y="4129"/>
                    </a:lnTo>
                    <a:lnTo>
                      <a:pt x="6531" y="3753"/>
                    </a:lnTo>
                    <a:lnTo>
                      <a:pt x="6531" y="3432"/>
                    </a:lnTo>
                    <a:lnTo>
                      <a:pt x="6939" y="3003"/>
                    </a:lnTo>
                    <a:lnTo>
                      <a:pt x="7075" y="2735"/>
                    </a:lnTo>
                    <a:lnTo>
                      <a:pt x="7347" y="2413"/>
                    </a:lnTo>
                    <a:lnTo>
                      <a:pt x="7483" y="2091"/>
                    </a:lnTo>
                    <a:lnTo>
                      <a:pt x="7619" y="1823"/>
                    </a:lnTo>
                    <a:lnTo>
                      <a:pt x="7891" y="1609"/>
                    </a:lnTo>
                    <a:lnTo>
                      <a:pt x="8163" y="1287"/>
                    </a:lnTo>
                    <a:lnTo>
                      <a:pt x="8435" y="1019"/>
                    </a:lnTo>
                    <a:lnTo>
                      <a:pt x="8571" y="858"/>
                    </a:lnTo>
                    <a:lnTo>
                      <a:pt x="8844" y="643"/>
                    </a:lnTo>
                    <a:lnTo>
                      <a:pt x="8980" y="483"/>
                    </a:lnTo>
                    <a:lnTo>
                      <a:pt x="9116" y="375"/>
                    </a:lnTo>
                    <a:lnTo>
                      <a:pt x="9524" y="268"/>
                    </a:lnTo>
                    <a:lnTo>
                      <a:pt x="9524" y="107"/>
                    </a:lnTo>
                    <a:lnTo>
                      <a:pt x="9932" y="107"/>
                    </a:lnTo>
                    <a:lnTo>
                      <a:pt x="10068" y="54"/>
                    </a:lnTo>
                    <a:lnTo>
                      <a:pt x="10204" y="0"/>
                    </a:lnTo>
                    <a:lnTo>
                      <a:pt x="10476" y="54"/>
                    </a:lnTo>
                    <a:lnTo>
                      <a:pt x="10748" y="54"/>
                    </a:lnTo>
                    <a:lnTo>
                      <a:pt x="10884" y="107"/>
                    </a:lnTo>
                    <a:lnTo>
                      <a:pt x="11156" y="214"/>
                    </a:lnTo>
                    <a:lnTo>
                      <a:pt x="11293" y="322"/>
                    </a:lnTo>
                    <a:lnTo>
                      <a:pt x="11565" y="536"/>
                    </a:lnTo>
                    <a:lnTo>
                      <a:pt x="11837" y="751"/>
                    </a:lnTo>
                    <a:lnTo>
                      <a:pt x="12109" y="1019"/>
                    </a:lnTo>
                    <a:lnTo>
                      <a:pt x="12245" y="1233"/>
                    </a:lnTo>
                    <a:lnTo>
                      <a:pt x="12381" y="1609"/>
                    </a:lnTo>
                    <a:lnTo>
                      <a:pt x="12653" y="1877"/>
                    </a:lnTo>
                    <a:lnTo>
                      <a:pt x="12925" y="2306"/>
                    </a:lnTo>
                    <a:lnTo>
                      <a:pt x="13061" y="2735"/>
                    </a:lnTo>
                    <a:lnTo>
                      <a:pt x="13469" y="3110"/>
                    </a:lnTo>
                    <a:lnTo>
                      <a:pt x="13469" y="3539"/>
                    </a:lnTo>
                    <a:lnTo>
                      <a:pt x="13741" y="3968"/>
                    </a:lnTo>
                    <a:lnTo>
                      <a:pt x="14150" y="4450"/>
                    </a:lnTo>
                    <a:lnTo>
                      <a:pt x="14286" y="4987"/>
                    </a:lnTo>
                    <a:lnTo>
                      <a:pt x="14558" y="5469"/>
                    </a:lnTo>
                    <a:lnTo>
                      <a:pt x="14694" y="6005"/>
                    </a:lnTo>
                    <a:lnTo>
                      <a:pt x="14966" y="6542"/>
                    </a:lnTo>
                    <a:lnTo>
                      <a:pt x="15102" y="7024"/>
                    </a:lnTo>
                    <a:lnTo>
                      <a:pt x="15374" y="7614"/>
                    </a:lnTo>
                    <a:lnTo>
                      <a:pt x="15646" y="8150"/>
                    </a:lnTo>
                    <a:lnTo>
                      <a:pt x="15918" y="8794"/>
                    </a:lnTo>
                    <a:lnTo>
                      <a:pt x="16054" y="9330"/>
                    </a:lnTo>
                    <a:lnTo>
                      <a:pt x="16190" y="9866"/>
                    </a:lnTo>
                    <a:lnTo>
                      <a:pt x="16599" y="10456"/>
                    </a:lnTo>
                    <a:lnTo>
                      <a:pt x="16735" y="11046"/>
                    </a:lnTo>
                    <a:lnTo>
                      <a:pt x="17007" y="11635"/>
                    </a:lnTo>
                    <a:lnTo>
                      <a:pt x="17143" y="12172"/>
                    </a:lnTo>
                    <a:lnTo>
                      <a:pt x="17279" y="12761"/>
                    </a:lnTo>
                    <a:lnTo>
                      <a:pt x="17551" y="13298"/>
                    </a:lnTo>
                    <a:lnTo>
                      <a:pt x="17687" y="13834"/>
                    </a:lnTo>
                    <a:lnTo>
                      <a:pt x="17959" y="14370"/>
                    </a:lnTo>
                    <a:lnTo>
                      <a:pt x="18095" y="14960"/>
                    </a:lnTo>
                    <a:lnTo>
                      <a:pt x="18231" y="15442"/>
                    </a:lnTo>
                    <a:lnTo>
                      <a:pt x="18367" y="15871"/>
                    </a:lnTo>
                    <a:lnTo>
                      <a:pt x="18639" y="16461"/>
                    </a:lnTo>
                    <a:lnTo>
                      <a:pt x="18776" y="16836"/>
                    </a:lnTo>
                    <a:lnTo>
                      <a:pt x="19048" y="17265"/>
                    </a:lnTo>
                    <a:lnTo>
                      <a:pt x="19184" y="17748"/>
                    </a:lnTo>
                    <a:lnTo>
                      <a:pt x="19320" y="18177"/>
                    </a:lnTo>
                    <a:lnTo>
                      <a:pt x="19456" y="18552"/>
                    </a:lnTo>
                    <a:lnTo>
                      <a:pt x="19456" y="18874"/>
                    </a:lnTo>
                    <a:lnTo>
                      <a:pt x="19592" y="19196"/>
                    </a:lnTo>
                    <a:lnTo>
                      <a:pt x="19728" y="19517"/>
                    </a:lnTo>
                    <a:lnTo>
                      <a:pt x="19864" y="19732"/>
                    </a:lnTo>
                    <a:lnTo>
                      <a:pt x="19864" y="19946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56" name="AutoShape 98">
                <a:extLst>
                  <a:ext uri="{FF2B5EF4-FFF2-40B4-BE49-F238E27FC236}">
                    <a16:creationId xmlns:a16="http://schemas.microsoft.com/office/drawing/2014/main" id="{8DAEB9D9-369A-2A79-A7C9-D3154FED4B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2" y="698"/>
                <a:ext cx="94" cy="134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55" y="611"/>
                    </a:lnTo>
                    <a:lnTo>
                      <a:pt x="382" y="1278"/>
                    </a:lnTo>
                    <a:lnTo>
                      <a:pt x="510" y="1889"/>
                    </a:lnTo>
                    <a:lnTo>
                      <a:pt x="764" y="2500"/>
                    </a:lnTo>
                    <a:lnTo>
                      <a:pt x="892" y="3111"/>
                    </a:lnTo>
                    <a:lnTo>
                      <a:pt x="1274" y="3722"/>
                    </a:lnTo>
                    <a:lnTo>
                      <a:pt x="1401" y="4333"/>
                    </a:lnTo>
                    <a:lnTo>
                      <a:pt x="1656" y="4944"/>
                    </a:lnTo>
                    <a:lnTo>
                      <a:pt x="1656" y="5556"/>
                    </a:lnTo>
                    <a:lnTo>
                      <a:pt x="2038" y="6167"/>
                    </a:lnTo>
                    <a:lnTo>
                      <a:pt x="2166" y="6778"/>
                    </a:lnTo>
                    <a:lnTo>
                      <a:pt x="2420" y="7278"/>
                    </a:lnTo>
                    <a:lnTo>
                      <a:pt x="2675" y="7889"/>
                    </a:lnTo>
                    <a:lnTo>
                      <a:pt x="2803" y="8444"/>
                    </a:lnTo>
                    <a:lnTo>
                      <a:pt x="2930" y="9000"/>
                    </a:lnTo>
                    <a:lnTo>
                      <a:pt x="3185" y="9611"/>
                    </a:lnTo>
                    <a:lnTo>
                      <a:pt x="3312" y="10167"/>
                    </a:lnTo>
                    <a:lnTo>
                      <a:pt x="3567" y="10667"/>
                    </a:lnTo>
                    <a:lnTo>
                      <a:pt x="3822" y="11167"/>
                    </a:lnTo>
                    <a:lnTo>
                      <a:pt x="3949" y="11722"/>
                    </a:lnTo>
                    <a:lnTo>
                      <a:pt x="4076" y="12167"/>
                    </a:lnTo>
                    <a:lnTo>
                      <a:pt x="4331" y="12722"/>
                    </a:lnTo>
                    <a:lnTo>
                      <a:pt x="4586" y="13222"/>
                    </a:lnTo>
                    <a:lnTo>
                      <a:pt x="4713" y="13667"/>
                    </a:lnTo>
                    <a:lnTo>
                      <a:pt x="4968" y="14111"/>
                    </a:lnTo>
                    <a:lnTo>
                      <a:pt x="5096" y="14556"/>
                    </a:lnTo>
                    <a:lnTo>
                      <a:pt x="5350" y="15056"/>
                    </a:lnTo>
                    <a:lnTo>
                      <a:pt x="5605" y="15444"/>
                    </a:lnTo>
                    <a:lnTo>
                      <a:pt x="5732" y="15833"/>
                    </a:lnTo>
                    <a:lnTo>
                      <a:pt x="6115" y="16222"/>
                    </a:lnTo>
                    <a:lnTo>
                      <a:pt x="6115" y="16611"/>
                    </a:lnTo>
                    <a:lnTo>
                      <a:pt x="6369" y="16944"/>
                    </a:lnTo>
                    <a:lnTo>
                      <a:pt x="6624" y="17333"/>
                    </a:lnTo>
                    <a:lnTo>
                      <a:pt x="6752" y="17611"/>
                    </a:lnTo>
                    <a:lnTo>
                      <a:pt x="7006" y="17944"/>
                    </a:lnTo>
                    <a:lnTo>
                      <a:pt x="7261" y="18167"/>
                    </a:lnTo>
                    <a:lnTo>
                      <a:pt x="7389" y="18500"/>
                    </a:lnTo>
                    <a:lnTo>
                      <a:pt x="7516" y="18722"/>
                    </a:lnTo>
                    <a:lnTo>
                      <a:pt x="7898" y="18944"/>
                    </a:lnTo>
                    <a:lnTo>
                      <a:pt x="8025" y="19167"/>
                    </a:lnTo>
                    <a:lnTo>
                      <a:pt x="8280" y="19333"/>
                    </a:lnTo>
                    <a:lnTo>
                      <a:pt x="8408" y="19500"/>
                    </a:lnTo>
                    <a:lnTo>
                      <a:pt x="8535" y="19667"/>
                    </a:lnTo>
                    <a:lnTo>
                      <a:pt x="8917" y="19722"/>
                    </a:lnTo>
                    <a:lnTo>
                      <a:pt x="9045" y="19889"/>
                    </a:lnTo>
                    <a:lnTo>
                      <a:pt x="9299" y="19889"/>
                    </a:lnTo>
                    <a:lnTo>
                      <a:pt x="9427" y="19944"/>
                    </a:lnTo>
                    <a:lnTo>
                      <a:pt x="9682" y="19944"/>
                    </a:lnTo>
                    <a:lnTo>
                      <a:pt x="9936" y="19944"/>
                    </a:lnTo>
                    <a:lnTo>
                      <a:pt x="10064" y="19889"/>
                    </a:lnTo>
                    <a:lnTo>
                      <a:pt x="10318" y="19889"/>
                    </a:lnTo>
                    <a:lnTo>
                      <a:pt x="10573" y="19722"/>
                    </a:lnTo>
                    <a:lnTo>
                      <a:pt x="10701" y="19500"/>
                    </a:lnTo>
                    <a:lnTo>
                      <a:pt x="10955" y="19333"/>
                    </a:lnTo>
                    <a:lnTo>
                      <a:pt x="11338" y="19111"/>
                    </a:lnTo>
                    <a:lnTo>
                      <a:pt x="11465" y="18833"/>
                    </a:lnTo>
                    <a:lnTo>
                      <a:pt x="11720" y="18500"/>
                    </a:lnTo>
                    <a:lnTo>
                      <a:pt x="11975" y="18278"/>
                    </a:lnTo>
                    <a:lnTo>
                      <a:pt x="12102" y="17944"/>
                    </a:lnTo>
                    <a:lnTo>
                      <a:pt x="12484" y="17556"/>
                    </a:lnTo>
                    <a:lnTo>
                      <a:pt x="12739" y="17111"/>
                    </a:lnTo>
                    <a:lnTo>
                      <a:pt x="12866" y="16722"/>
                    </a:lnTo>
                    <a:lnTo>
                      <a:pt x="13248" y="16278"/>
                    </a:lnTo>
                    <a:lnTo>
                      <a:pt x="13376" y="15778"/>
                    </a:lnTo>
                    <a:lnTo>
                      <a:pt x="13758" y="15333"/>
                    </a:lnTo>
                    <a:lnTo>
                      <a:pt x="13885" y="14833"/>
                    </a:lnTo>
                    <a:lnTo>
                      <a:pt x="14140" y="14389"/>
                    </a:lnTo>
                    <a:lnTo>
                      <a:pt x="14395" y="13833"/>
                    </a:lnTo>
                    <a:lnTo>
                      <a:pt x="14777" y="13333"/>
                    </a:lnTo>
                    <a:lnTo>
                      <a:pt x="14904" y="12778"/>
                    </a:lnTo>
                    <a:lnTo>
                      <a:pt x="15159" y="12167"/>
                    </a:lnTo>
                    <a:lnTo>
                      <a:pt x="15414" y="11611"/>
                    </a:lnTo>
                    <a:lnTo>
                      <a:pt x="15669" y="11111"/>
                    </a:lnTo>
                    <a:lnTo>
                      <a:pt x="15924" y="10556"/>
                    </a:lnTo>
                    <a:lnTo>
                      <a:pt x="16051" y="10000"/>
                    </a:lnTo>
                    <a:lnTo>
                      <a:pt x="16306" y="9444"/>
                    </a:lnTo>
                    <a:lnTo>
                      <a:pt x="16561" y="8944"/>
                    </a:lnTo>
                    <a:lnTo>
                      <a:pt x="16815" y="8389"/>
                    </a:lnTo>
                    <a:lnTo>
                      <a:pt x="17070" y="7833"/>
                    </a:lnTo>
                    <a:lnTo>
                      <a:pt x="17197" y="7278"/>
                    </a:lnTo>
                    <a:lnTo>
                      <a:pt x="17325" y="6778"/>
                    </a:lnTo>
                    <a:lnTo>
                      <a:pt x="17707" y="6222"/>
                    </a:lnTo>
                    <a:lnTo>
                      <a:pt x="17834" y="5722"/>
                    </a:lnTo>
                    <a:lnTo>
                      <a:pt x="18217" y="5222"/>
                    </a:lnTo>
                    <a:lnTo>
                      <a:pt x="18344" y="4722"/>
                    </a:lnTo>
                    <a:lnTo>
                      <a:pt x="18344" y="4278"/>
                    </a:lnTo>
                    <a:lnTo>
                      <a:pt x="18726" y="3833"/>
                    </a:lnTo>
                    <a:lnTo>
                      <a:pt x="18854" y="3389"/>
                    </a:lnTo>
                    <a:lnTo>
                      <a:pt x="19108" y="3000"/>
                    </a:lnTo>
                    <a:lnTo>
                      <a:pt x="19236" y="2611"/>
                    </a:lnTo>
                    <a:lnTo>
                      <a:pt x="19363" y="2278"/>
                    </a:lnTo>
                    <a:lnTo>
                      <a:pt x="19490" y="1889"/>
                    </a:lnTo>
                    <a:lnTo>
                      <a:pt x="19490" y="1611"/>
                    </a:lnTo>
                    <a:lnTo>
                      <a:pt x="19745" y="1333"/>
                    </a:lnTo>
                    <a:lnTo>
                      <a:pt x="19745" y="1056"/>
                    </a:lnTo>
                    <a:lnTo>
                      <a:pt x="19873" y="833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57" name="AutoShape 99">
                <a:extLst>
                  <a:ext uri="{FF2B5EF4-FFF2-40B4-BE49-F238E27FC236}">
                    <a16:creationId xmlns:a16="http://schemas.microsoft.com/office/drawing/2014/main" id="{1D286601-F1C4-188C-9231-F59F9739B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4" y="561"/>
                <a:ext cx="88" cy="144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063"/>
                    </a:moveTo>
                    <a:lnTo>
                      <a:pt x="272" y="18490"/>
                    </a:lnTo>
                    <a:lnTo>
                      <a:pt x="544" y="17865"/>
                    </a:lnTo>
                    <a:lnTo>
                      <a:pt x="680" y="17292"/>
                    </a:lnTo>
                    <a:lnTo>
                      <a:pt x="816" y="16667"/>
                    </a:lnTo>
                    <a:lnTo>
                      <a:pt x="1088" y="16042"/>
                    </a:lnTo>
                    <a:lnTo>
                      <a:pt x="1361" y="15469"/>
                    </a:lnTo>
                    <a:lnTo>
                      <a:pt x="1633" y="14896"/>
                    </a:lnTo>
                    <a:lnTo>
                      <a:pt x="1769" y="14271"/>
                    </a:lnTo>
                    <a:lnTo>
                      <a:pt x="1905" y="13698"/>
                    </a:lnTo>
                    <a:lnTo>
                      <a:pt x="2177" y="13177"/>
                    </a:lnTo>
                    <a:lnTo>
                      <a:pt x="2449" y="12552"/>
                    </a:lnTo>
                    <a:lnTo>
                      <a:pt x="2721" y="12031"/>
                    </a:lnTo>
                    <a:lnTo>
                      <a:pt x="2993" y="11458"/>
                    </a:lnTo>
                    <a:lnTo>
                      <a:pt x="2993" y="10885"/>
                    </a:lnTo>
                    <a:lnTo>
                      <a:pt x="3265" y="10313"/>
                    </a:lnTo>
                    <a:lnTo>
                      <a:pt x="3537" y="9792"/>
                    </a:lnTo>
                    <a:lnTo>
                      <a:pt x="3810" y="9271"/>
                    </a:lnTo>
                    <a:lnTo>
                      <a:pt x="4082" y="8750"/>
                    </a:lnTo>
                    <a:lnTo>
                      <a:pt x="4218" y="8229"/>
                    </a:lnTo>
                    <a:lnTo>
                      <a:pt x="4354" y="7708"/>
                    </a:lnTo>
                    <a:lnTo>
                      <a:pt x="4762" y="7292"/>
                    </a:lnTo>
                    <a:lnTo>
                      <a:pt x="4898" y="6771"/>
                    </a:lnTo>
                    <a:lnTo>
                      <a:pt x="5170" y="6354"/>
                    </a:lnTo>
                    <a:lnTo>
                      <a:pt x="5306" y="5885"/>
                    </a:lnTo>
                    <a:lnTo>
                      <a:pt x="5442" y="5469"/>
                    </a:lnTo>
                    <a:lnTo>
                      <a:pt x="5850" y="5000"/>
                    </a:lnTo>
                    <a:lnTo>
                      <a:pt x="5850" y="4531"/>
                    </a:lnTo>
                    <a:lnTo>
                      <a:pt x="6259" y="4167"/>
                    </a:lnTo>
                    <a:lnTo>
                      <a:pt x="6531" y="3802"/>
                    </a:lnTo>
                    <a:lnTo>
                      <a:pt x="6531" y="3438"/>
                    </a:lnTo>
                    <a:lnTo>
                      <a:pt x="6939" y="3073"/>
                    </a:lnTo>
                    <a:lnTo>
                      <a:pt x="7075" y="2708"/>
                    </a:lnTo>
                    <a:lnTo>
                      <a:pt x="7347" y="2448"/>
                    </a:lnTo>
                    <a:lnTo>
                      <a:pt x="7483" y="2083"/>
                    </a:lnTo>
                    <a:lnTo>
                      <a:pt x="7619" y="1823"/>
                    </a:lnTo>
                    <a:lnTo>
                      <a:pt x="7891" y="1563"/>
                    </a:lnTo>
                    <a:lnTo>
                      <a:pt x="8163" y="1302"/>
                    </a:lnTo>
                    <a:lnTo>
                      <a:pt x="8435" y="1042"/>
                    </a:lnTo>
                    <a:lnTo>
                      <a:pt x="8571" y="833"/>
                    </a:lnTo>
                    <a:lnTo>
                      <a:pt x="8844" y="677"/>
                    </a:lnTo>
                    <a:lnTo>
                      <a:pt x="8980" y="521"/>
                    </a:lnTo>
                    <a:lnTo>
                      <a:pt x="9116" y="365"/>
                    </a:lnTo>
                    <a:lnTo>
                      <a:pt x="9524" y="260"/>
                    </a:lnTo>
                    <a:lnTo>
                      <a:pt x="9524" y="104"/>
                    </a:lnTo>
                    <a:lnTo>
                      <a:pt x="9932" y="104"/>
                    </a:lnTo>
                    <a:lnTo>
                      <a:pt x="10068" y="52"/>
                    </a:lnTo>
                    <a:lnTo>
                      <a:pt x="10204" y="0"/>
                    </a:lnTo>
                    <a:lnTo>
                      <a:pt x="10476" y="52"/>
                    </a:lnTo>
                    <a:lnTo>
                      <a:pt x="10748" y="52"/>
                    </a:lnTo>
                    <a:lnTo>
                      <a:pt x="10884" y="104"/>
                    </a:lnTo>
                    <a:lnTo>
                      <a:pt x="11156" y="208"/>
                    </a:lnTo>
                    <a:lnTo>
                      <a:pt x="11293" y="313"/>
                    </a:lnTo>
                    <a:lnTo>
                      <a:pt x="11565" y="521"/>
                    </a:lnTo>
                    <a:lnTo>
                      <a:pt x="11837" y="781"/>
                    </a:lnTo>
                    <a:lnTo>
                      <a:pt x="12109" y="990"/>
                    </a:lnTo>
                    <a:lnTo>
                      <a:pt x="12245" y="1250"/>
                    </a:lnTo>
                    <a:lnTo>
                      <a:pt x="12381" y="1563"/>
                    </a:lnTo>
                    <a:lnTo>
                      <a:pt x="12653" y="1875"/>
                    </a:lnTo>
                    <a:lnTo>
                      <a:pt x="12925" y="2292"/>
                    </a:lnTo>
                    <a:lnTo>
                      <a:pt x="13061" y="2708"/>
                    </a:lnTo>
                    <a:lnTo>
                      <a:pt x="13469" y="3125"/>
                    </a:lnTo>
                    <a:lnTo>
                      <a:pt x="13469" y="3542"/>
                    </a:lnTo>
                    <a:lnTo>
                      <a:pt x="13741" y="4010"/>
                    </a:lnTo>
                    <a:lnTo>
                      <a:pt x="14150" y="4427"/>
                    </a:lnTo>
                    <a:lnTo>
                      <a:pt x="14286" y="4948"/>
                    </a:lnTo>
                    <a:lnTo>
                      <a:pt x="14558" y="5469"/>
                    </a:lnTo>
                    <a:lnTo>
                      <a:pt x="14694" y="5990"/>
                    </a:lnTo>
                    <a:lnTo>
                      <a:pt x="14966" y="6510"/>
                    </a:lnTo>
                    <a:lnTo>
                      <a:pt x="15102" y="7083"/>
                    </a:lnTo>
                    <a:lnTo>
                      <a:pt x="15374" y="7656"/>
                    </a:lnTo>
                    <a:lnTo>
                      <a:pt x="15646" y="8177"/>
                    </a:lnTo>
                    <a:lnTo>
                      <a:pt x="15918" y="8802"/>
                    </a:lnTo>
                    <a:lnTo>
                      <a:pt x="16054" y="9375"/>
                    </a:lnTo>
                    <a:lnTo>
                      <a:pt x="16190" y="9896"/>
                    </a:lnTo>
                    <a:lnTo>
                      <a:pt x="16599" y="10469"/>
                    </a:lnTo>
                    <a:lnTo>
                      <a:pt x="16735" y="10990"/>
                    </a:lnTo>
                    <a:lnTo>
                      <a:pt x="17007" y="11615"/>
                    </a:lnTo>
                    <a:lnTo>
                      <a:pt x="17143" y="12135"/>
                    </a:lnTo>
                    <a:lnTo>
                      <a:pt x="17279" y="12708"/>
                    </a:lnTo>
                    <a:lnTo>
                      <a:pt x="17551" y="13281"/>
                    </a:lnTo>
                    <a:lnTo>
                      <a:pt x="17687" y="13854"/>
                    </a:lnTo>
                    <a:lnTo>
                      <a:pt x="17959" y="14375"/>
                    </a:lnTo>
                    <a:lnTo>
                      <a:pt x="18095" y="14948"/>
                    </a:lnTo>
                    <a:lnTo>
                      <a:pt x="18231" y="15469"/>
                    </a:lnTo>
                    <a:lnTo>
                      <a:pt x="18367" y="15938"/>
                    </a:lnTo>
                    <a:lnTo>
                      <a:pt x="18639" y="16406"/>
                    </a:lnTo>
                    <a:lnTo>
                      <a:pt x="18776" y="16875"/>
                    </a:lnTo>
                    <a:lnTo>
                      <a:pt x="19048" y="17292"/>
                    </a:lnTo>
                    <a:lnTo>
                      <a:pt x="19184" y="17708"/>
                    </a:lnTo>
                    <a:lnTo>
                      <a:pt x="19320" y="18177"/>
                    </a:lnTo>
                    <a:lnTo>
                      <a:pt x="19456" y="18542"/>
                    </a:lnTo>
                    <a:lnTo>
                      <a:pt x="19456" y="18906"/>
                    </a:lnTo>
                    <a:lnTo>
                      <a:pt x="19592" y="19167"/>
                    </a:lnTo>
                    <a:lnTo>
                      <a:pt x="19728" y="19479"/>
                    </a:lnTo>
                    <a:lnTo>
                      <a:pt x="19864" y="19740"/>
                    </a:lnTo>
                    <a:lnTo>
                      <a:pt x="19864" y="19948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58" name="AutoShape 100">
                <a:extLst>
                  <a:ext uri="{FF2B5EF4-FFF2-40B4-BE49-F238E27FC236}">
                    <a16:creationId xmlns:a16="http://schemas.microsoft.com/office/drawing/2014/main" id="{7ED288A9-3D15-7F09-39DF-70589E648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7" y="691"/>
                <a:ext cx="93" cy="13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55" y="647"/>
                    </a:lnTo>
                    <a:lnTo>
                      <a:pt x="382" y="1240"/>
                    </a:lnTo>
                    <a:lnTo>
                      <a:pt x="510" y="1887"/>
                    </a:lnTo>
                    <a:lnTo>
                      <a:pt x="764" y="2534"/>
                    </a:lnTo>
                    <a:lnTo>
                      <a:pt x="892" y="3127"/>
                    </a:lnTo>
                    <a:lnTo>
                      <a:pt x="1274" y="3720"/>
                    </a:lnTo>
                    <a:lnTo>
                      <a:pt x="1401" y="4367"/>
                    </a:lnTo>
                    <a:lnTo>
                      <a:pt x="1656" y="4960"/>
                    </a:lnTo>
                    <a:lnTo>
                      <a:pt x="1656" y="5553"/>
                    </a:lnTo>
                    <a:lnTo>
                      <a:pt x="2038" y="6146"/>
                    </a:lnTo>
                    <a:lnTo>
                      <a:pt x="2166" y="6739"/>
                    </a:lnTo>
                    <a:lnTo>
                      <a:pt x="2420" y="7278"/>
                    </a:lnTo>
                    <a:lnTo>
                      <a:pt x="2675" y="7925"/>
                    </a:lnTo>
                    <a:lnTo>
                      <a:pt x="2803" y="8464"/>
                    </a:lnTo>
                    <a:lnTo>
                      <a:pt x="2930" y="9003"/>
                    </a:lnTo>
                    <a:lnTo>
                      <a:pt x="3185" y="9596"/>
                    </a:lnTo>
                    <a:lnTo>
                      <a:pt x="3312" y="10135"/>
                    </a:lnTo>
                    <a:lnTo>
                      <a:pt x="3567" y="10674"/>
                    </a:lnTo>
                    <a:lnTo>
                      <a:pt x="3822" y="11213"/>
                    </a:lnTo>
                    <a:lnTo>
                      <a:pt x="3949" y="11698"/>
                    </a:lnTo>
                    <a:lnTo>
                      <a:pt x="4076" y="12237"/>
                    </a:lnTo>
                    <a:lnTo>
                      <a:pt x="4331" y="12722"/>
                    </a:lnTo>
                    <a:lnTo>
                      <a:pt x="4586" y="13154"/>
                    </a:lnTo>
                    <a:lnTo>
                      <a:pt x="4713" y="13693"/>
                    </a:lnTo>
                    <a:lnTo>
                      <a:pt x="4968" y="14124"/>
                    </a:lnTo>
                    <a:lnTo>
                      <a:pt x="5096" y="14555"/>
                    </a:lnTo>
                    <a:lnTo>
                      <a:pt x="5350" y="14987"/>
                    </a:lnTo>
                    <a:lnTo>
                      <a:pt x="5605" y="15472"/>
                    </a:lnTo>
                    <a:lnTo>
                      <a:pt x="5732" y="15849"/>
                    </a:lnTo>
                    <a:lnTo>
                      <a:pt x="6115" y="16226"/>
                    </a:lnTo>
                    <a:lnTo>
                      <a:pt x="6115" y="16604"/>
                    </a:lnTo>
                    <a:lnTo>
                      <a:pt x="6369" y="16981"/>
                    </a:lnTo>
                    <a:lnTo>
                      <a:pt x="6624" y="17251"/>
                    </a:lnTo>
                    <a:lnTo>
                      <a:pt x="6752" y="17628"/>
                    </a:lnTo>
                    <a:lnTo>
                      <a:pt x="7006" y="17898"/>
                    </a:lnTo>
                    <a:lnTo>
                      <a:pt x="7261" y="18167"/>
                    </a:lnTo>
                    <a:lnTo>
                      <a:pt x="7389" y="18491"/>
                    </a:lnTo>
                    <a:lnTo>
                      <a:pt x="7516" y="18760"/>
                    </a:lnTo>
                    <a:lnTo>
                      <a:pt x="7898" y="18976"/>
                    </a:lnTo>
                    <a:lnTo>
                      <a:pt x="8025" y="19137"/>
                    </a:lnTo>
                    <a:lnTo>
                      <a:pt x="8280" y="19353"/>
                    </a:lnTo>
                    <a:lnTo>
                      <a:pt x="8408" y="19461"/>
                    </a:lnTo>
                    <a:lnTo>
                      <a:pt x="8535" y="19677"/>
                    </a:lnTo>
                    <a:lnTo>
                      <a:pt x="8917" y="19730"/>
                    </a:lnTo>
                    <a:lnTo>
                      <a:pt x="9045" y="19892"/>
                    </a:lnTo>
                    <a:lnTo>
                      <a:pt x="9299" y="19892"/>
                    </a:lnTo>
                    <a:lnTo>
                      <a:pt x="9427" y="19946"/>
                    </a:lnTo>
                    <a:lnTo>
                      <a:pt x="9682" y="19946"/>
                    </a:lnTo>
                    <a:lnTo>
                      <a:pt x="9936" y="19946"/>
                    </a:lnTo>
                    <a:lnTo>
                      <a:pt x="10064" y="19892"/>
                    </a:lnTo>
                    <a:lnTo>
                      <a:pt x="10318" y="19892"/>
                    </a:lnTo>
                    <a:lnTo>
                      <a:pt x="10573" y="19677"/>
                    </a:lnTo>
                    <a:lnTo>
                      <a:pt x="10701" y="19515"/>
                    </a:lnTo>
                    <a:lnTo>
                      <a:pt x="10955" y="19353"/>
                    </a:lnTo>
                    <a:lnTo>
                      <a:pt x="11338" y="19137"/>
                    </a:lnTo>
                    <a:lnTo>
                      <a:pt x="11465" y="18868"/>
                    </a:lnTo>
                    <a:lnTo>
                      <a:pt x="11720" y="18544"/>
                    </a:lnTo>
                    <a:lnTo>
                      <a:pt x="11975" y="18275"/>
                    </a:lnTo>
                    <a:lnTo>
                      <a:pt x="12102" y="17844"/>
                    </a:lnTo>
                    <a:lnTo>
                      <a:pt x="12484" y="17466"/>
                    </a:lnTo>
                    <a:lnTo>
                      <a:pt x="12739" y="17197"/>
                    </a:lnTo>
                    <a:lnTo>
                      <a:pt x="12866" y="16765"/>
                    </a:lnTo>
                    <a:lnTo>
                      <a:pt x="13248" y="16280"/>
                    </a:lnTo>
                    <a:lnTo>
                      <a:pt x="13376" y="15849"/>
                    </a:lnTo>
                    <a:lnTo>
                      <a:pt x="13758" y="15364"/>
                    </a:lnTo>
                    <a:lnTo>
                      <a:pt x="13885" y="14879"/>
                    </a:lnTo>
                    <a:lnTo>
                      <a:pt x="14140" y="14340"/>
                    </a:lnTo>
                    <a:lnTo>
                      <a:pt x="14395" y="13801"/>
                    </a:lnTo>
                    <a:lnTo>
                      <a:pt x="14777" y="13315"/>
                    </a:lnTo>
                    <a:lnTo>
                      <a:pt x="14904" y="12776"/>
                    </a:lnTo>
                    <a:lnTo>
                      <a:pt x="15159" y="12237"/>
                    </a:lnTo>
                    <a:lnTo>
                      <a:pt x="15414" y="11644"/>
                    </a:lnTo>
                    <a:lnTo>
                      <a:pt x="15669" y="11105"/>
                    </a:lnTo>
                    <a:lnTo>
                      <a:pt x="15924" y="10566"/>
                    </a:lnTo>
                    <a:lnTo>
                      <a:pt x="16051" y="10027"/>
                    </a:lnTo>
                    <a:lnTo>
                      <a:pt x="16306" y="9488"/>
                    </a:lnTo>
                    <a:lnTo>
                      <a:pt x="16561" y="8895"/>
                    </a:lnTo>
                    <a:lnTo>
                      <a:pt x="16815" y="8356"/>
                    </a:lnTo>
                    <a:lnTo>
                      <a:pt x="17070" y="7763"/>
                    </a:lnTo>
                    <a:lnTo>
                      <a:pt x="17197" y="7278"/>
                    </a:lnTo>
                    <a:lnTo>
                      <a:pt x="17325" y="6792"/>
                    </a:lnTo>
                    <a:lnTo>
                      <a:pt x="17707" y="6253"/>
                    </a:lnTo>
                    <a:lnTo>
                      <a:pt x="17834" y="5714"/>
                    </a:lnTo>
                    <a:lnTo>
                      <a:pt x="18217" y="5229"/>
                    </a:lnTo>
                    <a:lnTo>
                      <a:pt x="18344" y="4744"/>
                    </a:lnTo>
                    <a:lnTo>
                      <a:pt x="18344" y="4313"/>
                    </a:lnTo>
                    <a:lnTo>
                      <a:pt x="18726" y="3881"/>
                    </a:lnTo>
                    <a:lnTo>
                      <a:pt x="18854" y="3396"/>
                    </a:lnTo>
                    <a:lnTo>
                      <a:pt x="19108" y="3019"/>
                    </a:lnTo>
                    <a:lnTo>
                      <a:pt x="19236" y="2588"/>
                    </a:lnTo>
                    <a:lnTo>
                      <a:pt x="19363" y="2210"/>
                    </a:lnTo>
                    <a:lnTo>
                      <a:pt x="19490" y="1887"/>
                    </a:lnTo>
                    <a:lnTo>
                      <a:pt x="19490" y="1671"/>
                    </a:lnTo>
                    <a:lnTo>
                      <a:pt x="19745" y="1348"/>
                    </a:lnTo>
                    <a:lnTo>
                      <a:pt x="19745" y="1024"/>
                    </a:lnTo>
                    <a:lnTo>
                      <a:pt x="19873" y="863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59" name="AutoShape 101">
                <a:extLst>
                  <a:ext uri="{FF2B5EF4-FFF2-40B4-BE49-F238E27FC236}">
                    <a16:creationId xmlns:a16="http://schemas.microsoft.com/office/drawing/2014/main" id="{09891E23-D49E-207D-27C2-91B078AF8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2" y="563"/>
                <a:ext cx="87" cy="14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088"/>
                    </a:moveTo>
                    <a:lnTo>
                      <a:pt x="272" y="18499"/>
                    </a:lnTo>
                    <a:lnTo>
                      <a:pt x="544" y="17909"/>
                    </a:lnTo>
                    <a:lnTo>
                      <a:pt x="680" y="17265"/>
                    </a:lnTo>
                    <a:lnTo>
                      <a:pt x="816" y="16676"/>
                    </a:lnTo>
                    <a:lnTo>
                      <a:pt x="1088" y="16086"/>
                    </a:lnTo>
                    <a:lnTo>
                      <a:pt x="1361" y="15496"/>
                    </a:lnTo>
                    <a:lnTo>
                      <a:pt x="1633" y="14906"/>
                    </a:lnTo>
                    <a:lnTo>
                      <a:pt x="1769" y="14316"/>
                    </a:lnTo>
                    <a:lnTo>
                      <a:pt x="1905" y="13673"/>
                    </a:lnTo>
                    <a:lnTo>
                      <a:pt x="2177" y="13137"/>
                    </a:lnTo>
                    <a:lnTo>
                      <a:pt x="2449" y="12601"/>
                    </a:lnTo>
                    <a:lnTo>
                      <a:pt x="2721" y="12064"/>
                    </a:lnTo>
                    <a:lnTo>
                      <a:pt x="2993" y="11421"/>
                    </a:lnTo>
                    <a:lnTo>
                      <a:pt x="2993" y="10885"/>
                    </a:lnTo>
                    <a:lnTo>
                      <a:pt x="3265" y="10349"/>
                    </a:lnTo>
                    <a:lnTo>
                      <a:pt x="3537" y="9812"/>
                    </a:lnTo>
                    <a:lnTo>
                      <a:pt x="3810" y="9276"/>
                    </a:lnTo>
                    <a:lnTo>
                      <a:pt x="4082" y="8794"/>
                    </a:lnTo>
                    <a:lnTo>
                      <a:pt x="4218" y="8257"/>
                    </a:lnTo>
                    <a:lnTo>
                      <a:pt x="4354" y="7721"/>
                    </a:lnTo>
                    <a:lnTo>
                      <a:pt x="4762" y="7239"/>
                    </a:lnTo>
                    <a:lnTo>
                      <a:pt x="4898" y="6756"/>
                    </a:lnTo>
                    <a:lnTo>
                      <a:pt x="5170" y="6327"/>
                    </a:lnTo>
                    <a:lnTo>
                      <a:pt x="5306" y="5898"/>
                    </a:lnTo>
                    <a:lnTo>
                      <a:pt x="5442" y="5469"/>
                    </a:lnTo>
                    <a:lnTo>
                      <a:pt x="5850" y="4987"/>
                    </a:lnTo>
                    <a:lnTo>
                      <a:pt x="5850" y="4558"/>
                    </a:lnTo>
                    <a:lnTo>
                      <a:pt x="6259" y="4129"/>
                    </a:lnTo>
                    <a:lnTo>
                      <a:pt x="6531" y="3753"/>
                    </a:lnTo>
                    <a:lnTo>
                      <a:pt x="6531" y="3432"/>
                    </a:lnTo>
                    <a:lnTo>
                      <a:pt x="6939" y="3003"/>
                    </a:lnTo>
                    <a:lnTo>
                      <a:pt x="7075" y="2735"/>
                    </a:lnTo>
                    <a:lnTo>
                      <a:pt x="7347" y="2413"/>
                    </a:lnTo>
                    <a:lnTo>
                      <a:pt x="7483" y="2091"/>
                    </a:lnTo>
                    <a:lnTo>
                      <a:pt x="7619" y="1823"/>
                    </a:lnTo>
                    <a:lnTo>
                      <a:pt x="7891" y="1609"/>
                    </a:lnTo>
                    <a:lnTo>
                      <a:pt x="8163" y="1287"/>
                    </a:lnTo>
                    <a:lnTo>
                      <a:pt x="8435" y="1019"/>
                    </a:lnTo>
                    <a:lnTo>
                      <a:pt x="8571" y="858"/>
                    </a:lnTo>
                    <a:lnTo>
                      <a:pt x="8844" y="643"/>
                    </a:lnTo>
                    <a:lnTo>
                      <a:pt x="8980" y="483"/>
                    </a:lnTo>
                    <a:lnTo>
                      <a:pt x="9116" y="375"/>
                    </a:lnTo>
                    <a:lnTo>
                      <a:pt x="9524" y="268"/>
                    </a:lnTo>
                    <a:lnTo>
                      <a:pt x="9524" y="107"/>
                    </a:lnTo>
                    <a:lnTo>
                      <a:pt x="9932" y="107"/>
                    </a:lnTo>
                    <a:lnTo>
                      <a:pt x="10068" y="54"/>
                    </a:lnTo>
                    <a:lnTo>
                      <a:pt x="10204" y="0"/>
                    </a:lnTo>
                    <a:lnTo>
                      <a:pt x="10476" y="54"/>
                    </a:lnTo>
                    <a:lnTo>
                      <a:pt x="10748" y="54"/>
                    </a:lnTo>
                    <a:lnTo>
                      <a:pt x="10884" y="107"/>
                    </a:lnTo>
                    <a:lnTo>
                      <a:pt x="11156" y="214"/>
                    </a:lnTo>
                    <a:lnTo>
                      <a:pt x="11293" y="322"/>
                    </a:lnTo>
                    <a:lnTo>
                      <a:pt x="11565" y="536"/>
                    </a:lnTo>
                    <a:lnTo>
                      <a:pt x="11837" y="751"/>
                    </a:lnTo>
                    <a:lnTo>
                      <a:pt x="12109" y="1019"/>
                    </a:lnTo>
                    <a:lnTo>
                      <a:pt x="12245" y="1233"/>
                    </a:lnTo>
                    <a:lnTo>
                      <a:pt x="12381" y="1609"/>
                    </a:lnTo>
                    <a:lnTo>
                      <a:pt x="12653" y="1877"/>
                    </a:lnTo>
                    <a:lnTo>
                      <a:pt x="12925" y="2306"/>
                    </a:lnTo>
                    <a:lnTo>
                      <a:pt x="13061" y="2735"/>
                    </a:lnTo>
                    <a:lnTo>
                      <a:pt x="13469" y="3110"/>
                    </a:lnTo>
                    <a:lnTo>
                      <a:pt x="13469" y="3539"/>
                    </a:lnTo>
                    <a:lnTo>
                      <a:pt x="13741" y="3968"/>
                    </a:lnTo>
                    <a:lnTo>
                      <a:pt x="14150" y="4450"/>
                    </a:lnTo>
                    <a:lnTo>
                      <a:pt x="14286" y="4987"/>
                    </a:lnTo>
                    <a:lnTo>
                      <a:pt x="14558" y="5469"/>
                    </a:lnTo>
                    <a:lnTo>
                      <a:pt x="14694" y="6005"/>
                    </a:lnTo>
                    <a:lnTo>
                      <a:pt x="14966" y="6542"/>
                    </a:lnTo>
                    <a:lnTo>
                      <a:pt x="15102" y="7024"/>
                    </a:lnTo>
                    <a:lnTo>
                      <a:pt x="15374" y="7614"/>
                    </a:lnTo>
                    <a:lnTo>
                      <a:pt x="15646" y="8150"/>
                    </a:lnTo>
                    <a:lnTo>
                      <a:pt x="15918" y="8794"/>
                    </a:lnTo>
                    <a:lnTo>
                      <a:pt x="16054" y="9330"/>
                    </a:lnTo>
                    <a:lnTo>
                      <a:pt x="16190" y="9866"/>
                    </a:lnTo>
                    <a:lnTo>
                      <a:pt x="16599" y="10456"/>
                    </a:lnTo>
                    <a:lnTo>
                      <a:pt x="16735" y="11046"/>
                    </a:lnTo>
                    <a:lnTo>
                      <a:pt x="17007" y="11635"/>
                    </a:lnTo>
                    <a:lnTo>
                      <a:pt x="17143" y="12172"/>
                    </a:lnTo>
                    <a:lnTo>
                      <a:pt x="17279" y="12761"/>
                    </a:lnTo>
                    <a:lnTo>
                      <a:pt x="17551" y="13298"/>
                    </a:lnTo>
                    <a:lnTo>
                      <a:pt x="17687" y="13834"/>
                    </a:lnTo>
                    <a:lnTo>
                      <a:pt x="17959" y="14370"/>
                    </a:lnTo>
                    <a:lnTo>
                      <a:pt x="18095" y="14960"/>
                    </a:lnTo>
                    <a:lnTo>
                      <a:pt x="18231" y="15442"/>
                    </a:lnTo>
                    <a:lnTo>
                      <a:pt x="18367" y="15871"/>
                    </a:lnTo>
                    <a:lnTo>
                      <a:pt x="18639" y="16461"/>
                    </a:lnTo>
                    <a:lnTo>
                      <a:pt x="18776" y="16836"/>
                    </a:lnTo>
                    <a:lnTo>
                      <a:pt x="19048" y="17265"/>
                    </a:lnTo>
                    <a:lnTo>
                      <a:pt x="19184" y="17748"/>
                    </a:lnTo>
                    <a:lnTo>
                      <a:pt x="19320" y="18177"/>
                    </a:lnTo>
                    <a:lnTo>
                      <a:pt x="19456" y="18552"/>
                    </a:lnTo>
                    <a:lnTo>
                      <a:pt x="19456" y="18874"/>
                    </a:lnTo>
                    <a:lnTo>
                      <a:pt x="19592" y="19196"/>
                    </a:lnTo>
                    <a:lnTo>
                      <a:pt x="19728" y="19517"/>
                    </a:lnTo>
                    <a:lnTo>
                      <a:pt x="19864" y="19732"/>
                    </a:lnTo>
                    <a:lnTo>
                      <a:pt x="19864" y="19946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60" name="AutoShape 102">
                <a:extLst>
                  <a:ext uri="{FF2B5EF4-FFF2-40B4-BE49-F238E27FC236}">
                    <a16:creationId xmlns:a16="http://schemas.microsoft.com/office/drawing/2014/main" id="{B03BC0DC-5345-063E-BBF2-3DC44458B1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" y="697"/>
                <a:ext cx="93" cy="13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55" y="611"/>
                    </a:lnTo>
                    <a:lnTo>
                      <a:pt x="382" y="1278"/>
                    </a:lnTo>
                    <a:lnTo>
                      <a:pt x="510" y="1889"/>
                    </a:lnTo>
                    <a:lnTo>
                      <a:pt x="764" y="2500"/>
                    </a:lnTo>
                    <a:lnTo>
                      <a:pt x="892" y="3111"/>
                    </a:lnTo>
                    <a:lnTo>
                      <a:pt x="1274" y="3722"/>
                    </a:lnTo>
                    <a:lnTo>
                      <a:pt x="1401" y="4333"/>
                    </a:lnTo>
                    <a:lnTo>
                      <a:pt x="1656" y="4944"/>
                    </a:lnTo>
                    <a:lnTo>
                      <a:pt x="1656" y="5556"/>
                    </a:lnTo>
                    <a:lnTo>
                      <a:pt x="2038" y="6167"/>
                    </a:lnTo>
                    <a:lnTo>
                      <a:pt x="2166" y="6778"/>
                    </a:lnTo>
                    <a:lnTo>
                      <a:pt x="2420" y="7278"/>
                    </a:lnTo>
                    <a:lnTo>
                      <a:pt x="2675" y="7889"/>
                    </a:lnTo>
                    <a:lnTo>
                      <a:pt x="2803" y="8444"/>
                    </a:lnTo>
                    <a:lnTo>
                      <a:pt x="2930" y="9000"/>
                    </a:lnTo>
                    <a:lnTo>
                      <a:pt x="3185" y="9611"/>
                    </a:lnTo>
                    <a:lnTo>
                      <a:pt x="3312" y="10167"/>
                    </a:lnTo>
                    <a:lnTo>
                      <a:pt x="3567" y="10667"/>
                    </a:lnTo>
                    <a:lnTo>
                      <a:pt x="3822" y="11167"/>
                    </a:lnTo>
                    <a:lnTo>
                      <a:pt x="3949" y="11722"/>
                    </a:lnTo>
                    <a:lnTo>
                      <a:pt x="4076" y="12167"/>
                    </a:lnTo>
                    <a:lnTo>
                      <a:pt x="4331" y="12722"/>
                    </a:lnTo>
                    <a:lnTo>
                      <a:pt x="4586" y="13222"/>
                    </a:lnTo>
                    <a:lnTo>
                      <a:pt x="4713" y="13667"/>
                    </a:lnTo>
                    <a:lnTo>
                      <a:pt x="4968" y="14111"/>
                    </a:lnTo>
                    <a:lnTo>
                      <a:pt x="5096" y="14556"/>
                    </a:lnTo>
                    <a:lnTo>
                      <a:pt x="5350" y="15056"/>
                    </a:lnTo>
                    <a:lnTo>
                      <a:pt x="5605" y="15444"/>
                    </a:lnTo>
                    <a:lnTo>
                      <a:pt x="5732" y="15833"/>
                    </a:lnTo>
                    <a:lnTo>
                      <a:pt x="6115" y="16222"/>
                    </a:lnTo>
                    <a:lnTo>
                      <a:pt x="6115" y="16611"/>
                    </a:lnTo>
                    <a:lnTo>
                      <a:pt x="6369" y="16944"/>
                    </a:lnTo>
                    <a:lnTo>
                      <a:pt x="6624" y="17333"/>
                    </a:lnTo>
                    <a:lnTo>
                      <a:pt x="6752" y="17611"/>
                    </a:lnTo>
                    <a:lnTo>
                      <a:pt x="7006" y="17944"/>
                    </a:lnTo>
                    <a:lnTo>
                      <a:pt x="7261" y="18167"/>
                    </a:lnTo>
                    <a:lnTo>
                      <a:pt x="7389" y="18500"/>
                    </a:lnTo>
                    <a:lnTo>
                      <a:pt x="7516" y="18722"/>
                    </a:lnTo>
                    <a:lnTo>
                      <a:pt x="7898" y="18944"/>
                    </a:lnTo>
                    <a:lnTo>
                      <a:pt x="8025" y="19167"/>
                    </a:lnTo>
                    <a:lnTo>
                      <a:pt x="8280" y="19333"/>
                    </a:lnTo>
                    <a:lnTo>
                      <a:pt x="8408" y="19500"/>
                    </a:lnTo>
                    <a:lnTo>
                      <a:pt x="8535" y="19667"/>
                    </a:lnTo>
                    <a:lnTo>
                      <a:pt x="8917" y="19722"/>
                    </a:lnTo>
                    <a:lnTo>
                      <a:pt x="9045" y="19889"/>
                    </a:lnTo>
                    <a:lnTo>
                      <a:pt x="9299" y="19889"/>
                    </a:lnTo>
                    <a:lnTo>
                      <a:pt x="9427" y="19944"/>
                    </a:lnTo>
                    <a:lnTo>
                      <a:pt x="9682" y="19944"/>
                    </a:lnTo>
                    <a:lnTo>
                      <a:pt x="9936" y="19944"/>
                    </a:lnTo>
                    <a:lnTo>
                      <a:pt x="10064" y="19889"/>
                    </a:lnTo>
                    <a:lnTo>
                      <a:pt x="10318" y="19889"/>
                    </a:lnTo>
                    <a:lnTo>
                      <a:pt x="10573" y="19722"/>
                    </a:lnTo>
                    <a:lnTo>
                      <a:pt x="10701" y="19500"/>
                    </a:lnTo>
                    <a:lnTo>
                      <a:pt x="10955" y="19333"/>
                    </a:lnTo>
                    <a:lnTo>
                      <a:pt x="11338" y="19111"/>
                    </a:lnTo>
                    <a:lnTo>
                      <a:pt x="11465" y="18833"/>
                    </a:lnTo>
                    <a:lnTo>
                      <a:pt x="11720" y="18500"/>
                    </a:lnTo>
                    <a:lnTo>
                      <a:pt x="11975" y="18278"/>
                    </a:lnTo>
                    <a:lnTo>
                      <a:pt x="12102" y="17944"/>
                    </a:lnTo>
                    <a:lnTo>
                      <a:pt x="12484" y="17556"/>
                    </a:lnTo>
                    <a:lnTo>
                      <a:pt x="12739" y="17111"/>
                    </a:lnTo>
                    <a:lnTo>
                      <a:pt x="12866" y="16722"/>
                    </a:lnTo>
                    <a:lnTo>
                      <a:pt x="13248" y="16278"/>
                    </a:lnTo>
                    <a:lnTo>
                      <a:pt x="13376" y="15778"/>
                    </a:lnTo>
                    <a:lnTo>
                      <a:pt x="13758" y="15333"/>
                    </a:lnTo>
                    <a:lnTo>
                      <a:pt x="13885" y="14833"/>
                    </a:lnTo>
                    <a:lnTo>
                      <a:pt x="14140" y="14389"/>
                    </a:lnTo>
                    <a:lnTo>
                      <a:pt x="14395" y="13833"/>
                    </a:lnTo>
                    <a:lnTo>
                      <a:pt x="14777" y="13333"/>
                    </a:lnTo>
                    <a:lnTo>
                      <a:pt x="14904" y="12778"/>
                    </a:lnTo>
                    <a:lnTo>
                      <a:pt x="15159" y="12167"/>
                    </a:lnTo>
                    <a:lnTo>
                      <a:pt x="15414" y="11611"/>
                    </a:lnTo>
                    <a:lnTo>
                      <a:pt x="15669" y="11111"/>
                    </a:lnTo>
                    <a:lnTo>
                      <a:pt x="15924" y="10556"/>
                    </a:lnTo>
                    <a:lnTo>
                      <a:pt x="16051" y="10000"/>
                    </a:lnTo>
                    <a:lnTo>
                      <a:pt x="16306" y="9444"/>
                    </a:lnTo>
                    <a:lnTo>
                      <a:pt x="16561" y="8944"/>
                    </a:lnTo>
                    <a:lnTo>
                      <a:pt x="16815" y="8389"/>
                    </a:lnTo>
                    <a:lnTo>
                      <a:pt x="17070" y="7833"/>
                    </a:lnTo>
                    <a:lnTo>
                      <a:pt x="17197" y="7278"/>
                    </a:lnTo>
                    <a:lnTo>
                      <a:pt x="17325" y="6778"/>
                    </a:lnTo>
                    <a:lnTo>
                      <a:pt x="17707" y="6222"/>
                    </a:lnTo>
                    <a:lnTo>
                      <a:pt x="17834" y="5722"/>
                    </a:lnTo>
                    <a:lnTo>
                      <a:pt x="18217" y="5222"/>
                    </a:lnTo>
                    <a:lnTo>
                      <a:pt x="18344" y="4722"/>
                    </a:lnTo>
                    <a:lnTo>
                      <a:pt x="18344" y="4278"/>
                    </a:lnTo>
                    <a:lnTo>
                      <a:pt x="18726" y="3833"/>
                    </a:lnTo>
                    <a:lnTo>
                      <a:pt x="18854" y="3389"/>
                    </a:lnTo>
                    <a:lnTo>
                      <a:pt x="19108" y="3000"/>
                    </a:lnTo>
                    <a:lnTo>
                      <a:pt x="19236" y="2611"/>
                    </a:lnTo>
                    <a:lnTo>
                      <a:pt x="19363" y="2278"/>
                    </a:lnTo>
                    <a:lnTo>
                      <a:pt x="19490" y="1889"/>
                    </a:lnTo>
                    <a:lnTo>
                      <a:pt x="19490" y="1611"/>
                    </a:lnTo>
                    <a:lnTo>
                      <a:pt x="19745" y="1333"/>
                    </a:lnTo>
                    <a:lnTo>
                      <a:pt x="19745" y="1056"/>
                    </a:lnTo>
                    <a:lnTo>
                      <a:pt x="19873" y="833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61" name="AutoShape 103">
                <a:extLst>
                  <a:ext uri="{FF2B5EF4-FFF2-40B4-BE49-F238E27FC236}">
                    <a16:creationId xmlns:a16="http://schemas.microsoft.com/office/drawing/2014/main" id="{51E829EC-5161-AE72-4130-7084195D0E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9" y="554"/>
                <a:ext cx="88" cy="144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063"/>
                    </a:moveTo>
                    <a:lnTo>
                      <a:pt x="272" y="18490"/>
                    </a:lnTo>
                    <a:lnTo>
                      <a:pt x="544" y="17865"/>
                    </a:lnTo>
                    <a:lnTo>
                      <a:pt x="680" y="17292"/>
                    </a:lnTo>
                    <a:lnTo>
                      <a:pt x="816" y="16667"/>
                    </a:lnTo>
                    <a:lnTo>
                      <a:pt x="1088" y="16042"/>
                    </a:lnTo>
                    <a:lnTo>
                      <a:pt x="1361" y="15469"/>
                    </a:lnTo>
                    <a:lnTo>
                      <a:pt x="1633" y="14896"/>
                    </a:lnTo>
                    <a:lnTo>
                      <a:pt x="1769" y="14271"/>
                    </a:lnTo>
                    <a:lnTo>
                      <a:pt x="1905" y="13698"/>
                    </a:lnTo>
                    <a:lnTo>
                      <a:pt x="2177" y="13177"/>
                    </a:lnTo>
                    <a:lnTo>
                      <a:pt x="2449" y="12552"/>
                    </a:lnTo>
                    <a:lnTo>
                      <a:pt x="2721" y="12031"/>
                    </a:lnTo>
                    <a:lnTo>
                      <a:pt x="2993" y="11458"/>
                    </a:lnTo>
                    <a:lnTo>
                      <a:pt x="2993" y="10885"/>
                    </a:lnTo>
                    <a:lnTo>
                      <a:pt x="3265" y="10313"/>
                    </a:lnTo>
                    <a:lnTo>
                      <a:pt x="3537" y="9792"/>
                    </a:lnTo>
                    <a:lnTo>
                      <a:pt x="3810" y="9271"/>
                    </a:lnTo>
                    <a:lnTo>
                      <a:pt x="4082" y="8750"/>
                    </a:lnTo>
                    <a:lnTo>
                      <a:pt x="4218" y="8229"/>
                    </a:lnTo>
                    <a:lnTo>
                      <a:pt x="4354" y="7708"/>
                    </a:lnTo>
                    <a:lnTo>
                      <a:pt x="4762" y="7292"/>
                    </a:lnTo>
                    <a:lnTo>
                      <a:pt x="4898" y="6771"/>
                    </a:lnTo>
                    <a:lnTo>
                      <a:pt x="5170" y="6354"/>
                    </a:lnTo>
                    <a:lnTo>
                      <a:pt x="5306" y="5885"/>
                    </a:lnTo>
                    <a:lnTo>
                      <a:pt x="5442" y="5469"/>
                    </a:lnTo>
                    <a:lnTo>
                      <a:pt x="5850" y="5000"/>
                    </a:lnTo>
                    <a:lnTo>
                      <a:pt x="5850" y="4531"/>
                    </a:lnTo>
                    <a:lnTo>
                      <a:pt x="6259" y="4167"/>
                    </a:lnTo>
                    <a:lnTo>
                      <a:pt x="6531" y="3802"/>
                    </a:lnTo>
                    <a:lnTo>
                      <a:pt x="6531" y="3438"/>
                    </a:lnTo>
                    <a:lnTo>
                      <a:pt x="6939" y="3073"/>
                    </a:lnTo>
                    <a:lnTo>
                      <a:pt x="7075" y="2708"/>
                    </a:lnTo>
                    <a:lnTo>
                      <a:pt x="7347" y="2448"/>
                    </a:lnTo>
                    <a:lnTo>
                      <a:pt x="7483" y="2083"/>
                    </a:lnTo>
                    <a:lnTo>
                      <a:pt x="7619" y="1823"/>
                    </a:lnTo>
                    <a:lnTo>
                      <a:pt x="7891" y="1563"/>
                    </a:lnTo>
                    <a:lnTo>
                      <a:pt x="8163" y="1302"/>
                    </a:lnTo>
                    <a:lnTo>
                      <a:pt x="8435" y="1042"/>
                    </a:lnTo>
                    <a:lnTo>
                      <a:pt x="8571" y="833"/>
                    </a:lnTo>
                    <a:lnTo>
                      <a:pt x="8844" y="677"/>
                    </a:lnTo>
                    <a:lnTo>
                      <a:pt x="8980" y="521"/>
                    </a:lnTo>
                    <a:lnTo>
                      <a:pt x="9116" y="365"/>
                    </a:lnTo>
                    <a:lnTo>
                      <a:pt x="9524" y="260"/>
                    </a:lnTo>
                    <a:lnTo>
                      <a:pt x="9524" y="104"/>
                    </a:lnTo>
                    <a:lnTo>
                      <a:pt x="9932" y="104"/>
                    </a:lnTo>
                    <a:lnTo>
                      <a:pt x="10068" y="52"/>
                    </a:lnTo>
                    <a:lnTo>
                      <a:pt x="10204" y="0"/>
                    </a:lnTo>
                    <a:lnTo>
                      <a:pt x="10476" y="52"/>
                    </a:lnTo>
                    <a:lnTo>
                      <a:pt x="10748" y="52"/>
                    </a:lnTo>
                    <a:lnTo>
                      <a:pt x="10884" y="104"/>
                    </a:lnTo>
                    <a:lnTo>
                      <a:pt x="11156" y="208"/>
                    </a:lnTo>
                    <a:lnTo>
                      <a:pt x="11293" y="313"/>
                    </a:lnTo>
                    <a:lnTo>
                      <a:pt x="11565" y="521"/>
                    </a:lnTo>
                    <a:lnTo>
                      <a:pt x="11837" y="781"/>
                    </a:lnTo>
                    <a:lnTo>
                      <a:pt x="12109" y="990"/>
                    </a:lnTo>
                    <a:lnTo>
                      <a:pt x="12245" y="1250"/>
                    </a:lnTo>
                    <a:lnTo>
                      <a:pt x="12381" y="1563"/>
                    </a:lnTo>
                    <a:lnTo>
                      <a:pt x="12653" y="1875"/>
                    </a:lnTo>
                    <a:lnTo>
                      <a:pt x="12925" y="2292"/>
                    </a:lnTo>
                    <a:lnTo>
                      <a:pt x="13061" y="2708"/>
                    </a:lnTo>
                    <a:lnTo>
                      <a:pt x="13469" y="3125"/>
                    </a:lnTo>
                    <a:lnTo>
                      <a:pt x="13469" y="3542"/>
                    </a:lnTo>
                    <a:lnTo>
                      <a:pt x="13741" y="4010"/>
                    </a:lnTo>
                    <a:lnTo>
                      <a:pt x="14150" y="4427"/>
                    </a:lnTo>
                    <a:lnTo>
                      <a:pt x="14286" y="4948"/>
                    </a:lnTo>
                    <a:lnTo>
                      <a:pt x="14558" y="5469"/>
                    </a:lnTo>
                    <a:lnTo>
                      <a:pt x="14694" y="5990"/>
                    </a:lnTo>
                    <a:lnTo>
                      <a:pt x="14966" y="6510"/>
                    </a:lnTo>
                    <a:lnTo>
                      <a:pt x="15102" y="7083"/>
                    </a:lnTo>
                    <a:lnTo>
                      <a:pt x="15374" y="7656"/>
                    </a:lnTo>
                    <a:lnTo>
                      <a:pt x="15646" y="8177"/>
                    </a:lnTo>
                    <a:lnTo>
                      <a:pt x="15918" y="8802"/>
                    </a:lnTo>
                    <a:lnTo>
                      <a:pt x="16054" y="9375"/>
                    </a:lnTo>
                    <a:lnTo>
                      <a:pt x="16190" y="9896"/>
                    </a:lnTo>
                    <a:lnTo>
                      <a:pt x="16599" y="10469"/>
                    </a:lnTo>
                    <a:lnTo>
                      <a:pt x="16735" y="10990"/>
                    </a:lnTo>
                    <a:lnTo>
                      <a:pt x="17007" y="11615"/>
                    </a:lnTo>
                    <a:lnTo>
                      <a:pt x="17143" y="12135"/>
                    </a:lnTo>
                    <a:lnTo>
                      <a:pt x="17279" y="12708"/>
                    </a:lnTo>
                    <a:lnTo>
                      <a:pt x="17551" y="13281"/>
                    </a:lnTo>
                    <a:lnTo>
                      <a:pt x="17687" y="13854"/>
                    </a:lnTo>
                    <a:lnTo>
                      <a:pt x="17959" y="14375"/>
                    </a:lnTo>
                    <a:lnTo>
                      <a:pt x="18095" y="14948"/>
                    </a:lnTo>
                    <a:lnTo>
                      <a:pt x="18231" y="15469"/>
                    </a:lnTo>
                    <a:lnTo>
                      <a:pt x="18367" y="15938"/>
                    </a:lnTo>
                    <a:lnTo>
                      <a:pt x="18639" y="16406"/>
                    </a:lnTo>
                    <a:lnTo>
                      <a:pt x="18776" y="16875"/>
                    </a:lnTo>
                    <a:lnTo>
                      <a:pt x="19048" y="17292"/>
                    </a:lnTo>
                    <a:lnTo>
                      <a:pt x="19184" y="17708"/>
                    </a:lnTo>
                    <a:lnTo>
                      <a:pt x="19320" y="18177"/>
                    </a:lnTo>
                    <a:lnTo>
                      <a:pt x="19456" y="18542"/>
                    </a:lnTo>
                    <a:lnTo>
                      <a:pt x="19456" y="18906"/>
                    </a:lnTo>
                    <a:lnTo>
                      <a:pt x="19592" y="19167"/>
                    </a:lnTo>
                    <a:lnTo>
                      <a:pt x="19728" y="19479"/>
                    </a:lnTo>
                    <a:lnTo>
                      <a:pt x="19864" y="19740"/>
                    </a:lnTo>
                    <a:lnTo>
                      <a:pt x="19864" y="19948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62" name="AutoShape 104">
                <a:extLst>
                  <a:ext uri="{FF2B5EF4-FFF2-40B4-BE49-F238E27FC236}">
                    <a16:creationId xmlns:a16="http://schemas.microsoft.com/office/drawing/2014/main" id="{81E0BB17-EBE8-50BF-311F-AD9AB62356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1" y="692"/>
                <a:ext cx="93" cy="13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55" y="647"/>
                    </a:lnTo>
                    <a:lnTo>
                      <a:pt x="382" y="1240"/>
                    </a:lnTo>
                    <a:lnTo>
                      <a:pt x="510" y="1887"/>
                    </a:lnTo>
                    <a:lnTo>
                      <a:pt x="764" y="2534"/>
                    </a:lnTo>
                    <a:lnTo>
                      <a:pt x="892" y="3127"/>
                    </a:lnTo>
                    <a:lnTo>
                      <a:pt x="1274" y="3720"/>
                    </a:lnTo>
                    <a:lnTo>
                      <a:pt x="1401" y="4367"/>
                    </a:lnTo>
                    <a:lnTo>
                      <a:pt x="1656" y="4960"/>
                    </a:lnTo>
                    <a:lnTo>
                      <a:pt x="1656" y="5553"/>
                    </a:lnTo>
                    <a:lnTo>
                      <a:pt x="2038" y="6146"/>
                    </a:lnTo>
                    <a:lnTo>
                      <a:pt x="2166" y="6739"/>
                    </a:lnTo>
                    <a:lnTo>
                      <a:pt x="2420" y="7278"/>
                    </a:lnTo>
                    <a:lnTo>
                      <a:pt x="2675" y="7925"/>
                    </a:lnTo>
                    <a:lnTo>
                      <a:pt x="2803" y="8464"/>
                    </a:lnTo>
                    <a:lnTo>
                      <a:pt x="2930" y="9003"/>
                    </a:lnTo>
                    <a:lnTo>
                      <a:pt x="3185" y="9596"/>
                    </a:lnTo>
                    <a:lnTo>
                      <a:pt x="3312" y="10135"/>
                    </a:lnTo>
                    <a:lnTo>
                      <a:pt x="3567" y="10674"/>
                    </a:lnTo>
                    <a:lnTo>
                      <a:pt x="3822" y="11213"/>
                    </a:lnTo>
                    <a:lnTo>
                      <a:pt x="3949" y="11698"/>
                    </a:lnTo>
                    <a:lnTo>
                      <a:pt x="4076" y="12237"/>
                    </a:lnTo>
                    <a:lnTo>
                      <a:pt x="4331" y="12722"/>
                    </a:lnTo>
                    <a:lnTo>
                      <a:pt x="4586" y="13154"/>
                    </a:lnTo>
                    <a:lnTo>
                      <a:pt x="4713" y="13693"/>
                    </a:lnTo>
                    <a:lnTo>
                      <a:pt x="4968" y="14124"/>
                    </a:lnTo>
                    <a:lnTo>
                      <a:pt x="5096" y="14555"/>
                    </a:lnTo>
                    <a:lnTo>
                      <a:pt x="5350" y="14987"/>
                    </a:lnTo>
                    <a:lnTo>
                      <a:pt x="5605" y="15472"/>
                    </a:lnTo>
                    <a:lnTo>
                      <a:pt x="5732" y="15849"/>
                    </a:lnTo>
                    <a:lnTo>
                      <a:pt x="6115" y="16226"/>
                    </a:lnTo>
                    <a:lnTo>
                      <a:pt x="6115" y="16604"/>
                    </a:lnTo>
                    <a:lnTo>
                      <a:pt x="6369" y="16981"/>
                    </a:lnTo>
                    <a:lnTo>
                      <a:pt x="6624" y="17251"/>
                    </a:lnTo>
                    <a:lnTo>
                      <a:pt x="6752" y="17628"/>
                    </a:lnTo>
                    <a:lnTo>
                      <a:pt x="7006" y="17898"/>
                    </a:lnTo>
                    <a:lnTo>
                      <a:pt x="7261" y="18167"/>
                    </a:lnTo>
                    <a:lnTo>
                      <a:pt x="7389" y="18491"/>
                    </a:lnTo>
                    <a:lnTo>
                      <a:pt x="7516" y="18760"/>
                    </a:lnTo>
                    <a:lnTo>
                      <a:pt x="7898" y="18976"/>
                    </a:lnTo>
                    <a:lnTo>
                      <a:pt x="8025" y="19137"/>
                    </a:lnTo>
                    <a:lnTo>
                      <a:pt x="8280" y="19353"/>
                    </a:lnTo>
                    <a:lnTo>
                      <a:pt x="8408" y="19461"/>
                    </a:lnTo>
                    <a:lnTo>
                      <a:pt x="8535" y="19677"/>
                    </a:lnTo>
                    <a:lnTo>
                      <a:pt x="8917" y="19730"/>
                    </a:lnTo>
                    <a:lnTo>
                      <a:pt x="9045" y="19892"/>
                    </a:lnTo>
                    <a:lnTo>
                      <a:pt x="9299" y="19892"/>
                    </a:lnTo>
                    <a:lnTo>
                      <a:pt x="9427" y="19946"/>
                    </a:lnTo>
                    <a:lnTo>
                      <a:pt x="9682" y="19946"/>
                    </a:lnTo>
                    <a:lnTo>
                      <a:pt x="9936" y="19946"/>
                    </a:lnTo>
                    <a:lnTo>
                      <a:pt x="10064" y="19892"/>
                    </a:lnTo>
                    <a:lnTo>
                      <a:pt x="10318" y="19892"/>
                    </a:lnTo>
                    <a:lnTo>
                      <a:pt x="10573" y="19677"/>
                    </a:lnTo>
                    <a:lnTo>
                      <a:pt x="10701" y="19515"/>
                    </a:lnTo>
                    <a:lnTo>
                      <a:pt x="10955" y="19353"/>
                    </a:lnTo>
                    <a:lnTo>
                      <a:pt x="11338" y="19137"/>
                    </a:lnTo>
                    <a:lnTo>
                      <a:pt x="11465" y="18868"/>
                    </a:lnTo>
                    <a:lnTo>
                      <a:pt x="11720" y="18544"/>
                    </a:lnTo>
                    <a:lnTo>
                      <a:pt x="11975" y="18275"/>
                    </a:lnTo>
                    <a:lnTo>
                      <a:pt x="12102" y="17844"/>
                    </a:lnTo>
                    <a:lnTo>
                      <a:pt x="12484" y="17466"/>
                    </a:lnTo>
                    <a:lnTo>
                      <a:pt x="12739" y="17197"/>
                    </a:lnTo>
                    <a:lnTo>
                      <a:pt x="12866" y="16765"/>
                    </a:lnTo>
                    <a:lnTo>
                      <a:pt x="13248" y="16280"/>
                    </a:lnTo>
                    <a:lnTo>
                      <a:pt x="13376" y="15849"/>
                    </a:lnTo>
                    <a:lnTo>
                      <a:pt x="13758" y="15364"/>
                    </a:lnTo>
                    <a:lnTo>
                      <a:pt x="13885" y="14879"/>
                    </a:lnTo>
                    <a:lnTo>
                      <a:pt x="14140" y="14340"/>
                    </a:lnTo>
                    <a:lnTo>
                      <a:pt x="14395" y="13801"/>
                    </a:lnTo>
                    <a:lnTo>
                      <a:pt x="14777" y="13315"/>
                    </a:lnTo>
                    <a:lnTo>
                      <a:pt x="14904" y="12776"/>
                    </a:lnTo>
                    <a:lnTo>
                      <a:pt x="15159" y="12237"/>
                    </a:lnTo>
                    <a:lnTo>
                      <a:pt x="15414" y="11644"/>
                    </a:lnTo>
                    <a:lnTo>
                      <a:pt x="15669" y="11105"/>
                    </a:lnTo>
                    <a:lnTo>
                      <a:pt x="15924" y="10566"/>
                    </a:lnTo>
                    <a:lnTo>
                      <a:pt x="16051" y="10027"/>
                    </a:lnTo>
                    <a:lnTo>
                      <a:pt x="16306" y="9488"/>
                    </a:lnTo>
                    <a:lnTo>
                      <a:pt x="16561" y="8895"/>
                    </a:lnTo>
                    <a:lnTo>
                      <a:pt x="16815" y="8356"/>
                    </a:lnTo>
                    <a:lnTo>
                      <a:pt x="17070" y="7763"/>
                    </a:lnTo>
                    <a:lnTo>
                      <a:pt x="17197" y="7278"/>
                    </a:lnTo>
                    <a:lnTo>
                      <a:pt x="17325" y="6792"/>
                    </a:lnTo>
                    <a:lnTo>
                      <a:pt x="17707" y="6253"/>
                    </a:lnTo>
                    <a:lnTo>
                      <a:pt x="17834" y="5714"/>
                    </a:lnTo>
                    <a:lnTo>
                      <a:pt x="18217" y="5229"/>
                    </a:lnTo>
                    <a:lnTo>
                      <a:pt x="18344" y="4744"/>
                    </a:lnTo>
                    <a:lnTo>
                      <a:pt x="18344" y="4313"/>
                    </a:lnTo>
                    <a:lnTo>
                      <a:pt x="18726" y="3881"/>
                    </a:lnTo>
                    <a:lnTo>
                      <a:pt x="18854" y="3396"/>
                    </a:lnTo>
                    <a:lnTo>
                      <a:pt x="19108" y="3019"/>
                    </a:lnTo>
                    <a:lnTo>
                      <a:pt x="19236" y="2588"/>
                    </a:lnTo>
                    <a:lnTo>
                      <a:pt x="19363" y="2210"/>
                    </a:lnTo>
                    <a:lnTo>
                      <a:pt x="19490" y="1887"/>
                    </a:lnTo>
                    <a:lnTo>
                      <a:pt x="19490" y="1671"/>
                    </a:lnTo>
                    <a:lnTo>
                      <a:pt x="19745" y="1348"/>
                    </a:lnTo>
                    <a:lnTo>
                      <a:pt x="19745" y="1024"/>
                    </a:lnTo>
                    <a:lnTo>
                      <a:pt x="19873" y="863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63" name="AutoShape 105">
                <a:extLst>
                  <a:ext uri="{FF2B5EF4-FFF2-40B4-BE49-F238E27FC236}">
                    <a16:creationId xmlns:a16="http://schemas.microsoft.com/office/drawing/2014/main" id="{7A4C7170-7A26-6155-C91C-45C4B128BC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7" y="565"/>
                <a:ext cx="87" cy="13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088"/>
                    </a:moveTo>
                    <a:lnTo>
                      <a:pt x="272" y="18499"/>
                    </a:lnTo>
                    <a:lnTo>
                      <a:pt x="544" y="17909"/>
                    </a:lnTo>
                    <a:lnTo>
                      <a:pt x="680" y="17265"/>
                    </a:lnTo>
                    <a:lnTo>
                      <a:pt x="816" y="16676"/>
                    </a:lnTo>
                    <a:lnTo>
                      <a:pt x="1088" y="16086"/>
                    </a:lnTo>
                    <a:lnTo>
                      <a:pt x="1361" y="15496"/>
                    </a:lnTo>
                    <a:lnTo>
                      <a:pt x="1633" y="14906"/>
                    </a:lnTo>
                    <a:lnTo>
                      <a:pt x="1769" y="14316"/>
                    </a:lnTo>
                    <a:lnTo>
                      <a:pt x="1905" y="13673"/>
                    </a:lnTo>
                    <a:lnTo>
                      <a:pt x="2177" y="13137"/>
                    </a:lnTo>
                    <a:lnTo>
                      <a:pt x="2449" y="12601"/>
                    </a:lnTo>
                    <a:lnTo>
                      <a:pt x="2721" y="12064"/>
                    </a:lnTo>
                    <a:lnTo>
                      <a:pt x="2993" y="11421"/>
                    </a:lnTo>
                    <a:lnTo>
                      <a:pt x="2993" y="10885"/>
                    </a:lnTo>
                    <a:lnTo>
                      <a:pt x="3265" y="10349"/>
                    </a:lnTo>
                    <a:lnTo>
                      <a:pt x="3537" y="9812"/>
                    </a:lnTo>
                    <a:lnTo>
                      <a:pt x="3810" y="9276"/>
                    </a:lnTo>
                    <a:lnTo>
                      <a:pt x="4082" y="8794"/>
                    </a:lnTo>
                    <a:lnTo>
                      <a:pt x="4218" y="8257"/>
                    </a:lnTo>
                    <a:lnTo>
                      <a:pt x="4354" y="7721"/>
                    </a:lnTo>
                    <a:lnTo>
                      <a:pt x="4762" y="7239"/>
                    </a:lnTo>
                    <a:lnTo>
                      <a:pt x="4898" y="6756"/>
                    </a:lnTo>
                    <a:lnTo>
                      <a:pt x="5170" y="6327"/>
                    </a:lnTo>
                    <a:lnTo>
                      <a:pt x="5306" y="5898"/>
                    </a:lnTo>
                    <a:lnTo>
                      <a:pt x="5442" y="5469"/>
                    </a:lnTo>
                    <a:lnTo>
                      <a:pt x="5850" y="4987"/>
                    </a:lnTo>
                    <a:lnTo>
                      <a:pt x="5850" y="4558"/>
                    </a:lnTo>
                    <a:lnTo>
                      <a:pt x="6259" y="4129"/>
                    </a:lnTo>
                    <a:lnTo>
                      <a:pt x="6531" y="3753"/>
                    </a:lnTo>
                    <a:lnTo>
                      <a:pt x="6531" y="3432"/>
                    </a:lnTo>
                    <a:lnTo>
                      <a:pt x="6939" y="3003"/>
                    </a:lnTo>
                    <a:lnTo>
                      <a:pt x="7075" y="2735"/>
                    </a:lnTo>
                    <a:lnTo>
                      <a:pt x="7347" y="2413"/>
                    </a:lnTo>
                    <a:lnTo>
                      <a:pt x="7483" y="2091"/>
                    </a:lnTo>
                    <a:lnTo>
                      <a:pt x="7619" y="1823"/>
                    </a:lnTo>
                    <a:lnTo>
                      <a:pt x="7891" y="1609"/>
                    </a:lnTo>
                    <a:lnTo>
                      <a:pt x="8163" y="1287"/>
                    </a:lnTo>
                    <a:lnTo>
                      <a:pt x="8435" y="1019"/>
                    </a:lnTo>
                    <a:lnTo>
                      <a:pt x="8571" y="858"/>
                    </a:lnTo>
                    <a:lnTo>
                      <a:pt x="8844" y="643"/>
                    </a:lnTo>
                    <a:lnTo>
                      <a:pt x="8980" y="483"/>
                    </a:lnTo>
                    <a:lnTo>
                      <a:pt x="9116" y="375"/>
                    </a:lnTo>
                    <a:lnTo>
                      <a:pt x="9524" y="268"/>
                    </a:lnTo>
                    <a:lnTo>
                      <a:pt x="9524" y="107"/>
                    </a:lnTo>
                    <a:lnTo>
                      <a:pt x="9932" y="107"/>
                    </a:lnTo>
                    <a:lnTo>
                      <a:pt x="10068" y="54"/>
                    </a:lnTo>
                    <a:lnTo>
                      <a:pt x="10204" y="0"/>
                    </a:lnTo>
                    <a:lnTo>
                      <a:pt x="10476" y="54"/>
                    </a:lnTo>
                    <a:lnTo>
                      <a:pt x="10748" y="54"/>
                    </a:lnTo>
                    <a:lnTo>
                      <a:pt x="10884" y="107"/>
                    </a:lnTo>
                    <a:lnTo>
                      <a:pt x="11156" y="214"/>
                    </a:lnTo>
                    <a:lnTo>
                      <a:pt x="11293" y="322"/>
                    </a:lnTo>
                    <a:lnTo>
                      <a:pt x="11565" y="536"/>
                    </a:lnTo>
                    <a:lnTo>
                      <a:pt x="11837" y="751"/>
                    </a:lnTo>
                    <a:lnTo>
                      <a:pt x="12109" y="1019"/>
                    </a:lnTo>
                    <a:lnTo>
                      <a:pt x="12245" y="1233"/>
                    </a:lnTo>
                    <a:lnTo>
                      <a:pt x="12381" y="1609"/>
                    </a:lnTo>
                    <a:lnTo>
                      <a:pt x="12653" y="1877"/>
                    </a:lnTo>
                    <a:lnTo>
                      <a:pt x="12925" y="2306"/>
                    </a:lnTo>
                    <a:lnTo>
                      <a:pt x="13061" y="2735"/>
                    </a:lnTo>
                    <a:lnTo>
                      <a:pt x="13469" y="3110"/>
                    </a:lnTo>
                    <a:lnTo>
                      <a:pt x="13469" y="3539"/>
                    </a:lnTo>
                    <a:lnTo>
                      <a:pt x="13741" y="3968"/>
                    </a:lnTo>
                    <a:lnTo>
                      <a:pt x="14150" y="4450"/>
                    </a:lnTo>
                    <a:lnTo>
                      <a:pt x="14286" y="4987"/>
                    </a:lnTo>
                    <a:lnTo>
                      <a:pt x="14558" y="5469"/>
                    </a:lnTo>
                    <a:lnTo>
                      <a:pt x="14694" y="6005"/>
                    </a:lnTo>
                    <a:lnTo>
                      <a:pt x="14966" y="6542"/>
                    </a:lnTo>
                    <a:lnTo>
                      <a:pt x="15102" y="7024"/>
                    </a:lnTo>
                    <a:lnTo>
                      <a:pt x="15374" y="7614"/>
                    </a:lnTo>
                    <a:lnTo>
                      <a:pt x="15646" y="8150"/>
                    </a:lnTo>
                    <a:lnTo>
                      <a:pt x="15918" y="8794"/>
                    </a:lnTo>
                    <a:lnTo>
                      <a:pt x="16054" y="9330"/>
                    </a:lnTo>
                    <a:lnTo>
                      <a:pt x="16190" y="9866"/>
                    </a:lnTo>
                    <a:lnTo>
                      <a:pt x="16599" y="10456"/>
                    </a:lnTo>
                    <a:lnTo>
                      <a:pt x="16735" y="11046"/>
                    </a:lnTo>
                    <a:lnTo>
                      <a:pt x="17007" y="11635"/>
                    </a:lnTo>
                    <a:lnTo>
                      <a:pt x="17143" y="12172"/>
                    </a:lnTo>
                    <a:lnTo>
                      <a:pt x="17279" y="12761"/>
                    </a:lnTo>
                    <a:lnTo>
                      <a:pt x="17551" y="13298"/>
                    </a:lnTo>
                    <a:lnTo>
                      <a:pt x="17687" y="13834"/>
                    </a:lnTo>
                    <a:lnTo>
                      <a:pt x="17959" y="14370"/>
                    </a:lnTo>
                    <a:lnTo>
                      <a:pt x="18095" y="14960"/>
                    </a:lnTo>
                    <a:lnTo>
                      <a:pt x="18231" y="15442"/>
                    </a:lnTo>
                    <a:lnTo>
                      <a:pt x="18367" y="15871"/>
                    </a:lnTo>
                    <a:lnTo>
                      <a:pt x="18639" y="16461"/>
                    </a:lnTo>
                    <a:lnTo>
                      <a:pt x="18776" y="16836"/>
                    </a:lnTo>
                    <a:lnTo>
                      <a:pt x="19048" y="17265"/>
                    </a:lnTo>
                    <a:lnTo>
                      <a:pt x="19184" y="17748"/>
                    </a:lnTo>
                    <a:lnTo>
                      <a:pt x="19320" y="18177"/>
                    </a:lnTo>
                    <a:lnTo>
                      <a:pt x="19456" y="18552"/>
                    </a:lnTo>
                    <a:lnTo>
                      <a:pt x="19456" y="18874"/>
                    </a:lnTo>
                    <a:lnTo>
                      <a:pt x="19592" y="19196"/>
                    </a:lnTo>
                    <a:lnTo>
                      <a:pt x="19728" y="19517"/>
                    </a:lnTo>
                    <a:lnTo>
                      <a:pt x="19864" y="19732"/>
                    </a:lnTo>
                    <a:lnTo>
                      <a:pt x="19864" y="19946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64" name="AutoShape 106">
                <a:extLst>
                  <a:ext uri="{FF2B5EF4-FFF2-40B4-BE49-F238E27FC236}">
                    <a16:creationId xmlns:a16="http://schemas.microsoft.com/office/drawing/2014/main" id="{22C4F15D-40EE-AF51-654F-4E680BA98B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3" y="691"/>
                <a:ext cx="93" cy="134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55" y="611"/>
                    </a:lnTo>
                    <a:lnTo>
                      <a:pt x="382" y="1278"/>
                    </a:lnTo>
                    <a:lnTo>
                      <a:pt x="510" y="1889"/>
                    </a:lnTo>
                    <a:lnTo>
                      <a:pt x="764" y="2500"/>
                    </a:lnTo>
                    <a:lnTo>
                      <a:pt x="892" y="3111"/>
                    </a:lnTo>
                    <a:lnTo>
                      <a:pt x="1274" y="3722"/>
                    </a:lnTo>
                    <a:lnTo>
                      <a:pt x="1401" y="4333"/>
                    </a:lnTo>
                    <a:lnTo>
                      <a:pt x="1656" y="4944"/>
                    </a:lnTo>
                    <a:lnTo>
                      <a:pt x="1656" y="5556"/>
                    </a:lnTo>
                    <a:lnTo>
                      <a:pt x="2038" y="6167"/>
                    </a:lnTo>
                    <a:lnTo>
                      <a:pt x="2166" y="6778"/>
                    </a:lnTo>
                    <a:lnTo>
                      <a:pt x="2420" y="7278"/>
                    </a:lnTo>
                    <a:lnTo>
                      <a:pt x="2675" y="7889"/>
                    </a:lnTo>
                    <a:lnTo>
                      <a:pt x="2803" y="8444"/>
                    </a:lnTo>
                    <a:lnTo>
                      <a:pt x="2930" y="9000"/>
                    </a:lnTo>
                    <a:lnTo>
                      <a:pt x="3185" y="9611"/>
                    </a:lnTo>
                    <a:lnTo>
                      <a:pt x="3312" y="10167"/>
                    </a:lnTo>
                    <a:lnTo>
                      <a:pt x="3567" y="10667"/>
                    </a:lnTo>
                    <a:lnTo>
                      <a:pt x="3822" y="11167"/>
                    </a:lnTo>
                    <a:lnTo>
                      <a:pt x="3949" y="11722"/>
                    </a:lnTo>
                    <a:lnTo>
                      <a:pt x="4076" y="12167"/>
                    </a:lnTo>
                    <a:lnTo>
                      <a:pt x="4331" y="12722"/>
                    </a:lnTo>
                    <a:lnTo>
                      <a:pt x="4586" y="13222"/>
                    </a:lnTo>
                    <a:lnTo>
                      <a:pt x="4713" y="13667"/>
                    </a:lnTo>
                    <a:lnTo>
                      <a:pt x="4968" y="14111"/>
                    </a:lnTo>
                    <a:lnTo>
                      <a:pt x="5096" y="14556"/>
                    </a:lnTo>
                    <a:lnTo>
                      <a:pt x="5350" y="15056"/>
                    </a:lnTo>
                    <a:lnTo>
                      <a:pt x="5605" y="15444"/>
                    </a:lnTo>
                    <a:lnTo>
                      <a:pt x="5732" y="15833"/>
                    </a:lnTo>
                    <a:lnTo>
                      <a:pt x="6115" y="16222"/>
                    </a:lnTo>
                    <a:lnTo>
                      <a:pt x="6115" y="16611"/>
                    </a:lnTo>
                    <a:lnTo>
                      <a:pt x="6369" y="16944"/>
                    </a:lnTo>
                    <a:lnTo>
                      <a:pt x="6624" y="17333"/>
                    </a:lnTo>
                    <a:lnTo>
                      <a:pt x="6752" y="17611"/>
                    </a:lnTo>
                    <a:lnTo>
                      <a:pt x="7006" y="17944"/>
                    </a:lnTo>
                    <a:lnTo>
                      <a:pt x="7261" y="18167"/>
                    </a:lnTo>
                    <a:lnTo>
                      <a:pt x="7389" y="18500"/>
                    </a:lnTo>
                    <a:lnTo>
                      <a:pt x="7516" y="18722"/>
                    </a:lnTo>
                    <a:lnTo>
                      <a:pt x="7898" y="18944"/>
                    </a:lnTo>
                    <a:lnTo>
                      <a:pt x="8025" y="19167"/>
                    </a:lnTo>
                    <a:lnTo>
                      <a:pt x="8280" y="19333"/>
                    </a:lnTo>
                    <a:lnTo>
                      <a:pt x="8408" y="19500"/>
                    </a:lnTo>
                    <a:lnTo>
                      <a:pt x="8535" y="19667"/>
                    </a:lnTo>
                    <a:lnTo>
                      <a:pt x="8917" y="19722"/>
                    </a:lnTo>
                    <a:lnTo>
                      <a:pt x="9045" y="19889"/>
                    </a:lnTo>
                    <a:lnTo>
                      <a:pt x="9299" y="19889"/>
                    </a:lnTo>
                    <a:lnTo>
                      <a:pt x="9427" y="19944"/>
                    </a:lnTo>
                    <a:lnTo>
                      <a:pt x="9682" y="19944"/>
                    </a:lnTo>
                    <a:lnTo>
                      <a:pt x="9936" y="19944"/>
                    </a:lnTo>
                    <a:lnTo>
                      <a:pt x="10064" y="19889"/>
                    </a:lnTo>
                    <a:lnTo>
                      <a:pt x="10318" y="19889"/>
                    </a:lnTo>
                    <a:lnTo>
                      <a:pt x="10573" y="19722"/>
                    </a:lnTo>
                    <a:lnTo>
                      <a:pt x="10701" y="19500"/>
                    </a:lnTo>
                    <a:lnTo>
                      <a:pt x="10955" y="19333"/>
                    </a:lnTo>
                    <a:lnTo>
                      <a:pt x="11338" y="19111"/>
                    </a:lnTo>
                    <a:lnTo>
                      <a:pt x="11465" y="18833"/>
                    </a:lnTo>
                    <a:lnTo>
                      <a:pt x="11720" y="18500"/>
                    </a:lnTo>
                    <a:lnTo>
                      <a:pt x="11975" y="18278"/>
                    </a:lnTo>
                    <a:lnTo>
                      <a:pt x="12102" y="17944"/>
                    </a:lnTo>
                    <a:lnTo>
                      <a:pt x="12484" y="17556"/>
                    </a:lnTo>
                    <a:lnTo>
                      <a:pt x="12739" y="17111"/>
                    </a:lnTo>
                    <a:lnTo>
                      <a:pt x="12866" y="16722"/>
                    </a:lnTo>
                    <a:lnTo>
                      <a:pt x="13248" y="16278"/>
                    </a:lnTo>
                    <a:lnTo>
                      <a:pt x="13376" y="15778"/>
                    </a:lnTo>
                    <a:lnTo>
                      <a:pt x="13758" y="15333"/>
                    </a:lnTo>
                    <a:lnTo>
                      <a:pt x="13885" y="14833"/>
                    </a:lnTo>
                    <a:lnTo>
                      <a:pt x="14140" y="14389"/>
                    </a:lnTo>
                    <a:lnTo>
                      <a:pt x="14395" y="13833"/>
                    </a:lnTo>
                    <a:lnTo>
                      <a:pt x="14777" y="13333"/>
                    </a:lnTo>
                    <a:lnTo>
                      <a:pt x="14904" y="12778"/>
                    </a:lnTo>
                    <a:lnTo>
                      <a:pt x="15159" y="12167"/>
                    </a:lnTo>
                    <a:lnTo>
                      <a:pt x="15414" y="11611"/>
                    </a:lnTo>
                    <a:lnTo>
                      <a:pt x="15669" y="11111"/>
                    </a:lnTo>
                    <a:lnTo>
                      <a:pt x="15924" y="10556"/>
                    </a:lnTo>
                    <a:lnTo>
                      <a:pt x="16051" y="10000"/>
                    </a:lnTo>
                    <a:lnTo>
                      <a:pt x="16306" y="9444"/>
                    </a:lnTo>
                    <a:lnTo>
                      <a:pt x="16561" y="8944"/>
                    </a:lnTo>
                    <a:lnTo>
                      <a:pt x="16815" y="8389"/>
                    </a:lnTo>
                    <a:lnTo>
                      <a:pt x="17070" y="7833"/>
                    </a:lnTo>
                    <a:lnTo>
                      <a:pt x="17197" y="7278"/>
                    </a:lnTo>
                    <a:lnTo>
                      <a:pt x="17325" y="6778"/>
                    </a:lnTo>
                    <a:lnTo>
                      <a:pt x="17707" y="6222"/>
                    </a:lnTo>
                    <a:lnTo>
                      <a:pt x="17834" y="5722"/>
                    </a:lnTo>
                    <a:lnTo>
                      <a:pt x="18217" y="5222"/>
                    </a:lnTo>
                    <a:lnTo>
                      <a:pt x="18344" y="4722"/>
                    </a:lnTo>
                    <a:lnTo>
                      <a:pt x="18344" y="4278"/>
                    </a:lnTo>
                    <a:lnTo>
                      <a:pt x="18726" y="3833"/>
                    </a:lnTo>
                    <a:lnTo>
                      <a:pt x="18854" y="3389"/>
                    </a:lnTo>
                    <a:lnTo>
                      <a:pt x="19108" y="3000"/>
                    </a:lnTo>
                    <a:lnTo>
                      <a:pt x="19236" y="2611"/>
                    </a:lnTo>
                    <a:lnTo>
                      <a:pt x="19363" y="2278"/>
                    </a:lnTo>
                    <a:lnTo>
                      <a:pt x="19490" y="1889"/>
                    </a:lnTo>
                    <a:lnTo>
                      <a:pt x="19490" y="1611"/>
                    </a:lnTo>
                    <a:lnTo>
                      <a:pt x="19745" y="1333"/>
                    </a:lnTo>
                    <a:lnTo>
                      <a:pt x="19745" y="1056"/>
                    </a:lnTo>
                    <a:lnTo>
                      <a:pt x="19873" y="833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65" name="AutoShape 107">
                <a:extLst>
                  <a:ext uri="{FF2B5EF4-FFF2-40B4-BE49-F238E27FC236}">
                    <a16:creationId xmlns:a16="http://schemas.microsoft.com/office/drawing/2014/main" id="{B9D0A78C-EB7C-8901-473A-375339317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5" y="558"/>
                <a:ext cx="88" cy="144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063"/>
                    </a:moveTo>
                    <a:lnTo>
                      <a:pt x="272" y="18490"/>
                    </a:lnTo>
                    <a:lnTo>
                      <a:pt x="544" y="17865"/>
                    </a:lnTo>
                    <a:lnTo>
                      <a:pt x="680" y="17292"/>
                    </a:lnTo>
                    <a:lnTo>
                      <a:pt x="816" y="16667"/>
                    </a:lnTo>
                    <a:lnTo>
                      <a:pt x="1088" y="16042"/>
                    </a:lnTo>
                    <a:lnTo>
                      <a:pt x="1361" y="15469"/>
                    </a:lnTo>
                    <a:lnTo>
                      <a:pt x="1633" y="14896"/>
                    </a:lnTo>
                    <a:lnTo>
                      <a:pt x="1769" y="14271"/>
                    </a:lnTo>
                    <a:lnTo>
                      <a:pt x="1905" y="13698"/>
                    </a:lnTo>
                    <a:lnTo>
                      <a:pt x="2177" y="13177"/>
                    </a:lnTo>
                    <a:lnTo>
                      <a:pt x="2449" y="12552"/>
                    </a:lnTo>
                    <a:lnTo>
                      <a:pt x="2721" y="12031"/>
                    </a:lnTo>
                    <a:lnTo>
                      <a:pt x="2993" y="11458"/>
                    </a:lnTo>
                    <a:lnTo>
                      <a:pt x="2993" y="10885"/>
                    </a:lnTo>
                    <a:lnTo>
                      <a:pt x="3265" y="10313"/>
                    </a:lnTo>
                    <a:lnTo>
                      <a:pt x="3537" y="9792"/>
                    </a:lnTo>
                    <a:lnTo>
                      <a:pt x="3810" y="9271"/>
                    </a:lnTo>
                    <a:lnTo>
                      <a:pt x="4082" y="8750"/>
                    </a:lnTo>
                    <a:lnTo>
                      <a:pt x="4218" y="8229"/>
                    </a:lnTo>
                    <a:lnTo>
                      <a:pt x="4354" y="7708"/>
                    </a:lnTo>
                    <a:lnTo>
                      <a:pt x="4762" y="7292"/>
                    </a:lnTo>
                    <a:lnTo>
                      <a:pt x="4898" y="6771"/>
                    </a:lnTo>
                    <a:lnTo>
                      <a:pt x="5170" y="6354"/>
                    </a:lnTo>
                    <a:lnTo>
                      <a:pt x="5306" y="5885"/>
                    </a:lnTo>
                    <a:lnTo>
                      <a:pt x="5442" y="5469"/>
                    </a:lnTo>
                    <a:lnTo>
                      <a:pt x="5850" y="5000"/>
                    </a:lnTo>
                    <a:lnTo>
                      <a:pt x="5850" y="4531"/>
                    </a:lnTo>
                    <a:lnTo>
                      <a:pt x="6259" y="4167"/>
                    </a:lnTo>
                    <a:lnTo>
                      <a:pt x="6531" y="3802"/>
                    </a:lnTo>
                    <a:lnTo>
                      <a:pt x="6531" y="3438"/>
                    </a:lnTo>
                    <a:lnTo>
                      <a:pt x="6939" y="3073"/>
                    </a:lnTo>
                    <a:lnTo>
                      <a:pt x="7075" y="2708"/>
                    </a:lnTo>
                    <a:lnTo>
                      <a:pt x="7347" y="2448"/>
                    </a:lnTo>
                    <a:lnTo>
                      <a:pt x="7483" y="2083"/>
                    </a:lnTo>
                    <a:lnTo>
                      <a:pt x="7619" y="1823"/>
                    </a:lnTo>
                    <a:lnTo>
                      <a:pt x="7891" y="1563"/>
                    </a:lnTo>
                    <a:lnTo>
                      <a:pt x="8163" y="1302"/>
                    </a:lnTo>
                    <a:lnTo>
                      <a:pt x="8435" y="1042"/>
                    </a:lnTo>
                    <a:lnTo>
                      <a:pt x="8571" y="833"/>
                    </a:lnTo>
                    <a:lnTo>
                      <a:pt x="8844" y="677"/>
                    </a:lnTo>
                    <a:lnTo>
                      <a:pt x="8980" y="521"/>
                    </a:lnTo>
                    <a:lnTo>
                      <a:pt x="9116" y="365"/>
                    </a:lnTo>
                    <a:lnTo>
                      <a:pt x="9524" y="260"/>
                    </a:lnTo>
                    <a:lnTo>
                      <a:pt x="9524" y="104"/>
                    </a:lnTo>
                    <a:lnTo>
                      <a:pt x="9932" y="104"/>
                    </a:lnTo>
                    <a:lnTo>
                      <a:pt x="10068" y="52"/>
                    </a:lnTo>
                    <a:lnTo>
                      <a:pt x="10204" y="0"/>
                    </a:lnTo>
                    <a:lnTo>
                      <a:pt x="10476" y="52"/>
                    </a:lnTo>
                    <a:lnTo>
                      <a:pt x="10748" y="52"/>
                    </a:lnTo>
                    <a:lnTo>
                      <a:pt x="10884" y="104"/>
                    </a:lnTo>
                    <a:lnTo>
                      <a:pt x="11156" y="208"/>
                    </a:lnTo>
                    <a:lnTo>
                      <a:pt x="11293" y="313"/>
                    </a:lnTo>
                    <a:lnTo>
                      <a:pt x="11565" y="521"/>
                    </a:lnTo>
                    <a:lnTo>
                      <a:pt x="11837" y="781"/>
                    </a:lnTo>
                    <a:lnTo>
                      <a:pt x="12109" y="990"/>
                    </a:lnTo>
                    <a:lnTo>
                      <a:pt x="12245" y="1250"/>
                    </a:lnTo>
                    <a:lnTo>
                      <a:pt x="12381" y="1563"/>
                    </a:lnTo>
                    <a:lnTo>
                      <a:pt x="12653" y="1875"/>
                    </a:lnTo>
                    <a:lnTo>
                      <a:pt x="12925" y="2292"/>
                    </a:lnTo>
                    <a:lnTo>
                      <a:pt x="13061" y="2708"/>
                    </a:lnTo>
                    <a:lnTo>
                      <a:pt x="13469" y="3125"/>
                    </a:lnTo>
                    <a:lnTo>
                      <a:pt x="13469" y="3542"/>
                    </a:lnTo>
                    <a:lnTo>
                      <a:pt x="13741" y="4010"/>
                    </a:lnTo>
                    <a:lnTo>
                      <a:pt x="14150" y="4427"/>
                    </a:lnTo>
                    <a:lnTo>
                      <a:pt x="14286" y="4948"/>
                    </a:lnTo>
                    <a:lnTo>
                      <a:pt x="14558" y="5469"/>
                    </a:lnTo>
                    <a:lnTo>
                      <a:pt x="14694" y="5990"/>
                    </a:lnTo>
                    <a:lnTo>
                      <a:pt x="14966" y="6510"/>
                    </a:lnTo>
                    <a:lnTo>
                      <a:pt x="15102" y="7083"/>
                    </a:lnTo>
                    <a:lnTo>
                      <a:pt x="15374" y="7656"/>
                    </a:lnTo>
                    <a:lnTo>
                      <a:pt x="15646" y="8177"/>
                    </a:lnTo>
                    <a:lnTo>
                      <a:pt x="15918" y="8802"/>
                    </a:lnTo>
                    <a:lnTo>
                      <a:pt x="16054" y="9375"/>
                    </a:lnTo>
                    <a:lnTo>
                      <a:pt x="16190" y="9896"/>
                    </a:lnTo>
                    <a:lnTo>
                      <a:pt x="16599" y="10469"/>
                    </a:lnTo>
                    <a:lnTo>
                      <a:pt x="16735" y="10990"/>
                    </a:lnTo>
                    <a:lnTo>
                      <a:pt x="17007" y="11615"/>
                    </a:lnTo>
                    <a:lnTo>
                      <a:pt x="17143" y="12135"/>
                    </a:lnTo>
                    <a:lnTo>
                      <a:pt x="17279" y="12708"/>
                    </a:lnTo>
                    <a:lnTo>
                      <a:pt x="17551" y="13281"/>
                    </a:lnTo>
                    <a:lnTo>
                      <a:pt x="17687" y="13854"/>
                    </a:lnTo>
                    <a:lnTo>
                      <a:pt x="17959" y="14375"/>
                    </a:lnTo>
                    <a:lnTo>
                      <a:pt x="18095" y="14948"/>
                    </a:lnTo>
                    <a:lnTo>
                      <a:pt x="18231" y="15469"/>
                    </a:lnTo>
                    <a:lnTo>
                      <a:pt x="18367" y="15938"/>
                    </a:lnTo>
                    <a:lnTo>
                      <a:pt x="18639" y="16406"/>
                    </a:lnTo>
                    <a:lnTo>
                      <a:pt x="18776" y="16875"/>
                    </a:lnTo>
                    <a:lnTo>
                      <a:pt x="19048" y="17292"/>
                    </a:lnTo>
                    <a:lnTo>
                      <a:pt x="19184" y="17708"/>
                    </a:lnTo>
                    <a:lnTo>
                      <a:pt x="19320" y="18177"/>
                    </a:lnTo>
                    <a:lnTo>
                      <a:pt x="19456" y="18542"/>
                    </a:lnTo>
                    <a:lnTo>
                      <a:pt x="19456" y="18906"/>
                    </a:lnTo>
                    <a:lnTo>
                      <a:pt x="19592" y="19167"/>
                    </a:lnTo>
                    <a:lnTo>
                      <a:pt x="19728" y="19479"/>
                    </a:lnTo>
                    <a:lnTo>
                      <a:pt x="19864" y="19740"/>
                    </a:lnTo>
                    <a:lnTo>
                      <a:pt x="19864" y="19948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66" name="AutoShape 108">
                <a:extLst>
                  <a:ext uri="{FF2B5EF4-FFF2-40B4-BE49-F238E27FC236}">
                    <a16:creationId xmlns:a16="http://schemas.microsoft.com/office/drawing/2014/main" id="{D0625E13-7F17-954A-829D-D46A2DDB92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3" y="689"/>
                <a:ext cx="93" cy="138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55" y="647"/>
                    </a:lnTo>
                    <a:lnTo>
                      <a:pt x="382" y="1240"/>
                    </a:lnTo>
                    <a:lnTo>
                      <a:pt x="510" y="1887"/>
                    </a:lnTo>
                    <a:lnTo>
                      <a:pt x="764" y="2534"/>
                    </a:lnTo>
                    <a:lnTo>
                      <a:pt x="892" y="3127"/>
                    </a:lnTo>
                    <a:lnTo>
                      <a:pt x="1274" y="3720"/>
                    </a:lnTo>
                    <a:lnTo>
                      <a:pt x="1401" y="4367"/>
                    </a:lnTo>
                    <a:lnTo>
                      <a:pt x="1656" y="4960"/>
                    </a:lnTo>
                    <a:lnTo>
                      <a:pt x="1656" y="5553"/>
                    </a:lnTo>
                    <a:lnTo>
                      <a:pt x="2038" y="6146"/>
                    </a:lnTo>
                    <a:lnTo>
                      <a:pt x="2166" y="6739"/>
                    </a:lnTo>
                    <a:lnTo>
                      <a:pt x="2420" y="7278"/>
                    </a:lnTo>
                    <a:lnTo>
                      <a:pt x="2675" y="7925"/>
                    </a:lnTo>
                    <a:lnTo>
                      <a:pt x="2803" y="8464"/>
                    </a:lnTo>
                    <a:lnTo>
                      <a:pt x="2930" y="9003"/>
                    </a:lnTo>
                    <a:lnTo>
                      <a:pt x="3185" y="9596"/>
                    </a:lnTo>
                    <a:lnTo>
                      <a:pt x="3312" y="10135"/>
                    </a:lnTo>
                    <a:lnTo>
                      <a:pt x="3567" y="10674"/>
                    </a:lnTo>
                    <a:lnTo>
                      <a:pt x="3822" y="11213"/>
                    </a:lnTo>
                    <a:lnTo>
                      <a:pt x="3949" y="11698"/>
                    </a:lnTo>
                    <a:lnTo>
                      <a:pt x="4076" y="12237"/>
                    </a:lnTo>
                    <a:lnTo>
                      <a:pt x="4331" y="12722"/>
                    </a:lnTo>
                    <a:lnTo>
                      <a:pt x="4586" y="13154"/>
                    </a:lnTo>
                    <a:lnTo>
                      <a:pt x="4713" y="13693"/>
                    </a:lnTo>
                    <a:lnTo>
                      <a:pt x="4968" y="14124"/>
                    </a:lnTo>
                    <a:lnTo>
                      <a:pt x="5096" y="14555"/>
                    </a:lnTo>
                    <a:lnTo>
                      <a:pt x="5350" y="14987"/>
                    </a:lnTo>
                    <a:lnTo>
                      <a:pt x="5605" y="15472"/>
                    </a:lnTo>
                    <a:lnTo>
                      <a:pt x="5732" y="15849"/>
                    </a:lnTo>
                    <a:lnTo>
                      <a:pt x="6115" y="16226"/>
                    </a:lnTo>
                    <a:lnTo>
                      <a:pt x="6115" y="16604"/>
                    </a:lnTo>
                    <a:lnTo>
                      <a:pt x="6369" y="16981"/>
                    </a:lnTo>
                    <a:lnTo>
                      <a:pt x="6624" y="17251"/>
                    </a:lnTo>
                    <a:lnTo>
                      <a:pt x="6752" y="17628"/>
                    </a:lnTo>
                    <a:lnTo>
                      <a:pt x="7006" y="17898"/>
                    </a:lnTo>
                    <a:lnTo>
                      <a:pt x="7261" y="18167"/>
                    </a:lnTo>
                    <a:lnTo>
                      <a:pt x="7389" y="18491"/>
                    </a:lnTo>
                    <a:lnTo>
                      <a:pt x="7516" y="18760"/>
                    </a:lnTo>
                    <a:lnTo>
                      <a:pt x="7898" y="18976"/>
                    </a:lnTo>
                    <a:lnTo>
                      <a:pt x="8025" y="19137"/>
                    </a:lnTo>
                    <a:lnTo>
                      <a:pt x="8280" y="19353"/>
                    </a:lnTo>
                    <a:lnTo>
                      <a:pt x="8408" y="19461"/>
                    </a:lnTo>
                    <a:lnTo>
                      <a:pt x="8535" y="19677"/>
                    </a:lnTo>
                    <a:lnTo>
                      <a:pt x="8917" y="19730"/>
                    </a:lnTo>
                    <a:lnTo>
                      <a:pt x="9045" y="19892"/>
                    </a:lnTo>
                    <a:lnTo>
                      <a:pt x="9299" y="19892"/>
                    </a:lnTo>
                    <a:lnTo>
                      <a:pt x="9427" y="19946"/>
                    </a:lnTo>
                    <a:lnTo>
                      <a:pt x="9682" y="19946"/>
                    </a:lnTo>
                    <a:lnTo>
                      <a:pt x="9936" y="19946"/>
                    </a:lnTo>
                    <a:lnTo>
                      <a:pt x="10064" y="19892"/>
                    </a:lnTo>
                    <a:lnTo>
                      <a:pt x="10318" y="19892"/>
                    </a:lnTo>
                    <a:lnTo>
                      <a:pt x="10573" y="19677"/>
                    </a:lnTo>
                    <a:lnTo>
                      <a:pt x="10701" y="19515"/>
                    </a:lnTo>
                    <a:lnTo>
                      <a:pt x="10955" y="19353"/>
                    </a:lnTo>
                    <a:lnTo>
                      <a:pt x="11338" y="19137"/>
                    </a:lnTo>
                    <a:lnTo>
                      <a:pt x="11465" y="18868"/>
                    </a:lnTo>
                    <a:lnTo>
                      <a:pt x="11720" y="18544"/>
                    </a:lnTo>
                    <a:lnTo>
                      <a:pt x="11975" y="18275"/>
                    </a:lnTo>
                    <a:lnTo>
                      <a:pt x="12102" y="17844"/>
                    </a:lnTo>
                    <a:lnTo>
                      <a:pt x="12484" y="17466"/>
                    </a:lnTo>
                    <a:lnTo>
                      <a:pt x="12739" y="17197"/>
                    </a:lnTo>
                    <a:lnTo>
                      <a:pt x="12866" y="16765"/>
                    </a:lnTo>
                    <a:lnTo>
                      <a:pt x="13248" y="16280"/>
                    </a:lnTo>
                    <a:lnTo>
                      <a:pt x="13376" y="15849"/>
                    </a:lnTo>
                    <a:lnTo>
                      <a:pt x="13758" y="15364"/>
                    </a:lnTo>
                    <a:lnTo>
                      <a:pt x="13885" y="14879"/>
                    </a:lnTo>
                    <a:lnTo>
                      <a:pt x="14140" y="14340"/>
                    </a:lnTo>
                    <a:lnTo>
                      <a:pt x="14395" y="13801"/>
                    </a:lnTo>
                    <a:lnTo>
                      <a:pt x="14777" y="13315"/>
                    </a:lnTo>
                    <a:lnTo>
                      <a:pt x="14904" y="12776"/>
                    </a:lnTo>
                    <a:lnTo>
                      <a:pt x="15159" y="12237"/>
                    </a:lnTo>
                    <a:lnTo>
                      <a:pt x="15414" y="11644"/>
                    </a:lnTo>
                    <a:lnTo>
                      <a:pt x="15669" y="11105"/>
                    </a:lnTo>
                    <a:lnTo>
                      <a:pt x="15924" y="10566"/>
                    </a:lnTo>
                    <a:lnTo>
                      <a:pt x="16051" y="10027"/>
                    </a:lnTo>
                    <a:lnTo>
                      <a:pt x="16306" y="9488"/>
                    </a:lnTo>
                    <a:lnTo>
                      <a:pt x="16561" y="8895"/>
                    </a:lnTo>
                    <a:lnTo>
                      <a:pt x="16815" y="8356"/>
                    </a:lnTo>
                    <a:lnTo>
                      <a:pt x="17070" y="7763"/>
                    </a:lnTo>
                    <a:lnTo>
                      <a:pt x="17197" y="7278"/>
                    </a:lnTo>
                    <a:lnTo>
                      <a:pt x="17325" y="6792"/>
                    </a:lnTo>
                    <a:lnTo>
                      <a:pt x="17707" y="6253"/>
                    </a:lnTo>
                    <a:lnTo>
                      <a:pt x="17834" y="5714"/>
                    </a:lnTo>
                    <a:lnTo>
                      <a:pt x="18217" y="5229"/>
                    </a:lnTo>
                    <a:lnTo>
                      <a:pt x="18344" y="4744"/>
                    </a:lnTo>
                    <a:lnTo>
                      <a:pt x="18344" y="4313"/>
                    </a:lnTo>
                    <a:lnTo>
                      <a:pt x="18726" y="3881"/>
                    </a:lnTo>
                    <a:lnTo>
                      <a:pt x="18854" y="3396"/>
                    </a:lnTo>
                    <a:lnTo>
                      <a:pt x="19108" y="3019"/>
                    </a:lnTo>
                    <a:lnTo>
                      <a:pt x="19236" y="2588"/>
                    </a:lnTo>
                    <a:lnTo>
                      <a:pt x="19363" y="2210"/>
                    </a:lnTo>
                    <a:lnTo>
                      <a:pt x="19490" y="1887"/>
                    </a:lnTo>
                    <a:lnTo>
                      <a:pt x="19490" y="1671"/>
                    </a:lnTo>
                    <a:lnTo>
                      <a:pt x="19745" y="1348"/>
                    </a:lnTo>
                    <a:lnTo>
                      <a:pt x="19745" y="1024"/>
                    </a:lnTo>
                    <a:lnTo>
                      <a:pt x="19873" y="863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67" name="AutoShape 109">
                <a:extLst>
                  <a:ext uri="{FF2B5EF4-FFF2-40B4-BE49-F238E27FC236}">
                    <a16:creationId xmlns:a16="http://schemas.microsoft.com/office/drawing/2014/main" id="{2332DA9C-6222-9667-1DC2-C09060C2F8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8" y="561"/>
                <a:ext cx="87" cy="13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088"/>
                    </a:moveTo>
                    <a:lnTo>
                      <a:pt x="272" y="18499"/>
                    </a:lnTo>
                    <a:lnTo>
                      <a:pt x="544" y="17909"/>
                    </a:lnTo>
                    <a:lnTo>
                      <a:pt x="680" y="17265"/>
                    </a:lnTo>
                    <a:lnTo>
                      <a:pt x="816" y="16676"/>
                    </a:lnTo>
                    <a:lnTo>
                      <a:pt x="1088" y="16086"/>
                    </a:lnTo>
                    <a:lnTo>
                      <a:pt x="1361" y="15496"/>
                    </a:lnTo>
                    <a:lnTo>
                      <a:pt x="1633" y="14906"/>
                    </a:lnTo>
                    <a:lnTo>
                      <a:pt x="1769" y="14316"/>
                    </a:lnTo>
                    <a:lnTo>
                      <a:pt x="1905" y="13673"/>
                    </a:lnTo>
                    <a:lnTo>
                      <a:pt x="2177" y="13137"/>
                    </a:lnTo>
                    <a:lnTo>
                      <a:pt x="2449" y="12601"/>
                    </a:lnTo>
                    <a:lnTo>
                      <a:pt x="2721" y="12064"/>
                    </a:lnTo>
                    <a:lnTo>
                      <a:pt x="2993" y="11421"/>
                    </a:lnTo>
                    <a:lnTo>
                      <a:pt x="2993" y="10885"/>
                    </a:lnTo>
                    <a:lnTo>
                      <a:pt x="3265" y="10349"/>
                    </a:lnTo>
                    <a:lnTo>
                      <a:pt x="3537" y="9812"/>
                    </a:lnTo>
                    <a:lnTo>
                      <a:pt x="3810" y="9276"/>
                    </a:lnTo>
                    <a:lnTo>
                      <a:pt x="4082" y="8794"/>
                    </a:lnTo>
                    <a:lnTo>
                      <a:pt x="4218" y="8257"/>
                    </a:lnTo>
                    <a:lnTo>
                      <a:pt x="4354" y="7721"/>
                    </a:lnTo>
                    <a:lnTo>
                      <a:pt x="4762" y="7239"/>
                    </a:lnTo>
                    <a:lnTo>
                      <a:pt x="4898" y="6756"/>
                    </a:lnTo>
                    <a:lnTo>
                      <a:pt x="5170" y="6327"/>
                    </a:lnTo>
                    <a:lnTo>
                      <a:pt x="5306" y="5898"/>
                    </a:lnTo>
                    <a:lnTo>
                      <a:pt x="5442" y="5469"/>
                    </a:lnTo>
                    <a:lnTo>
                      <a:pt x="5850" y="4987"/>
                    </a:lnTo>
                    <a:lnTo>
                      <a:pt x="5850" y="4558"/>
                    </a:lnTo>
                    <a:lnTo>
                      <a:pt x="6259" y="4129"/>
                    </a:lnTo>
                    <a:lnTo>
                      <a:pt x="6531" y="3753"/>
                    </a:lnTo>
                    <a:lnTo>
                      <a:pt x="6531" y="3432"/>
                    </a:lnTo>
                    <a:lnTo>
                      <a:pt x="6939" y="3003"/>
                    </a:lnTo>
                    <a:lnTo>
                      <a:pt x="7075" y="2735"/>
                    </a:lnTo>
                    <a:lnTo>
                      <a:pt x="7347" y="2413"/>
                    </a:lnTo>
                    <a:lnTo>
                      <a:pt x="7483" y="2091"/>
                    </a:lnTo>
                    <a:lnTo>
                      <a:pt x="7619" y="1823"/>
                    </a:lnTo>
                    <a:lnTo>
                      <a:pt x="7891" y="1609"/>
                    </a:lnTo>
                    <a:lnTo>
                      <a:pt x="8163" y="1287"/>
                    </a:lnTo>
                    <a:lnTo>
                      <a:pt x="8435" y="1019"/>
                    </a:lnTo>
                    <a:lnTo>
                      <a:pt x="8571" y="858"/>
                    </a:lnTo>
                    <a:lnTo>
                      <a:pt x="8844" y="643"/>
                    </a:lnTo>
                    <a:lnTo>
                      <a:pt x="8980" y="483"/>
                    </a:lnTo>
                    <a:lnTo>
                      <a:pt x="9116" y="375"/>
                    </a:lnTo>
                    <a:lnTo>
                      <a:pt x="9524" y="268"/>
                    </a:lnTo>
                    <a:lnTo>
                      <a:pt x="9524" y="107"/>
                    </a:lnTo>
                    <a:lnTo>
                      <a:pt x="9932" y="107"/>
                    </a:lnTo>
                    <a:lnTo>
                      <a:pt x="10068" y="54"/>
                    </a:lnTo>
                    <a:lnTo>
                      <a:pt x="10204" y="0"/>
                    </a:lnTo>
                    <a:lnTo>
                      <a:pt x="10476" y="54"/>
                    </a:lnTo>
                    <a:lnTo>
                      <a:pt x="10748" y="54"/>
                    </a:lnTo>
                    <a:lnTo>
                      <a:pt x="10884" y="107"/>
                    </a:lnTo>
                    <a:lnTo>
                      <a:pt x="11156" y="214"/>
                    </a:lnTo>
                    <a:lnTo>
                      <a:pt x="11293" y="322"/>
                    </a:lnTo>
                    <a:lnTo>
                      <a:pt x="11565" y="536"/>
                    </a:lnTo>
                    <a:lnTo>
                      <a:pt x="11837" y="751"/>
                    </a:lnTo>
                    <a:lnTo>
                      <a:pt x="12109" y="1019"/>
                    </a:lnTo>
                    <a:lnTo>
                      <a:pt x="12245" y="1233"/>
                    </a:lnTo>
                    <a:lnTo>
                      <a:pt x="12381" y="1609"/>
                    </a:lnTo>
                    <a:lnTo>
                      <a:pt x="12653" y="1877"/>
                    </a:lnTo>
                    <a:lnTo>
                      <a:pt x="12925" y="2306"/>
                    </a:lnTo>
                    <a:lnTo>
                      <a:pt x="13061" y="2735"/>
                    </a:lnTo>
                    <a:lnTo>
                      <a:pt x="13469" y="3110"/>
                    </a:lnTo>
                    <a:lnTo>
                      <a:pt x="13469" y="3539"/>
                    </a:lnTo>
                    <a:lnTo>
                      <a:pt x="13741" y="3968"/>
                    </a:lnTo>
                    <a:lnTo>
                      <a:pt x="14150" y="4450"/>
                    </a:lnTo>
                    <a:lnTo>
                      <a:pt x="14286" y="4987"/>
                    </a:lnTo>
                    <a:lnTo>
                      <a:pt x="14558" y="5469"/>
                    </a:lnTo>
                    <a:lnTo>
                      <a:pt x="14694" y="6005"/>
                    </a:lnTo>
                    <a:lnTo>
                      <a:pt x="14966" y="6542"/>
                    </a:lnTo>
                    <a:lnTo>
                      <a:pt x="15102" y="7024"/>
                    </a:lnTo>
                    <a:lnTo>
                      <a:pt x="15374" y="7614"/>
                    </a:lnTo>
                    <a:lnTo>
                      <a:pt x="15646" y="8150"/>
                    </a:lnTo>
                    <a:lnTo>
                      <a:pt x="15918" y="8794"/>
                    </a:lnTo>
                    <a:lnTo>
                      <a:pt x="16054" y="9330"/>
                    </a:lnTo>
                    <a:lnTo>
                      <a:pt x="16190" y="9866"/>
                    </a:lnTo>
                    <a:lnTo>
                      <a:pt x="16599" y="10456"/>
                    </a:lnTo>
                    <a:lnTo>
                      <a:pt x="16735" y="11046"/>
                    </a:lnTo>
                    <a:lnTo>
                      <a:pt x="17007" y="11635"/>
                    </a:lnTo>
                    <a:lnTo>
                      <a:pt x="17143" y="12172"/>
                    </a:lnTo>
                    <a:lnTo>
                      <a:pt x="17279" y="12761"/>
                    </a:lnTo>
                    <a:lnTo>
                      <a:pt x="17551" y="13298"/>
                    </a:lnTo>
                    <a:lnTo>
                      <a:pt x="17687" y="13834"/>
                    </a:lnTo>
                    <a:lnTo>
                      <a:pt x="17959" y="14370"/>
                    </a:lnTo>
                    <a:lnTo>
                      <a:pt x="18095" y="14960"/>
                    </a:lnTo>
                    <a:lnTo>
                      <a:pt x="18231" y="15442"/>
                    </a:lnTo>
                    <a:lnTo>
                      <a:pt x="18367" y="15871"/>
                    </a:lnTo>
                    <a:lnTo>
                      <a:pt x="18639" y="16461"/>
                    </a:lnTo>
                    <a:lnTo>
                      <a:pt x="18776" y="16836"/>
                    </a:lnTo>
                    <a:lnTo>
                      <a:pt x="19048" y="17265"/>
                    </a:lnTo>
                    <a:lnTo>
                      <a:pt x="19184" y="17748"/>
                    </a:lnTo>
                    <a:lnTo>
                      <a:pt x="19320" y="18177"/>
                    </a:lnTo>
                    <a:lnTo>
                      <a:pt x="19456" y="18552"/>
                    </a:lnTo>
                    <a:lnTo>
                      <a:pt x="19456" y="18874"/>
                    </a:lnTo>
                    <a:lnTo>
                      <a:pt x="19592" y="19196"/>
                    </a:lnTo>
                    <a:lnTo>
                      <a:pt x="19728" y="19517"/>
                    </a:lnTo>
                    <a:lnTo>
                      <a:pt x="19864" y="19732"/>
                    </a:lnTo>
                    <a:lnTo>
                      <a:pt x="19864" y="19946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68" name="AutoShape 110">
                <a:extLst>
                  <a:ext uri="{FF2B5EF4-FFF2-40B4-BE49-F238E27FC236}">
                    <a16:creationId xmlns:a16="http://schemas.microsoft.com/office/drawing/2014/main" id="{A76850B9-948E-3625-C77E-809D265B36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" y="688"/>
                <a:ext cx="94" cy="13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55" y="611"/>
                    </a:lnTo>
                    <a:lnTo>
                      <a:pt x="382" y="1278"/>
                    </a:lnTo>
                    <a:lnTo>
                      <a:pt x="510" y="1889"/>
                    </a:lnTo>
                    <a:lnTo>
                      <a:pt x="764" y="2500"/>
                    </a:lnTo>
                    <a:lnTo>
                      <a:pt x="892" y="3111"/>
                    </a:lnTo>
                    <a:lnTo>
                      <a:pt x="1274" y="3722"/>
                    </a:lnTo>
                    <a:lnTo>
                      <a:pt x="1401" y="4333"/>
                    </a:lnTo>
                    <a:lnTo>
                      <a:pt x="1656" y="4944"/>
                    </a:lnTo>
                    <a:lnTo>
                      <a:pt x="1656" y="5556"/>
                    </a:lnTo>
                    <a:lnTo>
                      <a:pt x="2038" y="6167"/>
                    </a:lnTo>
                    <a:lnTo>
                      <a:pt x="2166" y="6778"/>
                    </a:lnTo>
                    <a:lnTo>
                      <a:pt x="2420" y="7278"/>
                    </a:lnTo>
                    <a:lnTo>
                      <a:pt x="2675" y="7889"/>
                    </a:lnTo>
                    <a:lnTo>
                      <a:pt x="2803" y="8444"/>
                    </a:lnTo>
                    <a:lnTo>
                      <a:pt x="2930" y="9000"/>
                    </a:lnTo>
                    <a:lnTo>
                      <a:pt x="3185" y="9611"/>
                    </a:lnTo>
                    <a:lnTo>
                      <a:pt x="3312" y="10167"/>
                    </a:lnTo>
                    <a:lnTo>
                      <a:pt x="3567" y="10667"/>
                    </a:lnTo>
                    <a:lnTo>
                      <a:pt x="3822" y="11167"/>
                    </a:lnTo>
                    <a:lnTo>
                      <a:pt x="3949" y="11722"/>
                    </a:lnTo>
                    <a:lnTo>
                      <a:pt x="4076" y="12167"/>
                    </a:lnTo>
                    <a:lnTo>
                      <a:pt x="4331" y="12722"/>
                    </a:lnTo>
                    <a:lnTo>
                      <a:pt x="4586" y="13222"/>
                    </a:lnTo>
                    <a:lnTo>
                      <a:pt x="4713" y="13667"/>
                    </a:lnTo>
                    <a:lnTo>
                      <a:pt x="4968" y="14111"/>
                    </a:lnTo>
                    <a:lnTo>
                      <a:pt x="5096" y="14556"/>
                    </a:lnTo>
                    <a:lnTo>
                      <a:pt x="5350" y="15056"/>
                    </a:lnTo>
                    <a:lnTo>
                      <a:pt x="5605" y="15444"/>
                    </a:lnTo>
                    <a:lnTo>
                      <a:pt x="5732" y="15833"/>
                    </a:lnTo>
                    <a:lnTo>
                      <a:pt x="6115" y="16222"/>
                    </a:lnTo>
                    <a:lnTo>
                      <a:pt x="6115" y="16611"/>
                    </a:lnTo>
                    <a:lnTo>
                      <a:pt x="6369" y="16944"/>
                    </a:lnTo>
                    <a:lnTo>
                      <a:pt x="6624" y="17333"/>
                    </a:lnTo>
                    <a:lnTo>
                      <a:pt x="6752" y="17611"/>
                    </a:lnTo>
                    <a:lnTo>
                      <a:pt x="7006" y="17944"/>
                    </a:lnTo>
                    <a:lnTo>
                      <a:pt x="7261" y="18167"/>
                    </a:lnTo>
                    <a:lnTo>
                      <a:pt x="7389" y="18500"/>
                    </a:lnTo>
                    <a:lnTo>
                      <a:pt x="7516" y="18722"/>
                    </a:lnTo>
                    <a:lnTo>
                      <a:pt x="7898" y="18944"/>
                    </a:lnTo>
                    <a:lnTo>
                      <a:pt x="8025" y="19167"/>
                    </a:lnTo>
                    <a:lnTo>
                      <a:pt x="8280" y="19333"/>
                    </a:lnTo>
                    <a:lnTo>
                      <a:pt x="8408" y="19500"/>
                    </a:lnTo>
                    <a:lnTo>
                      <a:pt x="8535" y="19667"/>
                    </a:lnTo>
                    <a:lnTo>
                      <a:pt x="8917" y="19722"/>
                    </a:lnTo>
                    <a:lnTo>
                      <a:pt x="9045" y="19889"/>
                    </a:lnTo>
                    <a:lnTo>
                      <a:pt x="9299" y="19889"/>
                    </a:lnTo>
                    <a:lnTo>
                      <a:pt x="9427" y="19944"/>
                    </a:lnTo>
                    <a:lnTo>
                      <a:pt x="9682" y="19944"/>
                    </a:lnTo>
                    <a:lnTo>
                      <a:pt x="9936" y="19944"/>
                    </a:lnTo>
                    <a:lnTo>
                      <a:pt x="10064" y="19889"/>
                    </a:lnTo>
                    <a:lnTo>
                      <a:pt x="10318" y="19889"/>
                    </a:lnTo>
                    <a:lnTo>
                      <a:pt x="10573" y="19722"/>
                    </a:lnTo>
                    <a:lnTo>
                      <a:pt x="10701" y="19500"/>
                    </a:lnTo>
                    <a:lnTo>
                      <a:pt x="10955" y="19333"/>
                    </a:lnTo>
                    <a:lnTo>
                      <a:pt x="11338" y="19111"/>
                    </a:lnTo>
                    <a:lnTo>
                      <a:pt x="11465" y="18833"/>
                    </a:lnTo>
                    <a:lnTo>
                      <a:pt x="11720" y="18500"/>
                    </a:lnTo>
                    <a:lnTo>
                      <a:pt x="11975" y="18278"/>
                    </a:lnTo>
                    <a:lnTo>
                      <a:pt x="12102" y="17944"/>
                    </a:lnTo>
                    <a:lnTo>
                      <a:pt x="12484" y="17556"/>
                    </a:lnTo>
                    <a:lnTo>
                      <a:pt x="12739" y="17111"/>
                    </a:lnTo>
                    <a:lnTo>
                      <a:pt x="12866" y="16722"/>
                    </a:lnTo>
                    <a:lnTo>
                      <a:pt x="13248" y="16278"/>
                    </a:lnTo>
                    <a:lnTo>
                      <a:pt x="13376" y="15778"/>
                    </a:lnTo>
                    <a:lnTo>
                      <a:pt x="13758" y="15333"/>
                    </a:lnTo>
                    <a:lnTo>
                      <a:pt x="13885" y="14833"/>
                    </a:lnTo>
                    <a:lnTo>
                      <a:pt x="14140" y="14389"/>
                    </a:lnTo>
                    <a:lnTo>
                      <a:pt x="14395" y="13833"/>
                    </a:lnTo>
                    <a:lnTo>
                      <a:pt x="14777" y="13333"/>
                    </a:lnTo>
                    <a:lnTo>
                      <a:pt x="14904" y="12778"/>
                    </a:lnTo>
                    <a:lnTo>
                      <a:pt x="15159" y="12167"/>
                    </a:lnTo>
                    <a:lnTo>
                      <a:pt x="15414" y="11611"/>
                    </a:lnTo>
                    <a:lnTo>
                      <a:pt x="15669" y="11111"/>
                    </a:lnTo>
                    <a:lnTo>
                      <a:pt x="15924" y="10556"/>
                    </a:lnTo>
                    <a:lnTo>
                      <a:pt x="16051" y="10000"/>
                    </a:lnTo>
                    <a:lnTo>
                      <a:pt x="16306" y="9444"/>
                    </a:lnTo>
                    <a:lnTo>
                      <a:pt x="16561" y="8944"/>
                    </a:lnTo>
                    <a:lnTo>
                      <a:pt x="16815" y="8389"/>
                    </a:lnTo>
                    <a:lnTo>
                      <a:pt x="17070" y="7833"/>
                    </a:lnTo>
                    <a:lnTo>
                      <a:pt x="17197" y="7278"/>
                    </a:lnTo>
                    <a:lnTo>
                      <a:pt x="17325" y="6778"/>
                    </a:lnTo>
                    <a:lnTo>
                      <a:pt x="17707" y="6222"/>
                    </a:lnTo>
                    <a:lnTo>
                      <a:pt x="17834" y="5722"/>
                    </a:lnTo>
                    <a:lnTo>
                      <a:pt x="18217" y="5222"/>
                    </a:lnTo>
                    <a:lnTo>
                      <a:pt x="18344" y="4722"/>
                    </a:lnTo>
                    <a:lnTo>
                      <a:pt x="18344" y="4278"/>
                    </a:lnTo>
                    <a:lnTo>
                      <a:pt x="18726" y="3833"/>
                    </a:lnTo>
                    <a:lnTo>
                      <a:pt x="18854" y="3389"/>
                    </a:lnTo>
                    <a:lnTo>
                      <a:pt x="19108" y="3000"/>
                    </a:lnTo>
                    <a:lnTo>
                      <a:pt x="19236" y="2611"/>
                    </a:lnTo>
                    <a:lnTo>
                      <a:pt x="19363" y="2278"/>
                    </a:lnTo>
                    <a:lnTo>
                      <a:pt x="19490" y="1889"/>
                    </a:lnTo>
                    <a:lnTo>
                      <a:pt x="19490" y="1611"/>
                    </a:lnTo>
                    <a:lnTo>
                      <a:pt x="19745" y="1333"/>
                    </a:lnTo>
                    <a:lnTo>
                      <a:pt x="19745" y="1056"/>
                    </a:lnTo>
                    <a:lnTo>
                      <a:pt x="19873" y="833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69" name="AutoShape 111">
                <a:extLst>
                  <a:ext uri="{FF2B5EF4-FFF2-40B4-BE49-F238E27FC236}">
                    <a16:creationId xmlns:a16="http://schemas.microsoft.com/office/drawing/2014/main" id="{AFF03BF0-DC18-BBFC-B567-D8CCC53A95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8" y="554"/>
                <a:ext cx="87" cy="144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063"/>
                    </a:moveTo>
                    <a:lnTo>
                      <a:pt x="272" y="18490"/>
                    </a:lnTo>
                    <a:lnTo>
                      <a:pt x="544" y="17865"/>
                    </a:lnTo>
                    <a:lnTo>
                      <a:pt x="680" y="17292"/>
                    </a:lnTo>
                    <a:lnTo>
                      <a:pt x="816" y="16667"/>
                    </a:lnTo>
                    <a:lnTo>
                      <a:pt x="1088" y="16042"/>
                    </a:lnTo>
                    <a:lnTo>
                      <a:pt x="1361" y="15469"/>
                    </a:lnTo>
                    <a:lnTo>
                      <a:pt x="1633" y="14896"/>
                    </a:lnTo>
                    <a:lnTo>
                      <a:pt x="1769" y="14271"/>
                    </a:lnTo>
                    <a:lnTo>
                      <a:pt x="1905" y="13698"/>
                    </a:lnTo>
                    <a:lnTo>
                      <a:pt x="2177" y="13177"/>
                    </a:lnTo>
                    <a:lnTo>
                      <a:pt x="2449" y="12552"/>
                    </a:lnTo>
                    <a:lnTo>
                      <a:pt x="2721" y="12031"/>
                    </a:lnTo>
                    <a:lnTo>
                      <a:pt x="2993" y="11458"/>
                    </a:lnTo>
                    <a:lnTo>
                      <a:pt x="2993" y="10885"/>
                    </a:lnTo>
                    <a:lnTo>
                      <a:pt x="3265" y="10313"/>
                    </a:lnTo>
                    <a:lnTo>
                      <a:pt x="3537" y="9792"/>
                    </a:lnTo>
                    <a:lnTo>
                      <a:pt x="3810" y="9271"/>
                    </a:lnTo>
                    <a:lnTo>
                      <a:pt x="4082" y="8750"/>
                    </a:lnTo>
                    <a:lnTo>
                      <a:pt x="4218" y="8229"/>
                    </a:lnTo>
                    <a:lnTo>
                      <a:pt x="4354" y="7708"/>
                    </a:lnTo>
                    <a:lnTo>
                      <a:pt x="4762" y="7292"/>
                    </a:lnTo>
                    <a:lnTo>
                      <a:pt x="4898" y="6771"/>
                    </a:lnTo>
                    <a:lnTo>
                      <a:pt x="5170" y="6354"/>
                    </a:lnTo>
                    <a:lnTo>
                      <a:pt x="5306" y="5885"/>
                    </a:lnTo>
                    <a:lnTo>
                      <a:pt x="5442" y="5469"/>
                    </a:lnTo>
                    <a:lnTo>
                      <a:pt x="5850" y="5000"/>
                    </a:lnTo>
                    <a:lnTo>
                      <a:pt x="5850" y="4531"/>
                    </a:lnTo>
                    <a:lnTo>
                      <a:pt x="6259" y="4167"/>
                    </a:lnTo>
                    <a:lnTo>
                      <a:pt x="6531" y="3802"/>
                    </a:lnTo>
                    <a:lnTo>
                      <a:pt x="6531" y="3438"/>
                    </a:lnTo>
                    <a:lnTo>
                      <a:pt x="6939" y="3073"/>
                    </a:lnTo>
                    <a:lnTo>
                      <a:pt x="7075" y="2708"/>
                    </a:lnTo>
                    <a:lnTo>
                      <a:pt x="7347" y="2448"/>
                    </a:lnTo>
                    <a:lnTo>
                      <a:pt x="7483" y="2083"/>
                    </a:lnTo>
                    <a:lnTo>
                      <a:pt x="7619" y="1823"/>
                    </a:lnTo>
                    <a:lnTo>
                      <a:pt x="7891" y="1563"/>
                    </a:lnTo>
                    <a:lnTo>
                      <a:pt x="8163" y="1302"/>
                    </a:lnTo>
                    <a:lnTo>
                      <a:pt x="8435" y="1042"/>
                    </a:lnTo>
                    <a:lnTo>
                      <a:pt x="8571" y="833"/>
                    </a:lnTo>
                    <a:lnTo>
                      <a:pt x="8844" y="677"/>
                    </a:lnTo>
                    <a:lnTo>
                      <a:pt x="8980" y="521"/>
                    </a:lnTo>
                    <a:lnTo>
                      <a:pt x="9116" y="365"/>
                    </a:lnTo>
                    <a:lnTo>
                      <a:pt x="9524" y="260"/>
                    </a:lnTo>
                    <a:lnTo>
                      <a:pt x="9524" y="104"/>
                    </a:lnTo>
                    <a:lnTo>
                      <a:pt x="9932" y="104"/>
                    </a:lnTo>
                    <a:lnTo>
                      <a:pt x="10068" y="52"/>
                    </a:lnTo>
                    <a:lnTo>
                      <a:pt x="10204" y="0"/>
                    </a:lnTo>
                    <a:lnTo>
                      <a:pt x="10476" y="52"/>
                    </a:lnTo>
                    <a:lnTo>
                      <a:pt x="10748" y="52"/>
                    </a:lnTo>
                    <a:lnTo>
                      <a:pt x="10884" y="104"/>
                    </a:lnTo>
                    <a:lnTo>
                      <a:pt x="11156" y="208"/>
                    </a:lnTo>
                    <a:lnTo>
                      <a:pt x="11293" y="313"/>
                    </a:lnTo>
                    <a:lnTo>
                      <a:pt x="11565" y="521"/>
                    </a:lnTo>
                    <a:lnTo>
                      <a:pt x="11837" y="781"/>
                    </a:lnTo>
                    <a:lnTo>
                      <a:pt x="12109" y="990"/>
                    </a:lnTo>
                    <a:lnTo>
                      <a:pt x="12245" y="1250"/>
                    </a:lnTo>
                    <a:lnTo>
                      <a:pt x="12381" y="1563"/>
                    </a:lnTo>
                    <a:lnTo>
                      <a:pt x="12653" y="1875"/>
                    </a:lnTo>
                    <a:lnTo>
                      <a:pt x="12925" y="2292"/>
                    </a:lnTo>
                    <a:lnTo>
                      <a:pt x="13061" y="2708"/>
                    </a:lnTo>
                    <a:lnTo>
                      <a:pt x="13469" y="3125"/>
                    </a:lnTo>
                    <a:lnTo>
                      <a:pt x="13469" y="3542"/>
                    </a:lnTo>
                    <a:lnTo>
                      <a:pt x="13741" y="4010"/>
                    </a:lnTo>
                    <a:lnTo>
                      <a:pt x="14150" y="4427"/>
                    </a:lnTo>
                    <a:lnTo>
                      <a:pt x="14286" y="4948"/>
                    </a:lnTo>
                    <a:lnTo>
                      <a:pt x="14558" y="5469"/>
                    </a:lnTo>
                    <a:lnTo>
                      <a:pt x="14694" y="5990"/>
                    </a:lnTo>
                    <a:lnTo>
                      <a:pt x="14966" y="6510"/>
                    </a:lnTo>
                    <a:lnTo>
                      <a:pt x="15102" y="7083"/>
                    </a:lnTo>
                    <a:lnTo>
                      <a:pt x="15374" y="7656"/>
                    </a:lnTo>
                    <a:lnTo>
                      <a:pt x="15646" y="8177"/>
                    </a:lnTo>
                    <a:lnTo>
                      <a:pt x="15918" y="8802"/>
                    </a:lnTo>
                    <a:lnTo>
                      <a:pt x="16054" y="9375"/>
                    </a:lnTo>
                    <a:lnTo>
                      <a:pt x="16190" y="9896"/>
                    </a:lnTo>
                    <a:lnTo>
                      <a:pt x="16599" y="10469"/>
                    </a:lnTo>
                    <a:lnTo>
                      <a:pt x="16735" y="10990"/>
                    </a:lnTo>
                    <a:lnTo>
                      <a:pt x="17007" y="11615"/>
                    </a:lnTo>
                    <a:lnTo>
                      <a:pt x="17143" y="12135"/>
                    </a:lnTo>
                    <a:lnTo>
                      <a:pt x="17279" y="12708"/>
                    </a:lnTo>
                    <a:lnTo>
                      <a:pt x="17551" y="13281"/>
                    </a:lnTo>
                    <a:lnTo>
                      <a:pt x="17687" y="13854"/>
                    </a:lnTo>
                    <a:lnTo>
                      <a:pt x="17959" y="14375"/>
                    </a:lnTo>
                    <a:lnTo>
                      <a:pt x="18095" y="14948"/>
                    </a:lnTo>
                    <a:lnTo>
                      <a:pt x="18231" y="15469"/>
                    </a:lnTo>
                    <a:lnTo>
                      <a:pt x="18367" y="15938"/>
                    </a:lnTo>
                    <a:lnTo>
                      <a:pt x="18639" y="16406"/>
                    </a:lnTo>
                    <a:lnTo>
                      <a:pt x="18776" y="16875"/>
                    </a:lnTo>
                    <a:lnTo>
                      <a:pt x="19048" y="17292"/>
                    </a:lnTo>
                    <a:lnTo>
                      <a:pt x="19184" y="17708"/>
                    </a:lnTo>
                    <a:lnTo>
                      <a:pt x="19320" y="18177"/>
                    </a:lnTo>
                    <a:lnTo>
                      <a:pt x="19456" y="18542"/>
                    </a:lnTo>
                    <a:lnTo>
                      <a:pt x="19456" y="18906"/>
                    </a:lnTo>
                    <a:lnTo>
                      <a:pt x="19592" y="19167"/>
                    </a:lnTo>
                    <a:lnTo>
                      <a:pt x="19728" y="19479"/>
                    </a:lnTo>
                    <a:lnTo>
                      <a:pt x="19864" y="19740"/>
                    </a:lnTo>
                    <a:lnTo>
                      <a:pt x="19864" y="19948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70" name="AutoShape 112">
                <a:extLst>
                  <a:ext uri="{FF2B5EF4-FFF2-40B4-BE49-F238E27FC236}">
                    <a16:creationId xmlns:a16="http://schemas.microsoft.com/office/drawing/2014/main" id="{17560271-64AB-F7D4-3013-7E2F55C3D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4" y="692"/>
                <a:ext cx="93" cy="13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55" y="647"/>
                    </a:lnTo>
                    <a:lnTo>
                      <a:pt x="382" y="1240"/>
                    </a:lnTo>
                    <a:lnTo>
                      <a:pt x="510" y="1887"/>
                    </a:lnTo>
                    <a:lnTo>
                      <a:pt x="764" y="2534"/>
                    </a:lnTo>
                    <a:lnTo>
                      <a:pt x="892" y="3127"/>
                    </a:lnTo>
                    <a:lnTo>
                      <a:pt x="1274" y="3720"/>
                    </a:lnTo>
                    <a:lnTo>
                      <a:pt x="1401" y="4367"/>
                    </a:lnTo>
                    <a:lnTo>
                      <a:pt x="1656" y="4960"/>
                    </a:lnTo>
                    <a:lnTo>
                      <a:pt x="1656" y="5553"/>
                    </a:lnTo>
                    <a:lnTo>
                      <a:pt x="2038" y="6146"/>
                    </a:lnTo>
                    <a:lnTo>
                      <a:pt x="2166" y="6739"/>
                    </a:lnTo>
                    <a:lnTo>
                      <a:pt x="2420" y="7278"/>
                    </a:lnTo>
                    <a:lnTo>
                      <a:pt x="2675" y="7925"/>
                    </a:lnTo>
                    <a:lnTo>
                      <a:pt x="2803" y="8464"/>
                    </a:lnTo>
                    <a:lnTo>
                      <a:pt x="2930" y="9003"/>
                    </a:lnTo>
                    <a:lnTo>
                      <a:pt x="3185" y="9596"/>
                    </a:lnTo>
                    <a:lnTo>
                      <a:pt x="3312" y="10135"/>
                    </a:lnTo>
                    <a:lnTo>
                      <a:pt x="3567" y="10674"/>
                    </a:lnTo>
                    <a:lnTo>
                      <a:pt x="3822" y="11213"/>
                    </a:lnTo>
                    <a:lnTo>
                      <a:pt x="3949" y="11698"/>
                    </a:lnTo>
                    <a:lnTo>
                      <a:pt x="4076" y="12237"/>
                    </a:lnTo>
                    <a:lnTo>
                      <a:pt x="4331" y="12722"/>
                    </a:lnTo>
                    <a:lnTo>
                      <a:pt x="4586" y="13154"/>
                    </a:lnTo>
                    <a:lnTo>
                      <a:pt x="4713" y="13693"/>
                    </a:lnTo>
                    <a:lnTo>
                      <a:pt x="4968" y="14124"/>
                    </a:lnTo>
                    <a:lnTo>
                      <a:pt x="5096" y="14555"/>
                    </a:lnTo>
                    <a:lnTo>
                      <a:pt x="5350" y="14987"/>
                    </a:lnTo>
                    <a:lnTo>
                      <a:pt x="5605" y="15472"/>
                    </a:lnTo>
                    <a:lnTo>
                      <a:pt x="5732" y="15849"/>
                    </a:lnTo>
                    <a:lnTo>
                      <a:pt x="6115" y="16226"/>
                    </a:lnTo>
                    <a:lnTo>
                      <a:pt x="6115" y="16604"/>
                    </a:lnTo>
                    <a:lnTo>
                      <a:pt x="6369" y="16981"/>
                    </a:lnTo>
                    <a:lnTo>
                      <a:pt x="6624" y="17251"/>
                    </a:lnTo>
                    <a:lnTo>
                      <a:pt x="6752" y="17628"/>
                    </a:lnTo>
                    <a:lnTo>
                      <a:pt x="7006" y="17898"/>
                    </a:lnTo>
                    <a:lnTo>
                      <a:pt x="7261" y="18167"/>
                    </a:lnTo>
                    <a:lnTo>
                      <a:pt x="7389" y="18491"/>
                    </a:lnTo>
                    <a:lnTo>
                      <a:pt x="7516" y="18760"/>
                    </a:lnTo>
                    <a:lnTo>
                      <a:pt x="7898" y="18976"/>
                    </a:lnTo>
                    <a:lnTo>
                      <a:pt x="8025" y="19137"/>
                    </a:lnTo>
                    <a:lnTo>
                      <a:pt x="8280" y="19353"/>
                    </a:lnTo>
                    <a:lnTo>
                      <a:pt x="8408" y="19461"/>
                    </a:lnTo>
                    <a:lnTo>
                      <a:pt x="8535" y="19677"/>
                    </a:lnTo>
                    <a:lnTo>
                      <a:pt x="8917" y="19730"/>
                    </a:lnTo>
                    <a:lnTo>
                      <a:pt x="9045" y="19892"/>
                    </a:lnTo>
                    <a:lnTo>
                      <a:pt x="9299" y="19892"/>
                    </a:lnTo>
                    <a:lnTo>
                      <a:pt x="9427" y="19946"/>
                    </a:lnTo>
                    <a:lnTo>
                      <a:pt x="9682" y="19946"/>
                    </a:lnTo>
                    <a:lnTo>
                      <a:pt x="9936" y="19946"/>
                    </a:lnTo>
                    <a:lnTo>
                      <a:pt x="10064" y="19892"/>
                    </a:lnTo>
                    <a:lnTo>
                      <a:pt x="10318" y="19892"/>
                    </a:lnTo>
                    <a:lnTo>
                      <a:pt x="10573" y="19677"/>
                    </a:lnTo>
                    <a:lnTo>
                      <a:pt x="10701" y="19515"/>
                    </a:lnTo>
                    <a:lnTo>
                      <a:pt x="10955" y="19353"/>
                    </a:lnTo>
                    <a:lnTo>
                      <a:pt x="11338" y="19137"/>
                    </a:lnTo>
                    <a:lnTo>
                      <a:pt x="11465" y="18868"/>
                    </a:lnTo>
                    <a:lnTo>
                      <a:pt x="11720" y="18544"/>
                    </a:lnTo>
                    <a:lnTo>
                      <a:pt x="11975" y="18275"/>
                    </a:lnTo>
                    <a:lnTo>
                      <a:pt x="12102" y="17844"/>
                    </a:lnTo>
                    <a:lnTo>
                      <a:pt x="12484" y="17466"/>
                    </a:lnTo>
                    <a:lnTo>
                      <a:pt x="12739" y="17197"/>
                    </a:lnTo>
                    <a:lnTo>
                      <a:pt x="12866" y="16765"/>
                    </a:lnTo>
                    <a:lnTo>
                      <a:pt x="13248" y="16280"/>
                    </a:lnTo>
                    <a:lnTo>
                      <a:pt x="13376" y="15849"/>
                    </a:lnTo>
                    <a:lnTo>
                      <a:pt x="13758" y="15364"/>
                    </a:lnTo>
                    <a:lnTo>
                      <a:pt x="13885" y="14879"/>
                    </a:lnTo>
                    <a:lnTo>
                      <a:pt x="14140" y="14340"/>
                    </a:lnTo>
                    <a:lnTo>
                      <a:pt x="14395" y="13801"/>
                    </a:lnTo>
                    <a:lnTo>
                      <a:pt x="14777" y="13315"/>
                    </a:lnTo>
                    <a:lnTo>
                      <a:pt x="14904" y="12776"/>
                    </a:lnTo>
                    <a:lnTo>
                      <a:pt x="15159" y="12237"/>
                    </a:lnTo>
                    <a:lnTo>
                      <a:pt x="15414" y="11644"/>
                    </a:lnTo>
                    <a:lnTo>
                      <a:pt x="15669" y="11105"/>
                    </a:lnTo>
                    <a:lnTo>
                      <a:pt x="15924" y="10566"/>
                    </a:lnTo>
                    <a:lnTo>
                      <a:pt x="16051" y="10027"/>
                    </a:lnTo>
                    <a:lnTo>
                      <a:pt x="16306" y="9488"/>
                    </a:lnTo>
                    <a:lnTo>
                      <a:pt x="16561" y="8895"/>
                    </a:lnTo>
                    <a:lnTo>
                      <a:pt x="16815" y="8356"/>
                    </a:lnTo>
                    <a:lnTo>
                      <a:pt x="17070" y="7763"/>
                    </a:lnTo>
                    <a:lnTo>
                      <a:pt x="17197" y="7278"/>
                    </a:lnTo>
                    <a:lnTo>
                      <a:pt x="17325" y="6792"/>
                    </a:lnTo>
                    <a:lnTo>
                      <a:pt x="17707" y="6253"/>
                    </a:lnTo>
                    <a:lnTo>
                      <a:pt x="17834" y="5714"/>
                    </a:lnTo>
                    <a:lnTo>
                      <a:pt x="18217" y="5229"/>
                    </a:lnTo>
                    <a:lnTo>
                      <a:pt x="18344" y="4744"/>
                    </a:lnTo>
                    <a:lnTo>
                      <a:pt x="18344" y="4313"/>
                    </a:lnTo>
                    <a:lnTo>
                      <a:pt x="18726" y="3881"/>
                    </a:lnTo>
                    <a:lnTo>
                      <a:pt x="18854" y="3396"/>
                    </a:lnTo>
                    <a:lnTo>
                      <a:pt x="19108" y="3019"/>
                    </a:lnTo>
                    <a:lnTo>
                      <a:pt x="19236" y="2588"/>
                    </a:lnTo>
                    <a:lnTo>
                      <a:pt x="19363" y="2210"/>
                    </a:lnTo>
                    <a:lnTo>
                      <a:pt x="19490" y="1887"/>
                    </a:lnTo>
                    <a:lnTo>
                      <a:pt x="19490" y="1671"/>
                    </a:lnTo>
                    <a:lnTo>
                      <a:pt x="19745" y="1348"/>
                    </a:lnTo>
                    <a:lnTo>
                      <a:pt x="19745" y="1024"/>
                    </a:lnTo>
                    <a:lnTo>
                      <a:pt x="19873" y="863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71" name="AutoShape 113">
                <a:extLst>
                  <a:ext uri="{FF2B5EF4-FFF2-40B4-BE49-F238E27FC236}">
                    <a16:creationId xmlns:a16="http://schemas.microsoft.com/office/drawing/2014/main" id="{8A2D4F54-6B04-A4A4-E068-8573C8EED0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1" y="565"/>
                <a:ext cx="88" cy="13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088"/>
                    </a:moveTo>
                    <a:lnTo>
                      <a:pt x="272" y="18499"/>
                    </a:lnTo>
                    <a:lnTo>
                      <a:pt x="544" y="17909"/>
                    </a:lnTo>
                    <a:lnTo>
                      <a:pt x="680" y="17265"/>
                    </a:lnTo>
                    <a:lnTo>
                      <a:pt x="816" y="16676"/>
                    </a:lnTo>
                    <a:lnTo>
                      <a:pt x="1088" y="16086"/>
                    </a:lnTo>
                    <a:lnTo>
                      <a:pt x="1361" y="15496"/>
                    </a:lnTo>
                    <a:lnTo>
                      <a:pt x="1633" y="14906"/>
                    </a:lnTo>
                    <a:lnTo>
                      <a:pt x="1769" y="14316"/>
                    </a:lnTo>
                    <a:lnTo>
                      <a:pt x="1905" y="13673"/>
                    </a:lnTo>
                    <a:lnTo>
                      <a:pt x="2177" y="13137"/>
                    </a:lnTo>
                    <a:lnTo>
                      <a:pt x="2449" y="12601"/>
                    </a:lnTo>
                    <a:lnTo>
                      <a:pt x="2721" y="12064"/>
                    </a:lnTo>
                    <a:lnTo>
                      <a:pt x="2993" y="11421"/>
                    </a:lnTo>
                    <a:lnTo>
                      <a:pt x="2993" y="10885"/>
                    </a:lnTo>
                    <a:lnTo>
                      <a:pt x="3265" y="10349"/>
                    </a:lnTo>
                    <a:lnTo>
                      <a:pt x="3537" y="9812"/>
                    </a:lnTo>
                    <a:lnTo>
                      <a:pt x="3810" y="9276"/>
                    </a:lnTo>
                    <a:lnTo>
                      <a:pt x="4082" y="8794"/>
                    </a:lnTo>
                    <a:lnTo>
                      <a:pt x="4218" y="8257"/>
                    </a:lnTo>
                    <a:lnTo>
                      <a:pt x="4354" y="7721"/>
                    </a:lnTo>
                    <a:lnTo>
                      <a:pt x="4762" y="7239"/>
                    </a:lnTo>
                    <a:lnTo>
                      <a:pt x="4898" y="6756"/>
                    </a:lnTo>
                    <a:lnTo>
                      <a:pt x="5170" y="6327"/>
                    </a:lnTo>
                    <a:lnTo>
                      <a:pt x="5306" y="5898"/>
                    </a:lnTo>
                    <a:lnTo>
                      <a:pt x="5442" y="5469"/>
                    </a:lnTo>
                    <a:lnTo>
                      <a:pt x="5850" y="4987"/>
                    </a:lnTo>
                    <a:lnTo>
                      <a:pt x="5850" y="4558"/>
                    </a:lnTo>
                    <a:lnTo>
                      <a:pt x="6259" y="4129"/>
                    </a:lnTo>
                    <a:lnTo>
                      <a:pt x="6531" y="3753"/>
                    </a:lnTo>
                    <a:lnTo>
                      <a:pt x="6531" y="3432"/>
                    </a:lnTo>
                    <a:lnTo>
                      <a:pt x="6939" y="3003"/>
                    </a:lnTo>
                    <a:lnTo>
                      <a:pt x="7075" y="2735"/>
                    </a:lnTo>
                    <a:lnTo>
                      <a:pt x="7347" y="2413"/>
                    </a:lnTo>
                    <a:lnTo>
                      <a:pt x="7483" y="2091"/>
                    </a:lnTo>
                    <a:lnTo>
                      <a:pt x="7619" y="1823"/>
                    </a:lnTo>
                    <a:lnTo>
                      <a:pt x="7891" y="1609"/>
                    </a:lnTo>
                    <a:lnTo>
                      <a:pt x="8163" y="1287"/>
                    </a:lnTo>
                    <a:lnTo>
                      <a:pt x="8435" y="1019"/>
                    </a:lnTo>
                    <a:lnTo>
                      <a:pt x="8571" y="858"/>
                    </a:lnTo>
                    <a:lnTo>
                      <a:pt x="8844" y="643"/>
                    </a:lnTo>
                    <a:lnTo>
                      <a:pt x="8980" y="483"/>
                    </a:lnTo>
                    <a:lnTo>
                      <a:pt x="9116" y="375"/>
                    </a:lnTo>
                    <a:lnTo>
                      <a:pt x="9524" y="268"/>
                    </a:lnTo>
                    <a:lnTo>
                      <a:pt x="9524" y="107"/>
                    </a:lnTo>
                    <a:lnTo>
                      <a:pt x="9932" y="107"/>
                    </a:lnTo>
                    <a:lnTo>
                      <a:pt x="10068" y="54"/>
                    </a:lnTo>
                    <a:lnTo>
                      <a:pt x="10204" y="0"/>
                    </a:lnTo>
                    <a:lnTo>
                      <a:pt x="10476" y="54"/>
                    </a:lnTo>
                    <a:lnTo>
                      <a:pt x="10748" y="54"/>
                    </a:lnTo>
                    <a:lnTo>
                      <a:pt x="10884" y="107"/>
                    </a:lnTo>
                    <a:lnTo>
                      <a:pt x="11156" y="214"/>
                    </a:lnTo>
                    <a:lnTo>
                      <a:pt x="11293" y="322"/>
                    </a:lnTo>
                    <a:lnTo>
                      <a:pt x="11565" y="536"/>
                    </a:lnTo>
                    <a:lnTo>
                      <a:pt x="11837" y="751"/>
                    </a:lnTo>
                    <a:lnTo>
                      <a:pt x="12109" y="1019"/>
                    </a:lnTo>
                    <a:lnTo>
                      <a:pt x="12245" y="1233"/>
                    </a:lnTo>
                    <a:lnTo>
                      <a:pt x="12381" y="1609"/>
                    </a:lnTo>
                    <a:lnTo>
                      <a:pt x="12653" y="1877"/>
                    </a:lnTo>
                    <a:lnTo>
                      <a:pt x="12925" y="2306"/>
                    </a:lnTo>
                    <a:lnTo>
                      <a:pt x="13061" y="2735"/>
                    </a:lnTo>
                    <a:lnTo>
                      <a:pt x="13469" y="3110"/>
                    </a:lnTo>
                    <a:lnTo>
                      <a:pt x="13469" y="3539"/>
                    </a:lnTo>
                    <a:lnTo>
                      <a:pt x="13741" y="3968"/>
                    </a:lnTo>
                    <a:lnTo>
                      <a:pt x="14150" y="4450"/>
                    </a:lnTo>
                    <a:lnTo>
                      <a:pt x="14286" y="4987"/>
                    </a:lnTo>
                    <a:lnTo>
                      <a:pt x="14558" y="5469"/>
                    </a:lnTo>
                    <a:lnTo>
                      <a:pt x="14694" y="6005"/>
                    </a:lnTo>
                    <a:lnTo>
                      <a:pt x="14966" y="6542"/>
                    </a:lnTo>
                    <a:lnTo>
                      <a:pt x="15102" y="7024"/>
                    </a:lnTo>
                    <a:lnTo>
                      <a:pt x="15374" y="7614"/>
                    </a:lnTo>
                    <a:lnTo>
                      <a:pt x="15646" y="8150"/>
                    </a:lnTo>
                    <a:lnTo>
                      <a:pt x="15918" y="8794"/>
                    </a:lnTo>
                    <a:lnTo>
                      <a:pt x="16054" y="9330"/>
                    </a:lnTo>
                    <a:lnTo>
                      <a:pt x="16190" y="9866"/>
                    </a:lnTo>
                    <a:lnTo>
                      <a:pt x="16599" y="10456"/>
                    </a:lnTo>
                    <a:lnTo>
                      <a:pt x="16735" y="11046"/>
                    </a:lnTo>
                    <a:lnTo>
                      <a:pt x="17007" y="11635"/>
                    </a:lnTo>
                    <a:lnTo>
                      <a:pt x="17143" y="12172"/>
                    </a:lnTo>
                    <a:lnTo>
                      <a:pt x="17279" y="12761"/>
                    </a:lnTo>
                    <a:lnTo>
                      <a:pt x="17551" y="13298"/>
                    </a:lnTo>
                    <a:lnTo>
                      <a:pt x="17687" y="13834"/>
                    </a:lnTo>
                    <a:lnTo>
                      <a:pt x="17959" y="14370"/>
                    </a:lnTo>
                    <a:lnTo>
                      <a:pt x="18095" y="14960"/>
                    </a:lnTo>
                    <a:lnTo>
                      <a:pt x="18231" y="15442"/>
                    </a:lnTo>
                    <a:lnTo>
                      <a:pt x="18367" y="15871"/>
                    </a:lnTo>
                    <a:lnTo>
                      <a:pt x="18639" y="16461"/>
                    </a:lnTo>
                    <a:lnTo>
                      <a:pt x="18776" y="16836"/>
                    </a:lnTo>
                    <a:lnTo>
                      <a:pt x="19048" y="17265"/>
                    </a:lnTo>
                    <a:lnTo>
                      <a:pt x="19184" y="17748"/>
                    </a:lnTo>
                    <a:lnTo>
                      <a:pt x="19320" y="18177"/>
                    </a:lnTo>
                    <a:lnTo>
                      <a:pt x="19456" y="18552"/>
                    </a:lnTo>
                    <a:lnTo>
                      <a:pt x="19456" y="18874"/>
                    </a:lnTo>
                    <a:lnTo>
                      <a:pt x="19592" y="19196"/>
                    </a:lnTo>
                    <a:lnTo>
                      <a:pt x="19728" y="19517"/>
                    </a:lnTo>
                    <a:lnTo>
                      <a:pt x="19864" y="19732"/>
                    </a:lnTo>
                    <a:lnTo>
                      <a:pt x="19864" y="19946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72" name="AutoShape 114">
                <a:extLst>
                  <a:ext uri="{FF2B5EF4-FFF2-40B4-BE49-F238E27FC236}">
                    <a16:creationId xmlns:a16="http://schemas.microsoft.com/office/drawing/2014/main" id="{32C9BCCA-014B-22F9-2C2E-3E15BB01D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8" y="691"/>
                <a:ext cx="93" cy="134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55" y="611"/>
                    </a:lnTo>
                    <a:lnTo>
                      <a:pt x="382" y="1278"/>
                    </a:lnTo>
                    <a:lnTo>
                      <a:pt x="510" y="1889"/>
                    </a:lnTo>
                    <a:lnTo>
                      <a:pt x="764" y="2500"/>
                    </a:lnTo>
                    <a:lnTo>
                      <a:pt x="892" y="3111"/>
                    </a:lnTo>
                    <a:lnTo>
                      <a:pt x="1274" y="3722"/>
                    </a:lnTo>
                    <a:lnTo>
                      <a:pt x="1401" y="4333"/>
                    </a:lnTo>
                    <a:lnTo>
                      <a:pt x="1656" y="4944"/>
                    </a:lnTo>
                    <a:lnTo>
                      <a:pt x="1656" y="5556"/>
                    </a:lnTo>
                    <a:lnTo>
                      <a:pt x="2038" y="6167"/>
                    </a:lnTo>
                    <a:lnTo>
                      <a:pt x="2166" y="6778"/>
                    </a:lnTo>
                    <a:lnTo>
                      <a:pt x="2420" y="7278"/>
                    </a:lnTo>
                    <a:lnTo>
                      <a:pt x="2675" y="7889"/>
                    </a:lnTo>
                    <a:lnTo>
                      <a:pt x="2803" y="8444"/>
                    </a:lnTo>
                    <a:lnTo>
                      <a:pt x="2930" y="9000"/>
                    </a:lnTo>
                    <a:lnTo>
                      <a:pt x="3185" y="9611"/>
                    </a:lnTo>
                    <a:lnTo>
                      <a:pt x="3312" y="10167"/>
                    </a:lnTo>
                    <a:lnTo>
                      <a:pt x="3567" y="10667"/>
                    </a:lnTo>
                    <a:lnTo>
                      <a:pt x="3822" y="11167"/>
                    </a:lnTo>
                    <a:lnTo>
                      <a:pt x="3949" y="11722"/>
                    </a:lnTo>
                    <a:lnTo>
                      <a:pt x="4076" y="12167"/>
                    </a:lnTo>
                    <a:lnTo>
                      <a:pt x="4331" y="12722"/>
                    </a:lnTo>
                    <a:lnTo>
                      <a:pt x="4586" y="13222"/>
                    </a:lnTo>
                    <a:lnTo>
                      <a:pt x="4713" y="13667"/>
                    </a:lnTo>
                    <a:lnTo>
                      <a:pt x="4968" y="14111"/>
                    </a:lnTo>
                    <a:lnTo>
                      <a:pt x="5096" y="14556"/>
                    </a:lnTo>
                    <a:lnTo>
                      <a:pt x="5350" y="15056"/>
                    </a:lnTo>
                    <a:lnTo>
                      <a:pt x="5605" y="15444"/>
                    </a:lnTo>
                    <a:lnTo>
                      <a:pt x="5732" y="15833"/>
                    </a:lnTo>
                    <a:lnTo>
                      <a:pt x="6115" y="16222"/>
                    </a:lnTo>
                    <a:lnTo>
                      <a:pt x="6115" y="16611"/>
                    </a:lnTo>
                    <a:lnTo>
                      <a:pt x="6369" y="16944"/>
                    </a:lnTo>
                    <a:lnTo>
                      <a:pt x="6624" y="17333"/>
                    </a:lnTo>
                    <a:lnTo>
                      <a:pt x="6752" y="17611"/>
                    </a:lnTo>
                    <a:lnTo>
                      <a:pt x="7006" y="17944"/>
                    </a:lnTo>
                    <a:lnTo>
                      <a:pt x="7261" y="18167"/>
                    </a:lnTo>
                    <a:lnTo>
                      <a:pt x="7389" y="18500"/>
                    </a:lnTo>
                    <a:lnTo>
                      <a:pt x="7516" y="18722"/>
                    </a:lnTo>
                    <a:lnTo>
                      <a:pt x="7898" y="18944"/>
                    </a:lnTo>
                    <a:lnTo>
                      <a:pt x="8025" y="19167"/>
                    </a:lnTo>
                    <a:lnTo>
                      <a:pt x="8280" y="19333"/>
                    </a:lnTo>
                    <a:lnTo>
                      <a:pt x="8408" y="19500"/>
                    </a:lnTo>
                    <a:lnTo>
                      <a:pt x="8535" y="19667"/>
                    </a:lnTo>
                    <a:lnTo>
                      <a:pt x="8917" y="19722"/>
                    </a:lnTo>
                    <a:lnTo>
                      <a:pt x="9045" y="19889"/>
                    </a:lnTo>
                    <a:lnTo>
                      <a:pt x="9299" y="19889"/>
                    </a:lnTo>
                    <a:lnTo>
                      <a:pt x="9427" y="19944"/>
                    </a:lnTo>
                    <a:lnTo>
                      <a:pt x="9682" y="19944"/>
                    </a:lnTo>
                    <a:lnTo>
                      <a:pt x="9936" y="19944"/>
                    </a:lnTo>
                    <a:lnTo>
                      <a:pt x="10064" y="19889"/>
                    </a:lnTo>
                    <a:lnTo>
                      <a:pt x="10318" y="19889"/>
                    </a:lnTo>
                    <a:lnTo>
                      <a:pt x="10573" y="19722"/>
                    </a:lnTo>
                    <a:lnTo>
                      <a:pt x="10701" y="19500"/>
                    </a:lnTo>
                    <a:lnTo>
                      <a:pt x="10955" y="19333"/>
                    </a:lnTo>
                    <a:lnTo>
                      <a:pt x="11338" y="19111"/>
                    </a:lnTo>
                    <a:lnTo>
                      <a:pt x="11465" y="18833"/>
                    </a:lnTo>
                    <a:lnTo>
                      <a:pt x="11720" y="18500"/>
                    </a:lnTo>
                    <a:lnTo>
                      <a:pt x="11975" y="18278"/>
                    </a:lnTo>
                    <a:lnTo>
                      <a:pt x="12102" y="17944"/>
                    </a:lnTo>
                    <a:lnTo>
                      <a:pt x="12484" y="17556"/>
                    </a:lnTo>
                    <a:lnTo>
                      <a:pt x="12739" y="17111"/>
                    </a:lnTo>
                    <a:lnTo>
                      <a:pt x="12866" y="16722"/>
                    </a:lnTo>
                    <a:lnTo>
                      <a:pt x="13248" y="16278"/>
                    </a:lnTo>
                    <a:lnTo>
                      <a:pt x="13376" y="15778"/>
                    </a:lnTo>
                    <a:lnTo>
                      <a:pt x="13758" y="15333"/>
                    </a:lnTo>
                    <a:lnTo>
                      <a:pt x="13885" y="14833"/>
                    </a:lnTo>
                    <a:lnTo>
                      <a:pt x="14140" y="14389"/>
                    </a:lnTo>
                    <a:lnTo>
                      <a:pt x="14395" y="13833"/>
                    </a:lnTo>
                    <a:lnTo>
                      <a:pt x="14777" y="13333"/>
                    </a:lnTo>
                    <a:lnTo>
                      <a:pt x="14904" y="12778"/>
                    </a:lnTo>
                    <a:lnTo>
                      <a:pt x="15159" y="12167"/>
                    </a:lnTo>
                    <a:lnTo>
                      <a:pt x="15414" y="11611"/>
                    </a:lnTo>
                    <a:lnTo>
                      <a:pt x="15669" y="11111"/>
                    </a:lnTo>
                    <a:lnTo>
                      <a:pt x="15924" y="10556"/>
                    </a:lnTo>
                    <a:lnTo>
                      <a:pt x="16051" y="10000"/>
                    </a:lnTo>
                    <a:lnTo>
                      <a:pt x="16306" y="9444"/>
                    </a:lnTo>
                    <a:lnTo>
                      <a:pt x="16561" y="8944"/>
                    </a:lnTo>
                    <a:lnTo>
                      <a:pt x="16815" y="8389"/>
                    </a:lnTo>
                    <a:lnTo>
                      <a:pt x="17070" y="7833"/>
                    </a:lnTo>
                    <a:lnTo>
                      <a:pt x="17197" y="7278"/>
                    </a:lnTo>
                    <a:lnTo>
                      <a:pt x="17325" y="6778"/>
                    </a:lnTo>
                    <a:lnTo>
                      <a:pt x="17707" y="6222"/>
                    </a:lnTo>
                    <a:lnTo>
                      <a:pt x="17834" y="5722"/>
                    </a:lnTo>
                    <a:lnTo>
                      <a:pt x="18217" y="5222"/>
                    </a:lnTo>
                    <a:lnTo>
                      <a:pt x="18344" y="4722"/>
                    </a:lnTo>
                    <a:lnTo>
                      <a:pt x="18344" y="4278"/>
                    </a:lnTo>
                    <a:lnTo>
                      <a:pt x="18726" y="3833"/>
                    </a:lnTo>
                    <a:lnTo>
                      <a:pt x="18854" y="3389"/>
                    </a:lnTo>
                    <a:lnTo>
                      <a:pt x="19108" y="3000"/>
                    </a:lnTo>
                    <a:lnTo>
                      <a:pt x="19236" y="2611"/>
                    </a:lnTo>
                    <a:lnTo>
                      <a:pt x="19363" y="2278"/>
                    </a:lnTo>
                    <a:lnTo>
                      <a:pt x="19490" y="1889"/>
                    </a:lnTo>
                    <a:lnTo>
                      <a:pt x="19490" y="1611"/>
                    </a:lnTo>
                    <a:lnTo>
                      <a:pt x="19745" y="1333"/>
                    </a:lnTo>
                    <a:lnTo>
                      <a:pt x="19745" y="1056"/>
                    </a:lnTo>
                    <a:lnTo>
                      <a:pt x="19873" y="833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73" name="AutoShape 115">
                <a:extLst>
                  <a:ext uri="{FF2B5EF4-FFF2-40B4-BE49-F238E27FC236}">
                    <a16:creationId xmlns:a16="http://schemas.microsoft.com/office/drawing/2014/main" id="{E8048BBA-9858-CA06-A7EF-DA26FD6BD0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0" y="558"/>
                <a:ext cx="88" cy="144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063"/>
                    </a:moveTo>
                    <a:lnTo>
                      <a:pt x="272" y="18490"/>
                    </a:lnTo>
                    <a:lnTo>
                      <a:pt x="544" y="17865"/>
                    </a:lnTo>
                    <a:lnTo>
                      <a:pt x="680" y="17292"/>
                    </a:lnTo>
                    <a:lnTo>
                      <a:pt x="816" y="16667"/>
                    </a:lnTo>
                    <a:lnTo>
                      <a:pt x="1088" y="16042"/>
                    </a:lnTo>
                    <a:lnTo>
                      <a:pt x="1361" y="15469"/>
                    </a:lnTo>
                    <a:lnTo>
                      <a:pt x="1633" y="14896"/>
                    </a:lnTo>
                    <a:lnTo>
                      <a:pt x="1769" y="14271"/>
                    </a:lnTo>
                    <a:lnTo>
                      <a:pt x="1905" y="13698"/>
                    </a:lnTo>
                    <a:lnTo>
                      <a:pt x="2177" y="13177"/>
                    </a:lnTo>
                    <a:lnTo>
                      <a:pt x="2449" y="12552"/>
                    </a:lnTo>
                    <a:lnTo>
                      <a:pt x="2721" y="12031"/>
                    </a:lnTo>
                    <a:lnTo>
                      <a:pt x="2993" y="11458"/>
                    </a:lnTo>
                    <a:lnTo>
                      <a:pt x="2993" y="10885"/>
                    </a:lnTo>
                    <a:lnTo>
                      <a:pt x="3265" y="10313"/>
                    </a:lnTo>
                    <a:lnTo>
                      <a:pt x="3537" y="9792"/>
                    </a:lnTo>
                    <a:lnTo>
                      <a:pt x="3810" y="9271"/>
                    </a:lnTo>
                    <a:lnTo>
                      <a:pt x="4082" y="8750"/>
                    </a:lnTo>
                    <a:lnTo>
                      <a:pt x="4218" y="8229"/>
                    </a:lnTo>
                    <a:lnTo>
                      <a:pt x="4354" y="7708"/>
                    </a:lnTo>
                    <a:lnTo>
                      <a:pt x="4762" y="7292"/>
                    </a:lnTo>
                    <a:lnTo>
                      <a:pt x="4898" y="6771"/>
                    </a:lnTo>
                    <a:lnTo>
                      <a:pt x="5170" y="6354"/>
                    </a:lnTo>
                    <a:lnTo>
                      <a:pt x="5306" y="5885"/>
                    </a:lnTo>
                    <a:lnTo>
                      <a:pt x="5442" y="5469"/>
                    </a:lnTo>
                    <a:lnTo>
                      <a:pt x="5850" y="5000"/>
                    </a:lnTo>
                    <a:lnTo>
                      <a:pt x="5850" y="4531"/>
                    </a:lnTo>
                    <a:lnTo>
                      <a:pt x="6259" y="4167"/>
                    </a:lnTo>
                    <a:lnTo>
                      <a:pt x="6531" y="3802"/>
                    </a:lnTo>
                    <a:lnTo>
                      <a:pt x="6531" y="3438"/>
                    </a:lnTo>
                    <a:lnTo>
                      <a:pt x="6939" y="3073"/>
                    </a:lnTo>
                    <a:lnTo>
                      <a:pt x="7075" y="2708"/>
                    </a:lnTo>
                    <a:lnTo>
                      <a:pt x="7347" y="2448"/>
                    </a:lnTo>
                    <a:lnTo>
                      <a:pt x="7483" y="2083"/>
                    </a:lnTo>
                    <a:lnTo>
                      <a:pt x="7619" y="1823"/>
                    </a:lnTo>
                    <a:lnTo>
                      <a:pt x="7891" y="1563"/>
                    </a:lnTo>
                    <a:lnTo>
                      <a:pt x="8163" y="1302"/>
                    </a:lnTo>
                    <a:lnTo>
                      <a:pt x="8435" y="1042"/>
                    </a:lnTo>
                    <a:lnTo>
                      <a:pt x="8571" y="833"/>
                    </a:lnTo>
                    <a:lnTo>
                      <a:pt x="8844" y="677"/>
                    </a:lnTo>
                    <a:lnTo>
                      <a:pt x="8980" y="521"/>
                    </a:lnTo>
                    <a:lnTo>
                      <a:pt x="9116" y="365"/>
                    </a:lnTo>
                    <a:lnTo>
                      <a:pt x="9524" y="260"/>
                    </a:lnTo>
                    <a:lnTo>
                      <a:pt x="9524" y="104"/>
                    </a:lnTo>
                    <a:lnTo>
                      <a:pt x="9932" y="104"/>
                    </a:lnTo>
                    <a:lnTo>
                      <a:pt x="10068" y="52"/>
                    </a:lnTo>
                    <a:lnTo>
                      <a:pt x="10204" y="0"/>
                    </a:lnTo>
                    <a:lnTo>
                      <a:pt x="10476" y="52"/>
                    </a:lnTo>
                    <a:lnTo>
                      <a:pt x="10748" y="52"/>
                    </a:lnTo>
                    <a:lnTo>
                      <a:pt x="10884" y="104"/>
                    </a:lnTo>
                    <a:lnTo>
                      <a:pt x="11156" y="208"/>
                    </a:lnTo>
                    <a:lnTo>
                      <a:pt x="11293" y="313"/>
                    </a:lnTo>
                    <a:lnTo>
                      <a:pt x="11565" y="521"/>
                    </a:lnTo>
                    <a:lnTo>
                      <a:pt x="11837" y="781"/>
                    </a:lnTo>
                    <a:lnTo>
                      <a:pt x="12109" y="990"/>
                    </a:lnTo>
                    <a:lnTo>
                      <a:pt x="12245" y="1250"/>
                    </a:lnTo>
                    <a:lnTo>
                      <a:pt x="12381" y="1563"/>
                    </a:lnTo>
                    <a:lnTo>
                      <a:pt x="12653" y="1875"/>
                    </a:lnTo>
                    <a:lnTo>
                      <a:pt x="12925" y="2292"/>
                    </a:lnTo>
                    <a:lnTo>
                      <a:pt x="13061" y="2708"/>
                    </a:lnTo>
                    <a:lnTo>
                      <a:pt x="13469" y="3125"/>
                    </a:lnTo>
                    <a:lnTo>
                      <a:pt x="13469" y="3542"/>
                    </a:lnTo>
                    <a:lnTo>
                      <a:pt x="13741" y="4010"/>
                    </a:lnTo>
                    <a:lnTo>
                      <a:pt x="14150" y="4427"/>
                    </a:lnTo>
                    <a:lnTo>
                      <a:pt x="14286" y="4948"/>
                    </a:lnTo>
                    <a:lnTo>
                      <a:pt x="14558" y="5469"/>
                    </a:lnTo>
                    <a:lnTo>
                      <a:pt x="14694" y="5990"/>
                    </a:lnTo>
                    <a:lnTo>
                      <a:pt x="14966" y="6510"/>
                    </a:lnTo>
                    <a:lnTo>
                      <a:pt x="15102" y="7083"/>
                    </a:lnTo>
                    <a:lnTo>
                      <a:pt x="15374" y="7656"/>
                    </a:lnTo>
                    <a:lnTo>
                      <a:pt x="15646" y="8177"/>
                    </a:lnTo>
                    <a:lnTo>
                      <a:pt x="15918" y="8802"/>
                    </a:lnTo>
                    <a:lnTo>
                      <a:pt x="16054" y="9375"/>
                    </a:lnTo>
                    <a:lnTo>
                      <a:pt x="16190" y="9896"/>
                    </a:lnTo>
                    <a:lnTo>
                      <a:pt x="16599" y="10469"/>
                    </a:lnTo>
                    <a:lnTo>
                      <a:pt x="16735" y="10990"/>
                    </a:lnTo>
                    <a:lnTo>
                      <a:pt x="17007" y="11615"/>
                    </a:lnTo>
                    <a:lnTo>
                      <a:pt x="17143" y="12135"/>
                    </a:lnTo>
                    <a:lnTo>
                      <a:pt x="17279" y="12708"/>
                    </a:lnTo>
                    <a:lnTo>
                      <a:pt x="17551" y="13281"/>
                    </a:lnTo>
                    <a:lnTo>
                      <a:pt x="17687" y="13854"/>
                    </a:lnTo>
                    <a:lnTo>
                      <a:pt x="17959" y="14375"/>
                    </a:lnTo>
                    <a:lnTo>
                      <a:pt x="18095" y="14948"/>
                    </a:lnTo>
                    <a:lnTo>
                      <a:pt x="18231" y="15469"/>
                    </a:lnTo>
                    <a:lnTo>
                      <a:pt x="18367" y="15938"/>
                    </a:lnTo>
                    <a:lnTo>
                      <a:pt x="18639" y="16406"/>
                    </a:lnTo>
                    <a:lnTo>
                      <a:pt x="18776" y="16875"/>
                    </a:lnTo>
                    <a:lnTo>
                      <a:pt x="19048" y="17292"/>
                    </a:lnTo>
                    <a:lnTo>
                      <a:pt x="19184" y="17708"/>
                    </a:lnTo>
                    <a:lnTo>
                      <a:pt x="19320" y="18177"/>
                    </a:lnTo>
                    <a:lnTo>
                      <a:pt x="19456" y="18542"/>
                    </a:lnTo>
                    <a:lnTo>
                      <a:pt x="19456" y="18906"/>
                    </a:lnTo>
                    <a:lnTo>
                      <a:pt x="19592" y="19167"/>
                    </a:lnTo>
                    <a:lnTo>
                      <a:pt x="19728" y="19479"/>
                    </a:lnTo>
                    <a:lnTo>
                      <a:pt x="19864" y="19740"/>
                    </a:lnTo>
                    <a:lnTo>
                      <a:pt x="19864" y="19948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74" name="AutoShape 116">
                <a:extLst>
                  <a:ext uri="{FF2B5EF4-FFF2-40B4-BE49-F238E27FC236}">
                    <a16:creationId xmlns:a16="http://schemas.microsoft.com/office/drawing/2014/main" id="{708991FC-A842-3FA7-2979-C114C69EA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7" y="689"/>
                <a:ext cx="93" cy="138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55" y="647"/>
                    </a:lnTo>
                    <a:lnTo>
                      <a:pt x="382" y="1240"/>
                    </a:lnTo>
                    <a:lnTo>
                      <a:pt x="510" y="1887"/>
                    </a:lnTo>
                    <a:lnTo>
                      <a:pt x="764" y="2534"/>
                    </a:lnTo>
                    <a:lnTo>
                      <a:pt x="892" y="3127"/>
                    </a:lnTo>
                    <a:lnTo>
                      <a:pt x="1274" y="3720"/>
                    </a:lnTo>
                    <a:lnTo>
                      <a:pt x="1401" y="4367"/>
                    </a:lnTo>
                    <a:lnTo>
                      <a:pt x="1656" y="4960"/>
                    </a:lnTo>
                    <a:lnTo>
                      <a:pt x="1656" y="5553"/>
                    </a:lnTo>
                    <a:lnTo>
                      <a:pt x="2038" y="6146"/>
                    </a:lnTo>
                    <a:lnTo>
                      <a:pt x="2166" y="6739"/>
                    </a:lnTo>
                    <a:lnTo>
                      <a:pt x="2420" y="7278"/>
                    </a:lnTo>
                    <a:lnTo>
                      <a:pt x="2675" y="7925"/>
                    </a:lnTo>
                    <a:lnTo>
                      <a:pt x="2803" y="8464"/>
                    </a:lnTo>
                    <a:lnTo>
                      <a:pt x="2930" y="9003"/>
                    </a:lnTo>
                    <a:lnTo>
                      <a:pt x="3185" y="9596"/>
                    </a:lnTo>
                    <a:lnTo>
                      <a:pt x="3312" y="10135"/>
                    </a:lnTo>
                    <a:lnTo>
                      <a:pt x="3567" y="10674"/>
                    </a:lnTo>
                    <a:lnTo>
                      <a:pt x="3822" y="11213"/>
                    </a:lnTo>
                    <a:lnTo>
                      <a:pt x="3949" y="11698"/>
                    </a:lnTo>
                    <a:lnTo>
                      <a:pt x="4076" y="12237"/>
                    </a:lnTo>
                    <a:lnTo>
                      <a:pt x="4331" y="12722"/>
                    </a:lnTo>
                    <a:lnTo>
                      <a:pt x="4586" y="13154"/>
                    </a:lnTo>
                    <a:lnTo>
                      <a:pt x="4713" y="13693"/>
                    </a:lnTo>
                    <a:lnTo>
                      <a:pt x="4968" y="14124"/>
                    </a:lnTo>
                    <a:lnTo>
                      <a:pt x="5096" y="14555"/>
                    </a:lnTo>
                    <a:lnTo>
                      <a:pt x="5350" y="14987"/>
                    </a:lnTo>
                    <a:lnTo>
                      <a:pt x="5605" y="15472"/>
                    </a:lnTo>
                    <a:lnTo>
                      <a:pt x="5732" y="15849"/>
                    </a:lnTo>
                    <a:lnTo>
                      <a:pt x="6115" y="16226"/>
                    </a:lnTo>
                    <a:lnTo>
                      <a:pt x="6115" y="16604"/>
                    </a:lnTo>
                    <a:lnTo>
                      <a:pt x="6369" y="16981"/>
                    </a:lnTo>
                    <a:lnTo>
                      <a:pt x="6624" y="17251"/>
                    </a:lnTo>
                    <a:lnTo>
                      <a:pt x="6752" y="17628"/>
                    </a:lnTo>
                    <a:lnTo>
                      <a:pt x="7006" y="17898"/>
                    </a:lnTo>
                    <a:lnTo>
                      <a:pt x="7261" y="18167"/>
                    </a:lnTo>
                    <a:lnTo>
                      <a:pt x="7389" y="18491"/>
                    </a:lnTo>
                    <a:lnTo>
                      <a:pt x="7516" y="18760"/>
                    </a:lnTo>
                    <a:lnTo>
                      <a:pt x="7898" y="18976"/>
                    </a:lnTo>
                    <a:lnTo>
                      <a:pt x="8025" y="19137"/>
                    </a:lnTo>
                    <a:lnTo>
                      <a:pt x="8280" y="19353"/>
                    </a:lnTo>
                    <a:lnTo>
                      <a:pt x="8408" y="19461"/>
                    </a:lnTo>
                    <a:lnTo>
                      <a:pt x="8535" y="19677"/>
                    </a:lnTo>
                    <a:lnTo>
                      <a:pt x="8917" y="19730"/>
                    </a:lnTo>
                    <a:lnTo>
                      <a:pt x="9045" y="19892"/>
                    </a:lnTo>
                    <a:lnTo>
                      <a:pt x="9299" y="19892"/>
                    </a:lnTo>
                    <a:lnTo>
                      <a:pt x="9427" y="19946"/>
                    </a:lnTo>
                    <a:lnTo>
                      <a:pt x="9682" y="19946"/>
                    </a:lnTo>
                    <a:lnTo>
                      <a:pt x="9936" y="19946"/>
                    </a:lnTo>
                    <a:lnTo>
                      <a:pt x="10064" y="19892"/>
                    </a:lnTo>
                    <a:lnTo>
                      <a:pt x="10318" y="19892"/>
                    </a:lnTo>
                    <a:lnTo>
                      <a:pt x="10573" y="19677"/>
                    </a:lnTo>
                    <a:lnTo>
                      <a:pt x="10701" y="19515"/>
                    </a:lnTo>
                    <a:lnTo>
                      <a:pt x="10955" y="19353"/>
                    </a:lnTo>
                    <a:lnTo>
                      <a:pt x="11338" y="19137"/>
                    </a:lnTo>
                    <a:lnTo>
                      <a:pt x="11465" y="18868"/>
                    </a:lnTo>
                    <a:lnTo>
                      <a:pt x="11720" y="18544"/>
                    </a:lnTo>
                    <a:lnTo>
                      <a:pt x="11975" y="18275"/>
                    </a:lnTo>
                    <a:lnTo>
                      <a:pt x="12102" y="17844"/>
                    </a:lnTo>
                    <a:lnTo>
                      <a:pt x="12484" y="17466"/>
                    </a:lnTo>
                    <a:lnTo>
                      <a:pt x="12739" y="17197"/>
                    </a:lnTo>
                    <a:lnTo>
                      <a:pt x="12866" y="16765"/>
                    </a:lnTo>
                    <a:lnTo>
                      <a:pt x="13248" y="16280"/>
                    </a:lnTo>
                    <a:lnTo>
                      <a:pt x="13376" y="15849"/>
                    </a:lnTo>
                    <a:lnTo>
                      <a:pt x="13758" y="15364"/>
                    </a:lnTo>
                    <a:lnTo>
                      <a:pt x="13885" y="14879"/>
                    </a:lnTo>
                    <a:lnTo>
                      <a:pt x="14140" y="14340"/>
                    </a:lnTo>
                    <a:lnTo>
                      <a:pt x="14395" y="13801"/>
                    </a:lnTo>
                    <a:lnTo>
                      <a:pt x="14777" y="13315"/>
                    </a:lnTo>
                    <a:lnTo>
                      <a:pt x="14904" y="12776"/>
                    </a:lnTo>
                    <a:lnTo>
                      <a:pt x="15159" y="12237"/>
                    </a:lnTo>
                    <a:lnTo>
                      <a:pt x="15414" y="11644"/>
                    </a:lnTo>
                    <a:lnTo>
                      <a:pt x="15669" y="11105"/>
                    </a:lnTo>
                    <a:lnTo>
                      <a:pt x="15924" y="10566"/>
                    </a:lnTo>
                    <a:lnTo>
                      <a:pt x="16051" y="10027"/>
                    </a:lnTo>
                    <a:lnTo>
                      <a:pt x="16306" y="9488"/>
                    </a:lnTo>
                    <a:lnTo>
                      <a:pt x="16561" y="8895"/>
                    </a:lnTo>
                    <a:lnTo>
                      <a:pt x="16815" y="8356"/>
                    </a:lnTo>
                    <a:lnTo>
                      <a:pt x="17070" y="7763"/>
                    </a:lnTo>
                    <a:lnTo>
                      <a:pt x="17197" y="7278"/>
                    </a:lnTo>
                    <a:lnTo>
                      <a:pt x="17325" y="6792"/>
                    </a:lnTo>
                    <a:lnTo>
                      <a:pt x="17707" y="6253"/>
                    </a:lnTo>
                    <a:lnTo>
                      <a:pt x="17834" y="5714"/>
                    </a:lnTo>
                    <a:lnTo>
                      <a:pt x="18217" y="5229"/>
                    </a:lnTo>
                    <a:lnTo>
                      <a:pt x="18344" y="4744"/>
                    </a:lnTo>
                    <a:lnTo>
                      <a:pt x="18344" y="4313"/>
                    </a:lnTo>
                    <a:lnTo>
                      <a:pt x="18726" y="3881"/>
                    </a:lnTo>
                    <a:lnTo>
                      <a:pt x="18854" y="3396"/>
                    </a:lnTo>
                    <a:lnTo>
                      <a:pt x="19108" y="3019"/>
                    </a:lnTo>
                    <a:lnTo>
                      <a:pt x="19236" y="2588"/>
                    </a:lnTo>
                    <a:lnTo>
                      <a:pt x="19363" y="2210"/>
                    </a:lnTo>
                    <a:lnTo>
                      <a:pt x="19490" y="1887"/>
                    </a:lnTo>
                    <a:lnTo>
                      <a:pt x="19490" y="1671"/>
                    </a:lnTo>
                    <a:lnTo>
                      <a:pt x="19745" y="1348"/>
                    </a:lnTo>
                    <a:lnTo>
                      <a:pt x="19745" y="1024"/>
                    </a:lnTo>
                    <a:lnTo>
                      <a:pt x="19873" y="863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75" name="AutoShape 117">
                <a:extLst>
                  <a:ext uri="{FF2B5EF4-FFF2-40B4-BE49-F238E27FC236}">
                    <a16:creationId xmlns:a16="http://schemas.microsoft.com/office/drawing/2014/main" id="{7EB0743F-E573-27DB-72CD-83C1E3E596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3" y="561"/>
                <a:ext cx="87" cy="13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088"/>
                    </a:moveTo>
                    <a:lnTo>
                      <a:pt x="272" y="18499"/>
                    </a:lnTo>
                    <a:lnTo>
                      <a:pt x="544" y="17909"/>
                    </a:lnTo>
                    <a:lnTo>
                      <a:pt x="680" y="17265"/>
                    </a:lnTo>
                    <a:lnTo>
                      <a:pt x="816" y="16676"/>
                    </a:lnTo>
                    <a:lnTo>
                      <a:pt x="1088" y="16086"/>
                    </a:lnTo>
                    <a:lnTo>
                      <a:pt x="1361" y="15496"/>
                    </a:lnTo>
                    <a:lnTo>
                      <a:pt x="1633" y="14906"/>
                    </a:lnTo>
                    <a:lnTo>
                      <a:pt x="1769" y="14316"/>
                    </a:lnTo>
                    <a:lnTo>
                      <a:pt x="1905" y="13673"/>
                    </a:lnTo>
                    <a:lnTo>
                      <a:pt x="2177" y="13137"/>
                    </a:lnTo>
                    <a:lnTo>
                      <a:pt x="2449" y="12601"/>
                    </a:lnTo>
                    <a:lnTo>
                      <a:pt x="2721" y="12064"/>
                    </a:lnTo>
                    <a:lnTo>
                      <a:pt x="2993" y="11421"/>
                    </a:lnTo>
                    <a:lnTo>
                      <a:pt x="2993" y="10885"/>
                    </a:lnTo>
                    <a:lnTo>
                      <a:pt x="3265" y="10349"/>
                    </a:lnTo>
                    <a:lnTo>
                      <a:pt x="3537" y="9812"/>
                    </a:lnTo>
                    <a:lnTo>
                      <a:pt x="3810" y="9276"/>
                    </a:lnTo>
                    <a:lnTo>
                      <a:pt x="4082" y="8794"/>
                    </a:lnTo>
                    <a:lnTo>
                      <a:pt x="4218" y="8257"/>
                    </a:lnTo>
                    <a:lnTo>
                      <a:pt x="4354" y="7721"/>
                    </a:lnTo>
                    <a:lnTo>
                      <a:pt x="4762" y="7239"/>
                    </a:lnTo>
                    <a:lnTo>
                      <a:pt x="4898" y="6756"/>
                    </a:lnTo>
                    <a:lnTo>
                      <a:pt x="5170" y="6327"/>
                    </a:lnTo>
                    <a:lnTo>
                      <a:pt x="5306" y="5898"/>
                    </a:lnTo>
                    <a:lnTo>
                      <a:pt x="5442" y="5469"/>
                    </a:lnTo>
                    <a:lnTo>
                      <a:pt x="5850" y="4987"/>
                    </a:lnTo>
                    <a:lnTo>
                      <a:pt x="5850" y="4558"/>
                    </a:lnTo>
                    <a:lnTo>
                      <a:pt x="6259" y="4129"/>
                    </a:lnTo>
                    <a:lnTo>
                      <a:pt x="6531" y="3753"/>
                    </a:lnTo>
                    <a:lnTo>
                      <a:pt x="6531" y="3432"/>
                    </a:lnTo>
                    <a:lnTo>
                      <a:pt x="6939" y="3003"/>
                    </a:lnTo>
                    <a:lnTo>
                      <a:pt x="7075" y="2735"/>
                    </a:lnTo>
                    <a:lnTo>
                      <a:pt x="7347" y="2413"/>
                    </a:lnTo>
                    <a:lnTo>
                      <a:pt x="7483" y="2091"/>
                    </a:lnTo>
                    <a:lnTo>
                      <a:pt x="7619" y="1823"/>
                    </a:lnTo>
                    <a:lnTo>
                      <a:pt x="7891" y="1609"/>
                    </a:lnTo>
                    <a:lnTo>
                      <a:pt x="8163" y="1287"/>
                    </a:lnTo>
                    <a:lnTo>
                      <a:pt x="8435" y="1019"/>
                    </a:lnTo>
                    <a:lnTo>
                      <a:pt x="8571" y="858"/>
                    </a:lnTo>
                    <a:lnTo>
                      <a:pt x="8844" y="643"/>
                    </a:lnTo>
                    <a:lnTo>
                      <a:pt x="8980" y="483"/>
                    </a:lnTo>
                    <a:lnTo>
                      <a:pt x="9116" y="375"/>
                    </a:lnTo>
                    <a:lnTo>
                      <a:pt x="9524" y="268"/>
                    </a:lnTo>
                    <a:lnTo>
                      <a:pt x="9524" y="107"/>
                    </a:lnTo>
                    <a:lnTo>
                      <a:pt x="9932" y="107"/>
                    </a:lnTo>
                    <a:lnTo>
                      <a:pt x="10068" y="54"/>
                    </a:lnTo>
                    <a:lnTo>
                      <a:pt x="10204" y="0"/>
                    </a:lnTo>
                    <a:lnTo>
                      <a:pt x="10476" y="54"/>
                    </a:lnTo>
                    <a:lnTo>
                      <a:pt x="10748" y="54"/>
                    </a:lnTo>
                    <a:lnTo>
                      <a:pt x="10884" y="107"/>
                    </a:lnTo>
                    <a:lnTo>
                      <a:pt x="11156" y="214"/>
                    </a:lnTo>
                    <a:lnTo>
                      <a:pt x="11293" y="322"/>
                    </a:lnTo>
                    <a:lnTo>
                      <a:pt x="11565" y="536"/>
                    </a:lnTo>
                    <a:lnTo>
                      <a:pt x="11837" y="751"/>
                    </a:lnTo>
                    <a:lnTo>
                      <a:pt x="12109" y="1019"/>
                    </a:lnTo>
                    <a:lnTo>
                      <a:pt x="12245" y="1233"/>
                    </a:lnTo>
                    <a:lnTo>
                      <a:pt x="12381" y="1609"/>
                    </a:lnTo>
                    <a:lnTo>
                      <a:pt x="12653" y="1877"/>
                    </a:lnTo>
                    <a:lnTo>
                      <a:pt x="12925" y="2306"/>
                    </a:lnTo>
                    <a:lnTo>
                      <a:pt x="13061" y="2735"/>
                    </a:lnTo>
                    <a:lnTo>
                      <a:pt x="13469" y="3110"/>
                    </a:lnTo>
                    <a:lnTo>
                      <a:pt x="13469" y="3539"/>
                    </a:lnTo>
                    <a:lnTo>
                      <a:pt x="13741" y="3968"/>
                    </a:lnTo>
                    <a:lnTo>
                      <a:pt x="14150" y="4450"/>
                    </a:lnTo>
                    <a:lnTo>
                      <a:pt x="14286" y="4987"/>
                    </a:lnTo>
                    <a:lnTo>
                      <a:pt x="14558" y="5469"/>
                    </a:lnTo>
                    <a:lnTo>
                      <a:pt x="14694" y="6005"/>
                    </a:lnTo>
                    <a:lnTo>
                      <a:pt x="14966" y="6542"/>
                    </a:lnTo>
                    <a:lnTo>
                      <a:pt x="15102" y="7024"/>
                    </a:lnTo>
                    <a:lnTo>
                      <a:pt x="15374" y="7614"/>
                    </a:lnTo>
                    <a:lnTo>
                      <a:pt x="15646" y="8150"/>
                    </a:lnTo>
                    <a:lnTo>
                      <a:pt x="15918" y="8794"/>
                    </a:lnTo>
                    <a:lnTo>
                      <a:pt x="16054" y="9330"/>
                    </a:lnTo>
                    <a:lnTo>
                      <a:pt x="16190" y="9866"/>
                    </a:lnTo>
                    <a:lnTo>
                      <a:pt x="16599" y="10456"/>
                    </a:lnTo>
                    <a:lnTo>
                      <a:pt x="16735" y="11046"/>
                    </a:lnTo>
                    <a:lnTo>
                      <a:pt x="17007" y="11635"/>
                    </a:lnTo>
                    <a:lnTo>
                      <a:pt x="17143" y="12172"/>
                    </a:lnTo>
                    <a:lnTo>
                      <a:pt x="17279" y="12761"/>
                    </a:lnTo>
                    <a:lnTo>
                      <a:pt x="17551" y="13298"/>
                    </a:lnTo>
                    <a:lnTo>
                      <a:pt x="17687" y="13834"/>
                    </a:lnTo>
                    <a:lnTo>
                      <a:pt x="17959" y="14370"/>
                    </a:lnTo>
                    <a:lnTo>
                      <a:pt x="18095" y="14960"/>
                    </a:lnTo>
                    <a:lnTo>
                      <a:pt x="18231" y="15442"/>
                    </a:lnTo>
                    <a:lnTo>
                      <a:pt x="18367" y="15871"/>
                    </a:lnTo>
                    <a:lnTo>
                      <a:pt x="18639" y="16461"/>
                    </a:lnTo>
                    <a:lnTo>
                      <a:pt x="18776" y="16836"/>
                    </a:lnTo>
                    <a:lnTo>
                      <a:pt x="19048" y="17265"/>
                    </a:lnTo>
                    <a:lnTo>
                      <a:pt x="19184" y="17748"/>
                    </a:lnTo>
                    <a:lnTo>
                      <a:pt x="19320" y="18177"/>
                    </a:lnTo>
                    <a:lnTo>
                      <a:pt x="19456" y="18552"/>
                    </a:lnTo>
                    <a:lnTo>
                      <a:pt x="19456" y="18874"/>
                    </a:lnTo>
                    <a:lnTo>
                      <a:pt x="19592" y="19196"/>
                    </a:lnTo>
                    <a:lnTo>
                      <a:pt x="19728" y="19517"/>
                    </a:lnTo>
                    <a:lnTo>
                      <a:pt x="19864" y="19732"/>
                    </a:lnTo>
                    <a:lnTo>
                      <a:pt x="19864" y="19946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76" name="AutoShape 118">
                <a:extLst>
                  <a:ext uri="{FF2B5EF4-FFF2-40B4-BE49-F238E27FC236}">
                    <a16:creationId xmlns:a16="http://schemas.microsoft.com/office/drawing/2014/main" id="{499714AD-F608-9CEA-A190-676AF8041B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9" y="688"/>
                <a:ext cx="93" cy="13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55" y="611"/>
                    </a:lnTo>
                    <a:lnTo>
                      <a:pt x="382" y="1278"/>
                    </a:lnTo>
                    <a:lnTo>
                      <a:pt x="510" y="1889"/>
                    </a:lnTo>
                    <a:lnTo>
                      <a:pt x="764" y="2500"/>
                    </a:lnTo>
                    <a:lnTo>
                      <a:pt x="892" y="3111"/>
                    </a:lnTo>
                    <a:lnTo>
                      <a:pt x="1274" y="3722"/>
                    </a:lnTo>
                    <a:lnTo>
                      <a:pt x="1401" y="4333"/>
                    </a:lnTo>
                    <a:lnTo>
                      <a:pt x="1656" y="4944"/>
                    </a:lnTo>
                    <a:lnTo>
                      <a:pt x="1656" y="5556"/>
                    </a:lnTo>
                    <a:lnTo>
                      <a:pt x="2038" y="6167"/>
                    </a:lnTo>
                    <a:lnTo>
                      <a:pt x="2166" y="6778"/>
                    </a:lnTo>
                    <a:lnTo>
                      <a:pt x="2420" y="7278"/>
                    </a:lnTo>
                    <a:lnTo>
                      <a:pt x="2675" y="7889"/>
                    </a:lnTo>
                    <a:lnTo>
                      <a:pt x="2803" y="8444"/>
                    </a:lnTo>
                    <a:lnTo>
                      <a:pt x="2930" y="9000"/>
                    </a:lnTo>
                    <a:lnTo>
                      <a:pt x="3185" y="9611"/>
                    </a:lnTo>
                    <a:lnTo>
                      <a:pt x="3312" y="10167"/>
                    </a:lnTo>
                    <a:lnTo>
                      <a:pt x="3567" y="10667"/>
                    </a:lnTo>
                    <a:lnTo>
                      <a:pt x="3822" y="11167"/>
                    </a:lnTo>
                    <a:lnTo>
                      <a:pt x="3949" y="11722"/>
                    </a:lnTo>
                    <a:lnTo>
                      <a:pt x="4076" y="12167"/>
                    </a:lnTo>
                    <a:lnTo>
                      <a:pt x="4331" y="12722"/>
                    </a:lnTo>
                    <a:lnTo>
                      <a:pt x="4586" y="13222"/>
                    </a:lnTo>
                    <a:lnTo>
                      <a:pt x="4713" y="13667"/>
                    </a:lnTo>
                    <a:lnTo>
                      <a:pt x="4968" y="14111"/>
                    </a:lnTo>
                    <a:lnTo>
                      <a:pt x="5096" y="14556"/>
                    </a:lnTo>
                    <a:lnTo>
                      <a:pt x="5350" y="15056"/>
                    </a:lnTo>
                    <a:lnTo>
                      <a:pt x="5605" y="15444"/>
                    </a:lnTo>
                    <a:lnTo>
                      <a:pt x="5732" y="15833"/>
                    </a:lnTo>
                    <a:lnTo>
                      <a:pt x="6115" y="16222"/>
                    </a:lnTo>
                    <a:lnTo>
                      <a:pt x="6115" y="16611"/>
                    </a:lnTo>
                    <a:lnTo>
                      <a:pt x="6369" y="16944"/>
                    </a:lnTo>
                    <a:lnTo>
                      <a:pt x="6624" y="17333"/>
                    </a:lnTo>
                    <a:lnTo>
                      <a:pt x="6752" y="17611"/>
                    </a:lnTo>
                    <a:lnTo>
                      <a:pt x="7006" y="17944"/>
                    </a:lnTo>
                    <a:lnTo>
                      <a:pt x="7261" y="18167"/>
                    </a:lnTo>
                    <a:lnTo>
                      <a:pt x="7389" y="18500"/>
                    </a:lnTo>
                    <a:lnTo>
                      <a:pt x="7516" y="18722"/>
                    </a:lnTo>
                    <a:lnTo>
                      <a:pt x="7898" y="18944"/>
                    </a:lnTo>
                    <a:lnTo>
                      <a:pt x="8025" y="19167"/>
                    </a:lnTo>
                    <a:lnTo>
                      <a:pt x="8280" y="19333"/>
                    </a:lnTo>
                    <a:lnTo>
                      <a:pt x="8408" y="19500"/>
                    </a:lnTo>
                    <a:lnTo>
                      <a:pt x="8535" y="19667"/>
                    </a:lnTo>
                    <a:lnTo>
                      <a:pt x="8917" y="19722"/>
                    </a:lnTo>
                    <a:lnTo>
                      <a:pt x="9045" y="19889"/>
                    </a:lnTo>
                    <a:lnTo>
                      <a:pt x="9299" y="19889"/>
                    </a:lnTo>
                    <a:lnTo>
                      <a:pt x="9427" y="19944"/>
                    </a:lnTo>
                    <a:lnTo>
                      <a:pt x="9682" y="19944"/>
                    </a:lnTo>
                    <a:lnTo>
                      <a:pt x="9936" y="19944"/>
                    </a:lnTo>
                    <a:lnTo>
                      <a:pt x="10064" y="19889"/>
                    </a:lnTo>
                    <a:lnTo>
                      <a:pt x="10318" y="19889"/>
                    </a:lnTo>
                    <a:lnTo>
                      <a:pt x="10573" y="19722"/>
                    </a:lnTo>
                    <a:lnTo>
                      <a:pt x="10701" y="19500"/>
                    </a:lnTo>
                    <a:lnTo>
                      <a:pt x="10955" y="19333"/>
                    </a:lnTo>
                    <a:lnTo>
                      <a:pt x="11338" y="19111"/>
                    </a:lnTo>
                    <a:lnTo>
                      <a:pt x="11465" y="18833"/>
                    </a:lnTo>
                    <a:lnTo>
                      <a:pt x="11720" y="18500"/>
                    </a:lnTo>
                    <a:lnTo>
                      <a:pt x="11975" y="18278"/>
                    </a:lnTo>
                    <a:lnTo>
                      <a:pt x="12102" y="17944"/>
                    </a:lnTo>
                    <a:lnTo>
                      <a:pt x="12484" y="17556"/>
                    </a:lnTo>
                    <a:lnTo>
                      <a:pt x="12739" y="17111"/>
                    </a:lnTo>
                    <a:lnTo>
                      <a:pt x="12866" y="16722"/>
                    </a:lnTo>
                    <a:lnTo>
                      <a:pt x="13248" y="16278"/>
                    </a:lnTo>
                    <a:lnTo>
                      <a:pt x="13376" y="15778"/>
                    </a:lnTo>
                    <a:lnTo>
                      <a:pt x="13758" y="15333"/>
                    </a:lnTo>
                    <a:lnTo>
                      <a:pt x="13885" y="14833"/>
                    </a:lnTo>
                    <a:lnTo>
                      <a:pt x="14140" y="14389"/>
                    </a:lnTo>
                    <a:lnTo>
                      <a:pt x="14395" y="13833"/>
                    </a:lnTo>
                    <a:lnTo>
                      <a:pt x="14777" y="13333"/>
                    </a:lnTo>
                    <a:lnTo>
                      <a:pt x="14904" y="12778"/>
                    </a:lnTo>
                    <a:lnTo>
                      <a:pt x="15159" y="12167"/>
                    </a:lnTo>
                    <a:lnTo>
                      <a:pt x="15414" y="11611"/>
                    </a:lnTo>
                    <a:lnTo>
                      <a:pt x="15669" y="11111"/>
                    </a:lnTo>
                    <a:lnTo>
                      <a:pt x="15924" y="10556"/>
                    </a:lnTo>
                    <a:lnTo>
                      <a:pt x="16051" y="10000"/>
                    </a:lnTo>
                    <a:lnTo>
                      <a:pt x="16306" y="9444"/>
                    </a:lnTo>
                    <a:lnTo>
                      <a:pt x="16561" y="8944"/>
                    </a:lnTo>
                    <a:lnTo>
                      <a:pt x="16815" y="8389"/>
                    </a:lnTo>
                    <a:lnTo>
                      <a:pt x="17070" y="7833"/>
                    </a:lnTo>
                    <a:lnTo>
                      <a:pt x="17197" y="7278"/>
                    </a:lnTo>
                    <a:lnTo>
                      <a:pt x="17325" y="6778"/>
                    </a:lnTo>
                    <a:lnTo>
                      <a:pt x="17707" y="6222"/>
                    </a:lnTo>
                    <a:lnTo>
                      <a:pt x="17834" y="5722"/>
                    </a:lnTo>
                    <a:lnTo>
                      <a:pt x="18217" y="5222"/>
                    </a:lnTo>
                    <a:lnTo>
                      <a:pt x="18344" y="4722"/>
                    </a:lnTo>
                    <a:lnTo>
                      <a:pt x="18344" y="4278"/>
                    </a:lnTo>
                    <a:lnTo>
                      <a:pt x="18726" y="3833"/>
                    </a:lnTo>
                    <a:lnTo>
                      <a:pt x="18854" y="3389"/>
                    </a:lnTo>
                    <a:lnTo>
                      <a:pt x="19108" y="3000"/>
                    </a:lnTo>
                    <a:lnTo>
                      <a:pt x="19236" y="2611"/>
                    </a:lnTo>
                    <a:lnTo>
                      <a:pt x="19363" y="2278"/>
                    </a:lnTo>
                    <a:lnTo>
                      <a:pt x="19490" y="1889"/>
                    </a:lnTo>
                    <a:lnTo>
                      <a:pt x="19490" y="1611"/>
                    </a:lnTo>
                    <a:lnTo>
                      <a:pt x="19745" y="1333"/>
                    </a:lnTo>
                    <a:lnTo>
                      <a:pt x="19745" y="1056"/>
                    </a:lnTo>
                    <a:lnTo>
                      <a:pt x="19873" y="833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77" name="AutoShape 119">
                <a:extLst>
                  <a:ext uri="{FF2B5EF4-FFF2-40B4-BE49-F238E27FC236}">
                    <a16:creationId xmlns:a16="http://schemas.microsoft.com/office/drawing/2014/main" id="{1C3D0A9F-3910-E657-FB9B-FF4D8EE351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565"/>
                <a:ext cx="96" cy="138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084"/>
                    </a:moveTo>
                    <a:lnTo>
                      <a:pt x="247" y="18544"/>
                    </a:lnTo>
                    <a:lnTo>
                      <a:pt x="494" y="17844"/>
                    </a:lnTo>
                    <a:lnTo>
                      <a:pt x="617" y="17251"/>
                    </a:lnTo>
                    <a:lnTo>
                      <a:pt x="864" y="16712"/>
                    </a:lnTo>
                    <a:lnTo>
                      <a:pt x="1111" y="16065"/>
                    </a:lnTo>
                    <a:lnTo>
                      <a:pt x="1358" y="15472"/>
                    </a:lnTo>
                    <a:lnTo>
                      <a:pt x="1605" y="14933"/>
                    </a:lnTo>
                    <a:lnTo>
                      <a:pt x="1728" y="14286"/>
                    </a:lnTo>
                    <a:lnTo>
                      <a:pt x="1852" y="13693"/>
                    </a:lnTo>
                    <a:lnTo>
                      <a:pt x="2222" y="13154"/>
                    </a:lnTo>
                    <a:lnTo>
                      <a:pt x="2593" y="12615"/>
                    </a:lnTo>
                    <a:lnTo>
                      <a:pt x="2593" y="12022"/>
                    </a:lnTo>
                    <a:lnTo>
                      <a:pt x="2963" y="11429"/>
                    </a:lnTo>
                    <a:lnTo>
                      <a:pt x="3086" y="10889"/>
                    </a:lnTo>
                    <a:lnTo>
                      <a:pt x="3333" y="10350"/>
                    </a:lnTo>
                    <a:lnTo>
                      <a:pt x="3580" y="9757"/>
                    </a:lnTo>
                    <a:lnTo>
                      <a:pt x="3704" y="9326"/>
                    </a:lnTo>
                    <a:lnTo>
                      <a:pt x="4074" y="8733"/>
                    </a:lnTo>
                    <a:lnTo>
                      <a:pt x="4198" y="8194"/>
                    </a:lnTo>
                    <a:lnTo>
                      <a:pt x="4444" y="7763"/>
                    </a:lnTo>
                    <a:lnTo>
                      <a:pt x="4691" y="7224"/>
                    </a:lnTo>
                    <a:lnTo>
                      <a:pt x="4815" y="6846"/>
                    </a:lnTo>
                    <a:lnTo>
                      <a:pt x="5062" y="6361"/>
                    </a:lnTo>
                    <a:lnTo>
                      <a:pt x="5309" y="5876"/>
                    </a:lnTo>
                    <a:lnTo>
                      <a:pt x="5556" y="5499"/>
                    </a:lnTo>
                    <a:lnTo>
                      <a:pt x="5802" y="5067"/>
                    </a:lnTo>
                    <a:lnTo>
                      <a:pt x="5802" y="4528"/>
                    </a:lnTo>
                    <a:lnTo>
                      <a:pt x="6296" y="4151"/>
                    </a:lnTo>
                    <a:lnTo>
                      <a:pt x="6420" y="3720"/>
                    </a:lnTo>
                    <a:lnTo>
                      <a:pt x="6667" y="3396"/>
                    </a:lnTo>
                    <a:lnTo>
                      <a:pt x="6914" y="3019"/>
                    </a:lnTo>
                    <a:lnTo>
                      <a:pt x="7037" y="2749"/>
                    </a:lnTo>
                    <a:lnTo>
                      <a:pt x="7284" y="2426"/>
                    </a:lnTo>
                    <a:lnTo>
                      <a:pt x="7531" y="2102"/>
                    </a:lnTo>
                    <a:lnTo>
                      <a:pt x="7778" y="1833"/>
                    </a:lnTo>
                    <a:lnTo>
                      <a:pt x="7901" y="1563"/>
                    </a:lnTo>
                    <a:lnTo>
                      <a:pt x="8148" y="1240"/>
                    </a:lnTo>
                    <a:lnTo>
                      <a:pt x="8395" y="1024"/>
                    </a:lnTo>
                    <a:lnTo>
                      <a:pt x="8519" y="863"/>
                    </a:lnTo>
                    <a:lnTo>
                      <a:pt x="8765" y="647"/>
                    </a:lnTo>
                    <a:lnTo>
                      <a:pt x="8889" y="539"/>
                    </a:lnTo>
                    <a:lnTo>
                      <a:pt x="9136" y="377"/>
                    </a:lnTo>
                    <a:lnTo>
                      <a:pt x="9383" y="270"/>
                    </a:lnTo>
                    <a:lnTo>
                      <a:pt x="9506" y="108"/>
                    </a:lnTo>
                    <a:lnTo>
                      <a:pt x="9877" y="108"/>
                    </a:lnTo>
                    <a:lnTo>
                      <a:pt x="10000" y="54"/>
                    </a:lnTo>
                    <a:lnTo>
                      <a:pt x="10247" y="0"/>
                    </a:lnTo>
                    <a:lnTo>
                      <a:pt x="10617" y="54"/>
                    </a:lnTo>
                    <a:lnTo>
                      <a:pt x="10741" y="54"/>
                    </a:lnTo>
                    <a:lnTo>
                      <a:pt x="10864" y="108"/>
                    </a:lnTo>
                    <a:lnTo>
                      <a:pt x="11111" y="216"/>
                    </a:lnTo>
                    <a:lnTo>
                      <a:pt x="11358" y="323"/>
                    </a:lnTo>
                    <a:lnTo>
                      <a:pt x="11481" y="539"/>
                    </a:lnTo>
                    <a:lnTo>
                      <a:pt x="11852" y="755"/>
                    </a:lnTo>
                    <a:lnTo>
                      <a:pt x="12099" y="1024"/>
                    </a:lnTo>
                    <a:lnTo>
                      <a:pt x="12222" y="1240"/>
                    </a:lnTo>
                    <a:lnTo>
                      <a:pt x="12346" y="1563"/>
                    </a:lnTo>
                    <a:lnTo>
                      <a:pt x="12716" y="1887"/>
                    </a:lnTo>
                    <a:lnTo>
                      <a:pt x="12963" y="2264"/>
                    </a:lnTo>
                    <a:lnTo>
                      <a:pt x="13086" y="2749"/>
                    </a:lnTo>
                    <a:lnTo>
                      <a:pt x="13333" y="3127"/>
                    </a:lnTo>
                    <a:lnTo>
                      <a:pt x="13580" y="3504"/>
                    </a:lnTo>
                    <a:lnTo>
                      <a:pt x="13704" y="3989"/>
                    </a:lnTo>
                    <a:lnTo>
                      <a:pt x="14198" y="4367"/>
                    </a:lnTo>
                    <a:lnTo>
                      <a:pt x="14321" y="4960"/>
                    </a:lnTo>
                    <a:lnTo>
                      <a:pt x="14444" y="5499"/>
                    </a:lnTo>
                    <a:lnTo>
                      <a:pt x="14815" y="5984"/>
                    </a:lnTo>
                    <a:lnTo>
                      <a:pt x="15062" y="6523"/>
                    </a:lnTo>
                    <a:lnTo>
                      <a:pt x="15185" y="7008"/>
                    </a:lnTo>
                    <a:lnTo>
                      <a:pt x="15309" y="7601"/>
                    </a:lnTo>
                    <a:lnTo>
                      <a:pt x="15679" y="8194"/>
                    </a:lnTo>
                    <a:lnTo>
                      <a:pt x="15926" y="8787"/>
                    </a:lnTo>
                    <a:lnTo>
                      <a:pt x="16173" y="9326"/>
                    </a:lnTo>
                    <a:lnTo>
                      <a:pt x="16296" y="9919"/>
                    </a:lnTo>
                    <a:lnTo>
                      <a:pt x="16543" y="10458"/>
                    </a:lnTo>
                    <a:lnTo>
                      <a:pt x="16667" y="10997"/>
                    </a:lnTo>
                    <a:lnTo>
                      <a:pt x="16914" y="11590"/>
                    </a:lnTo>
                    <a:lnTo>
                      <a:pt x="17160" y="12183"/>
                    </a:lnTo>
                    <a:lnTo>
                      <a:pt x="17407" y="12776"/>
                    </a:lnTo>
                    <a:lnTo>
                      <a:pt x="17407" y="13261"/>
                    </a:lnTo>
                    <a:lnTo>
                      <a:pt x="17654" y="13854"/>
                    </a:lnTo>
                    <a:lnTo>
                      <a:pt x="17901" y="14340"/>
                    </a:lnTo>
                    <a:lnTo>
                      <a:pt x="18148" y="14933"/>
                    </a:lnTo>
                    <a:lnTo>
                      <a:pt x="18395" y="15472"/>
                    </a:lnTo>
                    <a:lnTo>
                      <a:pt x="18395" y="15903"/>
                    </a:lnTo>
                    <a:lnTo>
                      <a:pt x="18642" y="16442"/>
                    </a:lnTo>
                    <a:lnTo>
                      <a:pt x="18889" y="16873"/>
                    </a:lnTo>
                    <a:lnTo>
                      <a:pt x="19012" y="17305"/>
                    </a:lnTo>
                    <a:lnTo>
                      <a:pt x="19136" y="17736"/>
                    </a:lnTo>
                    <a:lnTo>
                      <a:pt x="19259" y="18113"/>
                    </a:lnTo>
                    <a:lnTo>
                      <a:pt x="19506" y="18544"/>
                    </a:lnTo>
                    <a:lnTo>
                      <a:pt x="19506" y="18976"/>
                    </a:lnTo>
                    <a:lnTo>
                      <a:pt x="19630" y="19191"/>
                    </a:lnTo>
                    <a:lnTo>
                      <a:pt x="19753" y="19461"/>
                    </a:lnTo>
                    <a:lnTo>
                      <a:pt x="19877" y="19730"/>
                    </a:lnTo>
                    <a:lnTo>
                      <a:pt x="19877" y="19946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78" name="AutoShape 120">
                <a:extLst>
                  <a:ext uri="{FF2B5EF4-FFF2-40B4-BE49-F238E27FC236}">
                    <a16:creationId xmlns:a16="http://schemas.microsoft.com/office/drawing/2014/main" id="{B31F45C7-3DCA-9E1B-651C-AE2DEBC2AF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8" y="690"/>
                <a:ext cx="103" cy="13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31" y="616"/>
                    </a:lnTo>
                    <a:lnTo>
                      <a:pt x="347" y="1232"/>
                    </a:lnTo>
                    <a:lnTo>
                      <a:pt x="462" y="1905"/>
                    </a:lnTo>
                    <a:lnTo>
                      <a:pt x="809" y="2521"/>
                    </a:lnTo>
                    <a:lnTo>
                      <a:pt x="925" y="3137"/>
                    </a:lnTo>
                    <a:lnTo>
                      <a:pt x="1156" y="3697"/>
                    </a:lnTo>
                    <a:lnTo>
                      <a:pt x="1387" y="4314"/>
                    </a:lnTo>
                    <a:lnTo>
                      <a:pt x="1503" y="4986"/>
                    </a:lnTo>
                    <a:lnTo>
                      <a:pt x="1734" y="5602"/>
                    </a:lnTo>
                    <a:lnTo>
                      <a:pt x="2081" y="6162"/>
                    </a:lnTo>
                    <a:lnTo>
                      <a:pt x="2197" y="6779"/>
                    </a:lnTo>
                    <a:lnTo>
                      <a:pt x="2543" y="7283"/>
                    </a:lnTo>
                    <a:lnTo>
                      <a:pt x="2543" y="7899"/>
                    </a:lnTo>
                    <a:lnTo>
                      <a:pt x="2775" y="8515"/>
                    </a:lnTo>
                    <a:lnTo>
                      <a:pt x="3006" y="9020"/>
                    </a:lnTo>
                    <a:lnTo>
                      <a:pt x="3237" y="9636"/>
                    </a:lnTo>
                    <a:lnTo>
                      <a:pt x="3353" y="10140"/>
                    </a:lnTo>
                    <a:lnTo>
                      <a:pt x="3468" y="10644"/>
                    </a:lnTo>
                    <a:lnTo>
                      <a:pt x="3815" y="11204"/>
                    </a:lnTo>
                    <a:lnTo>
                      <a:pt x="3931" y="11765"/>
                    </a:lnTo>
                    <a:lnTo>
                      <a:pt x="4162" y="12213"/>
                    </a:lnTo>
                    <a:lnTo>
                      <a:pt x="4393" y="12773"/>
                    </a:lnTo>
                    <a:lnTo>
                      <a:pt x="4509" y="13165"/>
                    </a:lnTo>
                    <a:lnTo>
                      <a:pt x="4624" y="13669"/>
                    </a:lnTo>
                    <a:lnTo>
                      <a:pt x="4971" y="14118"/>
                    </a:lnTo>
                    <a:lnTo>
                      <a:pt x="5202" y="14510"/>
                    </a:lnTo>
                    <a:lnTo>
                      <a:pt x="5434" y="15014"/>
                    </a:lnTo>
                    <a:lnTo>
                      <a:pt x="5549" y="15462"/>
                    </a:lnTo>
                    <a:lnTo>
                      <a:pt x="5665" y="15854"/>
                    </a:lnTo>
                    <a:lnTo>
                      <a:pt x="6127" y="16190"/>
                    </a:lnTo>
                    <a:lnTo>
                      <a:pt x="6243" y="16639"/>
                    </a:lnTo>
                    <a:lnTo>
                      <a:pt x="6474" y="16919"/>
                    </a:lnTo>
                    <a:lnTo>
                      <a:pt x="6590" y="17255"/>
                    </a:lnTo>
                    <a:lnTo>
                      <a:pt x="6705" y="17591"/>
                    </a:lnTo>
                    <a:lnTo>
                      <a:pt x="6936" y="17927"/>
                    </a:lnTo>
                    <a:lnTo>
                      <a:pt x="7283" y="18095"/>
                    </a:lnTo>
                    <a:lnTo>
                      <a:pt x="7514" y="18487"/>
                    </a:lnTo>
                    <a:lnTo>
                      <a:pt x="7514" y="18711"/>
                    </a:lnTo>
                    <a:lnTo>
                      <a:pt x="7861" y="18992"/>
                    </a:lnTo>
                    <a:lnTo>
                      <a:pt x="7977" y="19160"/>
                    </a:lnTo>
                    <a:lnTo>
                      <a:pt x="8208" y="19328"/>
                    </a:lnTo>
                    <a:lnTo>
                      <a:pt x="8439" y="19440"/>
                    </a:lnTo>
                    <a:lnTo>
                      <a:pt x="8555" y="19664"/>
                    </a:lnTo>
                    <a:lnTo>
                      <a:pt x="8902" y="19720"/>
                    </a:lnTo>
                    <a:lnTo>
                      <a:pt x="9017" y="19888"/>
                    </a:lnTo>
                    <a:lnTo>
                      <a:pt x="9249" y="19888"/>
                    </a:lnTo>
                    <a:lnTo>
                      <a:pt x="9480" y="19944"/>
                    </a:lnTo>
                    <a:lnTo>
                      <a:pt x="9595" y="19944"/>
                    </a:lnTo>
                    <a:lnTo>
                      <a:pt x="9827" y="19944"/>
                    </a:lnTo>
                    <a:lnTo>
                      <a:pt x="10173" y="19888"/>
                    </a:lnTo>
                    <a:lnTo>
                      <a:pt x="10405" y="19888"/>
                    </a:lnTo>
                    <a:lnTo>
                      <a:pt x="10520" y="19664"/>
                    </a:lnTo>
                    <a:lnTo>
                      <a:pt x="10751" y="19496"/>
                    </a:lnTo>
                    <a:lnTo>
                      <a:pt x="11098" y="19328"/>
                    </a:lnTo>
                    <a:lnTo>
                      <a:pt x="11329" y="19104"/>
                    </a:lnTo>
                    <a:lnTo>
                      <a:pt x="11445" y="18936"/>
                    </a:lnTo>
                    <a:lnTo>
                      <a:pt x="11792" y="18543"/>
                    </a:lnTo>
                    <a:lnTo>
                      <a:pt x="11908" y="18263"/>
                    </a:lnTo>
                    <a:lnTo>
                      <a:pt x="12139" y="17871"/>
                    </a:lnTo>
                    <a:lnTo>
                      <a:pt x="12486" y="17479"/>
                    </a:lnTo>
                    <a:lnTo>
                      <a:pt x="12601" y="17087"/>
                    </a:lnTo>
                    <a:lnTo>
                      <a:pt x="12832" y="16751"/>
                    </a:lnTo>
                    <a:lnTo>
                      <a:pt x="13295" y="16303"/>
                    </a:lnTo>
                    <a:lnTo>
                      <a:pt x="13410" y="15798"/>
                    </a:lnTo>
                    <a:lnTo>
                      <a:pt x="13642" y="15350"/>
                    </a:lnTo>
                    <a:lnTo>
                      <a:pt x="13873" y="14846"/>
                    </a:lnTo>
                    <a:lnTo>
                      <a:pt x="14220" y="14342"/>
                    </a:lnTo>
                    <a:lnTo>
                      <a:pt x="14451" y="13838"/>
                    </a:lnTo>
                    <a:lnTo>
                      <a:pt x="14682" y="13277"/>
                    </a:lnTo>
                    <a:lnTo>
                      <a:pt x="14913" y="12829"/>
                    </a:lnTo>
                    <a:lnTo>
                      <a:pt x="15260" y="12213"/>
                    </a:lnTo>
                    <a:lnTo>
                      <a:pt x="15491" y="11709"/>
                    </a:lnTo>
                    <a:lnTo>
                      <a:pt x="15607" y="11036"/>
                    </a:lnTo>
                    <a:lnTo>
                      <a:pt x="15954" y="10588"/>
                    </a:lnTo>
                    <a:lnTo>
                      <a:pt x="16069" y="10028"/>
                    </a:lnTo>
                    <a:lnTo>
                      <a:pt x="16416" y="9412"/>
                    </a:lnTo>
                    <a:lnTo>
                      <a:pt x="16532" y="8964"/>
                    </a:lnTo>
                    <a:lnTo>
                      <a:pt x="16763" y="8403"/>
                    </a:lnTo>
                    <a:lnTo>
                      <a:pt x="16994" y="7787"/>
                    </a:lnTo>
                    <a:lnTo>
                      <a:pt x="17225" y="7227"/>
                    </a:lnTo>
                    <a:lnTo>
                      <a:pt x="17457" y="6835"/>
                    </a:lnTo>
                    <a:lnTo>
                      <a:pt x="17572" y="6218"/>
                    </a:lnTo>
                    <a:lnTo>
                      <a:pt x="17803" y="5714"/>
                    </a:lnTo>
                    <a:lnTo>
                      <a:pt x="18266" y="5210"/>
                    </a:lnTo>
                    <a:lnTo>
                      <a:pt x="18266" y="4762"/>
                    </a:lnTo>
                    <a:lnTo>
                      <a:pt x="18497" y="4314"/>
                    </a:lnTo>
                    <a:lnTo>
                      <a:pt x="18728" y="3866"/>
                    </a:lnTo>
                    <a:lnTo>
                      <a:pt x="18960" y="3361"/>
                    </a:lnTo>
                    <a:lnTo>
                      <a:pt x="19075" y="3025"/>
                    </a:lnTo>
                    <a:lnTo>
                      <a:pt x="19191" y="2689"/>
                    </a:lnTo>
                    <a:lnTo>
                      <a:pt x="19306" y="2241"/>
                    </a:lnTo>
                    <a:lnTo>
                      <a:pt x="19538" y="1905"/>
                    </a:lnTo>
                    <a:lnTo>
                      <a:pt x="19538" y="1625"/>
                    </a:lnTo>
                    <a:lnTo>
                      <a:pt x="19653" y="1289"/>
                    </a:lnTo>
                    <a:lnTo>
                      <a:pt x="19769" y="1008"/>
                    </a:lnTo>
                    <a:lnTo>
                      <a:pt x="19884" y="840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79" name="AutoShape 121">
                <a:extLst>
                  <a:ext uri="{FF2B5EF4-FFF2-40B4-BE49-F238E27FC236}">
                    <a16:creationId xmlns:a16="http://schemas.microsoft.com/office/drawing/2014/main" id="{9B355B7C-93C7-E17F-CB48-4790A25B24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568"/>
                <a:ext cx="96" cy="134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111"/>
                    </a:moveTo>
                    <a:lnTo>
                      <a:pt x="247" y="18500"/>
                    </a:lnTo>
                    <a:lnTo>
                      <a:pt x="494" y="17889"/>
                    </a:lnTo>
                    <a:lnTo>
                      <a:pt x="617" y="17278"/>
                    </a:lnTo>
                    <a:lnTo>
                      <a:pt x="864" y="16722"/>
                    </a:lnTo>
                    <a:lnTo>
                      <a:pt x="1111" y="16111"/>
                    </a:lnTo>
                    <a:lnTo>
                      <a:pt x="1358" y="15500"/>
                    </a:lnTo>
                    <a:lnTo>
                      <a:pt x="1605" y="14889"/>
                    </a:lnTo>
                    <a:lnTo>
                      <a:pt x="1728" y="14333"/>
                    </a:lnTo>
                    <a:lnTo>
                      <a:pt x="1852" y="13667"/>
                    </a:lnTo>
                    <a:lnTo>
                      <a:pt x="2222" y="13111"/>
                    </a:lnTo>
                    <a:lnTo>
                      <a:pt x="2593" y="12611"/>
                    </a:lnTo>
                    <a:lnTo>
                      <a:pt x="2593" y="12056"/>
                    </a:lnTo>
                    <a:lnTo>
                      <a:pt x="2963" y="11389"/>
                    </a:lnTo>
                    <a:lnTo>
                      <a:pt x="3086" y="10889"/>
                    </a:lnTo>
                    <a:lnTo>
                      <a:pt x="3333" y="10389"/>
                    </a:lnTo>
                    <a:lnTo>
                      <a:pt x="3580" y="9778"/>
                    </a:lnTo>
                    <a:lnTo>
                      <a:pt x="3704" y="9333"/>
                    </a:lnTo>
                    <a:lnTo>
                      <a:pt x="4074" y="8833"/>
                    </a:lnTo>
                    <a:lnTo>
                      <a:pt x="4198" y="8222"/>
                    </a:lnTo>
                    <a:lnTo>
                      <a:pt x="4444" y="7722"/>
                    </a:lnTo>
                    <a:lnTo>
                      <a:pt x="4691" y="7222"/>
                    </a:lnTo>
                    <a:lnTo>
                      <a:pt x="4815" y="6833"/>
                    </a:lnTo>
                    <a:lnTo>
                      <a:pt x="5062" y="6333"/>
                    </a:lnTo>
                    <a:lnTo>
                      <a:pt x="5309" y="5889"/>
                    </a:lnTo>
                    <a:lnTo>
                      <a:pt x="5556" y="5444"/>
                    </a:lnTo>
                    <a:lnTo>
                      <a:pt x="5802" y="5056"/>
                    </a:lnTo>
                    <a:lnTo>
                      <a:pt x="5802" y="4556"/>
                    </a:lnTo>
                    <a:lnTo>
                      <a:pt x="6296" y="4167"/>
                    </a:lnTo>
                    <a:lnTo>
                      <a:pt x="6420" y="3778"/>
                    </a:lnTo>
                    <a:lnTo>
                      <a:pt x="6667" y="3389"/>
                    </a:lnTo>
                    <a:lnTo>
                      <a:pt x="6914" y="3056"/>
                    </a:lnTo>
                    <a:lnTo>
                      <a:pt x="7037" y="2722"/>
                    </a:lnTo>
                    <a:lnTo>
                      <a:pt x="7284" y="2444"/>
                    </a:lnTo>
                    <a:lnTo>
                      <a:pt x="7531" y="2111"/>
                    </a:lnTo>
                    <a:lnTo>
                      <a:pt x="7778" y="1889"/>
                    </a:lnTo>
                    <a:lnTo>
                      <a:pt x="7901" y="1556"/>
                    </a:lnTo>
                    <a:lnTo>
                      <a:pt x="8148" y="1278"/>
                    </a:lnTo>
                    <a:lnTo>
                      <a:pt x="8395" y="1056"/>
                    </a:lnTo>
                    <a:lnTo>
                      <a:pt x="8519" y="833"/>
                    </a:lnTo>
                    <a:lnTo>
                      <a:pt x="8765" y="667"/>
                    </a:lnTo>
                    <a:lnTo>
                      <a:pt x="8889" y="500"/>
                    </a:lnTo>
                    <a:lnTo>
                      <a:pt x="9136" y="389"/>
                    </a:lnTo>
                    <a:lnTo>
                      <a:pt x="9383" y="278"/>
                    </a:lnTo>
                    <a:lnTo>
                      <a:pt x="9506" y="111"/>
                    </a:lnTo>
                    <a:lnTo>
                      <a:pt x="9877" y="111"/>
                    </a:lnTo>
                    <a:lnTo>
                      <a:pt x="10000" y="56"/>
                    </a:lnTo>
                    <a:lnTo>
                      <a:pt x="10247" y="0"/>
                    </a:lnTo>
                    <a:lnTo>
                      <a:pt x="10617" y="56"/>
                    </a:lnTo>
                    <a:lnTo>
                      <a:pt x="10741" y="56"/>
                    </a:lnTo>
                    <a:lnTo>
                      <a:pt x="10864" y="111"/>
                    </a:lnTo>
                    <a:lnTo>
                      <a:pt x="11111" y="222"/>
                    </a:lnTo>
                    <a:lnTo>
                      <a:pt x="11358" y="333"/>
                    </a:lnTo>
                    <a:lnTo>
                      <a:pt x="11481" y="556"/>
                    </a:lnTo>
                    <a:lnTo>
                      <a:pt x="11852" y="722"/>
                    </a:lnTo>
                    <a:lnTo>
                      <a:pt x="12099" y="1000"/>
                    </a:lnTo>
                    <a:lnTo>
                      <a:pt x="12222" y="1278"/>
                    </a:lnTo>
                    <a:lnTo>
                      <a:pt x="12346" y="1556"/>
                    </a:lnTo>
                    <a:lnTo>
                      <a:pt x="12716" y="1889"/>
                    </a:lnTo>
                    <a:lnTo>
                      <a:pt x="12963" y="2278"/>
                    </a:lnTo>
                    <a:lnTo>
                      <a:pt x="13086" y="2722"/>
                    </a:lnTo>
                    <a:lnTo>
                      <a:pt x="13333" y="3111"/>
                    </a:lnTo>
                    <a:lnTo>
                      <a:pt x="13580" y="3500"/>
                    </a:lnTo>
                    <a:lnTo>
                      <a:pt x="13704" y="4000"/>
                    </a:lnTo>
                    <a:lnTo>
                      <a:pt x="14198" y="4444"/>
                    </a:lnTo>
                    <a:lnTo>
                      <a:pt x="14321" y="4944"/>
                    </a:lnTo>
                    <a:lnTo>
                      <a:pt x="14444" y="5500"/>
                    </a:lnTo>
                    <a:lnTo>
                      <a:pt x="14815" y="6000"/>
                    </a:lnTo>
                    <a:lnTo>
                      <a:pt x="15062" y="6556"/>
                    </a:lnTo>
                    <a:lnTo>
                      <a:pt x="15185" y="7000"/>
                    </a:lnTo>
                    <a:lnTo>
                      <a:pt x="15309" y="7611"/>
                    </a:lnTo>
                    <a:lnTo>
                      <a:pt x="15679" y="8167"/>
                    </a:lnTo>
                    <a:lnTo>
                      <a:pt x="15926" y="8833"/>
                    </a:lnTo>
                    <a:lnTo>
                      <a:pt x="16173" y="9333"/>
                    </a:lnTo>
                    <a:lnTo>
                      <a:pt x="16296" y="9889"/>
                    </a:lnTo>
                    <a:lnTo>
                      <a:pt x="16543" y="10444"/>
                    </a:lnTo>
                    <a:lnTo>
                      <a:pt x="16667" y="11000"/>
                    </a:lnTo>
                    <a:lnTo>
                      <a:pt x="16914" y="11611"/>
                    </a:lnTo>
                    <a:lnTo>
                      <a:pt x="17160" y="12167"/>
                    </a:lnTo>
                    <a:lnTo>
                      <a:pt x="17407" y="12778"/>
                    </a:lnTo>
                    <a:lnTo>
                      <a:pt x="17407" y="13278"/>
                    </a:lnTo>
                    <a:lnTo>
                      <a:pt x="17654" y="13833"/>
                    </a:lnTo>
                    <a:lnTo>
                      <a:pt x="17901" y="14389"/>
                    </a:lnTo>
                    <a:lnTo>
                      <a:pt x="18148" y="14944"/>
                    </a:lnTo>
                    <a:lnTo>
                      <a:pt x="18395" y="15444"/>
                    </a:lnTo>
                    <a:lnTo>
                      <a:pt x="18395" y="15944"/>
                    </a:lnTo>
                    <a:lnTo>
                      <a:pt x="18642" y="16444"/>
                    </a:lnTo>
                    <a:lnTo>
                      <a:pt x="18889" y="16889"/>
                    </a:lnTo>
                    <a:lnTo>
                      <a:pt x="19012" y="17278"/>
                    </a:lnTo>
                    <a:lnTo>
                      <a:pt x="19136" y="17722"/>
                    </a:lnTo>
                    <a:lnTo>
                      <a:pt x="19259" y="18111"/>
                    </a:lnTo>
                    <a:lnTo>
                      <a:pt x="19506" y="18500"/>
                    </a:lnTo>
                    <a:lnTo>
                      <a:pt x="19506" y="18944"/>
                    </a:lnTo>
                    <a:lnTo>
                      <a:pt x="19630" y="19222"/>
                    </a:lnTo>
                    <a:lnTo>
                      <a:pt x="19753" y="19500"/>
                    </a:lnTo>
                    <a:lnTo>
                      <a:pt x="19877" y="19722"/>
                    </a:lnTo>
                    <a:lnTo>
                      <a:pt x="19877" y="19944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80" name="AutoShape 122">
                <a:extLst>
                  <a:ext uri="{FF2B5EF4-FFF2-40B4-BE49-F238E27FC236}">
                    <a16:creationId xmlns:a16="http://schemas.microsoft.com/office/drawing/2014/main" id="{990A8FAF-A49C-1FCB-1164-95706488A3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9" y="689"/>
                <a:ext cx="103" cy="13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31" y="634"/>
                    </a:lnTo>
                    <a:lnTo>
                      <a:pt x="347" y="1268"/>
                    </a:lnTo>
                    <a:lnTo>
                      <a:pt x="462" y="1960"/>
                    </a:lnTo>
                    <a:lnTo>
                      <a:pt x="809" y="2536"/>
                    </a:lnTo>
                    <a:lnTo>
                      <a:pt x="925" y="3170"/>
                    </a:lnTo>
                    <a:lnTo>
                      <a:pt x="1156" y="3689"/>
                    </a:lnTo>
                    <a:lnTo>
                      <a:pt x="1387" y="4380"/>
                    </a:lnTo>
                    <a:lnTo>
                      <a:pt x="1503" y="4957"/>
                    </a:lnTo>
                    <a:lnTo>
                      <a:pt x="1734" y="5591"/>
                    </a:lnTo>
                    <a:lnTo>
                      <a:pt x="2081" y="6167"/>
                    </a:lnTo>
                    <a:lnTo>
                      <a:pt x="2197" y="6801"/>
                    </a:lnTo>
                    <a:lnTo>
                      <a:pt x="2543" y="7262"/>
                    </a:lnTo>
                    <a:lnTo>
                      <a:pt x="2543" y="7839"/>
                    </a:lnTo>
                    <a:lnTo>
                      <a:pt x="2775" y="8473"/>
                    </a:lnTo>
                    <a:lnTo>
                      <a:pt x="3006" y="8991"/>
                    </a:lnTo>
                    <a:lnTo>
                      <a:pt x="3237" y="9625"/>
                    </a:lnTo>
                    <a:lnTo>
                      <a:pt x="3353" y="10144"/>
                    </a:lnTo>
                    <a:lnTo>
                      <a:pt x="3468" y="10663"/>
                    </a:lnTo>
                    <a:lnTo>
                      <a:pt x="3815" y="11182"/>
                    </a:lnTo>
                    <a:lnTo>
                      <a:pt x="3931" y="11758"/>
                    </a:lnTo>
                    <a:lnTo>
                      <a:pt x="4162" y="12219"/>
                    </a:lnTo>
                    <a:lnTo>
                      <a:pt x="4393" y="12738"/>
                    </a:lnTo>
                    <a:lnTo>
                      <a:pt x="4509" y="13199"/>
                    </a:lnTo>
                    <a:lnTo>
                      <a:pt x="4624" y="13660"/>
                    </a:lnTo>
                    <a:lnTo>
                      <a:pt x="4971" y="14121"/>
                    </a:lnTo>
                    <a:lnTo>
                      <a:pt x="5202" y="14582"/>
                    </a:lnTo>
                    <a:lnTo>
                      <a:pt x="5434" y="15043"/>
                    </a:lnTo>
                    <a:lnTo>
                      <a:pt x="5549" y="15389"/>
                    </a:lnTo>
                    <a:lnTo>
                      <a:pt x="5665" y="15850"/>
                    </a:lnTo>
                    <a:lnTo>
                      <a:pt x="6127" y="16254"/>
                    </a:lnTo>
                    <a:lnTo>
                      <a:pt x="6243" y="16599"/>
                    </a:lnTo>
                    <a:lnTo>
                      <a:pt x="6474" y="17003"/>
                    </a:lnTo>
                    <a:lnTo>
                      <a:pt x="6590" y="17233"/>
                    </a:lnTo>
                    <a:lnTo>
                      <a:pt x="6705" y="17579"/>
                    </a:lnTo>
                    <a:lnTo>
                      <a:pt x="6936" y="17925"/>
                    </a:lnTo>
                    <a:lnTo>
                      <a:pt x="7283" y="18156"/>
                    </a:lnTo>
                    <a:lnTo>
                      <a:pt x="7514" y="18444"/>
                    </a:lnTo>
                    <a:lnTo>
                      <a:pt x="7514" y="18732"/>
                    </a:lnTo>
                    <a:lnTo>
                      <a:pt x="7861" y="18963"/>
                    </a:lnTo>
                    <a:lnTo>
                      <a:pt x="7977" y="19193"/>
                    </a:lnTo>
                    <a:lnTo>
                      <a:pt x="8208" y="19308"/>
                    </a:lnTo>
                    <a:lnTo>
                      <a:pt x="8439" y="19481"/>
                    </a:lnTo>
                    <a:lnTo>
                      <a:pt x="8555" y="19654"/>
                    </a:lnTo>
                    <a:lnTo>
                      <a:pt x="8902" y="19712"/>
                    </a:lnTo>
                    <a:lnTo>
                      <a:pt x="9017" y="19885"/>
                    </a:lnTo>
                    <a:lnTo>
                      <a:pt x="9249" y="19885"/>
                    </a:lnTo>
                    <a:lnTo>
                      <a:pt x="9480" y="19942"/>
                    </a:lnTo>
                    <a:lnTo>
                      <a:pt x="9595" y="19942"/>
                    </a:lnTo>
                    <a:lnTo>
                      <a:pt x="9827" y="19942"/>
                    </a:lnTo>
                    <a:lnTo>
                      <a:pt x="10173" y="19885"/>
                    </a:lnTo>
                    <a:lnTo>
                      <a:pt x="10405" y="19885"/>
                    </a:lnTo>
                    <a:lnTo>
                      <a:pt x="10520" y="19712"/>
                    </a:lnTo>
                    <a:lnTo>
                      <a:pt x="10751" y="19481"/>
                    </a:lnTo>
                    <a:lnTo>
                      <a:pt x="11098" y="19308"/>
                    </a:lnTo>
                    <a:lnTo>
                      <a:pt x="11329" y="19135"/>
                    </a:lnTo>
                    <a:lnTo>
                      <a:pt x="11445" y="18905"/>
                    </a:lnTo>
                    <a:lnTo>
                      <a:pt x="11792" y="18559"/>
                    </a:lnTo>
                    <a:lnTo>
                      <a:pt x="11908" y="18213"/>
                    </a:lnTo>
                    <a:lnTo>
                      <a:pt x="12139" y="17925"/>
                    </a:lnTo>
                    <a:lnTo>
                      <a:pt x="12486" y="17522"/>
                    </a:lnTo>
                    <a:lnTo>
                      <a:pt x="12601" y="17118"/>
                    </a:lnTo>
                    <a:lnTo>
                      <a:pt x="12832" y="16715"/>
                    </a:lnTo>
                    <a:lnTo>
                      <a:pt x="13295" y="16311"/>
                    </a:lnTo>
                    <a:lnTo>
                      <a:pt x="13410" y="15850"/>
                    </a:lnTo>
                    <a:lnTo>
                      <a:pt x="13642" y="15331"/>
                    </a:lnTo>
                    <a:lnTo>
                      <a:pt x="13873" y="14870"/>
                    </a:lnTo>
                    <a:lnTo>
                      <a:pt x="14220" y="14352"/>
                    </a:lnTo>
                    <a:lnTo>
                      <a:pt x="14451" y="13833"/>
                    </a:lnTo>
                    <a:lnTo>
                      <a:pt x="14682" y="13314"/>
                    </a:lnTo>
                    <a:lnTo>
                      <a:pt x="14913" y="12738"/>
                    </a:lnTo>
                    <a:lnTo>
                      <a:pt x="15260" y="12219"/>
                    </a:lnTo>
                    <a:lnTo>
                      <a:pt x="15491" y="11585"/>
                    </a:lnTo>
                    <a:lnTo>
                      <a:pt x="15607" y="11066"/>
                    </a:lnTo>
                    <a:lnTo>
                      <a:pt x="15954" y="10548"/>
                    </a:lnTo>
                    <a:lnTo>
                      <a:pt x="16069" y="10029"/>
                    </a:lnTo>
                    <a:lnTo>
                      <a:pt x="16416" y="9452"/>
                    </a:lnTo>
                    <a:lnTo>
                      <a:pt x="16532" y="8934"/>
                    </a:lnTo>
                    <a:lnTo>
                      <a:pt x="16763" y="8473"/>
                    </a:lnTo>
                    <a:lnTo>
                      <a:pt x="16994" y="7781"/>
                    </a:lnTo>
                    <a:lnTo>
                      <a:pt x="17225" y="7262"/>
                    </a:lnTo>
                    <a:lnTo>
                      <a:pt x="17457" y="6801"/>
                    </a:lnTo>
                    <a:lnTo>
                      <a:pt x="17572" y="6225"/>
                    </a:lnTo>
                    <a:lnTo>
                      <a:pt x="17803" y="5764"/>
                    </a:lnTo>
                    <a:lnTo>
                      <a:pt x="18266" y="5187"/>
                    </a:lnTo>
                    <a:lnTo>
                      <a:pt x="18266" y="4726"/>
                    </a:lnTo>
                    <a:lnTo>
                      <a:pt x="18497" y="4265"/>
                    </a:lnTo>
                    <a:lnTo>
                      <a:pt x="18728" y="3862"/>
                    </a:lnTo>
                    <a:lnTo>
                      <a:pt x="18960" y="3401"/>
                    </a:lnTo>
                    <a:lnTo>
                      <a:pt x="19075" y="2997"/>
                    </a:lnTo>
                    <a:lnTo>
                      <a:pt x="19191" y="2594"/>
                    </a:lnTo>
                    <a:lnTo>
                      <a:pt x="19306" y="2248"/>
                    </a:lnTo>
                    <a:lnTo>
                      <a:pt x="19538" y="1960"/>
                    </a:lnTo>
                    <a:lnTo>
                      <a:pt x="19538" y="1556"/>
                    </a:lnTo>
                    <a:lnTo>
                      <a:pt x="19653" y="1326"/>
                    </a:lnTo>
                    <a:lnTo>
                      <a:pt x="19769" y="1037"/>
                    </a:lnTo>
                    <a:lnTo>
                      <a:pt x="19884" y="807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81" name="AutoShape 123">
                <a:extLst>
                  <a:ext uri="{FF2B5EF4-FFF2-40B4-BE49-F238E27FC236}">
                    <a16:creationId xmlns:a16="http://schemas.microsoft.com/office/drawing/2014/main" id="{39E915BA-5F1B-05BE-F3F6-02097ABC84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2" y="561"/>
                <a:ext cx="96" cy="138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084"/>
                    </a:moveTo>
                    <a:lnTo>
                      <a:pt x="247" y="18544"/>
                    </a:lnTo>
                    <a:lnTo>
                      <a:pt x="494" y="17844"/>
                    </a:lnTo>
                    <a:lnTo>
                      <a:pt x="617" y="17251"/>
                    </a:lnTo>
                    <a:lnTo>
                      <a:pt x="864" y="16712"/>
                    </a:lnTo>
                    <a:lnTo>
                      <a:pt x="1111" y="16065"/>
                    </a:lnTo>
                    <a:lnTo>
                      <a:pt x="1358" y="15472"/>
                    </a:lnTo>
                    <a:lnTo>
                      <a:pt x="1605" y="14933"/>
                    </a:lnTo>
                    <a:lnTo>
                      <a:pt x="1728" y="14286"/>
                    </a:lnTo>
                    <a:lnTo>
                      <a:pt x="1852" y="13693"/>
                    </a:lnTo>
                    <a:lnTo>
                      <a:pt x="2222" y="13154"/>
                    </a:lnTo>
                    <a:lnTo>
                      <a:pt x="2593" y="12615"/>
                    </a:lnTo>
                    <a:lnTo>
                      <a:pt x="2593" y="12022"/>
                    </a:lnTo>
                    <a:lnTo>
                      <a:pt x="2963" y="11429"/>
                    </a:lnTo>
                    <a:lnTo>
                      <a:pt x="3086" y="10889"/>
                    </a:lnTo>
                    <a:lnTo>
                      <a:pt x="3333" y="10350"/>
                    </a:lnTo>
                    <a:lnTo>
                      <a:pt x="3580" y="9757"/>
                    </a:lnTo>
                    <a:lnTo>
                      <a:pt x="3704" y="9326"/>
                    </a:lnTo>
                    <a:lnTo>
                      <a:pt x="4074" y="8733"/>
                    </a:lnTo>
                    <a:lnTo>
                      <a:pt x="4198" y="8194"/>
                    </a:lnTo>
                    <a:lnTo>
                      <a:pt x="4444" y="7763"/>
                    </a:lnTo>
                    <a:lnTo>
                      <a:pt x="4691" y="7224"/>
                    </a:lnTo>
                    <a:lnTo>
                      <a:pt x="4815" y="6846"/>
                    </a:lnTo>
                    <a:lnTo>
                      <a:pt x="5062" y="6361"/>
                    </a:lnTo>
                    <a:lnTo>
                      <a:pt x="5309" y="5876"/>
                    </a:lnTo>
                    <a:lnTo>
                      <a:pt x="5556" y="5499"/>
                    </a:lnTo>
                    <a:lnTo>
                      <a:pt x="5802" y="5067"/>
                    </a:lnTo>
                    <a:lnTo>
                      <a:pt x="5802" y="4528"/>
                    </a:lnTo>
                    <a:lnTo>
                      <a:pt x="6296" y="4151"/>
                    </a:lnTo>
                    <a:lnTo>
                      <a:pt x="6420" y="3720"/>
                    </a:lnTo>
                    <a:lnTo>
                      <a:pt x="6667" y="3396"/>
                    </a:lnTo>
                    <a:lnTo>
                      <a:pt x="6914" y="3019"/>
                    </a:lnTo>
                    <a:lnTo>
                      <a:pt x="7037" y="2749"/>
                    </a:lnTo>
                    <a:lnTo>
                      <a:pt x="7284" y="2426"/>
                    </a:lnTo>
                    <a:lnTo>
                      <a:pt x="7531" y="2102"/>
                    </a:lnTo>
                    <a:lnTo>
                      <a:pt x="7778" y="1833"/>
                    </a:lnTo>
                    <a:lnTo>
                      <a:pt x="7901" y="1563"/>
                    </a:lnTo>
                    <a:lnTo>
                      <a:pt x="8148" y="1240"/>
                    </a:lnTo>
                    <a:lnTo>
                      <a:pt x="8395" y="1024"/>
                    </a:lnTo>
                    <a:lnTo>
                      <a:pt x="8519" y="863"/>
                    </a:lnTo>
                    <a:lnTo>
                      <a:pt x="8765" y="647"/>
                    </a:lnTo>
                    <a:lnTo>
                      <a:pt x="8889" y="539"/>
                    </a:lnTo>
                    <a:lnTo>
                      <a:pt x="9136" y="377"/>
                    </a:lnTo>
                    <a:lnTo>
                      <a:pt x="9383" y="270"/>
                    </a:lnTo>
                    <a:lnTo>
                      <a:pt x="9506" y="108"/>
                    </a:lnTo>
                    <a:lnTo>
                      <a:pt x="9877" y="108"/>
                    </a:lnTo>
                    <a:lnTo>
                      <a:pt x="10000" y="54"/>
                    </a:lnTo>
                    <a:lnTo>
                      <a:pt x="10247" y="0"/>
                    </a:lnTo>
                    <a:lnTo>
                      <a:pt x="10617" y="54"/>
                    </a:lnTo>
                    <a:lnTo>
                      <a:pt x="10741" y="54"/>
                    </a:lnTo>
                    <a:lnTo>
                      <a:pt x="10864" y="108"/>
                    </a:lnTo>
                    <a:lnTo>
                      <a:pt x="11111" y="216"/>
                    </a:lnTo>
                    <a:lnTo>
                      <a:pt x="11358" y="323"/>
                    </a:lnTo>
                    <a:lnTo>
                      <a:pt x="11481" y="539"/>
                    </a:lnTo>
                    <a:lnTo>
                      <a:pt x="11852" y="755"/>
                    </a:lnTo>
                    <a:lnTo>
                      <a:pt x="12099" y="1024"/>
                    </a:lnTo>
                    <a:lnTo>
                      <a:pt x="12222" y="1240"/>
                    </a:lnTo>
                    <a:lnTo>
                      <a:pt x="12346" y="1563"/>
                    </a:lnTo>
                    <a:lnTo>
                      <a:pt x="12716" y="1887"/>
                    </a:lnTo>
                    <a:lnTo>
                      <a:pt x="12963" y="2264"/>
                    </a:lnTo>
                    <a:lnTo>
                      <a:pt x="13086" y="2749"/>
                    </a:lnTo>
                    <a:lnTo>
                      <a:pt x="13333" y="3127"/>
                    </a:lnTo>
                    <a:lnTo>
                      <a:pt x="13580" y="3504"/>
                    </a:lnTo>
                    <a:lnTo>
                      <a:pt x="13704" y="3989"/>
                    </a:lnTo>
                    <a:lnTo>
                      <a:pt x="14198" y="4367"/>
                    </a:lnTo>
                    <a:lnTo>
                      <a:pt x="14321" y="4960"/>
                    </a:lnTo>
                    <a:lnTo>
                      <a:pt x="14444" y="5499"/>
                    </a:lnTo>
                    <a:lnTo>
                      <a:pt x="14815" y="5984"/>
                    </a:lnTo>
                    <a:lnTo>
                      <a:pt x="15062" y="6523"/>
                    </a:lnTo>
                    <a:lnTo>
                      <a:pt x="15185" y="7008"/>
                    </a:lnTo>
                    <a:lnTo>
                      <a:pt x="15309" y="7601"/>
                    </a:lnTo>
                    <a:lnTo>
                      <a:pt x="15679" y="8194"/>
                    </a:lnTo>
                    <a:lnTo>
                      <a:pt x="15926" y="8787"/>
                    </a:lnTo>
                    <a:lnTo>
                      <a:pt x="16173" y="9326"/>
                    </a:lnTo>
                    <a:lnTo>
                      <a:pt x="16296" y="9919"/>
                    </a:lnTo>
                    <a:lnTo>
                      <a:pt x="16543" y="10458"/>
                    </a:lnTo>
                    <a:lnTo>
                      <a:pt x="16667" y="10997"/>
                    </a:lnTo>
                    <a:lnTo>
                      <a:pt x="16914" y="11590"/>
                    </a:lnTo>
                    <a:lnTo>
                      <a:pt x="17160" y="12183"/>
                    </a:lnTo>
                    <a:lnTo>
                      <a:pt x="17407" y="12776"/>
                    </a:lnTo>
                    <a:lnTo>
                      <a:pt x="17407" y="13261"/>
                    </a:lnTo>
                    <a:lnTo>
                      <a:pt x="17654" y="13854"/>
                    </a:lnTo>
                    <a:lnTo>
                      <a:pt x="17901" y="14340"/>
                    </a:lnTo>
                    <a:lnTo>
                      <a:pt x="18148" y="14933"/>
                    </a:lnTo>
                    <a:lnTo>
                      <a:pt x="18395" y="15472"/>
                    </a:lnTo>
                    <a:lnTo>
                      <a:pt x="18395" y="15903"/>
                    </a:lnTo>
                    <a:lnTo>
                      <a:pt x="18642" y="16442"/>
                    </a:lnTo>
                    <a:lnTo>
                      <a:pt x="18889" y="16873"/>
                    </a:lnTo>
                    <a:lnTo>
                      <a:pt x="19012" y="17305"/>
                    </a:lnTo>
                    <a:lnTo>
                      <a:pt x="19136" y="17736"/>
                    </a:lnTo>
                    <a:lnTo>
                      <a:pt x="19259" y="18113"/>
                    </a:lnTo>
                    <a:lnTo>
                      <a:pt x="19506" y="18544"/>
                    </a:lnTo>
                    <a:lnTo>
                      <a:pt x="19506" y="18976"/>
                    </a:lnTo>
                    <a:lnTo>
                      <a:pt x="19630" y="19191"/>
                    </a:lnTo>
                    <a:lnTo>
                      <a:pt x="19753" y="19461"/>
                    </a:lnTo>
                    <a:lnTo>
                      <a:pt x="19877" y="19730"/>
                    </a:lnTo>
                    <a:lnTo>
                      <a:pt x="19877" y="19946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82" name="AutoShape 124">
                <a:extLst>
                  <a:ext uri="{FF2B5EF4-FFF2-40B4-BE49-F238E27FC236}">
                    <a16:creationId xmlns:a16="http://schemas.microsoft.com/office/drawing/2014/main" id="{3183E7D3-1D38-A28B-1BD1-E406F0052F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8" y="686"/>
                <a:ext cx="103" cy="134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31" y="616"/>
                    </a:lnTo>
                    <a:lnTo>
                      <a:pt x="347" y="1232"/>
                    </a:lnTo>
                    <a:lnTo>
                      <a:pt x="462" y="1905"/>
                    </a:lnTo>
                    <a:lnTo>
                      <a:pt x="809" y="2521"/>
                    </a:lnTo>
                    <a:lnTo>
                      <a:pt x="925" y="3137"/>
                    </a:lnTo>
                    <a:lnTo>
                      <a:pt x="1156" y="3697"/>
                    </a:lnTo>
                    <a:lnTo>
                      <a:pt x="1387" y="4314"/>
                    </a:lnTo>
                    <a:lnTo>
                      <a:pt x="1503" y="4986"/>
                    </a:lnTo>
                    <a:lnTo>
                      <a:pt x="1734" y="5602"/>
                    </a:lnTo>
                    <a:lnTo>
                      <a:pt x="2081" y="6162"/>
                    </a:lnTo>
                    <a:lnTo>
                      <a:pt x="2197" y="6779"/>
                    </a:lnTo>
                    <a:lnTo>
                      <a:pt x="2543" y="7283"/>
                    </a:lnTo>
                    <a:lnTo>
                      <a:pt x="2543" y="7899"/>
                    </a:lnTo>
                    <a:lnTo>
                      <a:pt x="2775" y="8515"/>
                    </a:lnTo>
                    <a:lnTo>
                      <a:pt x="3006" y="9020"/>
                    </a:lnTo>
                    <a:lnTo>
                      <a:pt x="3237" y="9636"/>
                    </a:lnTo>
                    <a:lnTo>
                      <a:pt x="3353" y="10140"/>
                    </a:lnTo>
                    <a:lnTo>
                      <a:pt x="3468" y="10644"/>
                    </a:lnTo>
                    <a:lnTo>
                      <a:pt x="3815" y="11204"/>
                    </a:lnTo>
                    <a:lnTo>
                      <a:pt x="3931" y="11765"/>
                    </a:lnTo>
                    <a:lnTo>
                      <a:pt x="4162" y="12213"/>
                    </a:lnTo>
                    <a:lnTo>
                      <a:pt x="4393" y="12773"/>
                    </a:lnTo>
                    <a:lnTo>
                      <a:pt x="4509" y="13165"/>
                    </a:lnTo>
                    <a:lnTo>
                      <a:pt x="4624" y="13669"/>
                    </a:lnTo>
                    <a:lnTo>
                      <a:pt x="4971" y="14118"/>
                    </a:lnTo>
                    <a:lnTo>
                      <a:pt x="5202" y="14510"/>
                    </a:lnTo>
                    <a:lnTo>
                      <a:pt x="5434" y="15014"/>
                    </a:lnTo>
                    <a:lnTo>
                      <a:pt x="5549" y="15462"/>
                    </a:lnTo>
                    <a:lnTo>
                      <a:pt x="5665" y="15854"/>
                    </a:lnTo>
                    <a:lnTo>
                      <a:pt x="6127" y="16190"/>
                    </a:lnTo>
                    <a:lnTo>
                      <a:pt x="6243" y="16639"/>
                    </a:lnTo>
                    <a:lnTo>
                      <a:pt x="6474" y="16919"/>
                    </a:lnTo>
                    <a:lnTo>
                      <a:pt x="6590" y="17255"/>
                    </a:lnTo>
                    <a:lnTo>
                      <a:pt x="6705" y="17591"/>
                    </a:lnTo>
                    <a:lnTo>
                      <a:pt x="6936" y="17927"/>
                    </a:lnTo>
                    <a:lnTo>
                      <a:pt x="7283" y="18095"/>
                    </a:lnTo>
                    <a:lnTo>
                      <a:pt x="7514" y="18487"/>
                    </a:lnTo>
                    <a:lnTo>
                      <a:pt x="7514" y="18711"/>
                    </a:lnTo>
                    <a:lnTo>
                      <a:pt x="7861" y="18992"/>
                    </a:lnTo>
                    <a:lnTo>
                      <a:pt x="7977" y="19160"/>
                    </a:lnTo>
                    <a:lnTo>
                      <a:pt x="8208" y="19328"/>
                    </a:lnTo>
                    <a:lnTo>
                      <a:pt x="8439" y="19440"/>
                    </a:lnTo>
                    <a:lnTo>
                      <a:pt x="8555" y="19664"/>
                    </a:lnTo>
                    <a:lnTo>
                      <a:pt x="8902" y="19720"/>
                    </a:lnTo>
                    <a:lnTo>
                      <a:pt x="9017" y="19888"/>
                    </a:lnTo>
                    <a:lnTo>
                      <a:pt x="9249" y="19888"/>
                    </a:lnTo>
                    <a:lnTo>
                      <a:pt x="9480" y="19944"/>
                    </a:lnTo>
                    <a:lnTo>
                      <a:pt x="9595" y="19944"/>
                    </a:lnTo>
                    <a:lnTo>
                      <a:pt x="9827" y="19944"/>
                    </a:lnTo>
                    <a:lnTo>
                      <a:pt x="10173" y="19888"/>
                    </a:lnTo>
                    <a:lnTo>
                      <a:pt x="10405" y="19888"/>
                    </a:lnTo>
                    <a:lnTo>
                      <a:pt x="10520" y="19664"/>
                    </a:lnTo>
                    <a:lnTo>
                      <a:pt x="10751" y="19496"/>
                    </a:lnTo>
                    <a:lnTo>
                      <a:pt x="11098" y="19328"/>
                    </a:lnTo>
                    <a:lnTo>
                      <a:pt x="11329" y="19104"/>
                    </a:lnTo>
                    <a:lnTo>
                      <a:pt x="11445" y="18936"/>
                    </a:lnTo>
                    <a:lnTo>
                      <a:pt x="11792" y="18543"/>
                    </a:lnTo>
                    <a:lnTo>
                      <a:pt x="11908" y="18263"/>
                    </a:lnTo>
                    <a:lnTo>
                      <a:pt x="12139" y="17871"/>
                    </a:lnTo>
                    <a:lnTo>
                      <a:pt x="12486" y="17479"/>
                    </a:lnTo>
                    <a:lnTo>
                      <a:pt x="12601" y="17087"/>
                    </a:lnTo>
                    <a:lnTo>
                      <a:pt x="12832" y="16751"/>
                    </a:lnTo>
                    <a:lnTo>
                      <a:pt x="13295" y="16303"/>
                    </a:lnTo>
                    <a:lnTo>
                      <a:pt x="13410" y="15798"/>
                    </a:lnTo>
                    <a:lnTo>
                      <a:pt x="13642" y="15350"/>
                    </a:lnTo>
                    <a:lnTo>
                      <a:pt x="13873" y="14846"/>
                    </a:lnTo>
                    <a:lnTo>
                      <a:pt x="14220" y="14342"/>
                    </a:lnTo>
                    <a:lnTo>
                      <a:pt x="14451" y="13838"/>
                    </a:lnTo>
                    <a:lnTo>
                      <a:pt x="14682" y="13277"/>
                    </a:lnTo>
                    <a:lnTo>
                      <a:pt x="14913" y="12829"/>
                    </a:lnTo>
                    <a:lnTo>
                      <a:pt x="15260" y="12213"/>
                    </a:lnTo>
                    <a:lnTo>
                      <a:pt x="15491" y="11709"/>
                    </a:lnTo>
                    <a:lnTo>
                      <a:pt x="15607" y="11036"/>
                    </a:lnTo>
                    <a:lnTo>
                      <a:pt x="15954" y="10588"/>
                    </a:lnTo>
                    <a:lnTo>
                      <a:pt x="16069" y="10028"/>
                    </a:lnTo>
                    <a:lnTo>
                      <a:pt x="16416" y="9412"/>
                    </a:lnTo>
                    <a:lnTo>
                      <a:pt x="16532" y="8964"/>
                    </a:lnTo>
                    <a:lnTo>
                      <a:pt x="16763" y="8403"/>
                    </a:lnTo>
                    <a:lnTo>
                      <a:pt x="16994" y="7787"/>
                    </a:lnTo>
                    <a:lnTo>
                      <a:pt x="17225" y="7227"/>
                    </a:lnTo>
                    <a:lnTo>
                      <a:pt x="17457" y="6835"/>
                    </a:lnTo>
                    <a:lnTo>
                      <a:pt x="17572" y="6218"/>
                    </a:lnTo>
                    <a:lnTo>
                      <a:pt x="17803" y="5714"/>
                    </a:lnTo>
                    <a:lnTo>
                      <a:pt x="18266" y="5210"/>
                    </a:lnTo>
                    <a:lnTo>
                      <a:pt x="18266" y="4762"/>
                    </a:lnTo>
                    <a:lnTo>
                      <a:pt x="18497" y="4314"/>
                    </a:lnTo>
                    <a:lnTo>
                      <a:pt x="18728" y="3866"/>
                    </a:lnTo>
                    <a:lnTo>
                      <a:pt x="18960" y="3361"/>
                    </a:lnTo>
                    <a:lnTo>
                      <a:pt x="19075" y="3025"/>
                    </a:lnTo>
                    <a:lnTo>
                      <a:pt x="19191" y="2689"/>
                    </a:lnTo>
                    <a:lnTo>
                      <a:pt x="19306" y="2241"/>
                    </a:lnTo>
                    <a:lnTo>
                      <a:pt x="19538" y="1905"/>
                    </a:lnTo>
                    <a:lnTo>
                      <a:pt x="19538" y="1625"/>
                    </a:lnTo>
                    <a:lnTo>
                      <a:pt x="19653" y="1289"/>
                    </a:lnTo>
                    <a:lnTo>
                      <a:pt x="19769" y="1008"/>
                    </a:lnTo>
                    <a:lnTo>
                      <a:pt x="19884" y="840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83" name="AutoShape 125">
                <a:extLst>
                  <a:ext uri="{FF2B5EF4-FFF2-40B4-BE49-F238E27FC236}">
                    <a16:creationId xmlns:a16="http://schemas.microsoft.com/office/drawing/2014/main" id="{BD43D63F-2D2A-D804-D93C-67D99720D9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3" y="564"/>
                <a:ext cx="97" cy="13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111"/>
                    </a:moveTo>
                    <a:lnTo>
                      <a:pt x="247" y="18500"/>
                    </a:lnTo>
                    <a:lnTo>
                      <a:pt x="494" y="17889"/>
                    </a:lnTo>
                    <a:lnTo>
                      <a:pt x="617" y="17278"/>
                    </a:lnTo>
                    <a:lnTo>
                      <a:pt x="864" y="16722"/>
                    </a:lnTo>
                    <a:lnTo>
                      <a:pt x="1111" y="16111"/>
                    </a:lnTo>
                    <a:lnTo>
                      <a:pt x="1358" y="15500"/>
                    </a:lnTo>
                    <a:lnTo>
                      <a:pt x="1605" y="14889"/>
                    </a:lnTo>
                    <a:lnTo>
                      <a:pt x="1728" y="14333"/>
                    </a:lnTo>
                    <a:lnTo>
                      <a:pt x="1852" y="13667"/>
                    </a:lnTo>
                    <a:lnTo>
                      <a:pt x="2222" y="13111"/>
                    </a:lnTo>
                    <a:lnTo>
                      <a:pt x="2593" y="12611"/>
                    </a:lnTo>
                    <a:lnTo>
                      <a:pt x="2593" y="12056"/>
                    </a:lnTo>
                    <a:lnTo>
                      <a:pt x="2963" y="11389"/>
                    </a:lnTo>
                    <a:lnTo>
                      <a:pt x="3086" y="10889"/>
                    </a:lnTo>
                    <a:lnTo>
                      <a:pt x="3333" y="10389"/>
                    </a:lnTo>
                    <a:lnTo>
                      <a:pt x="3580" y="9778"/>
                    </a:lnTo>
                    <a:lnTo>
                      <a:pt x="3704" y="9333"/>
                    </a:lnTo>
                    <a:lnTo>
                      <a:pt x="4074" y="8833"/>
                    </a:lnTo>
                    <a:lnTo>
                      <a:pt x="4198" y="8222"/>
                    </a:lnTo>
                    <a:lnTo>
                      <a:pt x="4444" y="7722"/>
                    </a:lnTo>
                    <a:lnTo>
                      <a:pt x="4691" y="7222"/>
                    </a:lnTo>
                    <a:lnTo>
                      <a:pt x="4815" y="6833"/>
                    </a:lnTo>
                    <a:lnTo>
                      <a:pt x="5062" y="6333"/>
                    </a:lnTo>
                    <a:lnTo>
                      <a:pt x="5309" y="5889"/>
                    </a:lnTo>
                    <a:lnTo>
                      <a:pt x="5556" y="5444"/>
                    </a:lnTo>
                    <a:lnTo>
                      <a:pt x="5802" y="5056"/>
                    </a:lnTo>
                    <a:lnTo>
                      <a:pt x="5802" y="4556"/>
                    </a:lnTo>
                    <a:lnTo>
                      <a:pt x="6296" y="4167"/>
                    </a:lnTo>
                    <a:lnTo>
                      <a:pt x="6420" y="3778"/>
                    </a:lnTo>
                    <a:lnTo>
                      <a:pt x="6667" y="3389"/>
                    </a:lnTo>
                    <a:lnTo>
                      <a:pt x="6914" y="3056"/>
                    </a:lnTo>
                    <a:lnTo>
                      <a:pt x="7037" y="2722"/>
                    </a:lnTo>
                    <a:lnTo>
                      <a:pt x="7284" y="2444"/>
                    </a:lnTo>
                    <a:lnTo>
                      <a:pt x="7531" y="2111"/>
                    </a:lnTo>
                    <a:lnTo>
                      <a:pt x="7778" y="1889"/>
                    </a:lnTo>
                    <a:lnTo>
                      <a:pt x="7901" y="1556"/>
                    </a:lnTo>
                    <a:lnTo>
                      <a:pt x="8148" y="1278"/>
                    </a:lnTo>
                    <a:lnTo>
                      <a:pt x="8395" y="1056"/>
                    </a:lnTo>
                    <a:lnTo>
                      <a:pt x="8519" y="833"/>
                    </a:lnTo>
                    <a:lnTo>
                      <a:pt x="8765" y="667"/>
                    </a:lnTo>
                    <a:lnTo>
                      <a:pt x="8889" y="500"/>
                    </a:lnTo>
                    <a:lnTo>
                      <a:pt x="9136" y="389"/>
                    </a:lnTo>
                    <a:lnTo>
                      <a:pt x="9383" y="278"/>
                    </a:lnTo>
                    <a:lnTo>
                      <a:pt x="9506" y="111"/>
                    </a:lnTo>
                    <a:lnTo>
                      <a:pt x="9877" y="111"/>
                    </a:lnTo>
                    <a:lnTo>
                      <a:pt x="10000" y="56"/>
                    </a:lnTo>
                    <a:lnTo>
                      <a:pt x="10247" y="0"/>
                    </a:lnTo>
                    <a:lnTo>
                      <a:pt x="10617" y="56"/>
                    </a:lnTo>
                    <a:lnTo>
                      <a:pt x="10741" y="56"/>
                    </a:lnTo>
                    <a:lnTo>
                      <a:pt x="10864" y="111"/>
                    </a:lnTo>
                    <a:lnTo>
                      <a:pt x="11111" y="222"/>
                    </a:lnTo>
                    <a:lnTo>
                      <a:pt x="11358" y="333"/>
                    </a:lnTo>
                    <a:lnTo>
                      <a:pt x="11481" y="556"/>
                    </a:lnTo>
                    <a:lnTo>
                      <a:pt x="11852" y="722"/>
                    </a:lnTo>
                    <a:lnTo>
                      <a:pt x="12099" y="1000"/>
                    </a:lnTo>
                    <a:lnTo>
                      <a:pt x="12222" y="1278"/>
                    </a:lnTo>
                    <a:lnTo>
                      <a:pt x="12346" y="1556"/>
                    </a:lnTo>
                    <a:lnTo>
                      <a:pt x="12716" y="1889"/>
                    </a:lnTo>
                    <a:lnTo>
                      <a:pt x="12963" y="2278"/>
                    </a:lnTo>
                    <a:lnTo>
                      <a:pt x="13086" y="2722"/>
                    </a:lnTo>
                    <a:lnTo>
                      <a:pt x="13333" y="3111"/>
                    </a:lnTo>
                    <a:lnTo>
                      <a:pt x="13580" y="3500"/>
                    </a:lnTo>
                    <a:lnTo>
                      <a:pt x="13704" y="4000"/>
                    </a:lnTo>
                    <a:lnTo>
                      <a:pt x="14198" y="4444"/>
                    </a:lnTo>
                    <a:lnTo>
                      <a:pt x="14321" y="4944"/>
                    </a:lnTo>
                    <a:lnTo>
                      <a:pt x="14444" y="5500"/>
                    </a:lnTo>
                    <a:lnTo>
                      <a:pt x="14815" y="6000"/>
                    </a:lnTo>
                    <a:lnTo>
                      <a:pt x="15062" y="6556"/>
                    </a:lnTo>
                    <a:lnTo>
                      <a:pt x="15185" y="7000"/>
                    </a:lnTo>
                    <a:lnTo>
                      <a:pt x="15309" y="7611"/>
                    </a:lnTo>
                    <a:lnTo>
                      <a:pt x="15679" y="8167"/>
                    </a:lnTo>
                    <a:lnTo>
                      <a:pt x="15926" y="8833"/>
                    </a:lnTo>
                    <a:lnTo>
                      <a:pt x="16173" y="9333"/>
                    </a:lnTo>
                    <a:lnTo>
                      <a:pt x="16296" y="9889"/>
                    </a:lnTo>
                    <a:lnTo>
                      <a:pt x="16543" y="10444"/>
                    </a:lnTo>
                    <a:lnTo>
                      <a:pt x="16667" y="11000"/>
                    </a:lnTo>
                    <a:lnTo>
                      <a:pt x="16914" y="11611"/>
                    </a:lnTo>
                    <a:lnTo>
                      <a:pt x="17160" y="12167"/>
                    </a:lnTo>
                    <a:lnTo>
                      <a:pt x="17407" y="12778"/>
                    </a:lnTo>
                    <a:lnTo>
                      <a:pt x="17407" y="13278"/>
                    </a:lnTo>
                    <a:lnTo>
                      <a:pt x="17654" y="13833"/>
                    </a:lnTo>
                    <a:lnTo>
                      <a:pt x="17901" y="14389"/>
                    </a:lnTo>
                    <a:lnTo>
                      <a:pt x="18148" y="14944"/>
                    </a:lnTo>
                    <a:lnTo>
                      <a:pt x="18395" y="15444"/>
                    </a:lnTo>
                    <a:lnTo>
                      <a:pt x="18395" y="15944"/>
                    </a:lnTo>
                    <a:lnTo>
                      <a:pt x="18642" y="16444"/>
                    </a:lnTo>
                    <a:lnTo>
                      <a:pt x="18889" y="16889"/>
                    </a:lnTo>
                    <a:lnTo>
                      <a:pt x="19012" y="17278"/>
                    </a:lnTo>
                    <a:lnTo>
                      <a:pt x="19136" y="17722"/>
                    </a:lnTo>
                    <a:lnTo>
                      <a:pt x="19259" y="18111"/>
                    </a:lnTo>
                    <a:lnTo>
                      <a:pt x="19506" y="18500"/>
                    </a:lnTo>
                    <a:lnTo>
                      <a:pt x="19506" y="18944"/>
                    </a:lnTo>
                    <a:lnTo>
                      <a:pt x="19630" y="19222"/>
                    </a:lnTo>
                    <a:lnTo>
                      <a:pt x="19753" y="19500"/>
                    </a:lnTo>
                    <a:lnTo>
                      <a:pt x="19877" y="19722"/>
                    </a:lnTo>
                    <a:lnTo>
                      <a:pt x="19877" y="19944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84" name="AutoShape 126">
                <a:extLst>
                  <a:ext uri="{FF2B5EF4-FFF2-40B4-BE49-F238E27FC236}">
                    <a16:creationId xmlns:a16="http://schemas.microsoft.com/office/drawing/2014/main" id="{1BC6B8B6-9307-BC9D-BF30-7D875E101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8" y="686"/>
                <a:ext cx="104" cy="12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31" y="634"/>
                    </a:lnTo>
                    <a:lnTo>
                      <a:pt x="347" y="1268"/>
                    </a:lnTo>
                    <a:lnTo>
                      <a:pt x="462" y="1960"/>
                    </a:lnTo>
                    <a:lnTo>
                      <a:pt x="809" y="2536"/>
                    </a:lnTo>
                    <a:lnTo>
                      <a:pt x="925" y="3170"/>
                    </a:lnTo>
                    <a:lnTo>
                      <a:pt x="1156" y="3689"/>
                    </a:lnTo>
                    <a:lnTo>
                      <a:pt x="1387" y="4380"/>
                    </a:lnTo>
                    <a:lnTo>
                      <a:pt x="1503" y="4957"/>
                    </a:lnTo>
                    <a:lnTo>
                      <a:pt x="1734" y="5591"/>
                    </a:lnTo>
                    <a:lnTo>
                      <a:pt x="2081" y="6167"/>
                    </a:lnTo>
                    <a:lnTo>
                      <a:pt x="2197" y="6801"/>
                    </a:lnTo>
                    <a:lnTo>
                      <a:pt x="2543" y="7262"/>
                    </a:lnTo>
                    <a:lnTo>
                      <a:pt x="2543" y="7839"/>
                    </a:lnTo>
                    <a:lnTo>
                      <a:pt x="2775" y="8473"/>
                    </a:lnTo>
                    <a:lnTo>
                      <a:pt x="3006" y="8991"/>
                    </a:lnTo>
                    <a:lnTo>
                      <a:pt x="3237" y="9625"/>
                    </a:lnTo>
                    <a:lnTo>
                      <a:pt x="3353" y="10144"/>
                    </a:lnTo>
                    <a:lnTo>
                      <a:pt x="3468" y="10663"/>
                    </a:lnTo>
                    <a:lnTo>
                      <a:pt x="3815" y="11182"/>
                    </a:lnTo>
                    <a:lnTo>
                      <a:pt x="3931" y="11758"/>
                    </a:lnTo>
                    <a:lnTo>
                      <a:pt x="4162" y="12219"/>
                    </a:lnTo>
                    <a:lnTo>
                      <a:pt x="4393" y="12738"/>
                    </a:lnTo>
                    <a:lnTo>
                      <a:pt x="4509" y="13199"/>
                    </a:lnTo>
                    <a:lnTo>
                      <a:pt x="4624" y="13660"/>
                    </a:lnTo>
                    <a:lnTo>
                      <a:pt x="4971" y="14121"/>
                    </a:lnTo>
                    <a:lnTo>
                      <a:pt x="5202" y="14582"/>
                    </a:lnTo>
                    <a:lnTo>
                      <a:pt x="5434" y="15043"/>
                    </a:lnTo>
                    <a:lnTo>
                      <a:pt x="5549" y="15389"/>
                    </a:lnTo>
                    <a:lnTo>
                      <a:pt x="5665" y="15850"/>
                    </a:lnTo>
                    <a:lnTo>
                      <a:pt x="6127" y="16254"/>
                    </a:lnTo>
                    <a:lnTo>
                      <a:pt x="6243" y="16599"/>
                    </a:lnTo>
                    <a:lnTo>
                      <a:pt x="6474" y="17003"/>
                    </a:lnTo>
                    <a:lnTo>
                      <a:pt x="6590" y="17233"/>
                    </a:lnTo>
                    <a:lnTo>
                      <a:pt x="6705" y="17579"/>
                    </a:lnTo>
                    <a:lnTo>
                      <a:pt x="6936" y="17925"/>
                    </a:lnTo>
                    <a:lnTo>
                      <a:pt x="7283" y="18156"/>
                    </a:lnTo>
                    <a:lnTo>
                      <a:pt x="7514" y="18444"/>
                    </a:lnTo>
                    <a:lnTo>
                      <a:pt x="7514" y="18732"/>
                    </a:lnTo>
                    <a:lnTo>
                      <a:pt x="7861" y="18963"/>
                    </a:lnTo>
                    <a:lnTo>
                      <a:pt x="7977" y="19193"/>
                    </a:lnTo>
                    <a:lnTo>
                      <a:pt x="8208" y="19308"/>
                    </a:lnTo>
                    <a:lnTo>
                      <a:pt x="8439" y="19481"/>
                    </a:lnTo>
                    <a:lnTo>
                      <a:pt x="8555" y="19654"/>
                    </a:lnTo>
                    <a:lnTo>
                      <a:pt x="8902" y="19712"/>
                    </a:lnTo>
                    <a:lnTo>
                      <a:pt x="9017" y="19885"/>
                    </a:lnTo>
                    <a:lnTo>
                      <a:pt x="9249" y="19885"/>
                    </a:lnTo>
                    <a:lnTo>
                      <a:pt x="9480" y="19942"/>
                    </a:lnTo>
                    <a:lnTo>
                      <a:pt x="9595" y="19942"/>
                    </a:lnTo>
                    <a:lnTo>
                      <a:pt x="9827" y="19942"/>
                    </a:lnTo>
                    <a:lnTo>
                      <a:pt x="10173" y="19885"/>
                    </a:lnTo>
                    <a:lnTo>
                      <a:pt x="10405" y="19885"/>
                    </a:lnTo>
                    <a:lnTo>
                      <a:pt x="10520" y="19712"/>
                    </a:lnTo>
                    <a:lnTo>
                      <a:pt x="10751" y="19481"/>
                    </a:lnTo>
                    <a:lnTo>
                      <a:pt x="11098" y="19308"/>
                    </a:lnTo>
                    <a:lnTo>
                      <a:pt x="11329" y="19135"/>
                    </a:lnTo>
                    <a:lnTo>
                      <a:pt x="11445" y="18905"/>
                    </a:lnTo>
                    <a:lnTo>
                      <a:pt x="11792" y="18559"/>
                    </a:lnTo>
                    <a:lnTo>
                      <a:pt x="11908" y="18213"/>
                    </a:lnTo>
                    <a:lnTo>
                      <a:pt x="12139" y="17925"/>
                    </a:lnTo>
                    <a:lnTo>
                      <a:pt x="12486" y="17522"/>
                    </a:lnTo>
                    <a:lnTo>
                      <a:pt x="12601" y="17118"/>
                    </a:lnTo>
                    <a:lnTo>
                      <a:pt x="12832" y="16715"/>
                    </a:lnTo>
                    <a:lnTo>
                      <a:pt x="13295" y="16311"/>
                    </a:lnTo>
                    <a:lnTo>
                      <a:pt x="13410" y="15850"/>
                    </a:lnTo>
                    <a:lnTo>
                      <a:pt x="13642" y="15331"/>
                    </a:lnTo>
                    <a:lnTo>
                      <a:pt x="13873" y="14870"/>
                    </a:lnTo>
                    <a:lnTo>
                      <a:pt x="14220" y="14352"/>
                    </a:lnTo>
                    <a:lnTo>
                      <a:pt x="14451" y="13833"/>
                    </a:lnTo>
                    <a:lnTo>
                      <a:pt x="14682" y="13314"/>
                    </a:lnTo>
                    <a:lnTo>
                      <a:pt x="14913" y="12738"/>
                    </a:lnTo>
                    <a:lnTo>
                      <a:pt x="15260" y="12219"/>
                    </a:lnTo>
                    <a:lnTo>
                      <a:pt x="15491" y="11585"/>
                    </a:lnTo>
                    <a:lnTo>
                      <a:pt x="15607" y="11066"/>
                    </a:lnTo>
                    <a:lnTo>
                      <a:pt x="15954" y="10548"/>
                    </a:lnTo>
                    <a:lnTo>
                      <a:pt x="16069" y="10029"/>
                    </a:lnTo>
                    <a:lnTo>
                      <a:pt x="16416" y="9452"/>
                    </a:lnTo>
                    <a:lnTo>
                      <a:pt x="16532" y="8934"/>
                    </a:lnTo>
                    <a:lnTo>
                      <a:pt x="16763" y="8473"/>
                    </a:lnTo>
                    <a:lnTo>
                      <a:pt x="16994" y="7781"/>
                    </a:lnTo>
                    <a:lnTo>
                      <a:pt x="17225" y="7262"/>
                    </a:lnTo>
                    <a:lnTo>
                      <a:pt x="17457" y="6801"/>
                    </a:lnTo>
                    <a:lnTo>
                      <a:pt x="17572" y="6225"/>
                    </a:lnTo>
                    <a:lnTo>
                      <a:pt x="17803" y="5764"/>
                    </a:lnTo>
                    <a:lnTo>
                      <a:pt x="18266" y="5187"/>
                    </a:lnTo>
                    <a:lnTo>
                      <a:pt x="18266" y="4726"/>
                    </a:lnTo>
                    <a:lnTo>
                      <a:pt x="18497" y="4265"/>
                    </a:lnTo>
                    <a:lnTo>
                      <a:pt x="18728" y="3862"/>
                    </a:lnTo>
                    <a:lnTo>
                      <a:pt x="18960" y="3401"/>
                    </a:lnTo>
                    <a:lnTo>
                      <a:pt x="19075" y="2997"/>
                    </a:lnTo>
                    <a:lnTo>
                      <a:pt x="19191" y="2594"/>
                    </a:lnTo>
                    <a:lnTo>
                      <a:pt x="19306" y="2248"/>
                    </a:lnTo>
                    <a:lnTo>
                      <a:pt x="19538" y="1960"/>
                    </a:lnTo>
                    <a:lnTo>
                      <a:pt x="19538" y="1556"/>
                    </a:lnTo>
                    <a:lnTo>
                      <a:pt x="19653" y="1326"/>
                    </a:lnTo>
                    <a:lnTo>
                      <a:pt x="19769" y="1037"/>
                    </a:lnTo>
                    <a:lnTo>
                      <a:pt x="19884" y="807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85" name="AutoShape 127">
                <a:extLst>
                  <a:ext uri="{FF2B5EF4-FFF2-40B4-BE49-F238E27FC236}">
                    <a16:creationId xmlns:a16="http://schemas.microsoft.com/office/drawing/2014/main" id="{B2AFC2A3-A354-0859-C428-80E9F67CC0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9" y="556"/>
                <a:ext cx="97" cy="13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19084"/>
                    </a:moveTo>
                    <a:lnTo>
                      <a:pt x="247" y="18544"/>
                    </a:lnTo>
                    <a:lnTo>
                      <a:pt x="494" y="17844"/>
                    </a:lnTo>
                    <a:lnTo>
                      <a:pt x="617" y="17251"/>
                    </a:lnTo>
                    <a:lnTo>
                      <a:pt x="864" y="16712"/>
                    </a:lnTo>
                    <a:lnTo>
                      <a:pt x="1111" y="16065"/>
                    </a:lnTo>
                    <a:lnTo>
                      <a:pt x="1358" y="15472"/>
                    </a:lnTo>
                    <a:lnTo>
                      <a:pt x="1605" y="14933"/>
                    </a:lnTo>
                    <a:lnTo>
                      <a:pt x="1728" y="14286"/>
                    </a:lnTo>
                    <a:lnTo>
                      <a:pt x="1852" y="13693"/>
                    </a:lnTo>
                    <a:lnTo>
                      <a:pt x="2222" y="13154"/>
                    </a:lnTo>
                    <a:lnTo>
                      <a:pt x="2593" y="12615"/>
                    </a:lnTo>
                    <a:lnTo>
                      <a:pt x="2593" y="12022"/>
                    </a:lnTo>
                    <a:lnTo>
                      <a:pt x="2963" y="11429"/>
                    </a:lnTo>
                    <a:lnTo>
                      <a:pt x="3086" y="10889"/>
                    </a:lnTo>
                    <a:lnTo>
                      <a:pt x="3333" y="10350"/>
                    </a:lnTo>
                    <a:lnTo>
                      <a:pt x="3580" y="9757"/>
                    </a:lnTo>
                    <a:lnTo>
                      <a:pt x="3704" y="9326"/>
                    </a:lnTo>
                    <a:lnTo>
                      <a:pt x="4074" y="8733"/>
                    </a:lnTo>
                    <a:lnTo>
                      <a:pt x="4198" y="8194"/>
                    </a:lnTo>
                    <a:lnTo>
                      <a:pt x="4444" y="7763"/>
                    </a:lnTo>
                    <a:lnTo>
                      <a:pt x="4691" y="7224"/>
                    </a:lnTo>
                    <a:lnTo>
                      <a:pt x="4815" y="6846"/>
                    </a:lnTo>
                    <a:lnTo>
                      <a:pt x="5062" y="6361"/>
                    </a:lnTo>
                    <a:lnTo>
                      <a:pt x="5309" y="5876"/>
                    </a:lnTo>
                    <a:lnTo>
                      <a:pt x="5556" y="5499"/>
                    </a:lnTo>
                    <a:lnTo>
                      <a:pt x="5802" y="5067"/>
                    </a:lnTo>
                    <a:lnTo>
                      <a:pt x="5802" y="4528"/>
                    </a:lnTo>
                    <a:lnTo>
                      <a:pt x="6296" y="4151"/>
                    </a:lnTo>
                    <a:lnTo>
                      <a:pt x="6420" y="3720"/>
                    </a:lnTo>
                    <a:lnTo>
                      <a:pt x="6667" y="3396"/>
                    </a:lnTo>
                    <a:lnTo>
                      <a:pt x="6914" y="3019"/>
                    </a:lnTo>
                    <a:lnTo>
                      <a:pt x="7037" y="2749"/>
                    </a:lnTo>
                    <a:lnTo>
                      <a:pt x="7284" y="2426"/>
                    </a:lnTo>
                    <a:lnTo>
                      <a:pt x="7531" y="2102"/>
                    </a:lnTo>
                    <a:lnTo>
                      <a:pt x="7778" y="1833"/>
                    </a:lnTo>
                    <a:lnTo>
                      <a:pt x="7901" y="1563"/>
                    </a:lnTo>
                    <a:lnTo>
                      <a:pt x="8148" y="1240"/>
                    </a:lnTo>
                    <a:lnTo>
                      <a:pt x="8395" y="1024"/>
                    </a:lnTo>
                    <a:lnTo>
                      <a:pt x="8519" y="863"/>
                    </a:lnTo>
                    <a:lnTo>
                      <a:pt x="8765" y="647"/>
                    </a:lnTo>
                    <a:lnTo>
                      <a:pt x="8889" y="539"/>
                    </a:lnTo>
                    <a:lnTo>
                      <a:pt x="9136" y="377"/>
                    </a:lnTo>
                    <a:lnTo>
                      <a:pt x="9383" y="270"/>
                    </a:lnTo>
                    <a:lnTo>
                      <a:pt x="9506" y="108"/>
                    </a:lnTo>
                    <a:lnTo>
                      <a:pt x="9877" y="108"/>
                    </a:lnTo>
                    <a:lnTo>
                      <a:pt x="10000" y="54"/>
                    </a:lnTo>
                    <a:lnTo>
                      <a:pt x="10247" y="0"/>
                    </a:lnTo>
                    <a:lnTo>
                      <a:pt x="10617" y="54"/>
                    </a:lnTo>
                    <a:lnTo>
                      <a:pt x="10741" y="54"/>
                    </a:lnTo>
                    <a:lnTo>
                      <a:pt x="10864" y="108"/>
                    </a:lnTo>
                    <a:lnTo>
                      <a:pt x="11111" y="216"/>
                    </a:lnTo>
                    <a:lnTo>
                      <a:pt x="11358" y="323"/>
                    </a:lnTo>
                    <a:lnTo>
                      <a:pt x="11481" y="539"/>
                    </a:lnTo>
                    <a:lnTo>
                      <a:pt x="11852" y="755"/>
                    </a:lnTo>
                    <a:lnTo>
                      <a:pt x="12099" y="1024"/>
                    </a:lnTo>
                    <a:lnTo>
                      <a:pt x="12222" y="1240"/>
                    </a:lnTo>
                    <a:lnTo>
                      <a:pt x="12346" y="1563"/>
                    </a:lnTo>
                    <a:lnTo>
                      <a:pt x="12716" y="1887"/>
                    </a:lnTo>
                    <a:lnTo>
                      <a:pt x="12963" y="2264"/>
                    </a:lnTo>
                    <a:lnTo>
                      <a:pt x="13086" y="2749"/>
                    </a:lnTo>
                    <a:lnTo>
                      <a:pt x="13333" y="3127"/>
                    </a:lnTo>
                    <a:lnTo>
                      <a:pt x="13580" y="3504"/>
                    </a:lnTo>
                    <a:lnTo>
                      <a:pt x="13704" y="3989"/>
                    </a:lnTo>
                    <a:lnTo>
                      <a:pt x="14198" y="4367"/>
                    </a:lnTo>
                    <a:lnTo>
                      <a:pt x="14321" y="4960"/>
                    </a:lnTo>
                    <a:lnTo>
                      <a:pt x="14444" y="5499"/>
                    </a:lnTo>
                    <a:lnTo>
                      <a:pt x="14815" y="5984"/>
                    </a:lnTo>
                    <a:lnTo>
                      <a:pt x="15062" y="6523"/>
                    </a:lnTo>
                    <a:lnTo>
                      <a:pt x="15185" y="7008"/>
                    </a:lnTo>
                    <a:lnTo>
                      <a:pt x="15309" y="7601"/>
                    </a:lnTo>
                    <a:lnTo>
                      <a:pt x="15679" y="8194"/>
                    </a:lnTo>
                    <a:lnTo>
                      <a:pt x="15926" y="8787"/>
                    </a:lnTo>
                    <a:lnTo>
                      <a:pt x="16173" y="9326"/>
                    </a:lnTo>
                    <a:lnTo>
                      <a:pt x="16296" y="9919"/>
                    </a:lnTo>
                    <a:lnTo>
                      <a:pt x="16543" y="10458"/>
                    </a:lnTo>
                    <a:lnTo>
                      <a:pt x="16667" y="10997"/>
                    </a:lnTo>
                    <a:lnTo>
                      <a:pt x="16914" y="11590"/>
                    </a:lnTo>
                    <a:lnTo>
                      <a:pt x="17160" y="12183"/>
                    </a:lnTo>
                    <a:lnTo>
                      <a:pt x="17407" y="12776"/>
                    </a:lnTo>
                    <a:lnTo>
                      <a:pt x="17407" y="13261"/>
                    </a:lnTo>
                    <a:lnTo>
                      <a:pt x="17654" y="13854"/>
                    </a:lnTo>
                    <a:lnTo>
                      <a:pt x="17901" y="14340"/>
                    </a:lnTo>
                    <a:lnTo>
                      <a:pt x="18148" y="14933"/>
                    </a:lnTo>
                    <a:lnTo>
                      <a:pt x="18395" y="15472"/>
                    </a:lnTo>
                    <a:lnTo>
                      <a:pt x="18395" y="15903"/>
                    </a:lnTo>
                    <a:lnTo>
                      <a:pt x="18642" y="16442"/>
                    </a:lnTo>
                    <a:lnTo>
                      <a:pt x="18889" y="16873"/>
                    </a:lnTo>
                    <a:lnTo>
                      <a:pt x="19012" y="17305"/>
                    </a:lnTo>
                    <a:lnTo>
                      <a:pt x="19136" y="17736"/>
                    </a:lnTo>
                    <a:lnTo>
                      <a:pt x="19259" y="18113"/>
                    </a:lnTo>
                    <a:lnTo>
                      <a:pt x="19506" y="18544"/>
                    </a:lnTo>
                    <a:lnTo>
                      <a:pt x="19506" y="18976"/>
                    </a:lnTo>
                    <a:lnTo>
                      <a:pt x="19630" y="19191"/>
                    </a:lnTo>
                    <a:lnTo>
                      <a:pt x="19753" y="19461"/>
                    </a:lnTo>
                    <a:lnTo>
                      <a:pt x="19877" y="19730"/>
                    </a:lnTo>
                    <a:lnTo>
                      <a:pt x="19877" y="19946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86" name="AutoShape 128">
                <a:extLst>
                  <a:ext uri="{FF2B5EF4-FFF2-40B4-BE49-F238E27FC236}">
                    <a16:creationId xmlns:a16="http://schemas.microsoft.com/office/drawing/2014/main" id="{74CAF280-3DF6-75DE-69A3-391E7D9566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2" y="681"/>
                <a:ext cx="102" cy="134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w 20000"/>
                  <a:gd name="T97" fmla="*/ 0 h 20000"/>
                  <a:gd name="T98" fmla="*/ 0 w 20000"/>
                  <a:gd name="T99" fmla="*/ 0 h 20000"/>
                  <a:gd name="T100" fmla="*/ 0 w 20000"/>
                  <a:gd name="T101" fmla="*/ 0 h 20000"/>
                  <a:gd name="T102" fmla="*/ 0 w 20000"/>
                  <a:gd name="T103" fmla="*/ 0 h 20000"/>
                  <a:gd name="T104" fmla="*/ 0 w 20000"/>
                  <a:gd name="T105" fmla="*/ 0 h 20000"/>
                  <a:gd name="T106" fmla="*/ 0 w 20000"/>
                  <a:gd name="T107" fmla="*/ 0 h 20000"/>
                  <a:gd name="T108" fmla="*/ 0 w 20000"/>
                  <a:gd name="T109" fmla="*/ 0 h 20000"/>
                  <a:gd name="T110" fmla="*/ 0 w 20000"/>
                  <a:gd name="T111" fmla="*/ 0 h 20000"/>
                  <a:gd name="T112" fmla="*/ 0 w 20000"/>
                  <a:gd name="T113" fmla="*/ 0 h 20000"/>
                  <a:gd name="T114" fmla="*/ 0 w 20000"/>
                  <a:gd name="T115" fmla="*/ 0 h 20000"/>
                  <a:gd name="T116" fmla="*/ 0 w 20000"/>
                  <a:gd name="T117" fmla="*/ 0 h 20000"/>
                  <a:gd name="T118" fmla="*/ 0 w 20000"/>
                  <a:gd name="T119" fmla="*/ 0 h 20000"/>
                  <a:gd name="T120" fmla="*/ 0 w 20000"/>
                  <a:gd name="T121" fmla="*/ 0 h 20000"/>
                  <a:gd name="T122" fmla="*/ 0 w 20000"/>
                  <a:gd name="T123" fmla="*/ 0 h 20000"/>
                  <a:gd name="T124" fmla="*/ 0 w 20000"/>
                  <a:gd name="T125" fmla="*/ 0 h 20000"/>
                  <a:gd name="T126" fmla="*/ 0 w 20000"/>
                  <a:gd name="T127" fmla="*/ 0 h 20000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60000 65536"/>
                  <a:gd name="T190" fmla="*/ 0 60000 65536"/>
                  <a:gd name="T191" fmla="*/ 0 60000 65536"/>
                </a:gdLst>
                <a:ahLst/>
                <a:cxnLst>
                  <a:cxn ang="T128">
                    <a:pos x="T0" y="T1"/>
                  </a:cxn>
                  <a:cxn ang="T129">
                    <a:pos x="T2" y="T3"/>
                  </a:cxn>
                  <a:cxn ang="T130">
                    <a:pos x="T4" y="T5"/>
                  </a:cxn>
                  <a:cxn ang="T131">
                    <a:pos x="T6" y="T7"/>
                  </a:cxn>
                  <a:cxn ang="T132">
                    <a:pos x="T8" y="T9"/>
                  </a:cxn>
                  <a:cxn ang="T133">
                    <a:pos x="T10" y="T11"/>
                  </a:cxn>
                  <a:cxn ang="T134">
                    <a:pos x="T12" y="T13"/>
                  </a:cxn>
                  <a:cxn ang="T135">
                    <a:pos x="T14" y="T15"/>
                  </a:cxn>
                  <a:cxn ang="T136">
                    <a:pos x="T16" y="T17"/>
                  </a:cxn>
                  <a:cxn ang="T137">
                    <a:pos x="T18" y="T19"/>
                  </a:cxn>
                  <a:cxn ang="T138">
                    <a:pos x="T20" y="T21"/>
                  </a:cxn>
                  <a:cxn ang="T139">
                    <a:pos x="T22" y="T23"/>
                  </a:cxn>
                  <a:cxn ang="T140">
                    <a:pos x="T24" y="T25"/>
                  </a:cxn>
                  <a:cxn ang="T141">
                    <a:pos x="T26" y="T27"/>
                  </a:cxn>
                  <a:cxn ang="T142">
                    <a:pos x="T28" y="T29"/>
                  </a:cxn>
                  <a:cxn ang="T143">
                    <a:pos x="T30" y="T31"/>
                  </a:cxn>
                  <a:cxn ang="T144">
                    <a:pos x="T32" y="T33"/>
                  </a:cxn>
                  <a:cxn ang="T145">
                    <a:pos x="T34" y="T35"/>
                  </a:cxn>
                  <a:cxn ang="T146">
                    <a:pos x="T36" y="T37"/>
                  </a:cxn>
                  <a:cxn ang="T147">
                    <a:pos x="T38" y="T39"/>
                  </a:cxn>
                  <a:cxn ang="T148">
                    <a:pos x="T40" y="T41"/>
                  </a:cxn>
                  <a:cxn ang="T149">
                    <a:pos x="T42" y="T43"/>
                  </a:cxn>
                  <a:cxn ang="T150">
                    <a:pos x="T44" y="T45"/>
                  </a:cxn>
                  <a:cxn ang="T151">
                    <a:pos x="T46" y="T47"/>
                  </a:cxn>
                  <a:cxn ang="T152">
                    <a:pos x="T48" y="T49"/>
                  </a:cxn>
                  <a:cxn ang="T153">
                    <a:pos x="T50" y="T51"/>
                  </a:cxn>
                  <a:cxn ang="T154">
                    <a:pos x="T52" y="T53"/>
                  </a:cxn>
                  <a:cxn ang="T155">
                    <a:pos x="T54" y="T55"/>
                  </a:cxn>
                  <a:cxn ang="T156">
                    <a:pos x="T56" y="T57"/>
                  </a:cxn>
                  <a:cxn ang="T157">
                    <a:pos x="T58" y="T59"/>
                  </a:cxn>
                  <a:cxn ang="T158">
                    <a:pos x="T60" y="T61"/>
                  </a:cxn>
                  <a:cxn ang="T159">
                    <a:pos x="T62" y="T63"/>
                  </a:cxn>
                  <a:cxn ang="T160">
                    <a:pos x="T64" y="T65"/>
                  </a:cxn>
                  <a:cxn ang="T161">
                    <a:pos x="T66" y="T67"/>
                  </a:cxn>
                  <a:cxn ang="T162">
                    <a:pos x="T68" y="T69"/>
                  </a:cxn>
                  <a:cxn ang="T163">
                    <a:pos x="T70" y="T71"/>
                  </a:cxn>
                  <a:cxn ang="T164">
                    <a:pos x="T72" y="T73"/>
                  </a:cxn>
                  <a:cxn ang="T165">
                    <a:pos x="T74" y="T75"/>
                  </a:cxn>
                  <a:cxn ang="T166">
                    <a:pos x="T76" y="T77"/>
                  </a:cxn>
                  <a:cxn ang="T167">
                    <a:pos x="T78" y="T79"/>
                  </a:cxn>
                  <a:cxn ang="T168">
                    <a:pos x="T80" y="T81"/>
                  </a:cxn>
                  <a:cxn ang="T169">
                    <a:pos x="T82" y="T83"/>
                  </a:cxn>
                  <a:cxn ang="T170">
                    <a:pos x="T84" y="T85"/>
                  </a:cxn>
                  <a:cxn ang="T171">
                    <a:pos x="T86" y="T87"/>
                  </a:cxn>
                  <a:cxn ang="T172">
                    <a:pos x="T88" y="T89"/>
                  </a:cxn>
                  <a:cxn ang="T173">
                    <a:pos x="T90" y="T91"/>
                  </a:cxn>
                  <a:cxn ang="T174">
                    <a:pos x="T92" y="T93"/>
                  </a:cxn>
                  <a:cxn ang="T175">
                    <a:pos x="T94" y="T95"/>
                  </a:cxn>
                  <a:cxn ang="T176">
                    <a:pos x="T96" y="T97"/>
                  </a:cxn>
                  <a:cxn ang="T177">
                    <a:pos x="T98" y="T99"/>
                  </a:cxn>
                  <a:cxn ang="T178">
                    <a:pos x="T100" y="T101"/>
                  </a:cxn>
                  <a:cxn ang="T179">
                    <a:pos x="T102" y="T103"/>
                  </a:cxn>
                  <a:cxn ang="T180">
                    <a:pos x="T104" y="T105"/>
                  </a:cxn>
                  <a:cxn ang="T181">
                    <a:pos x="T106" y="T107"/>
                  </a:cxn>
                  <a:cxn ang="T182">
                    <a:pos x="T108" y="T109"/>
                  </a:cxn>
                  <a:cxn ang="T183">
                    <a:pos x="T110" y="T111"/>
                  </a:cxn>
                  <a:cxn ang="T184">
                    <a:pos x="T112" y="T113"/>
                  </a:cxn>
                  <a:cxn ang="T185">
                    <a:pos x="T114" y="T115"/>
                  </a:cxn>
                  <a:cxn ang="T186">
                    <a:pos x="T116" y="T117"/>
                  </a:cxn>
                  <a:cxn ang="T187">
                    <a:pos x="T118" y="T119"/>
                  </a:cxn>
                  <a:cxn ang="T188">
                    <a:pos x="T120" y="T121"/>
                  </a:cxn>
                  <a:cxn ang="T189">
                    <a:pos x="T122" y="T123"/>
                  </a:cxn>
                  <a:cxn ang="T190">
                    <a:pos x="T124" y="T125"/>
                  </a:cxn>
                  <a:cxn ang="T191">
                    <a:pos x="T126" y="T127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31" y="616"/>
                    </a:lnTo>
                    <a:lnTo>
                      <a:pt x="347" y="1232"/>
                    </a:lnTo>
                    <a:lnTo>
                      <a:pt x="462" y="1905"/>
                    </a:lnTo>
                    <a:lnTo>
                      <a:pt x="809" y="2521"/>
                    </a:lnTo>
                    <a:lnTo>
                      <a:pt x="925" y="3137"/>
                    </a:lnTo>
                    <a:lnTo>
                      <a:pt x="1156" y="3697"/>
                    </a:lnTo>
                    <a:lnTo>
                      <a:pt x="1387" y="4314"/>
                    </a:lnTo>
                    <a:lnTo>
                      <a:pt x="1503" y="4986"/>
                    </a:lnTo>
                    <a:lnTo>
                      <a:pt x="1734" y="5602"/>
                    </a:lnTo>
                    <a:lnTo>
                      <a:pt x="2081" y="6162"/>
                    </a:lnTo>
                    <a:lnTo>
                      <a:pt x="2197" y="6779"/>
                    </a:lnTo>
                    <a:lnTo>
                      <a:pt x="2543" y="7283"/>
                    </a:lnTo>
                    <a:lnTo>
                      <a:pt x="2543" y="7899"/>
                    </a:lnTo>
                    <a:lnTo>
                      <a:pt x="2775" y="8515"/>
                    </a:lnTo>
                    <a:lnTo>
                      <a:pt x="3006" y="9020"/>
                    </a:lnTo>
                    <a:lnTo>
                      <a:pt x="3237" y="9636"/>
                    </a:lnTo>
                    <a:lnTo>
                      <a:pt x="3353" y="10140"/>
                    </a:lnTo>
                    <a:lnTo>
                      <a:pt x="3468" y="10644"/>
                    </a:lnTo>
                    <a:lnTo>
                      <a:pt x="3815" y="11204"/>
                    </a:lnTo>
                    <a:lnTo>
                      <a:pt x="3931" y="11765"/>
                    </a:lnTo>
                    <a:lnTo>
                      <a:pt x="4162" y="12213"/>
                    </a:lnTo>
                    <a:lnTo>
                      <a:pt x="4393" y="12773"/>
                    </a:lnTo>
                    <a:lnTo>
                      <a:pt x="4509" y="13165"/>
                    </a:lnTo>
                    <a:lnTo>
                      <a:pt x="4624" y="13669"/>
                    </a:lnTo>
                    <a:lnTo>
                      <a:pt x="4971" y="14118"/>
                    </a:lnTo>
                    <a:lnTo>
                      <a:pt x="5202" y="14510"/>
                    </a:lnTo>
                    <a:lnTo>
                      <a:pt x="5434" y="15014"/>
                    </a:lnTo>
                    <a:lnTo>
                      <a:pt x="5549" y="15462"/>
                    </a:lnTo>
                    <a:lnTo>
                      <a:pt x="5665" y="15854"/>
                    </a:lnTo>
                    <a:lnTo>
                      <a:pt x="6127" y="16190"/>
                    </a:lnTo>
                    <a:lnTo>
                      <a:pt x="6243" y="16639"/>
                    </a:lnTo>
                    <a:lnTo>
                      <a:pt x="6474" y="16919"/>
                    </a:lnTo>
                    <a:lnTo>
                      <a:pt x="6590" y="17255"/>
                    </a:lnTo>
                    <a:lnTo>
                      <a:pt x="6705" y="17591"/>
                    </a:lnTo>
                    <a:lnTo>
                      <a:pt x="6936" y="17927"/>
                    </a:lnTo>
                    <a:lnTo>
                      <a:pt x="7283" y="18095"/>
                    </a:lnTo>
                    <a:lnTo>
                      <a:pt x="7514" y="18487"/>
                    </a:lnTo>
                    <a:lnTo>
                      <a:pt x="7514" y="18711"/>
                    </a:lnTo>
                    <a:lnTo>
                      <a:pt x="7861" y="18992"/>
                    </a:lnTo>
                    <a:lnTo>
                      <a:pt x="7977" y="19160"/>
                    </a:lnTo>
                    <a:lnTo>
                      <a:pt x="8208" y="19328"/>
                    </a:lnTo>
                    <a:lnTo>
                      <a:pt x="8439" y="19440"/>
                    </a:lnTo>
                    <a:lnTo>
                      <a:pt x="8555" y="19664"/>
                    </a:lnTo>
                    <a:lnTo>
                      <a:pt x="8902" y="19720"/>
                    </a:lnTo>
                    <a:lnTo>
                      <a:pt x="9017" y="19888"/>
                    </a:lnTo>
                    <a:lnTo>
                      <a:pt x="9249" y="19888"/>
                    </a:lnTo>
                    <a:lnTo>
                      <a:pt x="9480" y="19944"/>
                    </a:lnTo>
                    <a:lnTo>
                      <a:pt x="9595" y="19944"/>
                    </a:lnTo>
                    <a:lnTo>
                      <a:pt x="9827" y="19944"/>
                    </a:lnTo>
                    <a:lnTo>
                      <a:pt x="10173" y="19888"/>
                    </a:lnTo>
                    <a:lnTo>
                      <a:pt x="10405" y="19888"/>
                    </a:lnTo>
                    <a:lnTo>
                      <a:pt x="10520" y="19664"/>
                    </a:lnTo>
                    <a:lnTo>
                      <a:pt x="10751" y="19496"/>
                    </a:lnTo>
                    <a:lnTo>
                      <a:pt x="11098" y="19328"/>
                    </a:lnTo>
                    <a:lnTo>
                      <a:pt x="11329" y="19104"/>
                    </a:lnTo>
                    <a:lnTo>
                      <a:pt x="11445" y="18936"/>
                    </a:lnTo>
                    <a:lnTo>
                      <a:pt x="11792" y="18543"/>
                    </a:lnTo>
                    <a:lnTo>
                      <a:pt x="11908" y="18263"/>
                    </a:lnTo>
                    <a:lnTo>
                      <a:pt x="12139" y="17871"/>
                    </a:lnTo>
                    <a:lnTo>
                      <a:pt x="12486" y="17479"/>
                    </a:lnTo>
                    <a:lnTo>
                      <a:pt x="12601" y="17087"/>
                    </a:lnTo>
                    <a:lnTo>
                      <a:pt x="12832" y="16751"/>
                    </a:lnTo>
                    <a:lnTo>
                      <a:pt x="13295" y="16303"/>
                    </a:lnTo>
                    <a:lnTo>
                      <a:pt x="13410" y="15798"/>
                    </a:lnTo>
                    <a:lnTo>
                      <a:pt x="13642" y="15350"/>
                    </a:lnTo>
                    <a:lnTo>
                      <a:pt x="13873" y="14846"/>
                    </a:lnTo>
                    <a:lnTo>
                      <a:pt x="14220" y="14342"/>
                    </a:lnTo>
                    <a:lnTo>
                      <a:pt x="14451" y="13838"/>
                    </a:lnTo>
                    <a:lnTo>
                      <a:pt x="14682" y="13277"/>
                    </a:lnTo>
                    <a:lnTo>
                      <a:pt x="14913" y="12829"/>
                    </a:lnTo>
                    <a:lnTo>
                      <a:pt x="15260" y="12213"/>
                    </a:lnTo>
                    <a:lnTo>
                      <a:pt x="15491" y="11709"/>
                    </a:lnTo>
                    <a:lnTo>
                      <a:pt x="15607" y="11036"/>
                    </a:lnTo>
                    <a:lnTo>
                      <a:pt x="15954" y="10588"/>
                    </a:lnTo>
                    <a:lnTo>
                      <a:pt x="16069" y="10028"/>
                    </a:lnTo>
                    <a:lnTo>
                      <a:pt x="16416" y="9412"/>
                    </a:lnTo>
                    <a:lnTo>
                      <a:pt x="16532" y="8964"/>
                    </a:lnTo>
                    <a:lnTo>
                      <a:pt x="16763" y="8403"/>
                    </a:lnTo>
                    <a:lnTo>
                      <a:pt x="16994" y="7787"/>
                    </a:lnTo>
                    <a:lnTo>
                      <a:pt x="17225" y="7227"/>
                    </a:lnTo>
                    <a:lnTo>
                      <a:pt x="17457" y="6835"/>
                    </a:lnTo>
                    <a:lnTo>
                      <a:pt x="17572" y="6218"/>
                    </a:lnTo>
                    <a:lnTo>
                      <a:pt x="17803" y="5714"/>
                    </a:lnTo>
                    <a:lnTo>
                      <a:pt x="18266" y="5210"/>
                    </a:lnTo>
                    <a:lnTo>
                      <a:pt x="18266" y="4762"/>
                    </a:lnTo>
                    <a:lnTo>
                      <a:pt x="18497" y="4314"/>
                    </a:lnTo>
                    <a:lnTo>
                      <a:pt x="18728" y="3866"/>
                    </a:lnTo>
                    <a:lnTo>
                      <a:pt x="18960" y="3361"/>
                    </a:lnTo>
                    <a:lnTo>
                      <a:pt x="19075" y="3025"/>
                    </a:lnTo>
                    <a:lnTo>
                      <a:pt x="19191" y="2689"/>
                    </a:lnTo>
                    <a:lnTo>
                      <a:pt x="19306" y="2241"/>
                    </a:lnTo>
                    <a:lnTo>
                      <a:pt x="19538" y="1905"/>
                    </a:lnTo>
                    <a:lnTo>
                      <a:pt x="19538" y="1625"/>
                    </a:lnTo>
                    <a:lnTo>
                      <a:pt x="19653" y="1289"/>
                    </a:lnTo>
                    <a:lnTo>
                      <a:pt x="19769" y="1008"/>
                    </a:lnTo>
                    <a:lnTo>
                      <a:pt x="19884" y="840"/>
                    </a:lnTo>
                  </a:path>
                </a:pathLst>
              </a:cu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6" tIns="45712" rIns="91426" bIns="45712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2040" name="Line 129">
              <a:extLst>
                <a:ext uri="{FF2B5EF4-FFF2-40B4-BE49-F238E27FC236}">
                  <a16:creationId xmlns:a16="http://schemas.microsoft.com/office/drawing/2014/main" id="{7CFD7627-17B5-86D8-9DC4-678A39F9F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2" y="354"/>
              <a:ext cx="0" cy="6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1" name="Line 130">
              <a:extLst>
                <a:ext uri="{FF2B5EF4-FFF2-40B4-BE49-F238E27FC236}">
                  <a16:creationId xmlns:a16="http://schemas.microsoft.com/office/drawing/2014/main" id="{A20537E8-3F67-D23C-E284-BE2C38DA08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7" y="354"/>
              <a:ext cx="0" cy="6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2" name="Line 131">
              <a:extLst>
                <a:ext uri="{FF2B5EF4-FFF2-40B4-BE49-F238E27FC236}">
                  <a16:creationId xmlns:a16="http://schemas.microsoft.com/office/drawing/2014/main" id="{0D16DE84-E082-9992-A3FB-0AC1423C10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0" y="354"/>
              <a:ext cx="0" cy="6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3" name="Text Box 132">
              <a:extLst>
                <a:ext uri="{FF2B5EF4-FFF2-40B4-BE49-F238E27FC236}">
                  <a16:creationId xmlns:a16="http://schemas.microsoft.com/office/drawing/2014/main" id="{6D1D435C-B271-92FC-442B-1809D18B40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164"/>
              <a:ext cx="45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6" tIns="45712" rIns="91426" bIns="45712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>
                  <a:solidFill>
                    <a:schemeClr val="tx1"/>
                  </a:solidFill>
                </a:rPr>
                <a:t>x</a:t>
              </a:r>
              <a:r>
                <a:rPr lang="en-US" altLang="zh-CN" sz="2800" baseline="-25000">
                  <a:solidFill>
                    <a:schemeClr val="tx1"/>
                  </a:solidFill>
                </a:rPr>
                <a:t>1</a:t>
              </a:r>
              <a:endParaRPr lang="en-US" altLang="zh-CN" sz="2800">
                <a:solidFill>
                  <a:schemeClr val="tx1"/>
                </a:solidFill>
              </a:endParaRPr>
            </a:p>
          </p:txBody>
        </p:sp>
        <p:sp>
          <p:nvSpPr>
            <p:cNvPr id="42044" name="Text Box 133">
              <a:extLst>
                <a:ext uri="{FF2B5EF4-FFF2-40B4-BE49-F238E27FC236}">
                  <a16:creationId xmlns:a16="http://schemas.microsoft.com/office/drawing/2014/main" id="{AA3D193B-C596-32BB-1279-5735F5FD3A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8" y="668"/>
              <a:ext cx="3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6" tIns="45712" rIns="91426" bIns="45712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>
                  <a:solidFill>
                    <a:schemeClr val="tx1"/>
                  </a:solidFill>
                </a:rPr>
                <a:t>t</a:t>
              </a:r>
              <a:endParaRPr lang="en-US" altLang="zh-CN" sz="2800">
                <a:solidFill>
                  <a:schemeClr val="tx1"/>
                </a:solidFill>
              </a:endParaRPr>
            </a:p>
          </p:txBody>
        </p:sp>
      </p:grpSp>
      <p:grpSp>
        <p:nvGrpSpPr>
          <p:cNvPr id="130199" name="Group 151">
            <a:extLst>
              <a:ext uri="{FF2B5EF4-FFF2-40B4-BE49-F238E27FC236}">
                <a16:creationId xmlns:a16="http://schemas.microsoft.com/office/drawing/2014/main" id="{8B6EB09D-3B74-59CD-1042-ED3B5563677D}"/>
              </a:ext>
            </a:extLst>
          </p:cNvPr>
          <p:cNvGrpSpPr>
            <a:grpSpLocks/>
          </p:cNvGrpSpPr>
          <p:nvPr/>
        </p:nvGrpSpPr>
        <p:grpSpPr bwMode="auto">
          <a:xfrm>
            <a:off x="1417638" y="2794000"/>
            <a:ext cx="5970587" cy="941388"/>
            <a:chOff x="893" y="1760"/>
            <a:chExt cx="3761" cy="593"/>
          </a:xfrm>
        </p:grpSpPr>
        <p:sp>
          <p:nvSpPr>
            <p:cNvPr id="42031" name="AutoShape 23">
              <a:extLst>
                <a:ext uri="{FF2B5EF4-FFF2-40B4-BE49-F238E27FC236}">
                  <a16:creationId xmlns:a16="http://schemas.microsoft.com/office/drawing/2014/main" id="{F296EE2F-2241-9F71-EA66-C9F4539EC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5" y="2069"/>
              <a:ext cx="1646" cy="2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879"/>
                  </a:moveTo>
                  <a:lnTo>
                    <a:pt x="186" y="1456"/>
                  </a:lnTo>
                  <a:lnTo>
                    <a:pt x="431" y="2115"/>
                  </a:lnTo>
                  <a:lnTo>
                    <a:pt x="572" y="2692"/>
                  </a:lnTo>
                  <a:lnTo>
                    <a:pt x="840" y="3269"/>
                  </a:lnTo>
                  <a:lnTo>
                    <a:pt x="1004" y="3901"/>
                  </a:lnTo>
                  <a:lnTo>
                    <a:pt x="1323" y="4478"/>
                  </a:lnTo>
                  <a:lnTo>
                    <a:pt x="1413" y="5055"/>
                  </a:lnTo>
                  <a:lnTo>
                    <a:pt x="1599" y="5659"/>
                  </a:lnTo>
                  <a:lnTo>
                    <a:pt x="1978" y="6264"/>
                  </a:lnTo>
                  <a:lnTo>
                    <a:pt x="2327" y="6868"/>
                  </a:lnTo>
                  <a:lnTo>
                    <a:pt x="2602" y="7363"/>
                  </a:lnTo>
                  <a:lnTo>
                    <a:pt x="2743" y="7940"/>
                  </a:lnTo>
                  <a:lnTo>
                    <a:pt x="3078" y="8516"/>
                  </a:lnTo>
                  <a:lnTo>
                    <a:pt x="3167" y="9093"/>
                  </a:lnTo>
                  <a:lnTo>
                    <a:pt x="3257" y="9643"/>
                  </a:lnTo>
                  <a:lnTo>
                    <a:pt x="3584" y="10165"/>
                  </a:lnTo>
                  <a:lnTo>
                    <a:pt x="3740" y="10659"/>
                  </a:lnTo>
                  <a:lnTo>
                    <a:pt x="4067" y="11209"/>
                  </a:lnTo>
                  <a:lnTo>
                    <a:pt x="4164" y="11786"/>
                  </a:lnTo>
                  <a:lnTo>
                    <a:pt x="4349" y="12225"/>
                  </a:lnTo>
                  <a:lnTo>
                    <a:pt x="4684" y="12747"/>
                  </a:lnTo>
                  <a:lnTo>
                    <a:pt x="4825" y="13132"/>
                  </a:lnTo>
                  <a:lnTo>
                    <a:pt x="5152" y="13654"/>
                  </a:lnTo>
                  <a:lnTo>
                    <a:pt x="5331" y="14066"/>
                  </a:lnTo>
                  <a:lnTo>
                    <a:pt x="5494" y="14478"/>
                  </a:lnTo>
                  <a:lnTo>
                    <a:pt x="5822" y="14945"/>
                  </a:lnTo>
                  <a:lnTo>
                    <a:pt x="5896" y="15412"/>
                  </a:lnTo>
                  <a:lnTo>
                    <a:pt x="6424" y="15769"/>
                  </a:lnTo>
                  <a:lnTo>
                    <a:pt x="6513" y="16236"/>
                  </a:lnTo>
                  <a:lnTo>
                    <a:pt x="6758" y="16566"/>
                  </a:lnTo>
                  <a:lnTo>
                    <a:pt x="6907" y="16923"/>
                  </a:lnTo>
                  <a:lnTo>
                    <a:pt x="7078" y="17225"/>
                  </a:lnTo>
                  <a:lnTo>
                    <a:pt x="7323" y="17527"/>
                  </a:lnTo>
                  <a:lnTo>
                    <a:pt x="7502" y="17885"/>
                  </a:lnTo>
                  <a:lnTo>
                    <a:pt x="7755" y="18132"/>
                  </a:lnTo>
                  <a:lnTo>
                    <a:pt x="7933" y="18407"/>
                  </a:lnTo>
                  <a:lnTo>
                    <a:pt x="8171" y="18681"/>
                  </a:lnTo>
                  <a:lnTo>
                    <a:pt x="8506" y="18929"/>
                  </a:lnTo>
                  <a:lnTo>
                    <a:pt x="8595" y="19121"/>
                  </a:lnTo>
                  <a:lnTo>
                    <a:pt x="8840" y="19286"/>
                  </a:lnTo>
                  <a:lnTo>
                    <a:pt x="8989" y="19423"/>
                  </a:lnTo>
                  <a:lnTo>
                    <a:pt x="9160" y="19560"/>
                  </a:lnTo>
                  <a:lnTo>
                    <a:pt x="9494" y="19725"/>
                  </a:lnTo>
                  <a:lnTo>
                    <a:pt x="9591" y="19835"/>
                  </a:lnTo>
                  <a:lnTo>
                    <a:pt x="9836" y="19863"/>
                  </a:lnTo>
                  <a:lnTo>
                    <a:pt x="10156" y="19890"/>
                  </a:lnTo>
                  <a:lnTo>
                    <a:pt x="10401" y="19973"/>
                  </a:lnTo>
                  <a:lnTo>
                    <a:pt x="10595" y="19890"/>
                  </a:lnTo>
                  <a:lnTo>
                    <a:pt x="10684" y="19890"/>
                  </a:lnTo>
                  <a:lnTo>
                    <a:pt x="10922" y="19863"/>
                  </a:lnTo>
                  <a:lnTo>
                    <a:pt x="11152" y="19725"/>
                  </a:lnTo>
                  <a:lnTo>
                    <a:pt x="11428" y="19588"/>
                  </a:lnTo>
                  <a:lnTo>
                    <a:pt x="11487" y="19423"/>
                  </a:lnTo>
                  <a:lnTo>
                    <a:pt x="11918" y="19203"/>
                  </a:lnTo>
                  <a:lnTo>
                    <a:pt x="12149" y="18956"/>
                  </a:lnTo>
                  <a:lnTo>
                    <a:pt x="12335" y="18736"/>
                  </a:lnTo>
                  <a:lnTo>
                    <a:pt x="12431" y="18407"/>
                  </a:lnTo>
                  <a:lnTo>
                    <a:pt x="12758" y="18077"/>
                  </a:lnTo>
                  <a:lnTo>
                    <a:pt x="13004" y="17720"/>
                  </a:lnTo>
                  <a:lnTo>
                    <a:pt x="13167" y="17225"/>
                  </a:lnTo>
                  <a:lnTo>
                    <a:pt x="13323" y="16813"/>
                  </a:lnTo>
                  <a:lnTo>
                    <a:pt x="13569" y="16456"/>
                  </a:lnTo>
                  <a:lnTo>
                    <a:pt x="13651" y="15962"/>
                  </a:lnTo>
                  <a:lnTo>
                    <a:pt x="14171" y="15549"/>
                  </a:lnTo>
                  <a:lnTo>
                    <a:pt x="14320" y="14973"/>
                  </a:lnTo>
                  <a:lnTo>
                    <a:pt x="14610" y="14451"/>
                  </a:lnTo>
                  <a:lnTo>
                    <a:pt x="14840" y="14011"/>
                  </a:lnTo>
                  <a:lnTo>
                    <a:pt x="15257" y="13434"/>
                  </a:lnTo>
                  <a:lnTo>
                    <a:pt x="15257" y="12940"/>
                  </a:lnTo>
                  <a:lnTo>
                    <a:pt x="15502" y="12363"/>
                  </a:lnTo>
                  <a:lnTo>
                    <a:pt x="15829" y="11813"/>
                  </a:lnTo>
                  <a:lnTo>
                    <a:pt x="16015" y="11181"/>
                  </a:lnTo>
                  <a:lnTo>
                    <a:pt x="16253" y="10604"/>
                  </a:lnTo>
                  <a:lnTo>
                    <a:pt x="16342" y="10027"/>
                  </a:lnTo>
                  <a:lnTo>
                    <a:pt x="16587" y="9505"/>
                  </a:lnTo>
                  <a:lnTo>
                    <a:pt x="16825" y="8984"/>
                  </a:lnTo>
                  <a:lnTo>
                    <a:pt x="16914" y="8352"/>
                  </a:lnTo>
                  <a:lnTo>
                    <a:pt x="17100" y="7775"/>
                  </a:lnTo>
                  <a:lnTo>
                    <a:pt x="17338" y="7225"/>
                  </a:lnTo>
                  <a:lnTo>
                    <a:pt x="17494" y="6676"/>
                  </a:lnTo>
                  <a:lnTo>
                    <a:pt x="17755" y="6071"/>
                  </a:lnTo>
                  <a:lnTo>
                    <a:pt x="17814" y="5604"/>
                  </a:lnTo>
                  <a:lnTo>
                    <a:pt x="18104" y="5027"/>
                  </a:lnTo>
                  <a:lnTo>
                    <a:pt x="18572" y="4505"/>
                  </a:lnTo>
                  <a:lnTo>
                    <a:pt x="18669" y="4038"/>
                  </a:lnTo>
                  <a:lnTo>
                    <a:pt x="18758" y="3489"/>
                  </a:lnTo>
                  <a:lnTo>
                    <a:pt x="19086" y="3077"/>
                  </a:lnTo>
                  <a:lnTo>
                    <a:pt x="19182" y="2665"/>
                  </a:lnTo>
                  <a:lnTo>
                    <a:pt x="19234" y="2225"/>
                  </a:lnTo>
                  <a:lnTo>
                    <a:pt x="19420" y="1868"/>
                  </a:lnTo>
                  <a:lnTo>
                    <a:pt x="19561" y="1429"/>
                  </a:lnTo>
                  <a:lnTo>
                    <a:pt x="19658" y="1044"/>
                  </a:lnTo>
                  <a:lnTo>
                    <a:pt x="19747" y="797"/>
                  </a:lnTo>
                  <a:lnTo>
                    <a:pt x="19903" y="495"/>
                  </a:lnTo>
                  <a:lnTo>
                    <a:pt x="19993" y="192"/>
                  </a:lnTo>
                  <a:lnTo>
                    <a:pt x="19993" y="0"/>
                  </a:lnTo>
                </a:path>
              </a:pathLst>
            </a:custGeom>
            <a:noFill/>
            <a:ln w="2540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32" name="AutoShape 24">
              <a:extLst>
                <a:ext uri="{FF2B5EF4-FFF2-40B4-BE49-F238E27FC236}">
                  <a16:creationId xmlns:a16="http://schemas.microsoft.com/office/drawing/2014/main" id="{EABC102F-5BDD-5AB2-F15D-A154B6B12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5" y="1767"/>
              <a:ext cx="1716" cy="27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972"/>
                  </a:moveTo>
                  <a:lnTo>
                    <a:pt x="174" y="19318"/>
                  </a:lnTo>
                  <a:lnTo>
                    <a:pt x="314" y="18750"/>
                  </a:lnTo>
                  <a:lnTo>
                    <a:pt x="481" y="18068"/>
                  </a:lnTo>
                  <a:lnTo>
                    <a:pt x="794" y="17443"/>
                  </a:lnTo>
                  <a:lnTo>
                    <a:pt x="850" y="16847"/>
                  </a:lnTo>
                  <a:lnTo>
                    <a:pt x="1094" y="16278"/>
                  </a:lnTo>
                  <a:lnTo>
                    <a:pt x="1240" y="15625"/>
                  </a:lnTo>
                  <a:lnTo>
                    <a:pt x="1554" y="15000"/>
                  </a:lnTo>
                  <a:lnTo>
                    <a:pt x="1798" y="14375"/>
                  </a:lnTo>
                  <a:lnTo>
                    <a:pt x="2188" y="13807"/>
                  </a:lnTo>
                  <a:lnTo>
                    <a:pt x="2188" y="13182"/>
                  </a:lnTo>
                  <a:lnTo>
                    <a:pt x="2488" y="12670"/>
                  </a:lnTo>
                  <a:lnTo>
                    <a:pt x="2662" y="12102"/>
                  </a:lnTo>
                  <a:lnTo>
                    <a:pt x="2892" y="11477"/>
                  </a:lnTo>
                  <a:lnTo>
                    <a:pt x="2976" y="10966"/>
                  </a:lnTo>
                  <a:lnTo>
                    <a:pt x="3143" y="10369"/>
                  </a:lnTo>
                  <a:lnTo>
                    <a:pt x="3352" y="9801"/>
                  </a:lnTo>
                  <a:lnTo>
                    <a:pt x="3512" y="9290"/>
                  </a:lnTo>
                  <a:lnTo>
                    <a:pt x="3756" y="8778"/>
                  </a:lnTo>
                  <a:lnTo>
                    <a:pt x="3902" y="8239"/>
                  </a:lnTo>
                  <a:lnTo>
                    <a:pt x="4077" y="7756"/>
                  </a:lnTo>
                  <a:lnTo>
                    <a:pt x="4439" y="7216"/>
                  </a:lnTo>
                  <a:lnTo>
                    <a:pt x="4613" y="6818"/>
                  </a:lnTo>
                  <a:lnTo>
                    <a:pt x="4697" y="6278"/>
                  </a:lnTo>
                  <a:lnTo>
                    <a:pt x="5010" y="5824"/>
                  </a:lnTo>
                  <a:lnTo>
                    <a:pt x="5233" y="5426"/>
                  </a:lnTo>
                  <a:lnTo>
                    <a:pt x="5456" y="4915"/>
                  </a:lnTo>
                  <a:lnTo>
                    <a:pt x="5540" y="4460"/>
                  </a:lnTo>
                  <a:lnTo>
                    <a:pt x="5707" y="4091"/>
                  </a:lnTo>
                  <a:lnTo>
                    <a:pt x="6167" y="3750"/>
                  </a:lnTo>
                  <a:lnTo>
                    <a:pt x="6328" y="3324"/>
                  </a:lnTo>
                  <a:lnTo>
                    <a:pt x="6418" y="2983"/>
                  </a:lnTo>
                  <a:lnTo>
                    <a:pt x="6564" y="2699"/>
                  </a:lnTo>
                  <a:lnTo>
                    <a:pt x="6655" y="2386"/>
                  </a:lnTo>
                  <a:lnTo>
                    <a:pt x="6962" y="2074"/>
                  </a:lnTo>
                  <a:lnTo>
                    <a:pt x="7261" y="1818"/>
                  </a:lnTo>
                  <a:lnTo>
                    <a:pt x="7491" y="1477"/>
                  </a:lnTo>
                  <a:lnTo>
                    <a:pt x="7666" y="1250"/>
                  </a:lnTo>
                  <a:lnTo>
                    <a:pt x="7979" y="966"/>
                  </a:lnTo>
                  <a:lnTo>
                    <a:pt x="7979" y="824"/>
                  </a:lnTo>
                  <a:lnTo>
                    <a:pt x="8105" y="625"/>
                  </a:lnTo>
                  <a:lnTo>
                    <a:pt x="8516" y="511"/>
                  </a:lnTo>
                  <a:lnTo>
                    <a:pt x="8683" y="313"/>
                  </a:lnTo>
                  <a:lnTo>
                    <a:pt x="8920" y="199"/>
                  </a:lnTo>
                  <a:lnTo>
                    <a:pt x="9045" y="114"/>
                  </a:lnTo>
                  <a:lnTo>
                    <a:pt x="9213" y="114"/>
                  </a:lnTo>
                  <a:lnTo>
                    <a:pt x="9443" y="0"/>
                  </a:lnTo>
                  <a:lnTo>
                    <a:pt x="9519" y="0"/>
                  </a:lnTo>
                  <a:lnTo>
                    <a:pt x="9847" y="0"/>
                  </a:lnTo>
                  <a:lnTo>
                    <a:pt x="10230" y="28"/>
                  </a:lnTo>
                  <a:lnTo>
                    <a:pt x="10551" y="114"/>
                  </a:lnTo>
                  <a:lnTo>
                    <a:pt x="10641" y="284"/>
                  </a:lnTo>
                  <a:lnTo>
                    <a:pt x="10864" y="455"/>
                  </a:lnTo>
                  <a:lnTo>
                    <a:pt x="11171" y="625"/>
                  </a:lnTo>
                  <a:lnTo>
                    <a:pt x="11338" y="881"/>
                  </a:lnTo>
                  <a:lnTo>
                    <a:pt x="11477" y="1080"/>
                  </a:lnTo>
                  <a:lnTo>
                    <a:pt x="11958" y="1392"/>
                  </a:lnTo>
                  <a:lnTo>
                    <a:pt x="12014" y="1733"/>
                  </a:lnTo>
                  <a:lnTo>
                    <a:pt x="12098" y="2102"/>
                  </a:lnTo>
                  <a:lnTo>
                    <a:pt x="12578" y="2500"/>
                  </a:lnTo>
                  <a:lnTo>
                    <a:pt x="12669" y="2813"/>
                  </a:lnTo>
                  <a:lnTo>
                    <a:pt x="13031" y="3182"/>
                  </a:lnTo>
                  <a:lnTo>
                    <a:pt x="13422" y="3693"/>
                  </a:lnTo>
                  <a:lnTo>
                    <a:pt x="13519" y="4148"/>
                  </a:lnTo>
                  <a:lnTo>
                    <a:pt x="13749" y="4602"/>
                  </a:lnTo>
                  <a:lnTo>
                    <a:pt x="13902" y="5085"/>
                  </a:lnTo>
                  <a:lnTo>
                    <a:pt x="14223" y="5625"/>
                  </a:lnTo>
                  <a:lnTo>
                    <a:pt x="14537" y="6165"/>
                  </a:lnTo>
                  <a:lnTo>
                    <a:pt x="14683" y="6705"/>
                  </a:lnTo>
                  <a:lnTo>
                    <a:pt x="14927" y="7159"/>
                  </a:lnTo>
                  <a:lnTo>
                    <a:pt x="15240" y="7756"/>
                  </a:lnTo>
                  <a:lnTo>
                    <a:pt x="15463" y="8267"/>
                  </a:lnTo>
                  <a:lnTo>
                    <a:pt x="15645" y="8892"/>
                  </a:lnTo>
                  <a:lnTo>
                    <a:pt x="16091" y="9375"/>
                  </a:lnTo>
                  <a:lnTo>
                    <a:pt x="16181" y="9915"/>
                  </a:lnTo>
                  <a:lnTo>
                    <a:pt x="16481" y="10511"/>
                  </a:lnTo>
                  <a:lnTo>
                    <a:pt x="16641" y="11051"/>
                  </a:lnTo>
                  <a:lnTo>
                    <a:pt x="16941" y="11591"/>
                  </a:lnTo>
                  <a:lnTo>
                    <a:pt x="17094" y="12188"/>
                  </a:lnTo>
                  <a:lnTo>
                    <a:pt x="17192" y="12699"/>
                  </a:lnTo>
                  <a:lnTo>
                    <a:pt x="17422" y="13153"/>
                  </a:lnTo>
                  <a:lnTo>
                    <a:pt x="17645" y="13722"/>
                  </a:lnTo>
                  <a:lnTo>
                    <a:pt x="17895" y="14261"/>
                  </a:lnTo>
                  <a:lnTo>
                    <a:pt x="18279" y="14744"/>
                  </a:lnTo>
                  <a:lnTo>
                    <a:pt x="18279" y="15227"/>
                  </a:lnTo>
                  <a:lnTo>
                    <a:pt x="18523" y="15682"/>
                  </a:lnTo>
                  <a:lnTo>
                    <a:pt x="18983" y="16108"/>
                  </a:lnTo>
                  <a:lnTo>
                    <a:pt x="19143" y="16591"/>
                  </a:lnTo>
                  <a:lnTo>
                    <a:pt x="19226" y="16932"/>
                  </a:lnTo>
                  <a:lnTo>
                    <a:pt x="19282" y="17330"/>
                  </a:lnTo>
                  <a:lnTo>
                    <a:pt x="19456" y="17699"/>
                  </a:lnTo>
                  <a:lnTo>
                    <a:pt x="19589" y="18068"/>
                  </a:lnTo>
                  <a:lnTo>
                    <a:pt x="19679" y="18352"/>
                  </a:lnTo>
                  <a:lnTo>
                    <a:pt x="19763" y="18636"/>
                  </a:lnTo>
                  <a:lnTo>
                    <a:pt x="19909" y="18949"/>
                  </a:lnTo>
                  <a:lnTo>
                    <a:pt x="19993" y="19119"/>
                  </a:lnTo>
                </a:path>
              </a:pathLst>
            </a:custGeom>
            <a:noFill/>
            <a:ln w="2540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33" name="AutoShape 25">
              <a:extLst>
                <a:ext uri="{FF2B5EF4-FFF2-40B4-BE49-F238E27FC236}">
                  <a16:creationId xmlns:a16="http://schemas.microsoft.com/office/drawing/2014/main" id="{E82D31D7-FD7A-09E5-7798-2DC8477B3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" y="1760"/>
              <a:ext cx="1615" cy="27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6"/>
                  </a:moveTo>
                  <a:lnTo>
                    <a:pt x="178" y="18516"/>
                  </a:lnTo>
                  <a:lnTo>
                    <a:pt x="437" y="17885"/>
                  </a:lnTo>
                  <a:lnTo>
                    <a:pt x="570" y="17280"/>
                  </a:lnTo>
                  <a:lnTo>
                    <a:pt x="844" y="16703"/>
                  </a:lnTo>
                  <a:lnTo>
                    <a:pt x="999" y="16071"/>
                  </a:lnTo>
                  <a:lnTo>
                    <a:pt x="1325" y="15495"/>
                  </a:lnTo>
                  <a:lnTo>
                    <a:pt x="1414" y="14863"/>
                  </a:lnTo>
                  <a:lnTo>
                    <a:pt x="1599" y="14286"/>
                  </a:lnTo>
                  <a:lnTo>
                    <a:pt x="1976" y="13709"/>
                  </a:lnTo>
                  <a:lnTo>
                    <a:pt x="2324" y="13104"/>
                  </a:lnTo>
                  <a:lnTo>
                    <a:pt x="2605" y="12555"/>
                  </a:lnTo>
                  <a:lnTo>
                    <a:pt x="2739" y="12033"/>
                  </a:lnTo>
                  <a:lnTo>
                    <a:pt x="3072" y="11456"/>
                  </a:lnTo>
                  <a:lnTo>
                    <a:pt x="3168" y="10907"/>
                  </a:lnTo>
                  <a:lnTo>
                    <a:pt x="3257" y="10330"/>
                  </a:lnTo>
                  <a:lnTo>
                    <a:pt x="3583" y="9808"/>
                  </a:lnTo>
                  <a:lnTo>
                    <a:pt x="3738" y="9313"/>
                  </a:lnTo>
                  <a:lnTo>
                    <a:pt x="4071" y="8764"/>
                  </a:lnTo>
                  <a:lnTo>
                    <a:pt x="4160" y="8187"/>
                  </a:lnTo>
                  <a:lnTo>
                    <a:pt x="4345" y="7747"/>
                  </a:lnTo>
                  <a:lnTo>
                    <a:pt x="4685" y="7253"/>
                  </a:lnTo>
                  <a:lnTo>
                    <a:pt x="4819" y="6786"/>
                  </a:lnTo>
                  <a:lnTo>
                    <a:pt x="5152" y="6319"/>
                  </a:lnTo>
                  <a:lnTo>
                    <a:pt x="5329" y="5907"/>
                  </a:lnTo>
                  <a:lnTo>
                    <a:pt x="5500" y="5495"/>
                  </a:lnTo>
                  <a:lnTo>
                    <a:pt x="5818" y="5055"/>
                  </a:lnTo>
                  <a:lnTo>
                    <a:pt x="5899" y="4560"/>
                  </a:lnTo>
                  <a:lnTo>
                    <a:pt x="6425" y="4176"/>
                  </a:lnTo>
                  <a:lnTo>
                    <a:pt x="6514" y="3764"/>
                  </a:lnTo>
                  <a:lnTo>
                    <a:pt x="6758" y="3379"/>
                  </a:lnTo>
                  <a:lnTo>
                    <a:pt x="6906" y="3049"/>
                  </a:lnTo>
                  <a:lnTo>
                    <a:pt x="7076" y="2720"/>
                  </a:lnTo>
                  <a:lnTo>
                    <a:pt x="7321" y="2445"/>
                  </a:lnTo>
                  <a:lnTo>
                    <a:pt x="7506" y="2115"/>
                  </a:lnTo>
                  <a:lnTo>
                    <a:pt x="7750" y="1868"/>
                  </a:lnTo>
                  <a:lnTo>
                    <a:pt x="7935" y="1538"/>
                  </a:lnTo>
                  <a:lnTo>
                    <a:pt x="8172" y="1264"/>
                  </a:lnTo>
                  <a:lnTo>
                    <a:pt x="8505" y="1044"/>
                  </a:lnTo>
                  <a:lnTo>
                    <a:pt x="8594" y="852"/>
                  </a:lnTo>
                  <a:lnTo>
                    <a:pt x="8838" y="687"/>
                  </a:lnTo>
                  <a:lnTo>
                    <a:pt x="8993" y="549"/>
                  </a:lnTo>
                  <a:lnTo>
                    <a:pt x="9156" y="412"/>
                  </a:lnTo>
                  <a:lnTo>
                    <a:pt x="9497" y="275"/>
                  </a:lnTo>
                  <a:lnTo>
                    <a:pt x="9593" y="137"/>
                  </a:lnTo>
                  <a:lnTo>
                    <a:pt x="9830" y="110"/>
                  </a:lnTo>
                  <a:lnTo>
                    <a:pt x="10163" y="27"/>
                  </a:lnTo>
                  <a:lnTo>
                    <a:pt x="10400" y="0"/>
                  </a:lnTo>
                  <a:lnTo>
                    <a:pt x="10592" y="27"/>
                  </a:lnTo>
                  <a:lnTo>
                    <a:pt x="10681" y="27"/>
                  </a:lnTo>
                  <a:lnTo>
                    <a:pt x="10918" y="110"/>
                  </a:lnTo>
                  <a:lnTo>
                    <a:pt x="11155" y="192"/>
                  </a:lnTo>
                  <a:lnTo>
                    <a:pt x="11429" y="385"/>
                  </a:lnTo>
                  <a:lnTo>
                    <a:pt x="11488" y="549"/>
                  </a:lnTo>
                  <a:lnTo>
                    <a:pt x="11917" y="769"/>
                  </a:lnTo>
                  <a:lnTo>
                    <a:pt x="12154" y="1016"/>
                  </a:lnTo>
                  <a:lnTo>
                    <a:pt x="12332" y="1236"/>
                  </a:lnTo>
                  <a:lnTo>
                    <a:pt x="12428" y="1538"/>
                  </a:lnTo>
                  <a:lnTo>
                    <a:pt x="12754" y="1868"/>
                  </a:lnTo>
                  <a:lnTo>
                    <a:pt x="13005" y="2253"/>
                  </a:lnTo>
                  <a:lnTo>
                    <a:pt x="13168" y="2720"/>
                  </a:lnTo>
                  <a:lnTo>
                    <a:pt x="13323" y="3132"/>
                  </a:lnTo>
                  <a:lnTo>
                    <a:pt x="13568" y="3489"/>
                  </a:lnTo>
                  <a:lnTo>
                    <a:pt x="13657" y="3984"/>
                  </a:lnTo>
                  <a:lnTo>
                    <a:pt x="14175" y="4423"/>
                  </a:lnTo>
                  <a:lnTo>
                    <a:pt x="14323" y="4945"/>
                  </a:lnTo>
                  <a:lnTo>
                    <a:pt x="14604" y="5522"/>
                  </a:lnTo>
                  <a:lnTo>
                    <a:pt x="14841" y="5989"/>
                  </a:lnTo>
                  <a:lnTo>
                    <a:pt x="15255" y="6511"/>
                  </a:lnTo>
                  <a:lnTo>
                    <a:pt x="15255" y="7033"/>
                  </a:lnTo>
                  <a:lnTo>
                    <a:pt x="15500" y="7637"/>
                  </a:lnTo>
                  <a:lnTo>
                    <a:pt x="15833" y="8159"/>
                  </a:lnTo>
                  <a:lnTo>
                    <a:pt x="16010" y="8791"/>
                  </a:lnTo>
                  <a:lnTo>
                    <a:pt x="16255" y="9368"/>
                  </a:lnTo>
                  <a:lnTo>
                    <a:pt x="16343" y="9918"/>
                  </a:lnTo>
                  <a:lnTo>
                    <a:pt x="16588" y="10440"/>
                  </a:lnTo>
                  <a:lnTo>
                    <a:pt x="16825" y="10989"/>
                  </a:lnTo>
                  <a:lnTo>
                    <a:pt x="16921" y="11621"/>
                  </a:lnTo>
                  <a:lnTo>
                    <a:pt x="17098" y="12198"/>
                  </a:lnTo>
                  <a:lnTo>
                    <a:pt x="17335" y="12747"/>
                  </a:lnTo>
                  <a:lnTo>
                    <a:pt x="17491" y="13269"/>
                  </a:lnTo>
                  <a:lnTo>
                    <a:pt x="17757" y="13874"/>
                  </a:lnTo>
                  <a:lnTo>
                    <a:pt x="17816" y="14396"/>
                  </a:lnTo>
                  <a:lnTo>
                    <a:pt x="18098" y="14945"/>
                  </a:lnTo>
                  <a:lnTo>
                    <a:pt x="18571" y="15440"/>
                  </a:lnTo>
                  <a:lnTo>
                    <a:pt x="18668" y="15934"/>
                  </a:lnTo>
                  <a:lnTo>
                    <a:pt x="18756" y="16456"/>
                  </a:lnTo>
                  <a:lnTo>
                    <a:pt x="19090" y="16868"/>
                  </a:lnTo>
                  <a:lnTo>
                    <a:pt x="19178" y="17308"/>
                  </a:lnTo>
                  <a:lnTo>
                    <a:pt x="19238" y="17747"/>
                  </a:lnTo>
                  <a:lnTo>
                    <a:pt x="19423" y="18132"/>
                  </a:lnTo>
                  <a:lnTo>
                    <a:pt x="19556" y="18544"/>
                  </a:lnTo>
                  <a:lnTo>
                    <a:pt x="19660" y="18929"/>
                  </a:lnTo>
                  <a:lnTo>
                    <a:pt x="19756" y="19148"/>
                  </a:lnTo>
                  <a:lnTo>
                    <a:pt x="19904" y="19451"/>
                  </a:lnTo>
                  <a:lnTo>
                    <a:pt x="19993" y="19725"/>
                  </a:lnTo>
                  <a:lnTo>
                    <a:pt x="19993" y="19973"/>
                  </a:lnTo>
                </a:path>
              </a:pathLst>
            </a:custGeom>
            <a:noFill/>
            <a:ln w="2540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34" name="AutoShape 26">
              <a:extLst>
                <a:ext uri="{FF2B5EF4-FFF2-40B4-BE49-F238E27FC236}">
                  <a16:creationId xmlns:a16="http://schemas.microsoft.com/office/drawing/2014/main" id="{45ABC201-798A-CDFA-9CAC-2230618A39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2024"/>
              <a:ext cx="1723" cy="26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67" y="625"/>
                  </a:lnTo>
                  <a:lnTo>
                    <a:pt x="312" y="1250"/>
                  </a:lnTo>
                  <a:lnTo>
                    <a:pt x="486" y="1903"/>
                  </a:lnTo>
                  <a:lnTo>
                    <a:pt x="798" y="2528"/>
                  </a:lnTo>
                  <a:lnTo>
                    <a:pt x="847" y="3125"/>
                  </a:lnTo>
                  <a:lnTo>
                    <a:pt x="1096" y="3722"/>
                  </a:lnTo>
                  <a:lnTo>
                    <a:pt x="1242" y="4318"/>
                  </a:lnTo>
                  <a:lnTo>
                    <a:pt x="1548" y="4972"/>
                  </a:lnTo>
                  <a:lnTo>
                    <a:pt x="1804" y="5597"/>
                  </a:lnTo>
                  <a:lnTo>
                    <a:pt x="2179" y="6165"/>
                  </a:lnTo>
                  <a:lnTo>
                    <a:pt x="2179" y="6761"/>
                  </a:lnTo>
                  <a:lnTo>
                    <a:pt x="2491" y="7301"/>
                  </a:lnTo>
                  <a:lnTo>
                    <a:pt x="2658" y="7898"/>
                  </a:lnTo>
                  <a:lnTo>
                    <a:pt x="2887" y="8494"/>
                  </a:lnTo>
                  <a:lnTo>
                    <a:pt x="2977" y="8977"/>
                  </a:lnTo>
                  <a:lnTo>
                    <a:pt x="3144" y="9602"/>
                  </a:lnTo>
                  <a:lnTo>
                    <a:pt x="3352" y="10142"/>
                  </a:lnTo>
                  <a:lnTo>
                    <a:pt x="3505" y="10710"/>
                  </a:lnTo>
                  <a:lnTo>
                    <a:pt x="3761" y="11193"/>
                  </a:lnTo>
                  <a:lnTo>
                    <a:pt x="3900" y="11733"/>
                  </a:lnTo>
                  <a:lnTo>
                    <a:pt x="4074" y="12216"/>
                  </a:lnTo>
                  <a:lnTo>
                    <a:pt x="4441" y="12784"/>
                  </a:lnTo>
                  <a:lnTo>
                    <a:pt x="4608" y="13153"/>
                  </a:lnTo>
                  <a:lnTo>
                    <a:pt x="4698" y="13693"/>
                  </a:lnTo>
                  <a:lnTo>
                    <a:pt x="5010" y="14119"/>
                  </a:lnTo>
                  <a:lnTo>
                    <a:pt x="5232" y="14545"/>
                  </a:lnTo>
                  <a:lnTo>
                    <a:pt x="5455" y="15028"/>
                  </a:lnTo>
                  <a:lnTo>
                    <a:pt x="5538" y="15511"/>
                  </a:lnTo>
                  <a:lnTo>
                    <a:pt x="5711" y="15852"/>
                  </a:lnTo>
                  <a:lnTo>
                    <a:pt x="6169" y="16250"/>
                  </a:lnTo>
                  <a:lnTo>
                    <a:pt x="6329" y="16619"/>
                  </a:lnTo>
                  <a:lnTo>
                    <a:pt x="6419" y="16932"/>
                  </a:lnTo>
                  <a:lnTo>
                    <a:pt x="6558" y="17244"/>
                  </a:lnTo>
                  <a:lnTo>
                    <a:pt x="6655" y="17614"/>
                  </a:lnTo>
                  <a:lnTo>
                    <a:pt x="6960" y="17898"/>
                  </a:lnTo>
                  <a:lnTo>
                    <a:pt x="7259" y="18097"/>
                  </a:lnTo>
                  <a:lnTo>
                    <a:pt x="7495" y="18494"/>
                  </a:lnTo>
                  <a:lnTo>
                    <a:pt x="7668" y="18750"/>
                  </a:lnTo>
                  <a:lnTo>
                    <a:pt x="7974" y="18977"/>
                  </a:lnTo>
                  <a:lnTo>
                    <a:pt x="7974" y="19119"/>
                  </a:lnTo>
                  <a:lnTo>
                    <a:pt x="8112" y="19318"/>
                  </a:lnTo>
                  <a:lnTo>
                    <a:pt x="8508" y="19432"/>
                  </a:lnTo>
                  <a:lnTo>
                    <a:pt x="8681" y="19602"/>
                  </a:lnTo>
                  <a:lnTo>
                    <a:pt x="8917" y="19716"/>
                  </a:lnTo>
                  <a:lnTo>
                    <a:pt x="9049" y="19858"/>
                  </a:lnTo>
                  <a:lnTo>
                    <a:pt x="9209" y="19886"/>
                  </a:lnTo>
                  <a:lnTo>
                    <a:pt x="9445" y="19972"/>
                  </a:lnTo>
                  <a:lnTo>
                    <a:pt x="9521" y="19972"/>
                  </a:lnTo>
                  <a:lnTo>
                    <a:pt x="9840" y="19972"/>
                  </a:lnTo>
                  <a:lnTo>
                    <a:pt x="10229" y="19886"/>
                  </a:lnTo>
                  <a:lnTo>
                    <a:pt x="10548" y="19858"/>
                  </a:lnTo>
                  <a:lnTo>
                    <a:pt x="10638" y="19716"/>
                  </a:lnTo>
                  <a:lnTo>
                    <a:pt x="10861" y="19517"/>
                  </a:lnTo>
                  <a:lnTo>
                    <a:pt x="11166" y="19318"/>
                  </a:lnTo>
                  <a:lnTo>
                    <a:pt x="11339" y="19119"/>
                  </a:lnTo>
                  <a:lnTo>
                    <a:pt x="11485" y="18892"/>
                  </a:lnTo>
                  <a:lnTo>
                    <a:pt x="11964" y="18580"/>
                  </a:lnTo>
                  <a:lnTo>
                    <a:pt x="12019" y="18210"/>
                  </a:lnTo>
                  <a:lnTo>
                    <a:pt x="12103" y="17869"/>
                  </a:lnTo>
                  <a:lnTo>
                    <a:pt x="12582" y="17472"/>
                  </a:lnTo>
                  <a:lnTo>
                    <a:pt x="12672" y="17131"/>
                  </a:lnTo>
                  <a:lnTo>
                    <a:pt x="13033" y="16761"/>
                  </a:lnTo>
                  <a:lnTo>
                    <a:pt x="13428" y="16278"/>
                  </a:lnTo>
                  <a:lnTo>
                    <a:pt x="13518" y="15824"/>
                  </a:lnTo>
                  <a:lnTo>
                    <a:pt x="13747" y="15369"/>
                  </a:lnTo>
                  <a:lnTo>
                    <a:pt x="13907" y="14886"/>
                  </a:lnTo>
                  <a:lnTo>
                    <a:pt x="14219" y="14318"/>
                  </a:lnTo>
                  <a:lnTo>
                    <a:pt x="14539" y="13807"/>
                  </a:lnTo>
                  <a:lnTo>
                    <a:pt x="14684" y="13267"/>
                  </a:lnTo>
                  <a:lnTo>
                    <a:pt x="14927" y="12813"/>
                  </a:lnTo>
                  <a:lnTo>
                    <a:pt x="15239" y="12216"/>
                  </a:lnTo>
                  <a:lnTo>
                    <a:pt x="15468" y="11705"/>
                  </a:lnTo>
                  <a:lnTo>
                    <a:pt x="15642" y="11080"/>
                  </a:lnTo>
                  <a:lnTo>
                    <a:pt x="16093" y="10597"/>
                  </a:lnTo>
                  <a:lnTo>
                    <a:pt x="16176" y="10000"/>
                  </a:lnTo>
                  <a:lnTo>
                    <a:pt x="16489" y="9403"/>
                  </a:lnTo>
                  <a:lnTo>
                    <a:pt x="16641" y="8920"/>
                  </a:lnTo>
                  <a:lnTo>
                    <a:pt x="16940" y="8381"/>
                  </a:lnTo>
                  <a:lnTo>
                    <a:pt x="17099" y="7784"/>
                  </a:lnTo>
                  <a:lnTo>
                    <a:pt x="17189" y="7216"/>
                  </a:lnTo>
                  <a:lnTo>
                    <a:pt x="17425" y="6818"/>
                  </a:lnTo>
                  <a:lnTo>
                    <a:pt x="17641" y="6250"/>
                  </a:lnTo>
                  <a:lnTo>
                    <a:pt x="17897" y="5710"/>
                  </a:lnTo>
                  <a:lnTo>
                    <a:pt x="18272" y="5227"/>
                  </a:lnTo>
                  <a:lnTo>
                    <a:pt x="18272" y="4744"/>
                  </a:lnTo>
                  <a:lnTo>
                    <a:pt x="18522" y="4290"/>
                  </a:lnTo>
                  <a:lnTo>
                    <a:pt x="18980" y="3864"/>
                  </a:lnTo>
                  <a:lnTo>
                    <a:pt x="19146" y="3381"/>
                  </a:lnTo>
                  <a:lnTo>
                    <a:pt x="19223" y="2983"/>
                  </a:lnTo>
                  <a:lnTo>
                    <a:pt x="19285" y="2614"/>
                  </a:lnTo>
                  <a:lnTo>
                    <a:pt x="19459" y="2244"/>
                  </a:lnTo>
                  <a:lnTo>
                    <a:pt x="19584" y="1932"/>
                  </a:lnTo>
                  <a:lnTo>
                    <a:pt x="19681" y="1619"/>
                  </a:lnTo>
                  <a:lnTo>
                    <a:pt x="19771" y="1307"/>
                  </a:lnTo>
                  <a:lnTo>
                    <a:pt x="19910" y="1023"/>
                  </a:lnTo>
                  <a:lnTo>
                    <a:pt x="19993" y="881"/>
                  </a:lnTo>
                </a:path>
              </a:pathLst>
            </a:custGeom>
            <a:noFill/>
            <a:ln w="1905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35" name="Arc 40">
              <a:extLst>
                <a:ext uri="{FF2B5EF4-FFF2-40B4-BE49-F238E27FC236}">
                  <a16:creationId xmlns:a16="http://schemas.microsoft.com/office/drawing/2014/main" id="{8855BE18-4385-70CF-A698-DE617E26D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" y="1895"/>
              <a:ext cx="382" cy="1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36" name="Arc 134">
              <a:extLst>
                <a:ext uri="{FF2B5EF4-FFF2-40B4-BE49-F238E27FC236}">
                  <a16:creationId xmlns:a16="http://schemas.microsoft.com/office/drawing/2014/main" id="{375B2165-09C0-4FE4-FEFA-E5D74D1D549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93" y="2060"/>
              <a:ext cx="382" cy="1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</p:grpSp>
      <p:grpSp>
        <p:nvGrpSpPr>
          <p:cNvPr id="130198" name="Group 150">
            <a:extLst>
              <a:ext uri="{FF2B5EF4-FFF2-40B4-BE49-F238E27FC236}">
                <a16:creationId xmlns:a16="http://schemas.microsoft.com/office/drawing/2014/main" id="{6C314E53-D5A4-542A-99CA-A07304A2D1D3}"/>
              </a:ext>
            </a:extLst>
          </p:cNvPr>
          <p:cNvGrpSpPr>
            <a:grpSpLocks/>
          </p:cNvGrpSpPr>
          <p:nvPr/>
        </p:nvGrpSpPr>
        <p:grpSpPr bwMode="auto">
          <a:xfrm>
            <a:off x="958850" y="2492375"/>
            <a:ext cx="7429500" cy="1204913"/>
            <a:chOff x="604" y="1570"/>
            <a:chExt cx="4680" cy="759"/>
          </a:xfrm>
        </p:grpSpPr>
        <p:sp>
          <p:nvSpPr>
            <p:cNvPr id="41995" name="Line 9">
              <a:extLst>
                <a:ext uri="{FF2B5EF4-FFF2-40B4-BE49-F238E27FC236}">
                  <a16:creationId xmlns:a16="http://schemas.microsoft.com/office/drawing/2014/main" id="{79F94F24-1DA0-17EE-6E7F-819BE14211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8" y="2043"/>
              <a:ext cx="4245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1996" name="Line 10">
              <a:extLst>
                <a:ext uri="{FF2B5EF4-FFF2-40B4-BE49-F238E27FC236}">
                  <a16:creationId xmlns:a16="http://schemas.microsoft.com/office/drawing/2014/main" id="{C2FEA235-20A7-5FB1-38F4-AFE92F6EC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9" y="1734"/>
              <a:ext cx="1" cy="591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round/>
              <a:headEnd type="triangle" w="sm" len="lg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1997" name="AutoShape 11">
              <a:extLst>
                <a:ext uri="{FF2B5EF4-FFF2-40B4-BE49-F238E27FC236}">
                  <a16:creationId xmlns:a16="http://schemas.microsoft.com/office/drawing/2014/main" id="{297A1CEA-6EDF-3118-A153-7B6AD0368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1867"/>
              <a:ext cx="124" cy="20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29"/>
                  </a:moveTo>
                  <a:lnTo>
                    <a:pt x="192" y="18510"/>
                  </a:lnTo>
                  <a:lnTo>
                    <a:pt x="481" y="17886"/>
                  </a:lnTo>
                  <a:lnTo>
                    <a:pt x="673" y="17331"/>
                  </a:lnTo>
                  <a:lnTo>
                    <a:pt x="673" y="16707"/>
                  </a:lnTo>
                  <a:lnTo>
                    <a:pt x="962" y="16049"/>
                  </a:lnTo>
                  <a:lnTo>
                    <a:pt x="1250" y="15494"/>
                  </a:lnTo>
                  <a:lnTo>
                    <a:pt x="1442" y="14905"/>
                  </a:lnTo>
                  <a:lnTo>
                    <a:pt x="1923" y="14246"/>
                  </a:lnTo>
                  <a:lnTo>
                    <a:pt x="2212" y="13657"/>
                  </a:lnTo>
                  <a:lnTo>
                    <a:pt x="2500" y="13102"/>
                  </a:lnTo>
                  <a:lnTo>
                    <a:pt x="2500" y="12548"/>
                  </a:lnTo>
                  <a:lnTo>
                    <a:pt x="2596" y="12062"/>
                  </a:lnTo>
                  <a:lnTo>
                    <a:pt x="2885" y="11473"/>
                  </a:lnTo>
                  <a:lnTo>
                    <a:pt x="2981" y="10849"/>
                  </a:lnTo>
                  <a:lnTo>
                    <a:pt x="3269" y="10364"/>
                  </a:lnTo>
                  <a:lnTo>
                    <a:pt x="3269" y="9809"/>
                  </a:lnTo>
                  <a:lnTo>
                    <a:pt x="3654" y="9255"/>
                  </a:lnTo>
                  <a:lnTo>
                    <a:pt x="4038" y="8700"/>
                  </a:lnTo>
                  <a:lnTo>
                    <a:pt x="4231" y="8250"/>
                  </a:lnTo>
                  <a:lnTo>
                    <a:pt x="4327" y="7695"/>
                  </a:lnTo>
                  <a:lnTo>
                    <a:pt x="4615" y="7244"/>
                  </a:lnTo>
                  <a:lnTo>
                    <a:pt x="4808" y="6828"/>
                  </a:lnTo>
                  <a:lnTo>
                    <a:pt x="5096" y="6378"/>
                  </a:lnTo>
                  <a:lnTo>
                    <a:pt x="5385" y="5893"/>
                  </a:lnTo>
                  <a:lnTo>
                    <a:pt x="5481" y="5477"/>
                  </a:lnTo>
                  <a:lnTo>
                    <a:pt x="5865" y="4991"/>
                  </a:lnTo>
                  <a:lnTo>
                    <a:pt x="5865" y="4506"/>
                  </a:lnTo>
                  <a:lnTo>
                    <a:pt x="6442" y="4159"/>
                  </a:lnTo>
                  <a:lnTo>
                    <a:pt x="6635" y="3778"/>
                  </a:lnTo>
                  <a:lnTo>
                    <a:pt x="6635" y="3432"/>
                  </a:lnTo>
                  <a:lnTo>
                    <a:pt x="7115" y="3050"/>
                  </a:lnTo>
                  <a:lnTo>
                    <a:pt x="7115" y="2669"/>
                  </a:lnTo>
                  <a:lnTo>
                    <a:pt x="7500" y="2426"/>
                  </a:lnTo>
                  <a:lnTo>
                    <a:pt x="7500" y="2114"/>
                  </a:lnTo>
                  <a:lnTo>
                    <a:pt x="7500" y="1837"/>
                  </a:lnTo>
                  <a:lnTo>
                    <a:pt x="7788" y="1560"/>
                  </a:lnTo>
                  <a:lnTo>
                    <a:pt x="7885" y="1317"/>
                  </a:lnTo>
                  <a:lnTo>
                    <a:pt x="8462" y="1075"/>
                  </a:lnTo>
                  <a:lnTo>
                    <a:pt x="8462" y="867"/>
                  </a:lnTo>
                  <a:lnTo>
                    <a:pt x="8846" y="693"/>
                  </a:lnTo>
                  <a:lnTo>
                    <a:pt x="8942" y="520"/>
                  </a:lnTo>
                  <a:lnTo>
                    <a:pt x="9135" y="347"/>
                  </a:lnTo>
                  <a:lnTo>
                    <a:pt x="9327" y="208"/>
                  </a:lnTo>
                  <a:lnTo>
                    <a:pt x="9327" y="139"/>
                  </a:lnTo>
                  <a:lnTo>
                    <a:pt x="9712" y="139"/>
                  </a:lnTo>
                  <a:lnTo>
                    <a:pt x="10192" y="35"/>
                  </a:lnTo>
                  <a:lnTo>
                    <a:pt x="10385" y="0"/>
                  </a:lnTo>
                  <a:lnTo>
                    <a:pt x="10673" y="35"/>
                  </a:lnTo>
                  <a:lnTo>
                    <a:pt x="10769" y="35"/>
                  </a:lnTo>
                  <a:lnTo>
                    <a:pt x="10865" y="139"/>
                  </a:lnTo>
                  <a:lnTo>
                    <a:pt x="11058" y="208"/>
                  </a:lnTo>
                  <a:lnTo>
                    <a:pt x="11442" y="347"/>
                  </a:lnTo>
                  <a:lnTo>
                    <a:pt x="11538" y="520"/>
                  </a:lnTo>
                  <a:lnTo>
                    <a:pt x="12115" y="763"/>
                  </a:lnTo>
                  <a:lnTo>
                    <a:pt x="12212" y="1005"/>
                  </a:lnTo>
                  <a:lnTo>
                    <a:pt x="12500" y="1282"/>
                  </a:lnTo>
                  <a:lnTo>
                    <a:pt x="12500" y="1560"/>
                  </a:lnTo>
                  <a:lnTo>
                    <a:pt x="12500" y="1872"/>
                  </a:lnTo>
                  <a:lnTo>
                    <a:pt x="12885" y="2322"/>
                  </a:lnTo>
                  <a:lnTo>
                    <a:pt x="12885" y="2669"/>
                  </a:lnTo>
                  <a:lnTo>
                    <a:pt x="13365" y="3154"/>
                  </a:lnTo>
                  <a:lnTo>
                    <a:pt x="13365" y="3536"/>
                  </a:lnTo>
                  <a:lnTo>
                    <a:pt x="13558" y="4055"/>
                  </a:lnTo>
                  <a:lnTo>
                    <a:pt x="14135" y="4402"/>
                  </a:lnTo>
                  <a:lnTo>
                    <a:pt x="14231" y="4957"/>
                  </a:lnTo>
                  <a:lnTo>
                    <a:pt x="14519" y="5477"/>
                  </a:lnTo>
                  <a:lnTo>
                    <a:pt x="14808" y="5997"/>
                  </a:lnTo>
                  <a:lnTo>
                    <a:pt x="15096" y="6516"/>
                  </a:lnTo>
                  <a:lnTo>
                    <a:pt x="15192" y="7106"/>
                  </a:lnTo>
                  <a:lnTo>
                    <a:pt x="15385" y="7626"/>
                  </a:lnTo>
                  <a:lnTo>
                    <a:pt x="15673" y="8180"/>
                  </a:lnTo>
                  <a:lnTo>
                    <a:pt x="15865" y="8735"/>
                  </a:lnTo>
                  <a:lnTo>
                    <a:pt x="16058" y="9359"/>
                  </a:lnTo>
                  <a:lnTo>
                    <a:pt x="16346" y="9913"/>
                  </a:lnTo>
                  <a:lnTo>
                    <a:pt x="16731" y="10399"/>
                  </a:lnTo>
                  <a:lnTo>
                    <a:pt x="16731" y="10988"/>
                  </a:lnTo>
                  <a:lnTo>
                    <a:pt x="17019" y="11612"/>
                  </a:lnTo>
                  <a:lnTo>
                    <a:pt x="17212" y="12201"/>
                  </a:lnTo>
                  <a:lnTo>
                    <a:pt x="17404" y="12756"/>
                  </a:lnTo>
                  <a:lnTo>
                    <a:pt x="17500" y="13276"/>
                  </a:lnTo>
                  <a:lnTo>
                    <a:pt x="17500" y="13830"/>
                  </a:lnTo>
                  <a:lnTo>
                    <a:pt x="17788" y="14350"/>
                  </a:lnTo>
                  <a:lnTo>
                    <a:pt x="17788" y="14974"/>
                  </a:lnTo>
                  <a:lnTo>
                    <a:pt x="18462" y="15494"/>
                  </a:lnTo>
                  <a:lnTo>
                    <a:pt x="18558" y="15945"/>
                  </a:lnTo>
                  <a:lnTo>
                    <a:pt x="18750" y="16395"/>
                  </a:lnTo>
                  <a:lnTo>
                    <a:pt x="18942" y="16846"/>
                  </a:lnTo>
                  <a:lnTo>
                    <a:pt x="19038" y="17331"/>
                  </a:lnTo>
                  <a:lnTo>
                    <a:pt x="19327" y="17678"/>
                  </a:lnTo>
                  <a:lnTo>
                    <a:pt x="19327" y="18163"/>
                  </a:lnTo>
                  <a:lnTo>
                    <a:pt x="19423" y="18510"/>
                  </a:lnTo>
                  <a:lnTo>
                    <a:pt x="19519" y="18925"/>
                  </a:lnTo>
                  <a:lnTo>
                    <a:pt x="19615" y="19168"/>
                  </a:lnTo>
                  <a:lnTo>
                    <a:pt x="19808" y="19480"/>
                  </a:lnTo>
                  <a:lnTo>
                    <a:pt x="19904" y="19792"/>
                  </a:lnTo>
                  <a:lnTo>
                    <a:pt x="19904" y="19965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1998" name="AutoShape 12">
              <a:extLst>
                <a:ext uri="{FF2B5EF4-FFF2-40B4-BE49-F238E27FC236}">
                  <a16:creationId xmlns:a16="http://schemas.microsoft.com/office/drawing/2014/main" id="{F2783890-CC1A-66D3-A562-C956FF583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" y="2047"/>
              <a:ext cx="131" cy="22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83" y="646"/>
                  </a:lnTo>
                  <a:lnTo>
                    <a:pt x="365" y="1293"/>
                  </a:lnTo>
                  <a:lnTo>
                    <a:pt x="548" y="1903"/>
                  </a:lnTo>
                  <a:lnTo>
                    <a:pt x="639" y="2513"/>
                  </a:lnTo>
                  <a:lnTo>
                    <a:pt x="913" y="3160"/>
                  </a:lnTo>
                  <a:lnTo>
                    <a:pt x="1187" y="3734"/>
                  </a:lnTo>
                  <a:lnTo>
                    <a:pt x="1187" y="4273"/>
                  </a:lnTo>
                  <a:lnTo>
                    <a:pt x="1461" y="4919"/>
                  </a:lnTo>
                  <a:lnTo>
                    <a:pt x="1553" y="5566"/>
                  </a:lnTo>
                  <a:lnTo>
                    <a:pt x="2374" y="6104"/>
                  </a:lnTo>
                  <a:lnTo>
                    <a:pt x="2557" y="6750"/>
                  </a:lnTo>
                  <a:lnTo>
                    <a:pt x="2557" y="7325"/>
                  </a:lnTo>
                  <a:lnTo>
                    <a:pt x="2648" y="7864"/>
                  </a:lnTo>
                  <a:lnTo>
                    <a:pt x="2831" y="8510"/>
                  </a:lnTo>
                  <a:lnTo>
                    <a:pt x="3014" y="9048"/>
                  </a:lnTo>
                  <a:lnTo>
                    <a:pt x="3105" y="9623"/>
                  </a:lnTo>
                  <a:lnTo>
                    <a:pt x="3105" y="10126"/>
                  </a:lnTo>
                  <a:lnTo>
                    <a:pt x="3470" y="10664"/>
                  </a:lnTo>
                  <a:lnTo>
                    <a:pt x="3653" y="11167"/>
                  </a:lnTo>
                  <a:lnTo>
                    <a:pt x="3927" y="11706"/>
                  </a:lnTo>
                  <a:lnTo>
                    <a:pt x="4110" y="12208"/>
                  </a:lnTo>
                  <a:lnTo>
                    <a:pt x="4292" y="12675"/>
                  </a:lnTo>
                  <a:lnTo>
                    <a:pt x="4384" y="13142"/>
                  </a:lnTo>
                  <a:lnTo>
                    <a:pt x="4566" y="13680"/>
                  </a:lnTo>
                  <a:lnTo>
                    <a:pt x="4840" y="14075"/>
                  </a:lnTo>
                  <a:lnTo>
                    <a:pt x="5205" y="14578"/>
                  </a:lnTo>
                  <a:lnTo>
                    <a:pt x="5479" y="14973"/>
                  </a:lnTo>
                  <a:lnTo>
                    <a:pt x="5662" y="15476"/>
                  </a:lnTo>
                  <a:lnTo>
                    <a:pt x="5753" y="15835"/>
                  </a:lnTo>
                  <a:lnTo>
                    <a:pt x="6210" y="16230"/>
                  </a:lnTo>
                  <a:lnTo>
                    <a:pt x="6301" y="16625"/>
                  </a:lnTo>
                  <a:lnTo>
                    <a:pt x="6575" y="16948"/>
                  </a:lnTo>
                  <a:lnTo>
                    <a:pt x="6849" y="17199"/>
                  </a:lnTo>
                  <a:lnTo>
                    <a:pt x="6941" y="17594"/>
                  </a:lnTo>
                  <a:lnTo>
                    <a:pt x="7123" y="17953"/>
                  </a:lnTo>
                  <a:lnTo>
                    <a:pt x="7215" y="18133"/>
                  </a:lnTo>
                  <a:lnTo>
                    <a:pt x="7489" y="18456"/>
                  </a:lnTo>
                  <a:lnTo>
                    <a:pt x="7489" y="18671"/>
                  </a:lnTo>
                  <a:lnTo>
                    <a:pt x="7580" y="18959"/>
                  </a:lnTo>
                  <a:lnTo>
                    <a:pt x="7763" y="19138"/>
                  </a:lnTo>
                  <a:lnTo>
                    <a:pt x="8037" y="19318"/>
                  </a:lnTo>
                  <a:lnTo>
                    <a:pt x="8584" y="19461"/>
                  </a:lnTo>
                  <a:lnTo>
                    <a:pt x="8676" y="19641"/>
                  </a:lnTo>
                  <a:lnTo>
                    <a:pt x="8950" y="19785"/>
                  </a:lnTo>
                  <a:lnTo>
                    <a:pt x="9041" y="19856"/>
                  </a:lnTo>
                  <a:lnTo>
                    <a:pt x="9224" y="19856"/>
                  </a:lnTo>
                  <a:lnTo>
                    <a:pt x="9406" y="19964"/>
                  </a:lnTo>
                  <a:lnTo>
                    <a:pt x="9589" y="19964"/>
                  </a:lnTo>
                  <a:lnTo>
                    <a:pt x="9772" y="19964"/>
                  </a:lnTo>
                  <a:lnTo>
                    <a:pt x="10228" y="19856"/>
                  </a:lnTo>
                  <a:lnTo>
                    <a:pt x="10411" y="19856"/>
                  </a:lnTo>
                  <a:lnTo>
                    <a:pt x="10594" y="19749"/>
                  </a:lnTo>
                  <a:lnTo>
                    <a:pt x="10776" y="19497"/>
                  </a:lnTo>
                  <a:lnTo>
                    <a:pt x="10959" y="19318"/>
                  </a:lnTo>
                  <a:lnTo>
                    <a:pt x="11324" y="19102"/>
                  </a:lnTo>
                  <a:lnTo>
                    <a:pt x="11324" y="18887"/>
                  </a:lnTo>
                  <a:lnTo>
                    <a:pt x="11963" y="18564"/>
                  </a:lnTo>
                  <a:lnTo>
                    <a:pt x="12237" y="18276"/>
                  </a:lnTo>
                  <a:lnTo>
                    <a:pt x="12420" y="17882"/>
                  </a:lnTo>
                  <a:lnTo>
                    <a:pt x="12511" y="17487"/>
                  </a:lnTo>
                  <a:lnTo>
                    <a:pt x="12511" y="17163"/>
                  </a:lnTo>
                  <a:lnTo>
                    <a:pt x="12877" y="16697"/>
                  </a:lnTo>
                  <a:lnTo>
                    <a:pt x="13059" y="16266"/>
                  </a:lnTo>
                  <a:lnTo>
                    <a:pt x="13151" y="15799"/>
                  </a:lnTo>
                  <a:lnTo>
                    <a:pt x="13516" y="15368"/>
                  </a:lnTo>
                  <a:lnTo>
                    <a:pt x="13790" y="14865"/>
                  </a:lnTo>
                  <a:lnTo>
                    <a:pt x="14064" y="14363"/>
                  </a:lnTo>
                  <a:lnTo>
                    <a:pt x="14338" y="13824"/>
                  </a:lnTo>
                  <a:lnTo>
                    <a:pt x="14703" y="13321"/>
                  </a:lnTo>
                  <a:lnTo>
                    <a:pt x="14795" y="12819"/>
                  </a:lnTo>
                  <a:lnTo>
                    <a:pt x="15342" y="12208"/>
                  </a:lnTo>
                  <a:lnTo>
                    <a:pt x="15616" y="11670"/>
                  </a:lnTo>
                  <a:lnTo>
                    <a:pt x="15708" y="11095"/>
                  </a:lnTo>
                  <a:lnTo>
                    <a:pt x="15890" y="10557"/>
                  </a:lnTo>
                  <a:lnTo>
                    <a:pt x="16164" y="10018"/>
                  </a:lnTo>
                  <a:lnTo>
                    <a:pt x="16438" y="9515"/>
                  </a:lnTo>
                  <a:lnTo>
                    <a:pt x="16804" y="8905"/>
                  </a:lnTo>
                  <a:lnTo>
                    <a:pt x="16895" y="8330"/>
                  </a:lnTo>
                  <a:lnTo>
                    <a:pt x="16986" y="7792"/>
                  </a:lnTo>
                  <a:lnTo>
                    <a:pt x="17169" y="7325"/>
                  </a:lnTo>
                  <a:lnTo>
                    <a:pt x="17352" y="6822"/>
                  </a:lnTo>
                  <a:lnTo>
                    <a:pt x="17443" y="6212"/>
                  </a:lnTo>
                  <a:lnTo>
                    <a:pt x="17443" y="5673"/>
                  </a:lnTo>
                  <a:lnTo>
                    <a:pt x="18082" y="5171"/>
                  </a:lnTo>
                  <a:lnTo>
                    <a:pt x="18447" y="4668"/>
                  </a:lnTo>
                  <a:lnTo>
                    <a:pt x="18539" y="4273"/>
                  </a:lnTo>
                  <a:lnTo>
                    <a:pt x="18813" y="3806"/>
                  </a:lnTo>
                  <a:lnTo>
                    <a:pt x="18995" y="3375"/>
                  </a:lnTo>
                  <a:lnTo>
                    <a:pt x="19087" y="3016"/>
                  </a:lnTo>
                  <a:lnTo>
                    <a:pt x="19361" y="2657"/>
                  </a:lnTo>
                  <a:lnTo>
                    <a:pt x="19361" y="2262"/>
                  </a:lnTo>
                  <a:lnTo>
                    <a:pt x="19452" y="1903"/>
                  </a:lnTo>
                  <a:lnTo>
                    <a:pt x="19543" y="1616"/>
                  </a:lnTo>
                  <a:lnTo>
                    <a:pt x="19817" y="1364"/>
                  </a:lnTo>
                  <a:lnTo>
                    <a:pt x="19817" y="1041"/>
                  </a:lnTo>
                  <a:lnTo>
                    <a:pt x="19909" y="862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1999" name="AutoShape 13">
              <a:extLst>
                <a:ext uri="{FF2B5EF4-FFF2-40B4-BE49-F238E27FC236}">
                  <a16:creationId xmlns:a16="http://schemas.microsoft.com/office/drawing/2014/main" id="{8F0B2453-FCD8-702C-A509-0335890CC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1798"/>
              <a:ext cx="125" cy="27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79"/>
                  </a:moveTo>
                  <a:lnTo>
                    <a:pt x="192" y="18482"/>
                  </a:lnTo>
                  <a:lnTo>
                    <a:pt x="481" y="17913"/>
                  </a:lnTo>
                  <a:lnTo>
                    <a:pt x="673" y="17317"/>
                  </a:lnTo>
                  <a:lnTo>
                    <a:pt x="673" y="16694"/>
                  </a:lnTo>
                  <a:lnTo>
                    <a:pt x="962" y="16098"/>
                  </a:lnTo>
                  <a:lnTo>
                    <a:pt x="1250" y="15501"/>
                  </a:lnTo>
                  <a:lnTo>
                    <a:pt x="1442" y="14851"/>
                  </a:lnTo>
                  <a:lnTo>
                    <a:pt x="1923" y="14282"/>
                  </a:lnTo>
                  <a:lnTo>
                    <a:pt x="2212" y="13740"/>
                  </a:lnTo>
                  <a:lnTo>
                    <a:pt x="2500" y="13171"/>
                  </a:lnTo>
                  <a:lnTo>
                    <a:pt x="2500" y="12602"/>
                  </a:lnTo>
                  <a:lnTo>
                    <a:pt x="2596" y="12087"/>
                  </a:lnTo>
                  <a:lnTo>
                    <a:pt x="2885" y="11463"/>
                  </a:lnTo>
                  <a:lnTo>
                    <a:pt x="2981" y="10867"/>
                  </a:lnTo>
                  <a:lnTo>
                    <a:pt x="3269" y="10352"/>
                  </a:lnTo>
                  <a:lnTo>
                    <a:pt x="3269" y="9837"/>
                  </a:lnTo>
                  <a:lnTo>
                    <a:pt x="3654" y="9268"/>
                  </a:lnTo>
                  <a:lnTo>
                    <a:pt x="4038" y="8808"/>
                  </a:lnTo>
                  <a:lnTo>
                    <a:pt x="4231" y="8211"/>
                  </a:lnTo>
                  <a:lnTo>
                    <a:pt x="4327" y="7751"/>
                  </a:lnTo>
                  <a:lnTo>
                    <a:pt x="4615" y="7236"/>
                  </a:lnTo>
                  <a:lnTo>
                    <a:pt x="4808" y="6802"/>
                  </a:lnTo>
                  <a:lnTo>
                    <a:pt x="5096" y="6341"/>
                  </a:lnTo>
                  <a:lnTo>
                    <a:pt x="5385" y="5908"/>
                  </a:lnTo>
                  <a:lnTo>
                    <a:pt x="5481" y="5420"/>
                  </a:lnTo>
                  <a:lnTo>
                    <a:pt x="5865" y="5014"/>
                  </a:lnTo>
                  <a:lnTo>
                    <a:pt x="5865" y="4580"/>
                  </a:lnTo>
                  <a:lnTo>
                    <a:pt x="6442" y="4119"/>
                  </a:lnTo>
                  <a:lnTo>
                    <a:pt x="6635" y="3794"/>
                  </a:lnTo>
                  <a:lnTo>
                    <a:pt x="6635" y="3388"/>
                  </a:lnTo>
                  <a:lnTo>
                    <a:pt x="7115" y="3035"/>
                  </a:lnTo>
                  <a:lnTo>
                    <a:pt x="7115" y="2683"/>
                  </a:lnTo>
                  <a:lnTo>
                    <a:pt x="7500" y="2466"/>
                  </a:lnTo>
                  <a:lnTo>
                    <a:pt x="7500" y="2087"/>
                  </a:lnTo>
                  <a:lnTo>
                    <a:pt x="7500" y="1843"/>
                  </a:lnTo>
                  <a:lnTo>
                    <a:pt x="7788" y="1572"/>
                  </a:lnTo>
                  <a:lnTo>
                    <a:pt x="7885" y="1301"/>
                  </a:lnTo>
                  <a:lnTo>
                    <a:pt x="8462" y="1111"/>
                  </a:lnTo>
                  <a:lnTo>
                    <a:pt x="8462" y="840"/>
                  </a:lnTo>
                  <a:lnTo>
                    <a:pt x="8846" y="678"/>
                  </a:lnTo>
                  <a:lnTo>
                    <a:pt x="8942" y="488"/>
                  </a:lnTo>
                  <a:lnTo>
                    <a:pt x="9135" y="407"/>
                  </a:lnTo>
                  <a:lnTo>
                    <a:pt x="9327" y="271"/>
                  </a:lnTo>
                  <a:lnTo>
                    <a:pt x="9327" y="136"/>
                  </a:lnTo>
                  <a:lnTo>
                    <a:pt x="9712" y="108"/>
                  </a:lnTo>
                  <a:lnTo>
                    <a:pt x="10192" y="27"/>
                  </a:lnTo>
                  <a:lnTo>
                    <a:pt x="10385" y="0"/>
                  </a:lnTo>
                  <a:lnTo>
                    <a:pt x="10673" y="27"/>
                  </a:lnTo>
                  <a:lnTo>
                    <a:pt x="10769" y="27"/>
                  </a:lnTo>
                  <a:lnTo>
                    <a:pt x="10865" y="108"/>
                  </a:lnTo>
                  <a:lnTo>
                    <a:pt x="11058" y="190"/>
                  </a:lnTo>
                  <a:lnTo>
                    <a:pt x="11442" y="407"/>
                  </a:lnTo>
                  <a:lnTo>
                    <a:pt x="11538" y="542"/>
                  </a:lnTo>
                  <a:lnTo>
                    <a:pt x="12115" y="759"/>
                  </a:lnTo>
                  <a:lnTo>
                    <a:pt x="12212" y="1030"/>
                  </a:lnTo>
                  <a:lnTo>
                    <a:pt x="12500" y="1247"/>
                  </a:lnTo>
                  <a:lnTo>
                    <a:pt x="12500" y="1572"/>
                  </a:lnTo>
                  <a:lnTo>
                    <a:pt x="12500" y="1897"/>
                  </a:lnTo>
                  <a:lnTo>
                    <a:pt x="12885" y="2276"/>
                  </a:lnTo>
                  <a:lnTo>
                    <a:pt x="12885" y="2683"/>
                  </a:lnTo>
                  <a:lnTo>
                    <a:pt x="13365" y="3144"/>
                  </a:lnTo>
                  <a:lnTo>
                    <a:pt x="13365" y="3496"/>
                  </a:lnTo>
                  <a:lnTo>
                    <a:pt x="13558" y="3957"/>
                  </a:lnTo>
                  <a:lnTo>
                    <a:pt x="14135" y="4472"/>
                  </a:lnTo>
                  <a:lnTo>
                    <a:pt x="14231" y="4986"/>
                  </a:lnTo>
                  <a:lnTo>
                    <a:pt x="14519" y="5474"/>
                  </a:lnTo>
                  <a:lnTo>
                    <a:pt x="14808" y="5989"/>
                  </a:lnTo>
                  <a:lnTo>
                    <a:pt x="15096" y="6477"/>
                  </a:lnTo>
                  <a:lnTo>
                    <a:pt x="15192" y="7046"/>
                  </a:lnTo>
                  <a:lnTo>
                    <a:pt x="15385" y="7615"/>
                  </a:lnTo>
                  <a:lnTo>
                    <a:pt x="15673" y="8184"/>
                  </a:lnTo>
                  <a:lnTo>
                    <a:pt x="15865" y="8808"/>
                  </a:lnTo>
                  <a:lnTo>
                    <a:pt x="16058" y="9350"/>
                  </a:lnTo>
                  <a:lnTo>
                    <a:pt x="16346" y="9919"/>
                  </a:lnTo>
                  <a:lnTo>
                    <a:pt x="16731" y="10434"/>
                  </a:lnTo>
                  <a:lnTo>
                    <a:pt x="16731" y="11057"/>
                  </a:lnTo>
                  <a:lnTo>
                    <a:pt x="17019" y="11626"/>
                  </a:lnTo>
                  <a:lnTo>
                    <a:pt x="17212" y="12195"/>
                  </a:lnTo>
                  <a:lnTo>
                    <a:pt x="17404" y="12764"/>
                  </a:lnTo>
                  <a:lnTo>
                    <a:pt x="17500" y="13333"/>
                  </a:lnTo>
                  <a:lnTo>
                    <a:pt x="17500" y="13848"/>
                  </a:lnTo>
                  <a:lnTo>
                    <a:pt x="17788" y="14390"/>
                  </a:lnTo>
                  <a:lnTo>
                    <a:pt x="17788" y="14905"/>
                  </a:lnTo>
                  <a:lnTo>
                    <a:pt x="18462" y="15420"/>
                  </a:lnTo>
                  <a:lnTo>
                    <a:pt x="18558" y="15908"/>
                  </a:lnTo>
                  <a:lnTo>
                    <a:pt x="18750" y="16450"/>
                  </a:lnTo>
                  <a:lnTo>
                    <a:pt x="18942" y="16829"/>
                  </a:lnTo>
                  <a:lnTo>
                    <a:pt x="19038" y="17317"/>
                  </a:lnTo>
                  <a:lnTo>
                    <a:pt x="19327" y="17751"/>
                  </a:lnTo>
                  <a:lnTo>
                    <a:pt x="19327" y="18157"/>
                  </a:lnTo>
                  <a:lnTo>
                    <a:pt x="19423" y="18537"/>
                  </a:lnTo>
                  <a:lnTo>
                    <a:pt x="19519" y="18862"/>
                  </a:lnTo>
                  <a:lnTo>
                    <a:pt x="19615" y="19160"/>
                  </a:lnTo>
                  <a:lnTo>
                    <a:pt x="19808" y="19512"/>
                  </a:lnTo>
                  <a:lnTo>
                    <a:pt x="19904" y="19729"/>
                  </a:lnTo>
                  <a:lnTo>
                    <a:pt x="19904" y="19973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00" name="AutoShape 14">
              <a:extLst>
                <a:ext uri="{FF2B5EF4-FFF2-40B4-BE49-F238E27FC236}">
                  <a16:creationId xmlns:a16="http://schemas.microsoft.com/office/drawing/2014/main" id="{5A1311C3-24E5-0177-1434-176D53A04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" y="2041"/>
              <a:ext cx="133" cy="28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83" y="617"/>
                  </a:lnTo>
                  <a:lnTo>
                    <a:pt x="365" y="1262"/>
                  </a:lnTo>
                  <a:lnTo>
                    <a:pt x="548" y="1907"/>
                  </a:lnTo>
                  <a:lnTo>
                    <a:pt x="639" y="2553"/>
                  </a:lnTo>
                  <a:lnTo>
                    <a:pt x="913" y="3142"/>
                  </a:lnTo>
                  <a:lnTo>
                    <a:pt x="1187" y="3731"/>
                  </a:lnTo>
                  <a:lnTo>
                    <a:pt x="1187" y="4348"/>
                  </a:lnTo>
                  <a:lnTo>
                    <a:pt x="1461" y="4965"/>
                  </a:lnTo>
                  <a:lnTo>
                    <a:pt x="1553" y="5582"/>
                  </a:lnTo>
                  <a:lnTo>
                    <a:pt x="2374" y="6171"/>
                  </a:lnTo>
                  <a:lnTo>
                    <a:pt x="2557" y="6732"/>
                  </a:lnTo>
                  <a:lnTo>
                    <a:pt x="2557" y="7321"/>
                  </a:lnTo>
                  <a:lnTo>
                    <a:pt x="2648" y="7882"/>
                  </a:lnTo>
                  <a:lnTo>
                    <a:pt x="2831" y="8499"/>
                  </a:lnTo>
                  <a:lnTo>
                    <a:pt x="3014" y="9004"/>
                  </a:lnTo>
                  <a:lnTo>
                    <a:pt x="3105" y="9565"/>
                  </a:lnTo>
                  <a:lnTo>
                    <a:pt x="3105" y="10126"/>
                  </a:lnTo>
                  <a:lnTo>
                    <a:pt x="3470" y="10687"/>
                  </a:lnTo>
                  <a:lnTo>
                    <a:pt x="3653" y="11220"/>
                  </a:lnTo>
                  <a:lnTo>
                    <a:pt x="3927" y="11725"/>
                  </a:lnTo>
                  <a:lnTo>
                    <a:pt x="4110" y="12202"/>
                  </a:lnTo>
                  <a:lnTo>
                    <a:pt x="4292" y="12679"/>
                  </a:lnTo>
                  <a:lnTo>
                    <a:pt x="4384" y="13212"/>
                  </a:lnTo>
                  <a:lnTo>
                    <a:pt x="4566" y="13661"/>
                  </a:lnTo>
                  <a:lnTo>
                    <a:pt x="4840" y="14109"/>
                  </a:lnTo>
                  <a:lnTo>
                    <a:pt x="5205" y="14558"/>
                  </a:lnTo>
                  <a:lnTo>
                    <a:pt x="5479" y="15035"/>
                  </a:lnTo>
                  <a:lnTo>
                    <a:pt x="5662" y="15428"/>
                  </a:lnTo>
                  <a:lnTo>
                    <a:pt x="5753" y="15877"/>
                  </a:lnTo>
                  <a:lnTo>
                    <a:pt x="6210" y="16213"/>
                  </a:lnTo>
                  <a:lnTo>
                    <a:pt x="6301" y="16634"/>
                  </a:lnTo>
                  <a:lnTo>
                    <a:pt x="6575" y="16942"/>
                  </a:lnTo>
                  <a:lnTo>
                    <a:pt x="6849" y="17335"/>
                  </a:lnTo>
                  <a:lnTo>
                    <a:pt x="6941" y="17532"/>
                  </a:lnTo>
                  <a:lnTo>
                    <a:pt x="7123" y="17924"/>
                  </a:lnTo>
                  <a:lnTo>
                    <a:pt x="7215" y="18121"/>
                  </a:lnTo>
                  <a:lnTo>
                    <a:pt x="7489" y="18485"/>
                  </a:lnTo>
                  <a:lnTo>
                    <a:pt x="7489" y="18738"/>
                  </a:lnTo>
                  <a:lnTo>
                    <a:pt x="7580" y="18906"/>
                  </a:lnTo>
                  <a:lnTo>
                    <a:pt x="7763" y="19130"/>
                  </a:lnTo>
                  <a:lnTo>
                    <a:pt x="8037" y="19327"/>
                  </a:lnTo>
                  <a:lnTo>
                    <a:pt x="8584" y="19495"/>
                  </a:lnTo>
                  <a:lnTo>
                    <a:pt x="8676" y="19579"/>
                  </a:lnTo>
                  <a:lnTo>
                    <a:pt x="8950" y="19719"/>
                  </a:lnTo>
                  <a:lnTo>
                    <a:pt x="9041" y="19860"/>
                  </a:lnTo>
                  <a:lnTo>
                    <a:pt x="9224" y="19888"/>
                  </a:lnTo>
                  <a:lnTo>
                    <a:pt x="9406" y="19972"/>
                  </a:lnTo>
                  <a:lnTo>
                    <a:pt x="9589" y="19972"/>
                  </a:lnTo>
                  <a:lnTo>
                    <a:pt x="9772" y="19972"/>
                  </a:lnTo>
                  <a:lnTo>
                    <a:pt x="10228" y="19888"/>
                  </a:lnTo>
                  <a:lnTo>
                    <a:pt x="10411" y="19860"/>
                  </a:lnTo>
                  <a:lnTo>
                    <a:pt x="10594" y="19719"/>
                  </a:lnTo>
                  <a:lnTo>
                    <a:pt x="10776" y="19523"/>
                  </a:lnTo>
                  <a:lnTo>
                    <a:pt x="10959" y="19327"/>
                  </a:lnTo>
                  <a:lnTo>
                    <a:pt x="11324" y="19130"/>
                  </a:lnTo>
                  <a:lnTo>
                    <a:pt x="11324" y="18794"/>
                  </a:lnTo>
                  <a:lnTo>
                    <a:pt x="11963" y="18541"/>
                  </a:lnTo>
                  <a:lnTo>
                    <a:pt x="12237" y="18205"/>
                  </a:lnTo>
                  <a:lnTo>
                    <a:pt x="12420" y="17924"/>
                  </a:lnTo>
                  <a:lnTo>
                    <a:pt x="12511" y="17504"/>
                  </a:lnTo>
                  <a:lnTo>
                    <a:pt x="12511" y="17167"/>
                  </a:lnTo>
                  <a:lnTo>
                    <a:pt x="12877" y="16718"/>
                  </a:lnTo>
                  <a:lnTo>
                    <a:pt x="13059" y="16269"/>
                  </a:lnTo>
                  <a:lnTo>
                    <a:pt x="13151" y="15849"/>
                  </a:lnTo>
                  <a:lnTo>
                    <a:pt x="13516" y="15344"/>
                  </a:lnTo>
                  <a:lnTo>
                    <a:pt x="13790" y="14839"/>
                  </a:lnTo>
                  <a:lnTo>
                    <a:pt x="14064" y="14362"/>
                  </a:lnTo>
                  <a:lnTo>
                    <a:pt x="14338" y="13829"/>
                  </a:lnTo>
                  <a:lnTo>
                    <a:pt x="14703" y="13324"/>
                  </a:lnTo>
                  <a:lnTo>
                    <a:pt x="14795" y="12763"/>
                  </a:lnTo>
                  <a:lnTo>
                    <a:pt x="15342" y="12202"/>
                  </a:lnTo>
                  <a:lnTo>
                    <a:pt x="15616" y="11585"/>
                  </a:lnTo>
                  <a:lnTo>
                    <a:pt x="15708" y="11108"/>
                  </a:lnTo>
                  <a:lnTo>
                    <a:pt x="15890" y="10575"/>
                  </a:lnTo>
                  <a:lnTo>
                    <a:pt x="16164" y="10014"/>
                  </a:lnTo>
                  <a:lnTo>
                    <a:pt x="16438" y="9425"/>
                  </a:lnTo>
                  <a:lnTo>
                    <a:pt x="16804" y="8920"/>
                  </a:lnTo>
                  <a:lnTo>
                    <a:pt x="16895" y="8415"/>
                  </a:lnTo>
                  <a:lnTo>
                    <a:pt x="16986" y="7798"/>
                  </a:lnTo>
                  <a:lnTo>
                    <a:pt x="17169" y="7321"/>
                  </a:lnTo>
                  <a:lnTo>
                    <a:pt x="17352" y="6732"/>
                  </a:lnTo>
                  <a:lnTo>
                    <a:pt x="17443" y="6255"/>
                  </a:lnTo>
                  <a:lnTo>
                    <a:pt x="17443" y="5750"/>
                  </a:lnTo>
                  <a:lnTo>
                    <a:pt x="18082" y="5245"/>
                  </a:lnTo>
                  <a:lnTo>
                    <a:pt x="18447" y="4741"/>
                  </a:lnTo>
                  <a:lnTo>
                    <a:pt x="18539" y="4236"/>
                  </a:lnTo>
                  <a:lnTo>
                    <a:pt x="18813" y="3843"/>
                  </a:lnTo>
                  <a:lnTo>
                    <a:pt x="18995" y="3366"/>
                  </a:lnTo>
                  <a:lnTo>
                    <a:pt x="19087" y="2945"/>
                  </a:lnTo>
                  <a:lnTo>
                    <a:pt x="19361" y="2581"/>
                  </a:lnTo>
                  <a:lnTo>
                    <a:pt x="19361" y="2244"/>
                  </a:lnTo>
                  <a:lnTo>
                    <a:pt x="19452" y="1907"/>
                  </a:lnTo>
                  <a:lnTo>
                    <a:pt x="19543" y="1599"/>
                  </a:lnTo>
                  <a:lnTo>
                    <a:pt x="19817" y="1346"/>
                  </a:lnTo>
                  <a:lnTo>
                    <a:pt x="19817" y="1094"/>
                  </a:lnTo>
                  <a:lnTo>
                    <a:pt x="19909" y="87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01" name="AutoShape 15">
              <a:extLst>
                <a:ext uri="{FF2B5EF4-FFF2-40B4-BE49-F238E27FC236}">
                  <a16:creationId xmlns:a16="http://schemas.microsoft.com/office/drawing/2014/main" id="{8C18202E-70C3-7827-CF84-C80346C7D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1801"/>
              <a:ext cx="125" cy="25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98"/>
                  </a:moveTo>
                  <a:lnTo>
                    <a:pt x="192" y="18486"/>
                  </a:lnTo>
                  <a:lnTo>
                    <a:pt x="481" y="17933"/>
                  </a:lnTo>
                  <a:lnTo>
                    <a:pt x="673" y="17263"/>
                  </a:lnTo>
                  <a:lnTo>
                    <a:pt x="673" y="16681"/>
                  </a:lnTo>
                  <a:lnTo>
                    <a:pt x="962" y="16157"/>
                  </a:lnTo>
                  <a:lnTo>
                    <a:pt x="1250" y="15546"/>
                  </a:lnTo>
                  <a:lnTo>
                    <a:pt x="1442" y="14847"/>
                  </a:lnTo>
                  <a:lnTo>
                    <a:pt x="1923" y="14323"/>
                  </a:lnTo>
                  <a:lnTo>
                    <a:pt x="2212" y="13741"/>
                  </a:lnTo>
                  <a:lnTo>
                    <a:pt x="2500" y="13130"/>
                  </a:lnTo>
                  <a:lnTo>
                    <a:pt x="2500" y="12576"/>
                  </a:lnTo>
                  <a:lnTo>
                    <a:pt x="2596" y="12023"/>
                  </a:lnTo>
                  <a:lnTo>
                    <a:pt x="2885" y="11470"/>
                  </a:lnTo>
                  <a:lnTo>
                    <a:pt x="2981" y="10917"/>
                  </a:lnTo>
                  <a:lnTo>
                    <a:pt x="3269" y="10364"/>
                  </a:lnTo>
                  <a:lnTo>
                    <a:pt x="3269" y="9869"/>
                  </a:lnTo>
                  <a:lnTo>
                    <a:pt x="3654" y="9316"/>
                  </a:lnTo>
                  <a:lnTo>
                    <a:pt x="4038" y="8734"/>
                  </a:lnTo>
                  <a:lnTo>
                    <a:pt x="4231" y="8210"/>
                  </a:lnTo>
                  <a:lnTo>
                    <a:pt x="4327" y="7715"/>
                  </a:lnTo>
                  <a:lnTo>
                    <a:pt x="4615" y="7249"/>
                  </a:lnTo>
                  <a:lnTo>
                    <a:pt x="4808" y="6754"/>
                  </a:lnTo>
                  <a:lnTo>
                    <a:pt x="5096" y="6259"/>
                  </a:lnTo>
                  <a:lnTo>
                    <a:pt x="5385" y="5881"/>
                  </a:lnTo>
                  <a:lnTo>
                    <a:pt x="5481" y="5415"/>
                  </a:lnTo>
                  <a:lnTo>
                    <a:pt x="5865" y="4949"/>
                  </a:lnTo>
                  <a:lnTo>
                    <a:pt x="5865" y="4600"/>
                  </a:lnTo>
                  <a:lnTo>
                    <a:pt x="6442" y="4163"/>
                  </a:lnTo>
                  <a:lnTo>
                    <a:pt x="6635" y="3755"/>
                  </a:lnTo>
                  <a:lnTo>
                    <a:pt x="6635" y="3406"/>
                  </a:lnTo>
                  <a:lnTo>
                    <a:pt x="7115" y="3028"/>
                  </a:lnTo>
                  <a:lnTo>
                    <a:pt x="7115" y="2737"/>
                  </a:lnTo>
                  <a:lnTo>
                    <a:pt x="7500" y="2445"/>
                  </a:lnTo>
                  <a:lnTo>
                    <a:pt x="7500" y="2067"/>
                  </a:lnTo>
                  <a:lnTo>
                    <a:pt x="7500" y="1863"/>
                  </a:lnTo>
                  <a:lnTo>
                    <a:pt x="7788" y="1543"/>
                  </a:lnTo>
                  <a:lnTo>
                    <a:pt x="7885" y="1310"/>
                  </a:lnTo>
                  <a:lnTo>
                    <a:pt x="8462" y="1077"/>
                  </a:lnTo>
                  <a:lnTo>
                    <a:pt x="8462" y="902"/>
                  </a:lnTo>
                  <a:lnTo>
                    <a:pt x="8846" y="640"/>
                  </a:lnTo>
                  <a:lnTo>
                    <a:pt x="8942" y="524"/>
                  </a:lnTo>
                  <a:lnTo>
                    <a:pt x="9135" y="437"/>
                  </a:lnTo>
                  <a:lnTo>
                    <a:pt x="9327" y="175"/>
                  </a:lnTo>
                  <a:lnTo>
                    <a:pt x="9327" y="146"/>
                  </a:lnTo>
                  <a:lnTo>
                    <a:pt x="9712" y="116"/>
                  </a:lnTo>
                  <a:lnTo>
                    <a:pt x="10192" y="29"/>
                  </a:lnTo>
                  <a:lnTo>
                    <a:pt x="10385" y="0"/>
                  </a:lnTo>
                  <a:lnTo>
                    <a:pt x="10673" y="29"/>
                  </a:lnTo>
                  <a:lnTo>
                    <a:pt x="10769" y="29"/>
                  </a:lnTo>
                  <a:lnTo>
                    <a:pt x="10865" y="116"/>
                  </a:lnTo>
                  <a:lnTo>
                    <a:pt x="11058" y="146"/>
                  </a:lnTo>
                  <a:lnTo>
                    <a:pt x="11442" y="408"/>
                  </a:lnTo>
                  <a:lnTo>
                    <a:pt x="11538" y="524"/>
                  </a:lnTo>
                  <a:lnTo>
                    <a:pt x="12115" y="815"/>
                  </a:lnTo>
                  <a:lnTo>
                    <a:pt x="12212" y="990"/>
                  </a:lnTo>
                  <a:lnTo>
                    <a:pt x="12500" y="1252"/>
                  </a:lnTo>
                  <a:lnTo>
                    <a:pt x="12500" y="1543"/>
                  </a:lnTo>
                  <a:lnTo>
                    <a:pt x="12500" y="1863"/>
                  </a:lnTo>
                  <a:lnTo>
                    <a:pt x="12885" y="2300"/>
                  </a:lnTo>
                  <a:lnTo>
                    <a:pt x="12885" y="2737"/>
                  </a:lnTo>
                  <a:lnTo>
                    <a:pt x="13365" y="3086"/>
                  </a:lnTo>
                  <a:lnTo>
                    <a:pt x="13365" y="3493"/>
                  </a:lnTo>
                  <a:lnTo>
                    <a:pt x="13558" y="3959"/>
                  </a:lnTo>
                  <a:lnTo>
                    <a:pt x="14135" y="4425"/>
                  </a:lnTo>
                  <a:lnTo>
                    <a:pt x="14231" y="4920"/>
                  </a:lnTo>
                  <a:lnTo>
                    <a:pt x="14519" y="5531"/>
                  </a:lnTo>
                  <a:lnTo>
                    <a:pt x="14808" y="5997"/>
                  </a:lnTo>
                  <a:lnTo>
                    <a:pt x="15096" y="6579"/>
                  </a:lnTo>
                  <a:lnTo>
                    <a:pt x="15192" y="7045"/>
                  </a:lnTo>
                  <a:lnTo>
                    <a:pt x="15385" y="7598"/>
                  </a:lnTo>
                  <a:lnTo>
                    <a:pt x="15673" y="8180"/>
                  </a:lnTo>
                  <a:lnTo>
                    <a:pt x="15865" y="8734"/>
                  </a:lnTo>
                  <a:lnTo>
                    <a:pt x="16058" y="9316"/>
                  </a:lnTo>
                  <a:lnTo>
                    <a:pt x="16346" y="9898"/>
                  </a:lnTo>
                  <a:lnTo>
                    <a:pt x="16731" y="10509"/>
                  </a:lnTo>
                  <a:lnTo>
                    <a:pt x="16731" y="11063"/>
                  </a:lnTo>
                  <a:lnTo>
                    <a:pt x="17019" y="11616"/>
                  </a:lnTo>
                  <a:lnTo>
                    <a:pt x="17212" y="12227"/>
                  </a:lnTo>
                  <a:lnTo>
                    <a:pt x="17404" y="12751"/>
                  </a:lnTo>
                  <a:lnTo>
                    <a:pt x="17500" y="13333"/>
                  </a:lnTo>
                  <a:lnTo>
                    <a:pt x="17500" y="13799"/>
                  </a:lnTo>
                  <a:lnTo>
                    <a:pt x="17788" y="14381"/>
                  </a:lnTo>
                  <a:lnTo>
                    <a:pt x="17788" y="14905"/>
                  </a:lnTo>
                  <a:lnTo>
                    <a:pt x="18462" y="15400"/>
                  </a:lnTo>
                  <a:lnTo>
                    <a:pt x="18558" y="15895"/>
                  </a:lnTo>
                  <a:lnTo>
                    <a:pt x="18750" y="16361"/>
                  </a:lnTo>
                  <a:lnTo>
                    <a:pt x="18942" y="16827"/>
                  </a:lnTo>
                  <a:lnTo>
                    <a:pt x="19038" y="17263"/>
                  </a:lnTo>
                  <a:lnTo>
                    <a:pt x="19327" y="17729"/>
                  </a:lnTo>
                  <a:lnTo>
                    <a:pt x="19327" y="18137"/>
                  </a:lnTo>
                  <a:lnTo>
                    <a:pt x="19423" y="18515"/>
                  </a:lnTo>
                  <a:lnTo>
                    <a:pt x="19519" y="18865"/>
                  </a:lnTo>
                  <a:lnTo>
                    <a:pt x="19615" y="19156"/>
                  </a:lnTo>
                  <a:lnTo>
                    <a:pt x="19808" y="19476"/>
                  </a:lnTo>
                  <a:lnTo>
                    <a:pt x="19904" y="19825"/>
                  </a:lnTo>
                  <a:lnTo>
                    <a:pt x="19904" y="19971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02" name="AutoShape 16">
              <a:extLst>
                <a:ext uri="{FF2B5EF4-FFF2-40B4-BE49-F238E27FC236}">
                  <a16:creationId xmlns:a16="http://schemas.microsoft.com/office/drawing/2014/main" id="{95805F00-64D6-6129-24DE-07F331F19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5" y="2041"/>
              <a:ext cx="131" cy="25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83" y="606"/>
                  </a:lnTo>
                  <a:lnTo>
                    <a:pt x="365" y="1303"/>
                  </a:lnTo>
                  <a:lnTo>
                    <a:pt x="548" y="1939"/>
                  </a:lnTo>
                  <a:lnTo>
                    <a:pt x="639" y="2515"/>
                  </a:lnTo>
                  <a:lnTo>
                    <a:pt x="913" y="3152"/>
                  </a:lnTo>
                  <a:lnTo>
                    <a:pt x="1187" y="3697"/>
                  </a:lnTo>
                  <a:lnTo>
                    <a:pt x="1187" y="4364"/>
                  </a:lnTo>
                  <a:lnTo>
                    <a:pt x="1461" y="4970"/>
                  </a:lnTo>
                  <a:lnTo>
                    <a:pt x="1553" y="5545"/>
                  </a:lnTo>
                  <a:lnTo>
                    <a:pt x="2374" y="6182"/>
                  </a:lnTo>
                  <a:lnTo>
                    <a:pt x="2557" y="6818"/>
                  </a:lnTo>
                  <a:lnTo>
                    <a:pt x="2557" y="7333"/>
                  </a:lnTo>
                  <a:lnTo>
                    <a:pt x="2648" y="7909"/>
                  </a:lnTo>
                  <a:lnTo>
                    <a:pt x="2831" y="8515"/>
                  </a:lnTo>
                  <a:lnTo>
                    <a:pt x="3014" y="9000"/>
                  </a:lnTo>
                  <a:lnTo>
                    <a:pt x="3105" y="9576"/>
                  </a:lnTo>
                  <a:lnTo>
                    <a:pt x="3105" y="10152"/>
                  </a:lnTo>
                  <a:lnTo>
                    <a:pt x="3470" y="10636"/>
                  </a:lnTo>
                  <a:lnTo>
                    <a:pt x="3653" y="11182"/>
                  </a:lnTo>
                  <a:lnTo>
                    <a:pt x="3927" y="11697"/>
                  </a:lnTo>
                  <a:lnTo>
                    <a:pt x="4110" y="12182"/>
                  </a:lnTo>
                  <a:lnTo>
                    <a:pt x="4292" y="12667"/>
                  </a:lnTo>
                  <a:lnTo>
                    <a:pt x="4384" y="13152"/>
                  </a:lnTo>
                  <a:lnTo>
                    <a:pt x="4566" y="13636"/>
                  </a:lnTo>
                  <a:lnTo>
                    <a:pt x="4840" y="14121"/>
                  </a:lnTo>
                  <a:lnTo>
                    <a:pt x="5205" y="14485"/>
                  </a:lnTo>
                  <a:lnTo>
                    <a:pt x="5479" y="15030"/>
                  </a:lnTo>
                  <a:lnTo>
                    <a:pt x="5662" y="15455"/>
                  </a:lnTo>
                  <a:lnTo>
                    <a:pt x="5753" y="15879"/>
                  </a:lnTo>
                  <a:lnTo>
                    <a:pt x="6210" y="16182"/>
                  </a:lnTo>
                  <a:lnTo>
                    <a:pt x="6301" y="16606"/>
                  </a:lnTo>
                  <a:lnTo>
                    <a:pt x="6575" y="17000"/>
                  </a:lnTo>
                  <a:lnTo>
                    <a:pt x="6849" y="17333"/>
                  </a:lnTo>
                  <a:lnTo>
                    <a:pt x="6941" y="17576"/>
                  </a:lnTo>
                  <a:lnTo>
                    <a:pt x="7123" y="17939"/>
                  </a:lnTo>
                  <a:lnTo>
                    <a:pt x="7215" y="18152"/>
                  </a:lnTo>
                  <a:lnTo>
                    <a:pt x="7489" y="18485"/>
                  </a:lnTo>
                  <a:lnTo>
                    <a:pt x="7489" y="18697"/>
                  </a:lnTo>
                  <a:lnTo>
                    <a:pt x="7580" y="18909"/>
                  </a:lnTo>
                  <a:lnTo>
                    <a:pt x="7763" y="19121"/>
                  </a:lnTo>
                  <a:lnTo>
                    <a:pt x="8037" y="19364"/>
                  </a:lnTo>
                  <a:lnTo>
                    <a:pt x="8584" y="19485"/>
                  </a:lnTo>
                  <a:lnTo>
                    <a:pt x="8676" y="19576"/>
                  </a:lnTo>
                  <a:lnTo>
                    <a:pt x="8950" y="19818"/>
                  </a:lnTo>
                  <a:lnTo>
                    <a:pt x="9041" y="19848"/>
                  </a:lnTo>
                  <a:lnTo>
                    <a:pt x="9224" y="19879"/>
                  </a:lnTo>
                  <a:lnTo>
                    <a:pt x="9406" y="19970"/>
                  </a:lnTo>
                  <a:lnTo>
                    <a:pt x="9589" y="19970"/>
                  </a:lnTo>
                  <a:lnTo>
                    <a:pt x="9772" y="19970"/>
                  </a:lnTo>
                  <a:lnTo>
                    <a:pt x="10228" y="19879"/>
                  </a:lnTo>
                  <a:lnTo>
                    <a:pt x="10411" y="19848"/>
                  </a:lnTo>
                  <a:lnTo>
                    <a:pt x="10594" y="19818"/>
                  </a:lnTo>
                  <a:lnTo>
                    <a:pt x="10776" y="19485"/>
                  </a:lnTo>
                  <a:lnTo>
                    <a:pt x="10959" y="19364"/>
                  </a:lnTo>
                  <a:lnTo>
                    <a:pt x="11324" y="19061"/>
                  </a:lnTo>
                  <a:lnTo>
                    <a:pt x="11324" y="18848"/>
                  </a:lnTo>
                  <a:lnTo>
                    <a:pt x="11963" y="18515"/>
                  </a:lnTo>
                  <a:lnTo>
                    <a:pt x="12237" y="18212"/>
                  </a:lnTo>
                  <a:lnTo>
                    <a:pt x="12420" y="17939"/>
                  </a:lnTo>
                  <a:lnTo>
                    <a:pt x="12511" y="17485"/>
                  </a:lnTo>
                  <a:lnTo>
                    <a:pt x="12511" y="17152"/>
                  </a:lnTo>
                  <a:lnTo>
                    <a:pt x="12877" y="16667"/>
                  </a:lnTo>
                  <a:lnTo>
                    <a:pt x="13059" y="16303"/>
                  </a:lnTo>
                  <a:lnTo>
                    <a:pt x="13151" y="15879"/>
                  </a:lnTo>
                  <a:lnTo>
                    <a:pt x="13516" y="15394"/>
                  </a:lnTo>
                  <a:lnTo>
                    <a:pt x="13790" y="14879"/>
                  </a:lnTo>
                  <a:lnTo>
                    <a:pt x="14064" y="14333"/>
                  </a:lnTo>
                  <a:lnTo>
                    <a:pt x="14338" y="13818"/>
                  </a:lnTo>
                  <a:lnTo>
                    <a:pt x="14703" y="13333"/>
                  </a:lnTo>
                  <a:lnTo>
                    <a:pt x="14795" y="12818"/>
                  </a:lnTo>
                  <a:lnTo>
                    <a:pt x="15342" y="12182"/>
                  </a:lnTo>
                  <a:lnTo>
                    <a:pt x="15616" y="11636"/>
                  </a:lnTo>
                  <a:lnTo>
                    <a:pt x="15708" y="11091"/>
                  </a:lnTo>
                  <a:lnTo>
                    <a:pt x="15890" y="10545"/>
                  </a:lnTo>
                  <a:lnTo>
                    <a:pt x="16164" y="10000"/>
                  </a:lnTo>
                  <a:lnTo>
                    <a:pt x="16438" y="9455"/>
                  </a:lnTo>
                  <a:lnTo>
                    <a:pt x="16804" y="8939"/>
                  </a:lnTo>
                  <a:lnTo>
                    <a:pt x="16895" y="8394"/>
                  </a:lnTo>
                  <a:lnTo>
                    <a:pt x="16986" y="7818"/>
                  </a:lnTo>
                  <a:lnTo>
                    <a:pt x="17169" y="7333"/>
                  </a:lnTo>
                  <a:lnTo>
                    <a:pt x="17352" y="6818"/>
                  </a:lnTo>
                  <a:lnTo>
                    <a:pt x="17443" y="6182"/>
                  </a:lnTo>
                  <a:lnTo>
                    <a:pt x="17443" y="5758"/>
                  </a:lnTo>
                  <a:lnTo>
                    <a:pt x="18082" y="5182"/>
                  </a:lnTo>
                  <a:lnTo>
                    <a:pt x="18447" y="4697"/>
                  </a:lnTo>
                  <a:lnTo>
                    <a:pt x="18539" y="4273"/>
                  </a:lnTo>
                  <a:lnTo>
                    <a:pt x="18813" y="3848"/>
                  </a:lnTo>
                  <a:lnTo>
                    <a:pt x="18995" y="3394"/>
                  </a:lnTo>
                  <a:lnTo>
                    <a:pt x="19087" y="2970"/>
                  </a:lnTo>
                  <a:lnTo>
                    <a:pt x="19361" y="2545"/>
                  </a:lnTo>
                  <a:lnTo>
                    <a:pt x="19361" y="2333"/>
                  </a:lnTo>
                  <a:lnTo>
                    <a:pt x="19452" y="1939"/>
                  </a:lnTo>
                  <a:lnTo>
                    <a:pt x="19543" y="1576"/>
                  </a:lnTo>
                  <a:lnTo>
                    <a:pt x="19817" y="1364"/>
                  </a:lnTo>
                  <a:lnTo>
                    <a:pt x="19817" y="1091"/>
                  </a:lnTo>
                  <a:lnTo>
                    <a:pt x="19909" y="879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03" name="AutoShape 17">
              <a:extLst>
                <a:ext uri="{FF2B5EF4-FFF2-40B4-BE49-F238E27FC236}">
                  <a16:creationId xmlns:a16="http://schemas.microsoft.com/office/drawing/2014/main" id="{47EED300-FB31-91DF-A5ED-E518E0018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" y="1874"/>
              <a:ext cx="124" cy="18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8990"/>
                  </a:moveTo>
                  <a:lnTo>
                    <a:pt x="192" y="18465"/>
                  </a:lnTo>
                  <a:lnTo>
                    <a:pt x="481" y="17899"/>
                  </a:lnTo>
                  <a:lnTo>
                    <a:pt x="673" y="17414"/>
                  </a:lnTo>
                  <a:lnTo>
                    <a:pt x="673" y="16646"/>
                  </a:lnTo>
                  <a:lnTo>
                    <a:pt x="962" y="16040"/>
                  </a:lnTo>
                  <a:lnTo>
                    <a:pt x="1250" y="15515"/>
                  </a:lnTo>
                  <a:lnTo>
                    <a:pt x="1442" y="14949"/>
                  </a:lnTo>
                  <a:lnTo>
                    <a:pt x="1923" y="14263"/>
                  </a:lnTo>
                  <a:lnTo>
                    <a:pt x="2212" y="13778"/>
                  </a:lnTo>
                  <a:lnTo>
                    <a:pt x="2500" y="13212"/>
                  </a:lnTo>
                  <a:lnTo>
                    <a:pt x="2500" y="12566"/>
                  </a:lnTo>
                  <a:lnTo>
                    <a:pt x="2596" y="12000"/>
                  </a:lnTo>
                  <a:lnTo>
                    <a:pt x="2885" y="11354"/>
                  </a:lnTo>
                  <a:lnTo>
                    <a:pt x="2981" y="10788"/>
                  </a:lnTo>
                  <a:lnTo>
                    <a:pt x="3269" y="10263"/>
                  </a:lnTo>
                  <a:lnTo>
                    <a:pt x="3269" y="9818"/>
                  </a:lnTo>
                  <a:lnTo>
                    <a:pt x="3654" y="9333"/>
                  </a:lnTo>
                  <a:lnTo>
                    <a:pt x="4038" y="8727"/>
                  </a:lnTo>
                  <a:lnTo>
                    <a:pt x="4231" y="8283"/>
                  </a:lnTo>
                  <a:lnTo>
                    <a:pt x="4327" y="7798"/>
                  </a:lnTo>
                  <a:lnTo>
                    <a:pt x="4615" y="7313"/>
                  </a:lnTo>
                  <a:lnTo>
                    <a:pt x="4808" y="6788"/>
                  </a:lnTo>
                  <a:lnTo>
                    <a:pt x="5096" y="6343"/>
                  </a:lnTo>
                  <a:lnTo>
                    <a:pt x="5385" y="5899"/>
                  </a:lnTo>
                  <a:lnTo>
                    <a:pt x="5481" y="5495"/>
                  </a:lnTo>
                  <a:lnTo>
                    <a:pt x="5865" y="5010"/>
                  </a:lnTo>
                  <a:lnTo>
                    <a:pt x="5865" y="4485"/>
                  </a:lnTo>
                  <a:lnTo>
                    <a:pt x="6442" y="4242"/>
                  </a:lnTo>
                  <a:lnTo>
                    <a:pt x="6635" y="3758"/>
                  </a:lnTo>
                  <a:lnTo>
                    <a:pt x="6635" y="3394"/>
                  </a:lnTo>
                  <a:lnTo>
                    <a:pt x="7115" y="3030"/>
                  </a:lnTo>
                  <a:lnTo>
                    <a:pt x="7115" y="2586"/>
                  </a:lnTo>
                  <a:lnTo>
                    <a:pt x="7500" y="2384"/>
                  </a:lnTo>
                  <a:lnTo>
                    <a:pt x="7500" y="2101"/>
                  </a:lnTo>
                  <a:lnTo>
                    <a:pt x="7500" y="1818"/>
                  </a:lnTo>
                  <a:lnTo>
                    <a:pt x="7788" y="1576"/>
                  </a:lnTo>
                  <a:lnTo>
                    <a:pt x="7885" y="1374"/>
                  </a:lnTo>
                  <a:lnTo>
                    <a:pt x="8462" y="1051"/>
                  </a:lnTo>
                  <a:lnTo>
                    <a:pt x="8462" y="889"/>
                  </a:lnTo>
                  <a:lnTo>
                    <a:pt x="8846" y="646"/>
                  </a:lnTo>
                  <a:lnTo>
                    <a:pt x="8942" y="444"/>
                  </a:lnTo>
                  <a:lnTo>
                    <a:pt x="9135" y="404"/>
                  </a:lnTo>
                  <a:lnTo>
                    <a:pt x="9327" y="202"/>
                  </a:lnTo>
                  <a:lnTo>
                    <a:pt x="9327" y="162"/>
                  </a:lnTo>
                  <a:lnTo>
                    <a:pt x="9712" y="162"/>
                  </a:lnTo>
                  <a:lnTo>
                    <a:pt x="10192" y="40"/>
                  </a:lnTo>
                  <a:lnTo>
                    <a:pt x="10385" y="0"/>
                  </a:lnTo>
                  <a:lnTo>
                    <a:pt x="10673" y="40"/>
                  </a:lnTo>
                  <a:lnTo>
                    <a:pt x="10769" y="40"/>
                  </a:lnTo>
                  <a:lnTo>
                    <a:pt x="10865" y="162"/>
                  </a:lnTo>
                  <a:lnTo>
                    <a:pt x="11058" y="202"/>
                  </a:lnTo>
                  <a:lnTo>
                    <a:pt x="11442" y="404"/>
                  </a:lnTo>
                  <a:lnTo>
                    <a:pt x="11538" y="444"/>
                  </a:lnTo>
                  <a:lnTo>
                    <a:pt x="12115" y="808"/>
                  </a:lnTo>
                  <a:lnTo>
                    <a:pt x="12212" y="1010"/>
                  </a:lnTo>
                  <a:lnTo>
                    <a:pt x="12500" y="1293"/>
                  </a:lnTo>
                  <a:lnTo>
                    <a:pt x="12500" y="1576"/>
                  </a:lnTo>
                  <a:lnTo>
                    <a:pt x="12500" y="1859"/>
                  </a:lnTo>
                  <a:lnTo>
                    <a:pt x="12885" y="2263"/>
                  </a:lnTo>
                  <a:lnTo>
                    <a:pt x="12885" y="2586"/>
                  </a:lnTo>
                  <a:lnTo>
                    <a:pt x="13365" y="3152"/>
                  </a:lnTo>
                  <a:lnTo>
                    <a:pt x="13365" y="3556"/>
                  </a:lnTo>
                  <a:lnTo>
                    <a:pt x="13558" y="4000"/>
                  </a:lnTo>
                  <a:lnTo>
                    <a:pt x="14135" y="4404"/>
                  </a:lnTo>
                  <a:lnTo>
                    <a:pt x="14231" y="4929"/>
                  </a:lnTo>
                  <a:lnTo>
                    <a:pt x="14519" y="5495"/>
                  </a:lnTo>
                  <a:lnTo>
                    <a:pt x="14808" y="5980"/>
                  </a:lnTo>
                  <a:lnTo>
                    <a:pt x="15096" y="6384"/>
                  </a:lnTo>
                  <a:lnTo>
                    <a:pt x="15192" y="7071"/>
                  </a:lnTo>
                  <a:lnTo>
                    <a:pt x="15385" y="7717"/>
                  </a:lnTo>
                  <a:lnTo>
                    <a:pt x="15673" y="8162"/>
                  </a:lnTo>
                  <a:lnTo>
                    <a:pt x="15865" y="8727"/>
                  </a:lnTo>
                  <a:lnTo>
                    <a:pt x="16058" y="9333"/>
                  </a:lnTo>
                  <a:lnTo>
                    <a:pt x="16346" y="9939"/>
                  </a:lnTo>
                  <a:lnTo>
                    <a:pt x="16731" y="10384"/>
                  </a:lnTo>
                  <a:lnTo>
                    <a:pt x="16731" y="11071"/>
                  </a:lnTo>
                  <a:lnTo>
                    <a:pt x="17019" y="11677"/>
                  </a:lnTo>
                  <a:lnTo>
                    <a:pt x="17212" y="12162"/>
                  </a:lnTo>
                  <a:lnTo>
                    <a:pt x="17404" y="12687"/>
                  </a:lnTo>
                  <a:lnTo>
                    <a:pt x="17500" y="13212"/>
                  </a:lnTo>
                  <a:lnTo>
                    <a:pt x="17500" y="13859"/>
                  </a:lnTo>
                  <a:lnTo>
                    <a:pt x="17788" y="14343"/>
                  </a:lnTo>
                  <a:lnTo>
                    <a:pt x="17788" y="14949"/>
                  </a:lnTo>
                  <a:lnTo>
                    <a:pt x="18462" y="15515"/>
                  </a:lnTo>
                  <a:lnTo>
                    <a:pt x="18558" y="15919"/>
                  </a:lnTo>
                  <a:lnTo>
                    <a:pt x="18750" y="16444"/>
                  </a:lnTo>
                  <a:lnTo>
                    <a:pt x="18942" y="16848"/>
                  </a:lnTo>
                  <a:lnTo>
                    <a:pt x="19038" y="17414"/>
                  </a:lnTo>
                  <a:lnTo>
                    <a:pt x="19327" y="17737"/>
                  </a:lnTo>
                  <a:lnTo>
                    <a:pt x="19327" y="18182"/>
                  </a:lnTo>
                  <a:lnTo>
                    <a:pt x="19423" y="18465"/>
                  </a:lnTo>
                  <a:lnTo>
                    <a:pt x="19519" y="18949"/>
                  </a:lnTo>
                  <a:lnTo>
                    <a:pt x="19615" y="19152"/>
                  </a:lnTo>
                  <a:lnTo>
                    <a:pt x="19808" y="19556"/>
                  </a:lnTo>
                  <a:lnTo>
                    <a:pt x="19904" y="19798"/>
                  </a:lnTo>
                  <a:lnTo>
                    <a:pt x="19904" y="1996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04" name="AutoShape 18">
              <a:extLst>
                <a:ext uri="{FF2B5EF4-FFF2-40B4-BE49-F238E27FC236}">
                  <a16:creationId xmlns:a16="http://schemas.microsoft.com/office/drawing/2014/main" id="{930A6571-396C-0A73-71DA-A8A3E20DD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2047"/>
              <a:ext cx="131" cy="16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83" y="626"/>
                  </a:lnTo>
                  <a:lnTo>
                    <a:pt x="365" y="1336"/>
                  </a:lnTo>
                  <a:lnTo>
                    <a:pt x="548" y="1879"/>
                  </a:lnTo>
                  <a:lnTo>
                    <a:pt x="639" y="2463"/>
                  </a:lnTo>
                  <a:lnTo>
                    <a:pt x="913" y="3090"/>
                  </a:lnTo>
                  <a:lnTo>
                    <a:pt x="1187" y="3674"/>
                  </a:lnTo>
                  <a:lnTo>
                    <a:pt x="1187" y="4342"/>
                  </a:lnTo>
                  <a:lnTo>
                    <a:pt x="1461" y="5010"/>
                  </a:lnTo>
                  <a:lnTo>
                    <a:pt x="1553" y="5553"/>
                  </a:lnTo>
                  <a:lnTo>
                    <a:pt x="2374" y="6138"/>
                  </a:lnTo>
                  <a:lnTo>
                    <a:pt x="2557" y="6597"/>
                  </a:lnTo>
                  <a:lnTo>
                    <a:pt x="2557" y="7432"/>
                  </a:lnTo>
                  <a:lnTo>
                    <a:pt x="2648" y="7933"/>
                  </a:lnTo>
                  <a:lnTo>
                    <a:pt x="2831" y="8476"/>
                  </a:lnTo>
                  <a:lnTo>
                    <a:pt x="3014" y="8977"/>
                  </a:lnTo>
                  <a:lnTo>
                    <a:pt x="3105" y="9603"/>
                  </a:lnTo>
                  <a:lnTo>
                    <a:pt x="3105" y="10104"/>
                  </a:lnTo>
                  <a:lnTo>
                    <a:pt x="3470" y="10564"/>
                  </a:lnTo>
                  <a:lnTo>
                    <a:pt x="3653" y="11148"/>
                  </a:lnTo>
                  <a:lnTo>
                    <a:pt x="3927" y="11649"/>
                  </a:lnTo>
                  <a:lnTo>
                    <a:pt x="4110" y="12150"/>
                  </a:lnTo>
                  <a:lnTo>
                    <a:pt x="4292" y="12568"/>
                  </a:lnTo>
                  <a:lnTo>
                    <a:pt x="4384" y="13111"/>
                  </a:lnTo>
                  <a:lnTo>
                    <a:pt x="4566" y="13653"/>
                  </a:lnTo>
                  <a:lnTo>
                    <a:pt x="4840" y="14113"/>
                  </a:lnTo>
                  <a:lnTo>
                    <a:pt x="5205" y="14530"/>
                  </a:lnTo>
                  <a:lnTo>
                    <a:pt x="5479" y="15031"/>
                  </a:lnTo>
                  <a:lnTo>
                    <a:pt x="5662" y="15574"/>
                  </a:lnTo>
                  <a:lnTo>
                    <a:pt x="5753" y="15866"/>
                  </a:lnTo>
                  <a:lnTo>
                    <a:pt x="6210" y="16200"/>
                  </a:lnTo>
                  <a:lnTo>
                    <a:pt x="6301" y="16576"/>
                  </a:lnTo>
                  <a:lnTo>
                    <a:pt x="6575" y="16952"/>
                  </a:lnTo>
                  <a:lnTo>
                    <a:pt x="6849" y="17328"/>
                  </a:lnTo>
                  <a:lnTo>
                    <a:pt x="6941" y="17620"/>
                  </a:lnTo>
                  <a:lnTo>
                    <a:pt x="7123" y="17871"/>
                  </a:lnTo>
                  <a:lnTo>
                    <a:pt x="7215" y="18121"/>
                  </a:lnTo>
                  <a:lnTo>
                    <a:pt x="7489" y="18413"/>
                  </a:lnTo>
                  <a:lnTo>
                    <a:pt x="7489" y="18664"/>
                  </a:lnTo>
                  <a:lnTo>
                    <a:pt x="7580" y="18956"/>
                  </a:lnTo>
                  <a:lnTo>
                    <a:pt x="7763" y="19123"/>
                  </a:lnTo>
                  <a:lnTo>
                    <a:pt x="8037" y="19332"/>
                  </a:lnTo>
                  <a:lnTo>
                    <a:pt x="8584" y="19541"/>
                  </a:lnTo>
                  <a:lnTo>
                    <a:pt x="8676" y="19582"/>
                  </a:lnTo>
                  <a:lnTo>
                    <a:pt x="8950" y="19791"/>
                  </a:lnTo>
                  <a:lnTo>
                    <a:pt x="9041" y="19833"/>
                  </a:lnTo>
                  <a:lnTo>
                    <a:pt x="9224" y="19833"/>
                  </a:lnTo>
                  <a:lnTo>
                    <a:pt x="9406" y="19958"/>
                  </a:lnTo>
                  <a:lnTo>
                    <a:pt x="9589" y="19958"/>
                  </a:lnTo>
                  <a:lnTo>
                    <a:pt x="9772" y="19958"/>
                  </a:lnTo>
                  <a:lnTo>
                    <a:pt x="10228" y="19833"/>
                  </a:lnTo>
                  <a:lnTo>
                    <a:pt x="10411" y="19833"/>
                  </a:lnTo>
                  <a:lnTo>
                    <a:pt x="10594" y="19582"/>
                  </a:lnTo>
                  <a:lnTo>
                    <a:pt x="10776" y="19582"/>
                  </a:lnTo>
                  <a:lnTo>
                    <a:pt x="10959" y="19332"/>
                  </a:lnTo>
                  <a:lnTo>
                    <a:pt x="11324" y="19081"/>
                  </a:lnTo>
                  <a:lnTo>
                    <a:pt x="11324" y="18914"/>
                  </a:lnTo>
                  <a:lnTo>
                    <a:pt x="11963" y="18455"/>
                  </a:lnTo>
                  <a:lnTo>
                    <a:pt x="12237" y="18330"/>
                  </a:lnTo>
                  <a:lnTo>
                    <a:pt x="12420" y="17829"/>
                  </a:lnTo>
                  <a:lnTo>
                    <a:pt x="12511" y="17537"/>
                  </a:lnTo>
                  <a:lnTo>
                    <a:pt x="12511" y="17161"/>
                  </a:lnTo>
                  <a:lnTo>
                    <a:pt x="12877" y="16660"/>
                  </a:lnTo>
                  <a:lnTo>
                    <a:pt x="13059" y="16326"/>
                  </a:lnTo>
                  <a:lnTo>
                    <a:pt x="13151" y="15866"/>
                  </a:lnTo>
                  <a:lnTo>
                    <a:pt x="13516" y="15407"/>
                  </a:lnTo>
                  <a:lnTo>
                    <a:pt x="13790" y="14906"/>
                  </a:lnTo>
                  <a:lnTo>
                    <a:pt x="14064" y="14363"/>
                  </a:lnTo>
                  <a:lnTo>
                    <a:pt x="14338" y="13862"/>
                  </a:lnTo>
                  <a:lnTo>
                    <a:pt x="14703" y="13403"/>
                  </a:lnTo>
                  <a:lnTo>
                    <a:pt x="14795" y="12818"/>
                  </a:lnTo>
                  <a:lnTo>
                    <a:pt x="15342" y="12150"/>
                  </a:lnTo>
                  <a:lnTo>
                    <a:pt x="15616" y="11649"/>
                  </a:lnTo>
                  <a:lnTo>
                    <a:pt x="15708" y="11023"/>
                  </a:lnTo>
                  <a:lnTo>
                    <a:pt x="15890" y="10522"/>
                  </a:lnTo>
                  <a:lnTo>
                    <a:pt x="16164" y="10021"/>
                  </a:lnTo>
                  <a:lnTo>
                    <a:pt x="16438" y="9478"/>
                  </a:lnTo>
                  <a:lnTo>
                    <a:pt x="16804" y="8977"/>
                  </a:lnTo>
                  <a:lnTo>
                    <a:pt x="16895" y="8351"/>
                  </a:lnTo>
                  <a:lnTo>
                    <a:pt x="16986" y="7850"/>
                  </a:lnTo>
                  <a:lnTo>
                    <a:pt x="17169" y="7432"/>
                  </a:lnTo>
                  <a:lnTo>
                    <a:pt x="17352" y="6806"/>
                  </a:lnTo>
                  <a:lnTo>
                    <a:pt x="17443" y="6180"/>
                  </a:lnTo>
                  <a:lnTo>
                    <a:pt x="17443" y="5637"/>
                  </a:lnTo>
                  <a:lnTo>
                    <a:pt x="18082" y="5177"/>
                  </a:lnTo>
                  <a:lnTo>
                    <a:pt x="18447" y="4635"/>
                  </a:lnTo>
                  <a:lnTo>
                    <a:pt x="18539" y="4342"/>
                  </a:lnTo>
                  <a:lnTo>
                    <a:pt x="18813" y="3841"/>
                  </a:lnTo>
                  <a:lnTo>
                    <a:pt x="18995" y="3424"/>
                  </a:lnTo>
                  <a:lnTo>
                    <a:pt x="19087" y="3048"/>
                  </a:lnTo>
                  <a:lnTo>
                    <a:pt x="19361" y="2630"/>
                  </a:lnTo>
                  <a:lnTo>
                    <a:pt x="19361" y="2213"/>
                  </a:lnTo>
                  <a:lnTo>
                    <a:pt x="19452" y="1879"/>
                  </a:lnTo>
                  <a:lnTo>
                    <a:pt x="19543" y="1628"/>
                  </a:lnTo>
                  <a:lnTo>
                    <a:pt x="19817" y="1420"/>
                  </a:lnTo>
                  <a:lnTo>
                    <a:pt x="19817" y="1044"/>
                  </a:lnTo>
                  <a:lnTo>
                    <a:pt x="19909" y="877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05" name="AutoShape 19">
              <a:extLst>
                <a:ext uri="{FF2B5EF4-FFF2-40B4-BE49-F238E27FC236}">
                  <a16:creationId xmlns:a16="http://schemas.microsoft.com/office/drawing/2014/main" id="{202747B4-E981-48E8-0D96-FC62A6B69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1972"/>
              <a:ext cx="124" cy="8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8940"/>
                  </a:moveTo>
                  <a:lnTo>
                    <a:pt x="192" y="18445"/>
                  </a:lnTo>
                  <a:lnTo>
                    <a:pt x="481" y="17809"/>
                  </a:lnTo>
                  <a:lnTo>
                    <a:pt x="673" y="17244"/>
                  </a:lnTo>
                  <a:lnTo>
                    <a:pt x="673" y="16678"/>
                  </a:lnTo>
                  <a:lnTo>
                    <a:pt x="962" y="16042"/>
                  </a:lnTo>
                  <a:lnTo>
                    <a:pt x="1250" y="15477"/>
                  </a:lnTo>
                  <a:lnTo>
                    <a:pt x="1442" y="14982"/>
                  </a:lnTo>
                  <a:lnTo>
                    <a:pt x="1923" y="14417"/>
                  </a:lnTo>
                  <a:lnTo>
                    <a:pt x="2212" y="13710"/>
                  </a:lnTo>
                  <a:lnTo>
                    <a:pt x="2500" y="13286"/>
                  </a:lnTo>
                  <a:lnTo>
                    <a:pt x="2500" y="12580"/>
                  </a:lnTo>
                  <a:lnTo>
                    <a:pt x="2596" y="11943"/>
                  </a:lnTo>
                  <a:lnTo>
                    <a:pt x="2885" y="11449"/>
                  </a:lnTo>
                  <a:lnTo>
                    <a:pt x="2981" y="10813"/>
                  </a:lnTo>
                  <a:lnTo>
                    <a:pt x="3269" y="10247"/>
                  </a:lnTo>
                  <a:lnTo>
                    <a:pt x="3269" y="9894"/>
                  </a:lnTo>
                  <a:lnTo>
                    <a:pt x="3654" y="9399"/>
                  </a:lnTo>
                  <a:lnTo>
                    <a:pt x="4038" y="8693"/>
                  </a:lnTo>
                  <a:lnTo>
                    <a:pt x="4231" y="8269"/>
                  </a:lnTo>
                  <a:lnTo>
                    <a:pt x="4327" y="7774"/>
                  </a:lnTo>
                  <a:lnTo>
                    <a:pt x="4615" y="7279"/>
                  </a:lnTo>
                  <a:lnTo>
                    <a:pt x="4808" y="6714"/>
                  </a:lnTo>
                  <a:lnTo>
                    <a:pt x="5096" y="6290"/>
                  </a:lnTo>
                  <a:lnTo>
                    <a:pt x="5385" y="5936"/>
                  </a:lnTo>
                  <a:lnTo>
                    <a:pt x="5481" y="5512"/>
                  </a:lnTo>
                  <a:lnTo>
                    <a:pt x="5865" y="4947"/>
                  </a:lnTo>
                  <a:lnTo>
                    <a:pt x="5865" y="4523"/>
                  </a:lnTo>
                  <a:lnTo>
                    <a:pt x="6442" y="4170"/>
                  </a:lnTo>
                  <a:lnTo>
                    <a:pt x="6635" y="3746"/>
                  </a:lnTo>
                  <a:lnTo>
                    <a:pt x="6635" y="3463"/>
                  </a:lnTo>
                  <a:lnTo>
                    <a:pt x="7115" y="3039"/>
                  </a:lnTo>
                  <a:lnTo>
                    <a:pt x="7115" y="2756"/>
                  </a:lnTo>
                  <a:lnTo>
                    <a:pt x="7500" y="2332"/>
                  </a:lnTo>
                  <a:lnTo>
                    <a:pt x="7500" y="2191"/>
                  </a:lnTo>
                  <a:lnTo>
                    <a:pt x="7500" y="1837"/>
                  </a:lnTo>
                  <a:lnTo>
                    <a:pt x="7788" y="1555"/>
                  </a:lnTo>
                  <a:lnTo>
                    <a:pt x="7885" y="1343"/>
                  </a:lnTo>
                  <a:lnTo>
                    <a:pt x="8462" y="1060"/>
                  </a:lnTo>
                  <a:lnTo>
                    <a:pt x="8462" y="989"/>
                  </a:lnTo>
                  <a:lnTo>
                    <a:pt x="8846" y="707"/>
                  </a:lnTo>
                  <a:lnTo>
                    <a:pt x="8942" y="424"/>
                  </a:lnTo>
                  <a:lnTo>
                    <a:pt x="9135" y="353"/>
                  </a:lnTo>
                  <a:lnTo>
                    <a:pt x="9327" y="283"/>
                  </a:lnTo>
                  <a:lnTo>
                    <a:pt x="9712" y="71"/>
                  </a:lnTo>
                  <a:lnTo>
                    <a:pt x="10192" y="71"/>
                  </a:lnTo>
                  <a:lnTo>
                    <a:pt x="10385" y="0"/>
                  </a:lnTo>
                  <a:lnTo>
                    <a:pt x="10673" y="71"/>
                  </a:lnTo>
                  <a:lnTo>
                    <a:pt x="10769" y="71"/>
                  </a:lnTo>
                  <a:lnTo>
                    <a:pt x="10865" y="71"/>
                  </a:lnTo>
                  <a:lnTo>
                    <a:pt x="11058" y="283"/>
                  </a:lnTo>
                  <a:lnTo>
                    <a:pt x="11442" y="353"/>
                  </a:lnTo>
                  <a:lnTo>
                    <a:pt x="11538" y="424"/>
                  </a:lnTo>
                  <a:lnTo>
                    <a:pt x="12115" y="777"/>
                  </a:lnTo>
                  <a:lnTo>
                    <a:pt x="12212" y="1060"/>
                  </a:lnTo>
                  <a:lnTo>
                    <a:pt x="12500" y="1272"/>
                  </a:lnTo>
                  <a:lnTo>
                    <a:pt x="12500" y="1555"/>
                  </a:lnTo>
                  <a:lnTo>
                    <a:pt x="12500" y="1837"/>
                  </a:lnTo>
                  <a:lnTo>
                    <a:pt x="12885" y="2261"/>
                  </a:lnTo>
                  <a:lnTo>
                    <a:pt x="12885" y="2756"/>
                  </a:lnTo>
                  <a:lnTo>
                    <a:pt x="13365" y="3251"/>
                  </a:lnTo>
                  <a:lnTo>
                    <a:pt x="13365" y="3675"/>
                  </a:lnTo>
                  <a:lnTo>
                    <a:pt x="13558" y="4028"/>
                  </a:lnTo>
                  <a:lnTo>
                    <a:pt x="14135" y="4452"/>
                  </a:lnTo>
                  <a:lnTo>
                    <a:pt x="14231" y="4806"/>
                  </a:lnTo>
                  <a:lnTo>
                    <a:pt x="14519" y="5512"/>
                  </a:lnTo>
                  <a:lnTo>
                    <a:pt x="14808" y="5936"/>
                  </a:lnTo>
                  <a:lnTo>
                    <a:pt x="15096" y="6502"/>
                  </a:lnTo>
                  <a:lnTo>
                    <a:pt x="15192" y="7067"/>
                  </a:lnTo>
                  <a:lnTo>
                    <a:pt x="15385" y="7491"/>
                  </a:lnTo>
                  <a:lnTo>
                    <a:pt x="15673" y="8198"/>
                  </a:lnTo>
                  <a:lnTo>
                    <a:pt x="15865" y="8693"/>
                  </a:lnTo>
                  <a:lnTo>
                    <a:pt x="16058" y="9399"/>
                  </a:lnTo>
                  <a:lnTo>
                    <a:pt x="16346" y="10035"/>
                  </a:lnTo>
                  <a:lnTo>
                    <a:pt x="16731" y="10459"/>
                  </a:lnTo>
                  <a:lnTo>
                    <a:pt x="16731" y="10954"/>
                  </a:lnTo>
                  <a:lnTo>
                    <a:pt x="17019" y="11590"/>
                  </a:lnTo>
                  <a:lnTo>
                    <a:pt x="17212" y="12085"/>
                  </a:lnTo>
                  <a:lnTo>
                    <a:pt x="17404" y="12721"/>
                  </a:lnTo>
                  <a:lnTo>
                    <a:pt x="17500" y="13286"/>
                  </a:lnTo>
                  <a:lnTo>
                    <a:pt x="17500" y="13993"/>
                  </a:lnTo>
                  <a:lnTo>
                    <a:pt x="17788" y="14488"/>
                  </a:lnTo>
                  <a:lnTo>
                    <a:pt x="17788" y="14982"/>
                  </a:lnTo>
                  <a:lnTo>
                    <a:pt x="18462" y="15477"/>
                  </a:lnTo>
                  <a:lnTo>
                    <a:pt x="18558" y="15972"/>
                  </a:lnTo>
                  <a:lnTo>
                    <a:pt x="18750" y="16325"/>
                  </a:lnTo>
                  <a:lnTo>
                    <a:pt x="18942" y="16749"/>
                  </a:lnTo>
                  <a:lnTo>
                    <a:pt x="19038" y="17244"/>
                  </a:lnTo>
                  <a:lnTo>
                    <a:pt x="19327" y="17739"/>
                  </a:lnTo>
                  <a:lnTo>
                    <a:pt x="19327" y="18163"/>
                  </a:lnTo>
                  <a:lnTo>
                    <a:pt x="19423" y="18516"/>
                  </a:lnTo>
                  <a:lnTo>
                    <a:pt x="19519" y="18940"/>
                  </a:lnTo>
                  <a:lnTo>
                    <a:pt x="19615" y="19011"/>
                  </a:lnTo>
                  <a:lnTo>
                    <a:pt x="19808" y="19576"/>
                  </a:lnTo>
                  <a:lnTo>
                    <a:pt x="19904" y="19717"/>
                  </a:lnTo>
                  <a:lnTo>
                    <a:pt x="19904" y="19929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06" name="AutoShape 20">
              <a:extLst>
                <a:ext uri="{FF2B5EF4-FFF2-40B4-BE49-F238E27FC236}">
                  <a16:creationId xmlns:a16="http://schemas.microsoft.com/office/drawing/2014/main" id="{191E9A6A-6EAA-D49A-A601-E1C83F2C2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" y="2055"/>
              <a:ext cx="132" cy="11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83" y="515"/>
                  </a:lnTo>
                  <a:lnTo>
                    <a:pt x="365" y="1324"/>
                  </a:lnTo>
                  <a:lnTo>
                    <a:pt x="548" y="1912"/>
                  </a:lnTo>
                  <a:lnTo>
                    <a:pt x="639" y="2426"/>
                  </a:lnTo>
                  <a:lnTo>
                    <a:pt x="913" y="3162"/>
                  </a:lnTo>
                  <a:lnTo>
                    <a:pt x="1187" y="3676"/>
                  </a:lnTo>
                  <a:lnTo>
                    <a:pt x="1187" y="4338"/>
                  </a:lnTo>
                  <a:lnTo>
                    <a:pt x="1461" y="5000"/>
                  </a:lnTo>
                  <a:lnTo>
                    <a:pt x="1553" y="5588"/>
                  </a:lnTo>
                  <a:lnTo>
                    <a:pt x="2374" y="6103"/>
                  </a:lnTo>
                  <a:lnTo>
                    <a:pt x="2557" y="6765"/>
                  </a:lnTo>
                  <a:lnTo>
                    <a:pt x="2557" y="7279"/>
                  </a:lnTo>
                  <a:lnTo>
                    <a:pt x="2648" y="7794"/>
                  </a:lnTo>
                  <a:lnTo>
                    <a:pt x="2831" y="8456"/>
                  </a:lnTo>
                  <a:lnTo>
                    <a:pt x="3014" y="9044"/>
                  </a:lnTo>
                  <a:lnTo>
                    <a:pt x="3105" y="9632"/>
                  </a:lnTo>
                  <a:lnTo>
                    <a:pt x="3105" y="10074"/>
                  </a:lnTo>
                  <a:lnTo>
                    <a:pt x="3470" y="10588"/>
                  </a:lnTo>
                  <a:lnTo>
                    <a:pt x="3653" y="11103"/>
                  </a:lnTo>
                  <a:lnTo>
                    <a:pt x="3927" y="11618"/>
                  </a:lnTo>
                  <a:lnTo>
                    <a:pt x="4110" y="12206"/>
                  </a:lnTo>
                  <a:lnTo>
                    <a:pt x="4292" y="12721"/>
                  </a:lnTo>
                  <a:lnTo>
                    <a:pt x="4384" y="13088"/>
                  </a:lnTo>
                  <a:lnTo>
                    <a:pt x="4566" y="13750"/>
                  </a:lnTo>
                  <a:lnTo>
                    <a:pt x="4840" y="14118"/>
                  </a:lnTo>
                  <a:lnTo>
                    <a:pt x="5205" y="14632"/>
                  </a:lnTo>
                  <a:lnTo>
                    <a:pt x="5479" y="15000"/>
                  </a:lnTo>
                  <a:lnTo>
                    <a:pt x="5662" y="15368"/>
                  </a:lnTo>
                  <a:lnTo>
                    <a:pt x="5753" y="15882"/>
                  </a:lnTo>
                  <a:lnTo>
                    <a:pt x="6210" y="16324"/>
                  </a:lnTo>
                  <a:lnTo>
                    <a:pt x="6301" y="16618"/>
                  </a:lnTo>
                  <a:lnTo>
                    <a:pt x="6575" y="16838"/>
                  </a:lnTo>
                  <a:lnTo>
                    <a:pt x="6849" y="17279"/>
                  </a:lnTo>
                  <a:lnTo>
                    <a:pt x="6941" y="17647"/>
                  </a:lnTo>
                  <a:lnTo>
                    <a:pt x="7123" y="17868"/>
                  </a:lnTo>
                  <a:lnTo>
                    <a:pt x="7215" y="18162"/>
                  </a:lnTo>
                  <a:lnTo>
                    <a:pt x="7489" y="18382"/>
                  </a:lnTo>
                  <a:lnTo>
                    <a:pt x="7489" y="18676"/>
                  </a:lnTo>
                  <a:lnTo>
                    <a:pt x="7580" y="18897"/>
                  </a:lnTo>
                  <a:lnTo>
                    <a:pt x="7763" y="18971"/>
                  </a:lnTo>
                  <a:lnTo>
                    <a:pt x="8037" y="19265"/>
                  </a:lnTo>
                  <a:lnTo>
                    <a:pt x="8584" y="19559"/>
                  </a:lnTo>
                  <a:lnTo>
                    <a:pt x="8676" y="19632"/>
                  </a:lnTo>
                  <a:lnTo>
                    <a:pt x="8950" y="19706"/>
                  </a:lnTo>
                  <a:lnTo>
                    <a:pt x="9041" y="19706"/>
                  </a:lnTo>
                  <a:lnTo>
                    <a:pt x="9224" y="19926"/>
                  </a:lnTo>
                  <a:lnTo>
                    <a:pt x="9406" y="19926"/>
                  </a:lnTo>
                  <a:lnTo>
                    <a:pt x="9589" y="19926"/>
                  </a:lnTo>
                  <a:lnTo>
                    <a:pt x="9772" y="19926"/>
                  </a:lnTo>
                  <a:lnTo>
                    <a:pt x="10228" y="19926"/>
                  </a:lnTo>
                  <a:lnTo>
                    <a:pt x="10411" y="19706"/>
                  </a:lnTo>
                  <a:lnTo>
                    <a:pt x="10594" y="19632"/>
                  </a:lnTo>
                  <a:lnTo>
                    <a:pt x="10776" y="19559"/>
                  </a:lnTo>
                  <a:lnTo>
                    <a:pt x="10959" y="19265"/>
                  </a:lnTo>
                  <a:lnTo>
                    <a:pt x="11324" y="18971"/>
                  </a:lnTo>
                  <a:lnTo>
                    <a:pt x="11324" y="18897"/>
                  </a:lnTo>
                  <a:lnTo>
                    <a:pt x="11963" y="18603"/>
                  </a:lnTo>
                  <a:lnTo>
                    <a:pt x="12237" y="18382"/>
                  </a:lnTo>
                  <a:lnTo>
                    <a:pt x="12420" y="17721"/>
                  </a:lnTo>
                  <a:lnTo>
                    <a:pt x="12511" y="17574"/>
                  </a:lnTo>
                  <a:lnTo>
                    <a:pt x="12511" y="16985"/>
                  </a:lnTo>
                  <a:lnTo>
                    <a:pt x="12877" y="16618"/>
                  </a:lnTo>
                  <a:lnTo>
                    <a:pt x="13059" y="16324"/>
                  </a:lnTo>
                  <a:lnTo>
                    <a:pt x="13151" y="15882"/>
                  </a:lnTo>
                  <a:lnTo>
                    <a:pt x="13516" y="15368"/>
                  </a:lnTo>
                  <a:lnTo>
                    <a:pt x="13790" y="15000"/>
                  </a:lnTo>
                  <a:lnTo>
                    <a:pt x="14064" y="14338"/>
                  </a:lnTo>
                  <a:lnTo>
                    <a:pt x="14338" y="13897"/>
                  </a:lnTo>
                  <a:lnTo>
                    <a:pt x="14703" y="13382"/>
                  </a:lnTo>
                  <a:lnTo>
                    <a:pt x="14795" y="12941"/>
                  </a:lnTo>
                  <a:lnTo>
                    <a:pt x="15342" y="12206"/>
                  </a:lnTo>
                  <a:lnTo>
                    <a:pt x="15616" y="11618"/>
                  </a:lnTo>
                  <a:lnTo>
                    <a:pt x="15708" y="10956"/>
                  </a:lnTo>
                  <a:lnTo>
                    <a:pt x="15890" y="10588"/>
                  </a:lnTo>
                  <a:lnTo>
                    <a:pt x="16164" y="10000"/>
                  </a:lnTo>
                  <a:lnTo>
                    <a:pt x="16438" y="9559"/>
                  </a:lnTo>
                  <a:lnTo>
                    <a:pt x="16804" y="9044"/>
                  </a:lnTo>
                  <a:lnTo>
                    <a:pt x="16895" y="8382"/>
                  </a:lnTo>
                  <a:lnTo>
                    <a:pt x="16986" y="7794"/>
                  </a:lnTo>
                  <a:lnTo>
                    <a:pt x="17169" y="7279"/>
                  </a:lnTo>
                  <a:lnTo>
                    <a:pt x="17352" y="6765"/>
                  </a:lnTo>
                  <a:lnTo>
                    <a:pt x="17443" y="6103"/>
                  </a:lnTo>
                  <a:lnTo>
                    <a:pt x="17443" y="5662"/>
                  </a:lnTo>
                  <a:lnTo>
                    <a:pt x="18082" y="5074"/>
                  </a:lnTo>
                  <a:lnTo>
                    <a:pt x="18447" y="4926"/>
                  </a:lnTo>
                  <a:lnTo>
                    <a:pt x="18539" y="4338"/>
                  </a:lnTo>
                  <a:lnTo>
                    <a:pt x="18813" y="3676"/>
                  </a:lnTo>
                  <a:lnTo>
                    <a:pt x="18995" y="3382"/>
                  </a:lnTo>
                  <a:lnTo>
                    <a:pt x="19087" y="3162"/>
                  </a:lnTo>
                  <a:lnTo>
                    <a:pt x="19361" y="2647"/>
                  </a:lnTo>
                  <a:lnTo>
                    <a:pt x="19361" y="2279"/>
                  </a:lnTo>
                  <a:lnTo>
                    <a:pt x="19452" y="1912"/>
                  </a:lnTo>
                  <a:lnTo>
                    <a:pt x="19543" y="1618"/>
                  </a:lnTo>
                  <a:lnTo>
                    <a:pt x="19817" y="1397"/>
                  </a:lnTo>
                  <a:lnTo>
                    <a:pt x="19817" y="1103"/>
                  </a:lnTo>
                  <a:lnTo>
                    <a:pt x="19909" y="1029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07" name="AutoShape 21">
              <a:extLst>
                <a:ext uri="{FF2B5EF4-FFF2-40B4-BE49-F238E27FC236}">
                  <a16:creationId xmlns:a16="http://schemas.microsoft.com/office/drawing/2014/main" id="{0E553623-B34C-20FC-4A6B-FCBA8F5143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1953"/>
              <a:ext cx="125" cy="10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8940"/>
                  </a:moveTo>
                  <a:lnTo>
                    <a:pt x="192" y="18445"/>
                  </a:lnTo>
                  <a:lnTo>
                    <a:pt x="481" y="17809"/>
                  </a:lnTo>
                  <a:lnTo>
                    <a:pt x="673" y="17244"/>
                  </a:lnTo>
                  <a:lnTo>
                    <a:pt x="673" y="16678"/>
                  </a:lnTo>
                  <a:lnTo>
                    <a:pt x="962" y="16042"/>
                  </a:lnTo>
                  <a:lnTo>
                    <a:pt x="1250" y="15477"/>
                  </a:lnTo>
                  <a:lnTo>
                    <a:pt x="1442" y="14982"/>
                  </a:lnTo>
                  <a:lnTo>
                    <a:pt x="1923" y="14417"/>
                  </a:lnTo>
                  <a:lnTo>
                    <a:pt x="2212" y="13710"/>
                  </a:lnTo>
                  <a:lnTo>
                    <a:pt x="2500" y="13286"/>
                  </a:lnTo>
                  <a:lnTo>
                    <a:pt x="2500" y="12580"/>
                  </a:lnTo>
                  <a:lnTo>
                    <a:pt x="2596" y="11943"/>
                  </a:lnTo>
                  <a:lnTo>
                    <a:pt x="2885" y="11449"/>
                  </a:lnTo>
                  <a:lnTo>
                    <a:pt x="2981" y="10813"/>
                  </a:lnTo>
                  <a:lnTo>
                    <a:pt x="3269" y="10247"/>
                  </a:lnTo>
                  <a:lnTo>
                    <a:pt x="3269" y="9894"/>
                  </a:lnTo>
                  <a:lnTo>
                    <a:pt x="3654" y="9399"/>
                  </a:lnTo>
                  <a:lnTo>
                    <a:pt x="4038" y="8693"/>
                  </a:lnTo>
                  <a:lnTo>
                    <a:pt x="4231" y="8269"/>
                  </a:lnTo>
                  <a:lnTo>
                    <a:pt x="4327" y="7774"/>
                  </a:lnTo>
                  <a:lnTo>
                    <a:pt x="4615" y="7279"/>
                  </a:lnTo>
                  <a:lnTo>
                    <a:pt x="4808" y="6714"/>
                  </a:lnTo>
                  <a:lnTo>
                    <a:pt x="5096" y="6290"/>
                  </a:lnTo>
                  <a:lnTo>
                    <a:pt x="5385" y="5936"/>
                  </a:lnTo>
                  <a:lnTo>
                    <a:pt x="5481" y="5512"/>
                  </a:lnTo>
                  <a:lnTo>
                    <a:pt x="5865" y="4947"/>
                  </a:lnTo>
                  <a:lnTo>
                    <a:pt x="5865" y="4523"/>
                  </a:lnTo>
                  <a:lnTo>
                    <a:pt x="6442" y="4170"/>
                  </a:lnTo>
                  <a:lnTo>
                    <a:pt x="6635" y="3746"/>
                  </a:lnTo>
                  <a:lnTo>
                    <a:pt x="6635" y="3463"/>
                  </a:lnTo>
                  <a:lnTo>
                    <a:pt x="7115" y="3039"/>
                  </a:lnTo>
                  <a:lnTo>
                    <a:pt x="7115" y="2756"/>
                  </a:lnTo>
                  <a:lnTo>
                    <a:pt x="7500" y="2332"/>
                  </a:lnTo>
                  <a:lnTo>
                    <a:pt x="7500" y="2191"/>
                  </a:lnTo>
                  <a:lnTo>
                    <a:pt x="7500" y="1837"/>
                  </a:lnTo>
                  <a:lnTo>
                    <a:pt x="7788" y="1555"/>
                  </a:lnTo>
                  <a:lnTo>
                    <a:pt x="7885" y="1343"/>
                  </a:lnTo>
                  <a:lnTo>
                    <a:pt x="8462" y="1060"/>
                  </a:lnTo>
                  <a:lnTo>
                    <a:pt x="8462" y="989"/>
                  </a:lnTo>
                  <a:lnTo>
                    <a:pt x="8846" y="707"/>
                  </a:lnTo>
                  <a:lnTo>
                    <a:pt x="8942" y="424"/>
                  </a:lnTo>
                  <a:lnTo>
                    <a:pt x="9135" y="353"/>
                  </a:lnTo>
                  <a:lnTo>
                    <a:pt x="9327" y="283"/>
                  </a:lnTo>
                  <a:lnTo>
                    <a:pt x="9712" y="71"/>
                  </a:lnTo>
                  <a:lnTo>
                    <a:pt x="10192" y="71"/>
                  </a:lnTo>
                  <a:lnTo>
                    <a:pt x="10385" y="0"/>
                  </a:lnTo>
                  <a:lnTo>
                    <a:pt x="10673" y="71"/>
                  </a:lnTo>
                  <a:lnTo>
                    <a:pt x="10769" y="71"/>
                  </a:lnTo>
                  <a:lnTo>
                    <a:pt x="10865" y="71"/>
                  </a:lnTo>
                  <a:lnTo>
                    <a:pt x="11058" y="283"/>
                  </a:lnTo>
                  <a:lnTo>
                    <a:pt x="11442" y="353"/>
                  </a:lnTo>
                  <a:lnTo>
                    <a:pt x="11538" y="424"/>
                  </a:lnTo>
                  <a:lnTo>
                    <a:pt x="12115" y="777"/>
                  </a:lnTo>
                  <a:lnTo>
                    <a:pt x="12212" y="1060"/>
                  </a:lnTo>
                  <a:lnTo>
                    <a:pt x="12500" y="1272"/>
                  </a:lnTo>
                  <a:lnTo>
                    <a:pt x="12500" y="1555"/>
                  </a:lnTo>
                  <a:lnTo>
                    <a:pt x="12500" y="1837"/>
                  </a:lnTo>
                  <a:lnTo>
                    <a:pt x="12885" y="2261"/>
                  </a:lnTo>
                  <a:lnTo>
                    <a:pt x="12885" y="2756"/>
                  </a:lnTo>
                  <a:lnTo>
                    <a:pt x="13365" y="3251"/>
                  </a:lnTo>
                  <a:lnTo>
                    <a:pt x="13365" y="3675"/>
                  </a:lnTo>
                  <a:lnTo>
                    <a:pt x="13558" y="4028"/>
                  </a:lnTo>
                  <a:lnTo>
                    <a:pt x="14135" y="4452"/>
                  </a:lnTo>
                  <a:lnTo>
                    <a:pt x="14231" y="4806"/>
                  </a:lnTo>
                  <a:lnTo>
                    <a:pt x="14519" y="5512"/>
                  </a:lnTo>
                  <a:lnTo>
                    <a:pt x="14808" y="5936"/>
                  </a:lnTo>
                  <a:lnTo>
                    <a:pt x="15096" y="6502"/>
                  </a:lnTo>
                  <a:lnTo>
                    <a:pt x="15192" y="7067"/>
                  </a:lnTo>
                  <a:lnTo>
                    <a:pt x="15385" y="7491"/>
                  </a:lnTo>
                  <a:lnTo>
                    <a:pt x="15673" y="8198"/>
                  </a:lnTo>
                  <a:lnTo>
                    <a:pt x="15865" y="8693"/>
                  </a:lnTo>
                  <a:lnTo>
                    <a:pt x="16058" y="9399"/>
                  </a:lnTo>
                  <a:lnTo>
                    <a:pt x="16346" y="10035"/>
                  </a:lnTo>
                  <a:lnTo>
                    <a:pt x="16731" y="10459"/>
                  </a:lnTo>
                  <a:lnTo>
                    <a:pt x="16731" y="10954"/>
                  </a:lnTo>
                  <a:lnTo>
                    <a:pt x="17019" y="11590"/>
                  </a:lnTo>
                  <a:lnTo>
                    <a:pt x="17212" y="12085"/>
                  </a:lnTo>
                  <a:lnTo>
                    <a:pt x="17404" y="12721"/>
                  </a:lnTo>
                  <a:lnTo>
                    <a:pt x="17500" y="13286"/>
                  </a:lnTo>
                  <a:lnTo>
                    <a:pt x="17500" y="13993"/>
                  </a:lnTo>
                  <a:lnTo>
                    <a:pt x="17788" y="14488"/>
                  </a:lnTo>
                  <a:lnTo>
                    <a:pt x="17788" y="14982"/>
                  </a:lnTo>
                  <a:lnTo>
                    <a:pt x="18462" y="15477"/>
                  </a:lnTo>
                  <a:lnTo>
                    <a:pt x="18558" y="15972"/>
                  </a:lnTo>
                  <a:lnTo>
                    <a:pt x="18750" y="16325"/>
                  </a:lnTo>
                  <a:lnTo>
                    <a:pt x="18942" y="16749"/>
                  </a:lnTo>
                  <a:lnTo>
                    <a:pt x="19038" y="17244"/>
                  </a:lnTo>
                  <a:lnTo>
                    <a:pt x="19327" y="17739"/>
                  </a:lnTo>
                  <a:lnTo>
                    <a:pt x="19327" y="18163"/>
                  </a:lnTo>
                  <a:lnTo>
                    <a:pt x="19423" y="18516"/>
                  </a:lnTo>
                  <a:lnTo>
                    <a:pt x="19519" y="18940"/>
                  </a:lnTo>
                  <a:lnTo>
                    <a:pt x="19615" y="19011"/>
                  </a:lnTo>
                  <a:lnTo>
                    <a:pt x="19808" y="19576"/>
                  </a:lnTo>
                  <a:lnTo>
                    <a:pt x="19904" y="19717"/>
                  </a:lnTo>
                  <a:lnTo>
                    <a:pt x="19904" y="19929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08" name="AutoShape 22">
              <a:extLst>
                <a:ext uri="{FF2B5EF4-FFF2-40B4-BE49-F238E27FC236}">
                  <a16:creationId xmlns:a16="http://schemas.microsoft.com/office/drawing/2014/main" id="{ED2DAD01-989D-0586-433A-7C4EF0021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3" y="2042"/>
              <a:ext cx="136" cy="5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75" y="559"/>
                  </a:lnTo>
                  <a:lnTo>
                    <a:pt x="351" y="1399"/>
                  </a:lnTo>
                  <a:lnTo>
                    <a:pt x="526" y="2098"/>
                  </a:lnTo>
                  <a:lnTo>
                    <a:pt x="614" y="2517"/>
                  </a:lnTo>
                  <a:lnTo>
                    <a:pt x="877" y="3077"/>
                  </a:lnTo>
                  <a:lnTo>
                    <a:pt x="1228" y="3916"/>
                  </a:lnTo>
                  <a:lnTo>
                    <a:pt x="1228" y="4336"/>
                  </a:lnTo>
                  <a:lnTo>
                    <a:pt x="1579" y="5035"/>
                  </a:lnTo>
                  <a:lnTo>
                    <a:pt x="1667" y="5455"/>
                  </a:lnTo>
                  <a:lnTo>
                    <a:pt x="2281" y="6154"/>
                  </a:lnTo>
                  <a:lnTo>
                    <a:pt x="2456" y="6853"/>
                  </a:lnTo>
                  <a:lnTo>
                    <a:pt x="2544" y="7413"/>
                  </a:lnTo>
                  <a:lnTo>
                    <a:pt x="2632" y="7972"/>
                  </a:lnTo>
                  <a:lnTo>
                    <a:pt x="2807" y="8392"/>
                  </a:lnTo>
                  <a:lnTo>
                    <a:pt x="2982" y="9091"/>
                  </a:lnTo>
                  <a:lnTo>
                    <a:pt x="3070" y="9790"/>
                  </a:lnTo>
                  <a:lnTo>
                    <a:pt x="3070" y="10070"/>
                  </a:lnTo>
                  <a:lnTo>
                    <a:pt x="3509" y="10629"/>
                  </a:lnTo>
                  <a:lnTo>
                    <a:pt x="3684" y="11049"/>
                  </a:lnTo>
                  <a:lnTo>
                    <a:pt x="3947" y="11748"/>
                  </a:lnTo>
                  <a:lnTo>
                    <a:pt x="4123" y="12028"/>
                  </a:lnTo>
                  <a:lnTo>
                    <a:pt x="4386" y="12587"/>
                  </a:lnTo>
                  <a:lnTo>
                    <a:pt x="4474" y="13147"/>
                  </a:lnTo>
                  <a:lnTo>
                    <a:pt x="4649" y="13706"/>
                  </a:lnTo>
                  <a:lnTo>
                    <a:pt x="4912" y="14126"/>
                  </a:lnTo>
                  <a:lnTo>
                    <a:pt x="5175" y="14685"/>
                  </a:lnTo>
                  <a:lnTo>
                    <a:pt x="5439" y="14965"/>
                  </a:lnTo>
                  <a:lnTo>
                    <a:pt x="5702" y="15524"/>
                  </a:lnTo>
                  <a:lnTo>
                    <a:pt x="5789" y="15804"/>
                  </a:lnTo>
                  <a:lnTo>
                    <a:pt x="6140" y="16084"/>
                  </a:lnTo>
                  <a:lnTo>
                    <a:pt x="6228" y="16503"/>
                  </a:lnTo>
                  <a:lnTo>
                    <a:pt x="6491" y="16923"/>
                  </a:lnTo>
                  <a:lnTo>
                    <a:pt x="6754" y="17203"/>
                  </a:lnTo>
                  <a:lnTo>
                    <a:pt x="6842" y="17483"/>
                  </a:lnTo>
                  <a:lnTo>
                    <a:pt x="7018" y="17762"/>
                  </a:lnTo>
                  <a:lnTo>
                    <a:pt x="7193" y="18182"/>
                  </a:lnTo>
                  <a:lnTo>
                    <a:pt x="7544" y="18462"/>
                  </a:lnTo>
                  <a:lnTo>
                    <a:pt x="7544" y="18601"/>
                  </a:lnTo>
                  <a:lnTo>
                    <a:pt x="7632" y="19021"/>
                  </a:lnTo>
                  <a:lnTo>
                    <a:pt x="7895" y="19161"/>
                  </a:lnTo>
                  <a:lnTo>
                    <a:pt x="8158" y="19301"/>
                  </a:lnTo>
                  <a:lnTo>
                    <a:pt x="8596" y="19441"/>
                  </a:lnTo>
                  <a:lnTo>
                    <a:pt x="8684" y="19441"/>
                  </a:lnTo>
                  <a:lnTo>
                    <a:pt x="8947" y="19860"/>
                  </a:lnTo>
                  <a:lnTo>
                    <a:pt x="9035" y="19860"/>
                  </a:lnTo>
                  <a:lnTo>
                    <a:pt x="9211" y="19860"/>
                  </a:lnTo>
                  <a:lnTo>
                    <a:pt x="9386" y="19860"/>
                  </a:lnTo>
                  <a:lnTo>
                    <a:pt x="9561" y="19860"/>
                  </a:lnTo>
                  <a:lnTo>
                    <a:pt x="9737" y="19860"/>
                  </a:lnTo>
                  <a:lnTo>
                    <a:pt x="10263" y="19860"/>
                  </a:lnTo>
                  <a:lnTo>
                    <a:pt x="10439" y="19860"/>
                  </a:lnTo>
                  <a:lnTo>
                    <a:pt x="10614" y="19441"/>
                  </a:lnTo>
                  <a:lnTo>
                    <a:pt x="10789" y="19441"/>
                  </a:lnTo>
                  <a:lnTo>
                    <a:pt x="10965" y="19301"/>
                  </a:lnTo>
                  <a:lnTo>
                    <a:pt x="11316" y="19161"/>
                  </a:lnTo>
                  <a:lnTo>
                    <a:pt x="11316" y="19021"/>
                  </a:lnTo>
                  <a:lnTo>
                    <a:pt x="11842" y="18601"/>
                  </a:lnTo>
                  <a:lnTo>
                    <a:pt x="12105" y="18462"/>
                  </a:lnTo>
                  <a:lnTo>
                    <a:pt x="12368" y="17762"/>
                  </a:lnTo>
                  <a:lnTo>
                    <a:pt x="12544" y="17483"/>
                  </a:lnTo>
                  <a:lnTo>
                    <a:pt x="12544" y="17063"/>
                  </a:lnTo>
                  <a:lnTo>
                    <a:pt x="12982" y="16643"/>
                  </a:lnTo>
                  <a:lnTo>
                    <a:pt x="13158" y="16084"/>
                  </a:lnTo>
                  <a:lnTo>
                    <a:pt x="13246" y="15804"/>
                  </a:lnTo>
                  <a:lnTo>
                    <a:pt x="13596" y="15524"/>
                  </a:lnTo>
                  <a:lnTo>
                    <a:pt x="13860" y="14965"/>
                  </a:lnTo>
                  <a:lnTo>
                    <a:pt x="14035" y="14126"/>
                  </a:lnTo>
                  <a:lnTo>
                    <a:pt x="14298" y="13846"/>
                  </a:lnTo>
                  <a:lnTo>
                    <a:pt x="14737" y="13287"/>
                  </a:lnTo>
                  <a:lnTo>
                    <a:pt x="14825" y="13007"/>
                  </a:lnTo>
                  <a:lnTo>
                    <a:pt x="15263" y="12028"/>
                  </a:lnTo>
                  <a:lnTo>
                    <a:pt x="15526" y="11748"/>
                  </a:lnTo>
                  <a:lnTo>
                    <a:pt x="15614" y="10909"/>
                  </a:lnTo>
                  <a:lnTo>
                    <a:pt x="15877" y="10629"/>
                  </a:lnTo>
                  <a:lnTo>
                    <a:pt x="16140" y="10070"/>
                  </a:lnTo>
                  <a:lnTo>
                    <a:pt x="16404" y="9650"/>
                  </a:lnTo>
                  <a:lnTo>
                    <a:pt x="16842" y="9091"/>
                  </a:lnTo>
                  <a:lnTo>
                    <a:pt x="16930" y="8252"/>
                  </a:lnTo>
                  <a:lnTo>
                    <a:pt x="17018" y="7972"/>
                  </a:lnTo>
                  <a:lnTo>
                    <a:pt x="17193" y="7413"/>
                  </a:lnTo>
                  <a:lnTo>
                    <a:pt x="17368" y="6853"/>
                  </a:lnTo>
                  <a:lnTo>
                    <a:pt x="17544" y="6154"/>
                  </a:lnTo>
                  <a:lnTo>
                    <a:pt x="17544" y="5874"/>
                  </a:lnTo>
                  <a:lnTo>
                    <a:pt x="18070" y="5035"/>
                  </a:lnTo>
                  <a:lnTo>
                    <a:pt x="18333" y="5035"/>
                  </a:lnTo>
                  <a:lnTo>
                    <a:pt x="18421" y="4336"/>
                  </a:lnTo>
                  <a:lnTo>
                    <a:pt x="18772" y="3916"/>
                  </a:lnTo>
                  <a:lnTo>
                    <a:pt x="19035" y="3497"/>
                  </a:lnTo>
                  <a:lnTo>
                    <a:pt x="19123" y="3077"/>
                  </a:lnTo>
                  <a:lnTo>
                    <a:pt x="19386" y="2517"/>
                  </a:lnTo>
                  <a:lnTo>
                    <a:pt x="19386" y="2238"/>
                  </a:lnTo>
                  <a:lnTo>
                    <a:pt x="19474" y="2098"/>
                  </a:lnTo>
                  <a:lnTo>
                    <a:pt x="19561" y="1538"/>
                  </a:lnTo>
                  <a:lnTo>
                    <a:pt x="19825" y="1399"/>
                  </a:lnTo>
                  <a:lnTo>
                    <a:pt x="19825" y="979"/>
                  </a:lnTo>
                  <a:lnTo>
                    <a:pt x="19912" y="839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09" name="AutoShape 27">
              <a:extLst>
                <a:ext uri="{FF2B5EF4-FFF2-40B4-BE49-F238E27FC236}">
                  <a16:creationId xmlns:a16="http://schemas.microsoft.com/office/drawing/2014/main" id="{A7A11E6B-78E9-46C9-672C-861D1A5B7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5" y="1849"/>
              <a:ext cx="129" cy="20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27"/>
                  </a:moveTo>
                  <a:lnTo>
                    <a:pt x="183" y="18486"/>
                  </a:lnTo>
                  <a:lnTo>
                    <a:pt x="459" y="17910"/>
                  </a:lnTo>
                  <a:lnTo>
                    <a:pt x="642" y="17297"/>
                  </a:lnTo>
                  <a:lnTo>
                    <a:pt x="642" y="16685"/>
                  </a:lnTo>
                  <a:lnTo>
                    <a:pt x="917" y="16072"/>
                  </a:lnTo>
                  <a:lnTo>
                    <a:pt x="1376" y="15495"/>
                  </a:lnTo>
                  <a:lnTo>
                    <a:pt x="1560" y="14919"/>
                  </a:lnTo>
                  <a:lnTo>
                    <a:pt x="1927" y="14270"/>
                  </a:lnTo>
                  <a:lnTo>
                    <a:pt x="2110" y="13694"/>
                  </a:lnTo>
                  <a:lnTo>
                    <a:pt x="2477" y="13117"/>
                  </a:lnTo>
                  <a:lnTo>
                    <a:pt x="2477" y="12541"/>
                  </a:lnTo>
                  <a:lnTo>
                    <a:pt x="2569" y="12000"/>
                  </a:lnTo>
                  <a:lnTo>
                    <a:pt x="2844" y="11459"/>
                  </a:lnTo>
                  <a:lnTo>
                    <a:pt x="2936" y="10847"/>
                  </a:lnTo>
                  <a:lnTo>
                    <a:pt x="3211" y="10378"/>
                  </a:lnTo>
                  <a:lnTo>
                    <a:pt x="3211" y="9802"/>
                  </a:lnTo>
                  <a:lnTo>
                    <a:pt x="3670" y="9261"/>
                  </a:lnTo>
                  <a:lnTo>
                    <a:pt x="4128" y="8721"/>
                  </a:lnTo>
                  <a:lnTo>
                    <a:pt x="4312" y="8288"/>
                  </a:lnTo>
                  <a:lnTo>
                    <a:pt x="4404" y="7748"/>
                  </a:lnTo>
                  <a:lnTo>
                    <a:pt x="4679" y="7243"/>
                  </a:lnTo>
                  <a:lnTo>
                    <a:pt x="4862" y="6811"/>
                  </a:lnTo>
                  <a:lnTo>
                    <a:pt x="5046" y="6342"/>
                  </a:lnTo>
                  <a:lnTo>
                    <a:pt x="5321" y="5874"/>
                  </a:lnTo>
                  <a:lnTo>
                    <a:pt x="5413" y="5477"/>
                  </a:lnTo>
                  <a:lnTo>
                    <a:pt x="5872" y="5009"/>
                  </a:lnTo>
                  <a:lnTo>
                    <a:pt x="5872" y="4505"/>
                  </a:lnTo>
                  <a:lnTo>
                    <a:pt x="6422" y="4144"/>
                  </a:lnTo>
                  <a:lnTo>
                    <a:pt x="6606" y="3748"/>
                  </a:lnTo>
                  <a:lnTo>
                    <a:pt x="6606" y="3423"/>
                  </a:lnTo>
                  <a:lnTo>
                    <a:pt x="7064" y="3099"/>
                  </a:lnTo>
                  <a:lnTo>
                    <a:pt x="7064" y="2703"/>
                  </a:lnTo>
                  <a:lnTo>
                    <a:pt x="7431" y="2414"/>
                  </a:lnTo>
                  <a:lnTo>
                    <a:pt x="7523" y="2090"/>
                  </a:lnTo>
                  <a:lnTo>
                    <a:pt x="7523" y="1838"/>
                  </a:lnTo>
                  <a:lnTo>
                    <a:pt x="7890" y="1586"/>
                  </a:lnTo>
                  <a:lnTo>
                    <a:pt x="7982" y="1297"/>
                  </a:lnTo>
                  <a:lnTo>
                    <a:pt x="8440" y="1081"/>
                  </a:lnTo>
                  <a:lnTo>
                    <a:pt x="8440" y="865"/>
                  </a:lnTo>
                  <a:lnTo>
                    <a:pt x="8899" y="685"/>
                  </a:lnTo>
                  <a:lnTo>
                    <a:pt x="8991" y="541"/>
                  </a:lnTo>
                  <a:lnTo>
                    <a:pt x="9174" y="360"/>
                  </a:lnTo>
                  <a:lnTo>
                    <a:pt x="9358" y="216"/>
                  </a:lnTo>
                  <a:lnTo>
                    <a:pt x="9358" y="144"/>
                  </a:lnTo>
                  <a:lnTo>
                    <a:pt x="9725" y="144"/>
                  </a:lnTo>
                  <a:lnTo>
                    <a:pt x="10183" y="36"/>
                  </a:lnTo>
                  <a:lnTo>
                    <a:pt x="10367" y="0"/>
                  </a:lnTo>
                  <a:lnTo>
                    <a:pt x="10642" y="36"/>
                  </a:lnTo>
                  <a:lnTo>
                    <a:pt x="10734" y="36"/>
                  </a:lnTo>
                  <a:lnTo>
                    <a:pt x="10826" y="144"/>
                  </a:lnTo>
                  <a:lnTo>
                    <a:pt x="11009" y="216"/>
                  </a:lnTo>
                  <a:lnTo>
                    <a:pt x="11468" y="360"/>
                  </a:lnTo>
                  <a:lnTo>
                    <a:pt x="11560" y="541"/>
                  </a:lnTo>
                  <a:lnTo>
                    <a:pt x="12018" y="757"/>
                  </a:lnTo>
                  <a:lnTo>
                    <a:pt x="12110" y="1009"/>
                  </a:lnTo>
                  <a:lnTo>
                    <a:pt x="12477" y="1261"/>
                  </a:lnTo>
                  <a:lnTo>
                    <a:pt x="12477" y="1586"/>
                  </a:lnTo>
                  <a:lnTo>
                    <a:pt x="12569" y="1874"/>
                  </a:lnTo>
                  <a:lnTo>
                    <a:pt x="12936" y="2306"/>
                  </a:lnTo>
                  <a:lnTo>
                    <a:pt x="12936" y="2703"/>
                  </a:lnTo>
                  <a:lnTo>
                    <a:pt x="13394" y="3171"/>
                  </a:lnTo>
                  <a:lnTo>
                    <a:pt x="13394" y="3532"/>
                  </a:lnTo>
                  <a:lnTo>
                    <a:pt x="13578" y="4036"/>
                  </a:lnTo>
                  <a:lnTo>
                    <a:pt x="14128" y="4396"/>
                  </a:lnTo>
                  <a:lnTo>
                    <a:pt x="14220" y="4973"/>
                  </a:lnTo>
                  <a:lnTo>
                    <a:pt x="14587" y="5477"/>
                  </a:lnTo>
                  <a:lnTo>
                    <a:pt x="14862" y="5982"/>
                  </a:lnTo>
                  <a:lnTo>
                    <a:pt x="15046" y="6486"/>
                  </a:lnTo>
                  <a:lnTo>
                    <a:pt x="15138" y="7063"/>
                  </a:lnTo>
                  <a:lnTo>
                    <a:pt x="15321" y="7676"/>
                  </a:lnTo>
                  <a:lnTo>
                    <a:pt x="15596" y="8216"/>
                  </a:lnTo>
                  <a:lnTo>
                    <a:pt x="15780" y="8757"/>
                  </a:lnTo>
                  <a:lnTo>
                    <a:pt x="15963" y="9369"/>
                  </a:lnTo>
                  <a:lnTo>
                    <a:pt x="16330" y="9910"/>
                  </a:lnTo>
                  <a:lnTo>
                    <a:pt x="16789" y="10414"/>
                  </a:lnTo>
                  <a:lnTo>
                    <a:pt x="16789" y="10991"/>
                  </a:lnTo>
                  <a:lnTo>
                    <a:pt x="17064" y="11604"/>
                  </a:lnTo>
                  <a:lnTo>
                    <a:pt x="17248" y="12144"/>
                  </a:lnTo>
                  <a:lnTo>
                    <a:pt x="17431" y="12757"/>
                  </a:lnTo>
                  <a:lnTo>
                    <a:pt x="17523" y="13297"/>
                  </a:lnTo>
                  <a:lnTo>
                    <a:pt x="17523" y="13838"/>
                  </a:lnTo>
                  <a:lnTo>
                    <a:pt x="17890" y="14378"/>
                  </a:lnTo>
                  <a:lnTo>
                    <a:pt x="17890" y="14991"/>
                  </a:lnTo>
                  <a:lnTo>
                    <a:pt x="18349" y="15495"/>
                  </a:lnTo>
                  <a:lnTo>
                    <a:pt x="18440" y="15964"/>
                  </a:lnTo>
                  <a:lnTo>
                    <a:pt x="18624" y="16396"/>
                  </a:lnTo>
                  <a:lnTo>
                    <a:pt x="18991" y="16829"/>
                  </a:lnTo>
                  <a:lnTo>
                    <a:pt x="19083" y="17297"/>
                  </a:lnTo>
                  <a:lnTo>
                    <a:pt x="19358" y="17694"/>
                  </a:lnTo>
                  <a:lnTo>
                    <a:pt x="19358" y="18162"/>
                  </a:lnTo>
                  <a:lnTo>
                    <a:pt x="19450" y="18486"/>
                  </a:lnTo>
                  <a:lnTo>
                    <a:pt x="19541" y="18919"/>
                  </a:lnTo>
                  <a:lnTo>
                    <a:pt x="19633" y="19171"/>
                  </a:lnTo>
                  <a:lnTo>
                    <a:pt x="19817" y="19459"/>
                  </a:lnTo>
                  <a:lnTo>
                    <a:pt x="19908" y="19784"/>
                  </a:lnTo>
                  <a:lnTo>
                    <a:pt x="19908" y="19964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10" name="AutoShape 28">
              <a:extLst>
                <a:ext uri="{FF2B5EF4-FFF2-40B4-BE49-F238E27FC236}">
                  <a16:creationId xmlns:a16="http://schemas.microsoft.com/office/drawing/2014/main" id="{8AC47C6C-01B9-D3AE-7198-95B8DF1C8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3" y="2039"/>
              <a:ext cx="137" cy="2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74" y="636"/>
                  </a:lnTo>
                  <a:lnTo>
                    <a:pt x="348" y="1271"/>
                  </a:lnTo>
                  <a:lnTo>
                    <a:pt x="522" y="1907"/>
                  </a:lnTo>
                  <a:lnTo>
                    <a:pt x="609" y="2505"/>
                  </a:lnTo>
                  <a:lnTo>
                    <a:pt x="870" y="3140"/>
                  </a:lnTo>
                  <a:lnTo>
                    <a:pt x="1304" y="3738"/>
                  </a:lnTo>
                  <a:lnTo>
                    <a:pt x="1304" y="4299"/>
                  </a:lnTo>
                  <a:lnTo>
                    <a:pt x="1565" y="4935"/>
                  </a:lnTo>
                  <a:lnTo>
                    <a:pt x="1652" y="5607"/>
                  </a:lnTo>
                  <a:lnTo>
                    <a:pt x="2261" y="6093"/>
                  </a:lnTo>
                  <a:lnTo>
                    <a:pt x="2435" y="6729"/>
                  </a:lnTo>
                  <a:lnTo>
                    <a:pt x="2522" y="7327"/>
                  </a:lnTo>
                  <a:lnTo>
                    <a:pt x="2609" y="7888"/>
                  </a:lnTo>
                  <a:lnTo>
                    <a:pt x="2783" y="8523"/>
                  </a:lnTo>
                  <a:lnTo>
                    <a:pt x="3043" y="9047"/>
                  </a:lnTo>
                  <a:lnTo>
                    <a:pt x="3130" y="9607"/>
                  </a:lnTo>
                  <a:lnTo>
                    <a:pt x="3130" y="10131"/>
                  </a:lnTo>
                  <a:lnTo>
                    <a:pt x="3478" y="10654"/>
                  </a:lnTo>
                  <a:lnTo>
                    <a:pt x="3652" y="11178"/>
                  </a:lnTo>
                  <a:lnTo>
                    <a:pt x="4000" y="11701"/>
                  </a:lnTo>
                  <a:lnTo>
                    <a:pt x="4174" y="12187"/>
                  </a:lnTo>
                  <a:lnTo>
                    <a:pt x="4348" y="12673"/>
                  </a:lnTo>
                  <a:lnTo>
                    <a:pt x="4435" y="13159"/>
                  </a:lnTo>
                  <a:lnTo>
                    <a:pt x="4609" y="13720"/>
                  </a:lnTo>
                  <a:lnTo>
                    <a:pt x="4870" y="14056"/>
                  </a:lnTo>
                  <a:lnTo>
                    <a:pt x="5217" y="14542"/>
                  </a:lnTo>
                  <a:lnTo>
                    <a:pt x="5478" y="14953"/>
                  </a:lnTo>
                  <a:lnTo>
                    <a:pt x="5652" y="15477"/>
                  </a:lnTo>
                  <a:lnTo>
                    <a:pt x="5739" y="15850"/>
                  </a:lnTo>
                  <a:lnTo>
                    <a:pt x="6087" y="16262"/>
                  </a:lnTo>
                  <a:lnTo>
                    <a:pt x="6174" y="16636"/>
                  </a:lnTo>
                  <a:lnTo>
                    <a:pt x="6522" y="16935"/>
                  </a:lnTo>
                  <a:lnTo>
                    <a:pt x="6783" y="17196"/>
                  </a:lnTo>
                  <a:lnTo>
                    <a:pt x="6870" y="17607"/>
                  </a:lnTo>
                  <a:lnTo>
                    <a:pt x="7130" y="17981"/>
                  </a:lnTo>
                  <a:lnTo>
                    <a:pt x="7217" y="18131"/>
                  </a:lnTo>
                  <a:lnTo>
                    <a:pt x="7565" y="18430"/>
                  </a:lnTo>
                  <a:lnTo>
                    <a:pt x="7565" y="18692"/>
                  </a:lnTo>
                  <a:lnTo>
                    <a:pt x="7652" y="18953"/>
                  </a:lnTo>
                  <a:lnTo>
                    <a:pt x="7826" y="19140"/>
                  </a:lnTo>
                  <a:lnTo>
                    <a:pt x="8087" y="19327"/>
                  </a:lnTo>
                  <a:lnTo>
                    <a:pt x="8522" y="19439"/>
                  </a:lnTo>
                  <a:lnTo>
                    <a:pt x="8609" y="19626"/>
                  </a:lnTo>
                  <a:lnTo>
                    <a:pt x="8957" y="19776"/>
                  </a:lnTo>
                  <a:lnTo>
                    <a:pt x="9130" y="19850"/>
                  </a:lnTo>
                  <a:lnTo>
                    <a:pt x="9304" y="19850"/>
                  </a:lnTo>
                  <a:lnTo>
                    <a:pt x="9478" y="19963"/>
                  </a:lnTo>
                  <a:lnTo>
                    <a:pt x="9652" y="19963"/>
                  </a:lnTo>
                  <a:lnTo>
                    <a:pt x="9826" y="19963"/>
                  </a:lnTo>
                  <a:lnTo>
                    <a:pt x="10174" y="19850"/>
                  </a:lnTo>
                  <a:lnTo>
                    <a:pt x="10348" y="19850"/>
                  </a:lnTo>
                  <a:lnTo>
                    <a:pt x="10522" y="19738"/>
                  </a:lnTo>
                  <a:lnTo>
                    <a:pt x="10696" y="19477"/>
                  </a:lnTo>
                  <a:lnTo>
                    <a:pt x="10870" y="19327"/>
                  </a:lnTo>
                  <a:lnTo>
                    <a:pt x="11391" y="19103"/>
                  </a:lnTo>
                  <a:lnTo>
                    <a:pt x="11391" y="18879"/>
                  </a:lnTo>
                  <a:lnTo>
                    <a:pt x="11913" y="18542"/>
                  </a:lnTo>
                  <a:lnTo>
                    <a:pt x="12174" y="18243"/>
                  </a:lnTo>
                  <a:lnTo>
                    <a:pt x="12348" y="17907"/>
                  </a:lnTo>
                  <a:lnTo>
                    <a:pt x="12522" y="17495"/>
                  </a:lnTo>
                  <a:lnTo>
                    <a:pt x="12522" y="17159"/>
                  </a:lnTo>
                  <a:lnTo>
                    <a:pt x="12870" y="16710"/>
                  </a:lnTo>
                  <a:lnTo>
                    <a:pt x="13130" y="16262"/>
                  </a:lnTo>
                  <a:lnTo>
                    <a:pt x="13217" y="15813"/>
                  </a:lnTo>
                  <a:lnTo>
                    <a:pt x="13565" y="15364"/>
                  </a:lnTo>
                  <a:lnTo>
                    <a:pt x="13913" y="14841"/>
                  </a:lnTo>
                  <a:lnTo>
                    <a:pt x="14087" y="14355"/>
                  </a:lnTo>
                  <a:lnTo>
                    <a:pt x="14348" y="13832"/>
                  </a:lnTo>
                  <a:lnTo>
                    <a:pt x="14696" y="13346"/>
                  </a:lnTo>
                  <a:lnTo>
                    <a:pt x="14783" y="12822"/>
                  </a:lnTo>
                  <a:lnTo>
                    <a:pt x="15304" y="12187"/>
                  </a:lnTo>
                  <a:lnTo>
                    <a:pt x="15565" y="11664"/>
                  </a:lnTo>
                  <a:lnTo>
                    <a:pt x="15652" y="11103"/>
                  </a:lnTo>
                  <a:lnTo>
                    <a:pt x="15826" y="10579"/>
                  </a:lnTo>
                  <a:lnTo>
                    <a:pt x="16087" y="10019"/>
                  </a:lnTo>
                  <a:lnTo>
                    <a:pt x="16435" y="9495"/>
                  </a:lnTo>
                  <a:lnTo>
                    <a:pt x="16783" y="8897"/>
                  </a:lnTo>
                  <a:lnTo>
                    <a:pt x="16870" y="8336"/>
                  </a:lnTo>
                  <a:lnTo>
                    <a:pt x="16957" y="7813"/>
                  </a:lnTo>
                  <a:lnTo>
                    <a:pt x="17217" y="7327"/>
                  </a:lnTo>
                  <a:lnTo>
                    <a:pt x="17391" y="6804"/>
                  </a:lnTo>
                  <a:lnTo>
                    <a:pt x="17565" y="6206"/>
                  </a:lnTo>
                  <a:lnTo>
                    <a:pt x="17565" y="5682"/>
                  </a:lnTo>
                  <a:lnTo>
                    <a:pt x="18087" y="5196"/>
                  </a:lnTo>
                  <a:lnTo>
                    <a:pt x="18348" y="4673"/>
                  </a:lnTo>
                  <a:lnTo>
                    <a:pt x="18435" y="4262"/>
                  </a:lnTo>
                  <a:lnTo>
                    <a:pt x="18696" y="3776"/>
                  </a:lnTo>
                  <a:lnTo>
                    <a:pt x="18957" y="3364"/>
                  </a:lnTo>
                  <a:lnTo>
                    <a:pt x="19130" y="3028"/>
                  </a:lnTo>
                  <a:lnTo>
                    <a:pt x="19391" y="2654"/>
                  </a:lnTo>
                  <a:lnTo>
                    <a:pt x="19391" y="2243"/>
                  </a:lnTo>
                  <a:lnTo>
                    <a:pt x="19478" y="1907"/>
                  </a:lnTo>
                  <a:lnTo>
                    <a:pt x="19565" y="1645"/>
                  </a:lnTo>
                  <a:lnTo>
                    <a:pt x="19826" y="1346"/>
                  </a:lnTo>
                  <a:lnTo>
                    <a:pt x="19826" y="1047"/>
                  </a:lnTo>
                  <a:lnTo>
                    <a:pt x="19913" y="86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11" name="AutoShape 29">
              <a:extLst>
                <a:ext uri="{FF2B5EF4-FFF2-40B4-BE49-F238E27FC236}">
                  <a16:creationId xmlns:a16="http://schemas.microsoft.com/office/drawing/2014/main" id="{729B1A11-5560-8249-9224-29DE42F89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" y="1794"/>
              <a:ext cx="131" cy="26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70"/>
                  </a:moveTo>
                  <a:lnTo>
                    <a:pt x="183" y="18507"/>
                  </a:lnTo>
                  <a:lnTo>
                    <a:pt x="459" y="17887"/>
                  </a:lnTo>
                  <a:lnTo>
                    <a:pt x="642" y="17324"/>
                  </a:lnTo>
                  <a:lnTo>
                    <a:pt x="642" y="16704"/>
                  </a:lnTo>
                  <a:lnTo>
                    <a:pt x="917" y="16085"/>
                  </a:lnTo>
                  <a:lnTo>
                    <a:pt x="1376" y="15521"/>
                  </a:lnTo>
                  <a:lnTo>
                    <a:pt x="1560" y="14873"/>
                  </a:lnTo>
                  <a:lnTo>
                    <a:pt x="1927" y="14282"/>
                  </a:lnTo>
                  <a:lnTo>
                    <a:pt x="2110" y="13718"/>
                  </a:lnTo>
                  <a:lnTo>
                    <a:pt x="2477" y="13127"/>
                  </a:lnTo>
                  <a:lnTo>
                    <a:pt x="2477" y="12620"/>
                  </a:lnTo>
                  <a:lnTo>
                    <a:pt x="2569" y="12085"/>
                  </a:lnTo>
                  <a:lnTo>
                    <a:pt x="2844" y="11465"/>
                  </a:lnTo>
                  <a:lnTo>
                    <a:pt x="2936" y="10901"/>
                  </a:lnTo>
                  <a:lnTo>
                    <a:pt x="3211" y="10366"/>
                  </a:lnTo>
                  <a:lnTo>
                    <a:pt x="3211" y="9831"/>
                  </a:lnTo>
                  <a:lnTo>
                    <a:pt x="3670" y="9239"/>
                  </a:lnTo>
                  <a:lnTo>
                    <a:pt x="4128" y="8817"/>
                  </a:lnTo>
                  <a:lnTo>
                    <a:pt x="4312" y="8197"/>
                  </a:lnTo>
                  <a:lnTo>
                    <a:pt x="4404" y="7718"/>
                  </a:lnTo>
                  <a:lnTo>
                    <a:pt x="4679" y="7211"/>
                  </a:lnTo>
                  <a:lnTo>
                    <a:pt x="4862" y="6845"/>
                  </a:lnTo>
                  <a:lnTo>
                    <a:pt x="5046" y="6366"/>
                  </a:lnTo>
                  <a:lnTo>
                    <a:pt x="5321" y="5915"/>
                  </a:lnTo>
                  <a:lnTo>
                    <a:pt x="5413" y="5380"/>
                  </a:lnTo>
                  <a:lnTo>
                    <a:pt x="5872" y="5014"/>
                  </a:lnTo>
                  <a:lnTo>
                    <a:pt x="5872" y="4563"/>
                  </a:lnTo>
                  <a:lnTo>
                    <a:pt x="6422" y="4141"/>
                  </a:lnTo>
                  <a:lnTo>
                    <a:pt x="6606" y="3803"/>
                  </a:lnTo>
                  <a:lnTo>
                    <a:pt x="6606" y="3380"/>
                  </a:lnTo>
                  <a:lnTo>
                    <a:pt x="7064" y="3014"/>
                  </a:lnTo>
                  <a:lnTo>
                    <a:pt x="7064" y="2676"/>
                  </a:lnTo>
                  <a:lnTo>
                    <a:pt x="7431" y="2479"/>
                  </a:lnTo>
                  <a:lnTo>
                    <a:pt x="7523" y="2113"/>
                  </a:lnTo>
                  <a:lnTo>
                    <a:pt x="7523" y="1831"/>
                  </a:lnTo>
                  <a:lnTo>
                    <a:pt x="7890" y="1549"/>
                  </a:lnTo>
                  <a:lnTo>
                    <a:pt x="7982" y="1324"/>
                  </a:lnTo>
                  <a:lnTo>
                    <a:pt x="8440" y="1099"/>
                  </a:lnTo>
                  <a:lnTo>
                    <a:pt x="8440" y="845"/>
                  </a:lnTo>
                  <a:lnTo>
                    <a:pt x="8899" y="676"/>
                  </a:lnTo>
                  <a:lnTo>
                    <a:pt x="8991" y="479"/>
                  </a:lnTo>
                  <a:lnTo>
                    <a:pt x="9174" y="423"/>
                  </a:lnTo>
                  <a:lnTo>
                    <a:pt x="9358" y="282"/>
                  </a:lnTo>
                  <a:lnTo>
                    <a:pt x="9358" y="141"/>
                  </a:lnTo>
                  <a:lnTo>
                    <a:pt x="9725" y="113"/>
                  </a:lnTo>
                  <a:lnTo>
                    <a:pt x="10183" y="28"/>
                  </a:lnTo>
                  <a:lnTo>
                    <a:pt x="10367" y="0"/>
                  </a:lnTo>
                  <a:lnTo>
                    <a:pt x="10642" y="28"/>
                  </a:lnTo>
                  <a:lnTo>
                    <a:pt x="10734" y="28"/>
                  </a:lnTo>
                  <a:lnTo>
                    <a:pt x="10826" y="113"/>
                  </a:lnTo>
                  <a:lnTo>
                    <a:pt x="11009" y="197"/>
                  </a:lnTo>
                  <a:lnTo>
                    <a:pt x="11468" y="423"/>
                  </a:lnTo>
                  <a:lnTo>
                    <a:pt x="11560" y="535"/>
                  </a:lnTo>
                  <a:lnTo>
                    <a:pt x="12018" y="761"/>
                  </a:lnTo>
                  <a:lnTo>
                    <a:pt x="12110" y="1014"/>
                  </a:lnTo>
                  <a:lnTo>
                    <a:pt x="12477" y="1268"/>
                  </a:lnTo>
                  <a:lnTo>
                    <a:pt x="12477" y="1549"/>
                  </a:lnTo>
                  <a:lnTo>
                    <a:pt x="12569" y="1887"/>
                  </a:lnTo>
                  <a:lnTo>
                    <a:pt x="12936" y="2310"/>
                  </a:lnTo>
                  <a:lnTo>
                    <a:pt x="12936" y="2676"/>
                  </a:lnTo>
                  <a:lnTo>
                    <a:pt x="13394" y="3127"/>
                  </a:lnTo>
                  <a:lnTo>
                    <a:pt x="13394" y="3493"/>
                  </a:lnTo>
                  <a:lnTo>
                    <a:pt x="13578" y="3972"/>
                  </a:lnTo>
                  <a:lnTo>
                    <a:pt x="14128" y="4451"/>
                  </a:lnTo>
                  <a:lnTo>
                    <a:pt x="14220" y="4986"/>
                  </a:lnTo>
                  <a:lnTo>
                    <a:pt x="14587" y="5437"/>
                  </a:lnTo>
                  <a:lnTo>
                    <a:pt x="14862" y="6000"/>
                  </a:lnTo>
                  <a:lnTo>
                    <a:pt x="15046" y="6507"/>
                  </a:lnTo>
                  <a:lnTo>
                    <a:pt x="15138" y="7070"/>
                  </a:lnTo>
                  <a:lnTo>
                    <a:pt x="15321" y="7577"/>
                  </a:lnTo>
                  <a:lnTo>
                    <a:pt x="15596" y="8169"/>
                  </a:lnTo>
                  <a:lnTo>
                    <a:pt x="15780" y="8817"/>
                  </a:lnTo>
                  <a:lnTo>
                    <a:pt x="15963" y="9324"/>
                  </a:lnTo>
                  <a:lnTo>
                    <a:pt x="16330" y="9915"/>
                  </a:lnTo>
                  <a:lnTo>
                    <a:pt x="16789" y="10451"/>
                  </a:lnTo>
                  <a:lnTo>
                    <a:pt x="16789" y="11042"/>
                  </a:lnTo>
                  <a:lnTo>
                    <a:pt x="17064" y="11634"/>
                  </a:lnTo>
                  <a:lnTo>
                    <a:pt x="17248" y="12197"/>
                  </a:lnTo>
                  <a:lnTo>
                    <a:pt x="17431" y="12789"/>
                  </a:lnTo>
                  <a:lnTo>
                    <a:pt x="17523" y="13296"/>
                  </a:lnTo>
                  <a:lnTo>
                    <a:pt x="17523" y="13803"/>
                  </a:lnTo>
                  <a:lnTo>
                    <a:pt x="17890" y="14394"/>
                  </a:lnTo>
                  <a:lnTo>
                    <a:pt x="17890" y="14930"/>
                  </a:lnTo>
                  <a:lnTo>
                    <a:pt x="18349" y="15437"/>
                  </a:lnTo>
                  <a:lnTo>
                    <a:pt x="18440" y="15887"/>
                  </a:lnTo>
                  <a:lnTo>
                    <a:pt x="18624" y="16451"/>
                  </a:lnTo>
                  <a:lnTo>
                    <a:pt x="18991" y="16845"/>
                  </a:lnTo>
                  <a:lnTo>
                    <a:pt x="19083" y="17324"/>
                  </a:lnTo>
                  <a:lnTo>
                    <a:pt x="19358" y="17718"/>
                  </a:lnTo>
                  <a:lnTo>
                    <a:pt x="19358" y="18169"/>
                  </a:lnTo>
                  <a:lnTo>
                    <a:pt x="19450" y="18563"/>
                  </a:lnTo>
                  <a:lnTo>
                    <a:pt x="19541" y="18845"/>
                  </a:lnTo>
                  <a:lnTo>
                    <a:pt x="19633" y="19155"/>
                  </a:lnTo>
                  <a:lnTo>
                    <a:pt x="19817" y="19521"/>
                  </a:lnTo>
                  <a:lnTo>
                    <a:pt x="19908" y="19718"/>
                  </a:lnTo>
                  <a:lnTo>
                    <a:pt x="19908" y="19972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12" name="AutoShape 30">
              <a:extLst>
                <a:ext uri="{FF2B5EF4-FFF2-40B4-BE49-F238E27FC236}">
                  <a16:creationId xmlns:a16="http://schemas.microsoft.com/office/drawing/2014/main" id="{9115ACC9-4531-DB33-4A36-E7B47CE97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3" y="2037"/>
              <a:ext cx="138" cy="26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74" y="614"/>
                  </a:lnTo>
                  <a:lnTo>
                    <a:pt x="348" y="1287"/>
                  </a:lnTo>
                  <a:lnTo>
                    <a:pt x="522" y="1901"/>
                  </a:lnTo>
                  <a:lnTo>
                    <a:pt x="609" y="2544"/>
                  </a:lnTo>
                  <a:lnTo>
                    <a:pt x="870" y="3129"/>
                  </a:lnTo>
                  <a:lnTo>
                    <a:pt x="1304" y="3713"/>
                  </a:lnTo>
                  <a:lnTo>
                    <a:pt x="1304" y="4357"/>
                  </a:lnTo>
                  <a:lnTo>
                    <a:pt x="1565" y="4971"/>
                  </a:lnTo>
                  <a:lnTo>
                    <a:pt x="1652" y="5556"/>
                  </a:lnTo>
                  <a:lnTo>
                    <a:pt x="2261" y="6170"/>
                  </a:lnTo>
                  <a:lnTo>
                    <a:pt x="2435" y="6754"/>
                  </a:lnTo>
                  <a:lnTo>
                    <a:pt x="2522" y="7310"/>
                  </a:lnTo>
                  <a:lnTo>
                    <a:pt x="2609" y="7865"/>
                  </a:lnTo>
                  <a:lnTo>
                    <a:pt x="2783" y="8480"/>
                  </a:lnTo>
                  <a:lnTo>
                    <a:pt x="3043" y="9006"/>
                  </a:lnTo>
                  <a:lnTo>
                    <a:pt x="3130" y="9561"/>
                  </a:lnTo>
                  <a:lnTo>
                    <a:pt x="3130" y="10117"/>
                  </a:lnTo>
                  <a:lnTo>
                    <a:pt x="3478" y="10673"/>
                  </a:lnTo>
                  <a:lnTo>
                    <a:pt x="3652" y="11199"/>
                  </a:lnTo>
                  <a:lnTo>
                    <a:pt x="4000" y="11725"/>
                  </a:lnTo>
                  <a:lnTo>
                    <a:pt x="4174" y="12222"/>
                  </a:lnTo>
                  <a:lnTo>
                    <a:pt x="4348" y="12690"/>
                  </a:lnTo>
                  <a:lnTo>
                    <a:pt x="4435" y="13187"/>
                  </a:lnTo>
                  <a:lnTo>
                    <a:pt x="4609" y="13626"/>
                  </a:lnTo>
                  <a:lnTo>
                    <a:pt x="4870" y="14123"/>
                  </a:lnTo>
                  <a:lnTo>
                    <a:pt x="5217" y="14561"/>
                  </a:lnTo>
                  <a:lnTo>
                    <a:pt x="5478" y="15029"/>
                  </a:lnTo>
                  <a:lnTo>
                    <a:pt x="5652" y="15439"/>
                  </a:lnTo>
                  <a:lnTo>
                    <a:pt x="5739" y="15848"/>
                  </a:lnTo>
                  <a:lnTo>
                    <a:pt x="6087" y="16199"/>
                  </a:lnTo>
                  <a:lnTo>
                    <a:pt x="6174" y="16637"/>
                  </a:lnTo>
                  <a:lnTo>
                    <a:pt x="6522" y="16959"/>
                  </a:lnTo>
                  <a:lnTo>
                    <a:pt x="6783" y="17339"/>
                  </a:lnTo>
                  <a:lnTo>
                    <a:pt x="6870" y="17515"/>
                  </a:lnTo>
                  <a:lnTo>
                    <a:pt x="7130" y="17924"/>
                  </a:lnTo>
                  <a:lnTo>
                    <a:pt x="7217" y="18129"/>
                  </a:lnTo>
                  <a:lnTo>
                    <a:pt x="7565" y="18480"/>
                  </a:lnTo>
                  <a:lnTo>
                    <a:pt x="7565" y="18713"/>
                  </a:lnTo>
                  <a:lnTo>
                    <a:pt x="7652" y="18918"/>
                  </a:lnTo>
                  <a:lnTo>
                    <a:pt x="7826" y="19123"/>
                  </a:lnTo>
                  <a:lnTo>
                    <a:pt x="8087" y="19327"/>
                  </a:lnTo>
                  <a:lnTo>
                    <a:pt x="8522" y="19503"/>
                  </a:lnTo>
                  <a:lnTo>
                    <a:pt x="8609" y="19561"/>
                  </a:lnTo>
                  <a:lnTo>
                    <a:pt x="8957" y="19708"/>
                  </a:lnTo>
                  <a:lnTo>
                    <a:pt x="9130" y="19854"/>
                  </a:lnTo>
                  <a:lnTo>
                    <a:pt x="9304" y="19883"/>
                  </a:lnTo>
                  <a:lnTo>
                    <a:pt x="9478" y="19971"/>
                  </a:lnTo>
                  <a:lnTo>
                    <a:pt x="9652" y="19971"/>
                  </a:lnTo>
                  <a:lnTo>
                    <a:pt x="9826" y="19971"/>
                  </a:lnTo>
                  <a:lnTo>
                    <a:pt x="10174" y="19883"/>
                  </a:lnTo>
                  <a:lnTo>
                    <a:pt x="10348" y="19854"/>
                  </a:lnTo>
                  <a:lnTo>
                    <a:pt x="10522" y="19708"/>
                  </a:lnTo>
                  <a:lnTo>
                    <a:pt x="10696" y="19503"/>
                  </a:lnTo>
                  <a:lnTo>
                    <a:pt x="10870" y="19327"/>
                  </a:lnTo>
                  <a:lnTo>
                    <a:pt x="11391" y="19123"/>
                  </a:lnTo>
                  <a:lnTo>
                    <a:pt x="11391" y="18801"/>
                  </a:lnTo>
                  <a:lnTo>
                    <a:pt x="11913" y="18538"/>
                  </a:lnTo>
                  <a:lnTo>
                    <a:pt x="12174" y="18216"/>
                  </a:lnTo>
                  <a:lnTo>
                    <a:pt x="12348" y="17924"/>
                  </a:lnTo>
                  <a:lnTo>
                    <a:pt x="12522" y="17515"/>
                  </a:lnTo>
                  <a:lnTo>
                    <a:pt x="12522" y="17164"/>
                  </a:lnTo>
                  <a:lnTo>
                    <a:pt x="12870" y="16725"/>
                  </a:lnTo>
                  <a:lnTo>
                    <a:pt x="13130" y="16287"/>
                  </a:lnTo>
                  <a:lnTo>
                    <a:pt x="13217" y="15819"/>
                  </a:lnTo>
                  <a:lnTo>
                    <a:pt x="13565" y="15351"/>
                  </a:lnTo>
                  <a:lnTo>
                    <a:pt x="13913" y="14854"/>
                  </a:lnTo>
                  <a:lnTo>
                    <a:pt x="14087" y="14386"/>
                  </a:lnTo>
                  <a:lnTo>
                    <a:pt x="14348" y="13830"/>
                  </a:lnTo>
                  <a:lnTo>
                    <a:pt x="14696" y="13304"/>
                  </a:lnTo>
                  <a:lnTo>
                    <a:pt x="14783" y="12778"/>
                  </a:lnTo>
                  <a:lnTo>
                    <a:pt x="15304" y="12222"/>
                  </a:lnTo>
                  <a:lnTo>
                    <a:pt x="15565" y="11579"/>
                  </a:lnTo>
                  <a:lnTo>
                    <a:pt x="15652" y="11082"/>
                  </a:lnTo>
                  <a:lnTo>
                    <a:pt x="15826" y="10556"/>
                  </a:lnTo>
                  <a:lnTo>
                    <a:pt x="16087" y="10000"/>
                  </a:lnTo>
                  <a:lnTo>
                    <a:pt x="16435" y="9444"/>
                  </a:lnTo>
                  <a:lnTo>
                    <a:pt x="16783" y="8947"/>
                  </a:lnTo>
                  <a:lnTo>
                    <a:pt x="16870" y="8421"/>
                  </a:lnTo>
                  <a:lnTo>
                    <a:pt x="16957" y="7778"/>
                  </a:lnTo>
                  <a:lnTo>
                    <a:pt x="17217" y="7310"/>
                  </a:lnTo>
                  <a:lnTo>
                    <a:pt x="17391" y="6754"/>
                  </a:lnTo>
                  <a:lnTo>
                    <a:pt x="17565" y="6257"/>
                  </a:lnTo>
                  <a:lnTo>
                    <a:pt x="17565" y="5731"/>
                  </a:lnTo>
                  <a:lnTo>
                    <a:pt x="18087" y="5234"/>
                  </a:lnTo>
                  <a:lnTo>
                    <a:pt x="18348" y="4737"/>
                  </a:lnTo>
                  <a:lnTo>
                    <a:pt x="18435" y="4269"/>
                  </a:lnTo>
                  <a:lnTo>
                    <a:pt x="18696" y="3860"/>
                  </a:lnTo>
                  <a:lnTo>
                    <a:pt x="18957" y="3363"/>
                  </a:lnTo>
                  <a:lnTo>
                    <a:pt x="19130" y="2953"/>
                  </a:lnTo>
                  <a:lnTo>
                    <a:pt x="19391" y="2573"/>
                  </a:lnTo>
                  <a:lnTo>
                    <a:pt x="19391" y="2251"/>
                  </a:lnTo>
                  <a:lnTo>
                    <a:pt x="19478" y="1901"/>
                  </a:lnTo>
                  <a:lnTo>
                    <a:pt x="19565" y="1579"/>
                  </a:lnTo>
                  <a:lnTo>
                    <a:pt x="19826" y="1374"/>
                  </a:lnTo>
                  <a:lnTo>
                    <a:pt x="19826" y="1082"/>
                  </a:lnTo>
                  <a:lnTo>
                    <a:pt x="19913" y="877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13" name="AutoShape 31">
              <a:extLst>
                <a:ext uri="{FF2B5EF4-FFF2-40B4-BE49-F238E27FC236}">
                  <a16:creationId xmlns:a16="http://schemas.microsoft.com/office/drawing/2014/main" id="{0C5D0FCC-4689-BD87-C3F1-F97F33558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4" y="1806"/>
              <a:ext cx="130" cy="24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90"/>
                  </a:moveTo>
                  <a:lnTo>
                    <a:pt x="183" y="18483"/>
                  </a:lnTo>
                  <a:lnTo>
                    <a:pt x="459" y="17936"/>
                  </a:lnTo>
                  <a:lnTo>
                    <a:pt x="642" y="17269"/>
                  </a:lnTo>
                  <a:lnTo>
                    <a:pt x="642" y="16692"/>
                  </a:lnTo>
                  <a:lnTo>
                    <a:pt x="917" y="16146"/>
                  </a:lnTo>
                  <a:lnTo>
                    <a:pt x="1376" y="15539"/>
                  </a:lnTo>
                  <a:lnTo>
                    <a:pt x="1560" y="14871"/>
                  </a:lnTo>
                  <a:lnTo>
                    <a:pt x="1927" y="14325"/>
                  </a:lnTo>
                  <a:lnTo>
                    <a:pt x="2110" y="13718"/>
                  </a:lnTo>
                  <a:lnTo>
                    <a:pt x="2477" y="13111"/>
                  </a:lnTo>
                  <a:lnTo>
                    <a:pt x="2477" y="12595"/>
                  </a:lnTo>
                  <a:lnTo>
                    <a:pt x="2569" y="12049"/>
                  </a:lnTo>
                  <a:lnTo>
                    <a:pt x="2844" y="11472"/>
                  </a:lnTo>
                  <a:lnTo>
                    <a:pt x="2936" y="10926"/>
                  </a:lnTo>
                  <a:lnTo>
                    <a:pt x="3211" y="10349"/>
                  </a:lnTo>
                  <a:lnTo>
                    <a:pt x="3211" y="9894"/>
                  </a:lnTo>
                  <a:lnTo>
                    <a:pt x="3670" y="9317"/>
                  </a:lnTo>
                  <a:lnTo>
                    <a:pt x="4128" y="8741"/>
                  </a:lnTo>
                  <a:lnTo>
                    <a:pt x="4312" y="8194"/>
                  </a:lnTo>
                  <a:lnTo>
                    <a:pt x="4404" y="7709"/>
                  </a:lnTo>
                  <a:lnTo>
                    <a:pt x="4679" y="7223"/>
                  </a:lnTo>
                  <a:lnTo>
                    <a:pt x="4862" y="6798"/>
                  </a:lnTo>
                  <a:lnTo>
                    <a:pt x="5046" y="6282"/>
                  </a:lnTo>
                  <a:lnTo>
                    <a:pt x="5321" y="5857"/>
                  </a:lnTo>
                  <a:lnTo>
                    <a:pt x="5413" y="5402"/>
                  </a:lnTo>
                  <a:lnTo>
                    <a:pt x="5872" y="4947"/>
                  </a:lnTo>
                  <a:lnTo>
                    <a:pt x="5872" y="4613"/>
                  </a:lnTo>
                  <a:lnTo>
                    <a:pt x="6422" y="4188"/>
                  </a:lnTo>
                  <a:lnTo>
                    <a:pt x="6606" y="3763"/>
                  </a:lnTo>
                  <a:lnTo>
                    <a:pt x="6606" y="3399"/>
                  </a:lnTo>
                  <a:lnTo>
                    <a:pt x="7064" y="3005"/>
                  </a:lnTo>
                  <a:lnTo>
                    <a:pt x="7064" y="2731"/>
                  </a:lnTo>
                  <a:lnTo>
                    <a:pt x="7431" y="2458"/>
                  </a:lnTo>
                  <a:lnTo>
                    <a:pt x="7523" y="2064"/>
                  </a:lnTo>
                  <a:lnTo>
                    <a:pt x="7523" y="1851"/>
                  </a:lnTo>
                  <a:lnTo>
                    <a:pt x="7890" y="1548"/>
                  </a:lnTo>
                  <a:lnTo>
                    <a:pt x="7982" y="1335"/>
                  </a:lnTo>
                  <a:lnTo>
                    <a:pt x="8440" y="1062"/>
                  </a:lnTo>
                  <a:lnTo>
                    <a:pt x="8440" y="910"/>
                  </a:lnTo>
                  <a:lnTo>
                    <a:pt x="8899" y="637"/>
                  </a:lnTo>
                  <a:lnTo>
                    <a:pt x="8991" y="516"/>
                  </a:lnTo>
                  <a:lnTo>
                    <a:pt x="9174" y="455"/>
                  </a:lnTo>
                  <a:lnTo>
                    <a:pt x="9358" y="182"/>
                  </a:lnTo>
                  <a:lnTo>
                    <a:pt x="9358" y="152"/>
                  </a:lnTo>
                  <a:lnTo>
                    <a:pt x="9725" y="121"/>
                  </a:lnTo>
                  <a:lnTo>
                    <a:pt x="10183" y="30"/>
                  </a:lnTo>
                  <a:lnTo>
                    <a:pt x="10367" y="0"/>
                  </a:lnTo>
                  <a:lnTo>
                    <a:pt x="10642" y="30"/>
                  </a:lnTo>
                  <a:lnTo>
                    <a:pt x="10734" y="30"/>
                  </a:lnTo>
                  <a:lnTo>
                    <a:pt x="10826" y="121"/>
                  </a:lnTo>
                  <a:lnTo>
                    <a:pt x="11009" y="152"/>
                  </a:lnTo>
                  <a:lnTo>
                    <a:pt x="11468" y="425"/>
                  </a:lnTo>
                  <a:lnTo>
                    <a:pt x="11560" y="516"/>
                  </a:lnTo>
                  <a:lnTo>
                    <a:pt x="12018" y="819"/>
                  </a:lnTo>
                  <a:lnTo>
                    <a:pt x="12110" y="1002"/>
                  </a:lnTo>
                  <a:lnTo>
                    <a:pt x="12477" y="1275"/>
                  </a:lnTo>
                  <a:lnTo>
                    <a:pt x="12477" y="1548"/>
                  </a:lnTo>
                  <a:lnTo>
                    <a:pt x="12569" y="1851"/>
                  </a:lnTo>
                  <a:lnTo>
                    <a:pt x="12936" y="2307"/>
                  </a:lnTo>
                  <a:lnTo>
                    <a:pt x="12936" y="2731"/>
                  </a:lnTo>
                  <a:lnTo>
                    <a:pt x="13394" y="3065"/>
                  </a:lnTo>
                  <a:lnTo>
                    <a:pt x="13394" y="3490"/>
                  </a:lnTo>
                  <a:lnTo>
                    <a:pt x="13578" y="3976"/>
                  </a:lnTo>
                  <a:lnTo>
                    <a:pt x="14128" y="4431"/>
                  </a:lnTo>
                  <a:lnTo>
                    <a:pt x="14220" y="4917"/>
                  </a:lnTo>
                  <a:lnTo>
                    <a:pt x="14587" y="5524"/>
                  </a:lnTo>
                  <a:lnTo>
                    <a:pt x="14862" y="5979"/>
                  </a:lnTo>
                  <a:lnTo>
                    <a:pt x="15046" y="6616"/>
                  </a:lnTo>
                  <a:lnTo>
                    <a:pt x="15138" y="7041"/>
                  </a:lnTo>
                  <a:lnTo>
                    <a:pt x="15321" y="7587"/>
                  </a:lnTo>
                  <a:lnTo>
                    <a:pt x="15596" y="8164"/>
                  </a:lnTo>
                  <a:lnTo>
                    <a:pt x="15780" y="8741"/>
                  </a:lnTo>
                  <a:lnTo>
                    <a:pt x="15963" y="9317"/>
                  </a:lnTo>
                  <a:lnTo>
                    <a:pt x="16330" y="9924"/>
                  </a:lnTo>
                  <a:lnTo>
                    <a:pt x="16789" y="10501"/>
                  </a:lnTo>
                  <a:lnTo>
                    <a:pt x="16789" y="11047"/>
                  </a:lnTo>
                  <a:lnTo>
                    <a:pt x="17064" y="11624"/>
                  </a:lnTo>
                  <a:lnTo>
                    <a:pt x="17248" y="12231"/>
                  </a:lnTo>
                  <a:lnTo>
                    <a:pt x="17431" y="12777"/>
                  </a:lnTo>
                  <a:lnTo>
                    <a:pt x="17523" y="13293"/>
                  </a:lnTo>
                  <a:lnTo>
                    <a:pt x="17523" y="13809"/>
                  </a:lnTo>
                  <a:lnTo>
                    <a:pt x="17890" y="14385"/>
                  </a:lnTo>
                  <a:lnTo>
                    <a:pt x="17890" y="14932"/>
                  </a:lnTo>
                  <a:lnTo>
                    <a:pt x="18349" y="15387"/>
                  </a:lnTo>
                  <a:lnTo>
                    <a:pt x="18440" y="15873"/>
                  </a:lnTo>
                  <a:lnTo>
                    <a:pt x="18624" y="16358"/>
                  </a:lnTo>
                  <a:lnTo>
                    <a:pt x="18991" y="16844"/>
                  </a:lnTo>
                  <a:lnTo>
                    <a:pt x="19083" y="17269"/>
                  </a:lnTo>
                  <a:lnTo>
                    <a:pt x="19358" y="17724"/>
                  </a:lnTo>
                  <a:lnTo>
                    <a:pt x="19358" y="18149"/>
                  </a:lnTo>
                  <a:lnTo>
                    <a:pt x="19450" y="18513"/>
                  </a:lnTo>
                  <a:lnTo>
                    <a:pt x="19541" y="18877"/>
                  </a:lnTo>
                  <a:lnTo>
                    <a:pt x="19633" y="19150"/>
                  </a:lnTo>
                  <a:lnTo>
                    <a:pt x="19817" y="19484"/>
                  </a:lnTo>
                  <a:lnTo>
                    <a:pt x="19908" y="19818"/>
                  </a:lnTo>
                  <a:lnTo>
                    <a:pt x="19908" y="1997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14" name="AutoShape 32">
              <a:extLst>
                <a:ext uri="{FF2B5EF4-FFF2-40B4-BE49-F238E27FC236}">
                  <a16:creationId xmlns:a16="http://schemas.microsoft.com/office/drawing/2014/main" id="{0CFFF3FB-3F46-6726-CFE8-07FDCA43F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2039"/>
              <a:ext cx="138" cy="21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74" y="599"/>
                  </a:lnTo>
                  <a:lnTo>
                    <a:pt x="348" y="1325"/>
                  </a:lnTo>
                  <a:lnTo>
                    <a:pt x="522" y="1924"/>
                  </a:lnTo>
                  <a:lnTo>
                    <a:pt x="609" y="2524"/>
                  </a:lnTo>
                  <a:lnTo>
                    <a:pt x="870" y="3155"/>
                  </a:lnTo>
                  <a:lnTo>
                    <a:pt x="1304" y="3691"/>
                  </a:lnTo>
                  <a:lnTo>
                    <a:pt x="1304" y="4385"/>
                  </a:lnTo>
                  <a:lnTo>
                    <a:pt x="1565" y="4984"/>
                  </a:lnTo>
                  <a:lnTo>
                    <a:pt x="1652" y="5552"/>
                  </a:lnTo>
                  <a:lnTo>
                    <a:pt x="2261" y="6151"/>
                  </a:lnTo>
                  <a:lnTo>
                    <a:pt x="2435" y="6845"/>
                  </a:lnTo>
                  <a:lnTo>
                    <a:pt x="2522" y="7350"/>
                  </a:lnTo>
                  <a:lnTo>
                    <a:pt x="2609" y="7886"/>
                  </a:lnTo>
                  <a:lnTo>
                    <a:pt x="2783" y="8486"/>
                  </a:lnTo>
                  <a:lnTo>
                    <a:pt x="3043" y="8991"/>
                  </a:lnTo>
                  <a:lnTo>
                    <a:pt x="3130" y="9590"/>
                  </a:lnTo>
                  <a:lnTo>
                    <a:pt x="3130" y="10126"/>
                  </a:lnTo>
                  <a:lnTo>
                    <a:pt x="3478" y="10631"/>
                  </a:lnTo>
                  <a:lnTo>
                    <a:pt x="3652" y="11167"/>
                  </a:lnTo>
                  <a:lnTo>
                    <a:pt x="4000" y="11703"/>
                  </a:lnTo>
                  <a:lnTo>
                    <a:pt x="4174" y="12177"/>
                  </a:lnTo>
                  <a:lnTo>
                    <a:pt x="4348" y="12650"/>
                  </a:lnTo>
                  <a:lnTo>
                    <a:pt x="4435" y="13155"/>
                  </a:lnTo>
                  <a:lnTo>
                    <a:pt x="4609" y="13628"/>
                  </a:lnTo>
                  <a:lnTo>
                    <a:pt x="4870" y="14164"/>
                  </a:lnTo>
                  <a:lnTo>
                    <a:pt x="5217" y="14479"/>
                  </a:lnTo>
                  <a:lnTo>
                    <a:pt x="5478" y="15016"/>
                  </a:lnTo>
                  <a:lnTo>
                    <a:pt x="5652" y="15426"/>
                  </a:lnTo>
                  <a:lnTo>
                    <a:pt x="5739" y="15868"/>
                  </a:lnTo>
                  <a:lnTo>
                    <a:pt x="6087" y="16183"/>
                  </a:lnTo>
                  <a:lnTo>
                    <a:pt x="6174" y="16625"/>
                  </a:lnTo>
                  <a:lnTo>
                    <a:pt x="6522" y="17003"/>
                  </a:lnTo>
                  <a:lnTo>
                    <a:pt x="6783" y="17350"/>
                  </a:lnTo>
                  <a:lnTo>
                    <a:pt x="6870" y="17571"/>
                  </a:lnTo>
                  <a:lnTo>
                    <a:pt x="7130" y="17950"/>
                  </a:lnTo>
                  <a:lnTo>
                    <a:pt x="7217" y="18170"/>
                  </a:lnTo>
                  <a:lnTo>
                    <a:pt x="7565" y="18454"/>
                  </a:lnTo>
                  <a:lnTo>
                    <a:pt x="7565" y="18675"/>
                  </a:lnTo>
                  <a:lnTo>
                    <a:pt x="7652" y="18896"/>
                  </a:lnTo>
                  <a:lnTo>
                    <a:pt x="7826" y="19117"/>
                  </a:lnTo>
                  <a:lnTo>
                    <a:pt x="8087" y="19369"/>
                  </a:lnTo>
                  <a:lnTo>
                    <a:pt x="8522" y="19464"/>
                  </a:lnTo>
                  <a:lnTo>
                    <a:pt x="8609" y="19558"/>
                  </a:lnTo>
                  <a:lnTo>
                    <a:pt x="8957" y="19811"/>
                  </a:lnTo>
                  <a:lnTo>
                    <a:pt x="9130" y="19842"/>
                  </a:lnTo>
                  <a:lnTo>
                    <a:pt x="9304" y="19874"/>
                  </a:lnTo>
                  <a:lnTo>
                    <a:pt x="9478" y="19968"/>
                  </a:lnTo>
                  <a:lnTo>
                    <a:pt x="9652" y="19968"/>
                  </a:lnTo>
                  <a:lnTo>
                    <a:pt x="9826" y="19968"/>
                  </a:lnTo>
                  <a:lnTo>
                    <a:pt x="10174" y="19874"/>
                  </a:lnTo>
                  <a:lnTo>
                    <a:pt x="10348" y="19842"/>
                  </a:lnTo>
                  <a:lnTo>
                    <a:pt x="10522" y="19811"/>
                  </a:lnTo>
                  <a:lnTo>
                    <a:pt x="10696" y="19464"/>
                  </a:lnTo>
                  <a:lnTo>
                    <a:pt x="10870" y="19369"/>
                  </a:lnTo>
                  <a:lnTo>
                    <a:pt x="11391" y="19054"/>
                  </a:lnTo>
                  <a:lnTo>
                    <a:pt x="11391" y="18864"/>
                  </a:lnTo>
                  <a:lnTo>
                    <a:pt x="11913" y="18486"/>
                  </a:lnTo>
                  <a:lnTo>
                    <a:pt x="12174" y="18233"/>
                  </a:lnTo>
                  <a:lnTo>
                    <a:pt x="12348" y="17950"/>
                  </a:lnTo>
                  <a:lnTo>
                    <a:pt x="12522" y="17476"/>
                  </a:lnTo>
                  <a:lnTo>
                    <a:pt x="12522" y="17161"/>
                  </a:lnTo>
                  <a:lnTo>
                    <a:pt x="12870" y="16688"/>
                  </a:lnTo>
                  <a:lnTo>
                    <a:pt x="13130" y="16309"/>
                  </a:lnTo>
                  <a:lnTo>
                    <a:pt x="13217" y="15868"/>
                  </a:lnTo>
                  <a:lnTo>
                    <a:pt x="13565" y="15363"/>
                  </a:lnTo>
                  <a:lnTo>
                    <a:pt x="13913" y="14890"/>
                  </a:lnTo>
                  <a:lnTo>
                    <a:pt x="14087" y="14353"/>
                  </a:lnTo>
                  <a:lnTo>
                    <a:pt x="14348" y="13849"/>
                  </a:lnTo>
                  <a:lnTo>
                    <a:pt x="14696" y="13312"/>
                  </a:lnTo>
                  <a:lnTo>
                    <a:pt x="14783" y="12808"/>
                  </a:lnTo>
                  <a:lnTo>
                    <a:pt x="15304" y="12177"/>
                  </a:lnTo>
                  <a:lnTo>
                    <a:pt x="15565" y="11672"/>
                  </a:lnTo>
                  <a:lnTo>
                    <a:pt x="15652" y="11073"/>
                  </a:lnTo>
                  <a:lnTo>
                    <a:pt x="15826" y="10536"/>
                  </a:lnTo>
                  <a:lnTo>
                    <a:pt x="16087" y="10000"/>
                  </a:lnTo>
                  <a:lnTo>
                    <a:pt x="16435" y="9464"/>
                  </a:lnTo>
                  <a:lnTo>
                    <a:pt x="16783" y="8927"/>
                  </a:lnTo>
                  <a:lnTo>
                    <a:pt x="16870" y="8360"/>
                  </a:lnTo>
                  <a:lnTo>
                    <a:pt x="16957" y="7823"/>
                  </a:lnTo>
                  <a:lnTo>
                    <a:pt x="17217" y="7350"/>
                  </a:lnTo>
                  <a:lnTo>
                    <a:pt x="17391" y="6845"/>
                  </a:lnTo>
                  <a:lnTo>
                    <a:pt x="17565" y="6151"/>
                  </a:lnTo>
                  <a:lnTo>
                    <a:pt x="17565" y="5741"/>
                  </a:lnTo>
                  <a:lnTo>
                    <a:pt x="18087" y="5174"/>
                  </a:lnTo>
                  <a:lnTo>
                    <a:pt x="18348" y="4732"/>
                  </a:lnTo>
                  <a:lnTo>
                    <a:pt x="18435" y="4290"/>
                  </a:lnTo>
                  <a:lnTo>
                    <a:pt x="18696" y="3849"/>
                  </a:lnTo>
                  <a:lnTo>
                    <a:pt x="18957" y="3375"/>
                  </a:lnTo>
                  <a:lnTo>
                    <a:pt x="19130" y="2965"/>
                  </a:lnTo>
                  <a:lnTo>
                    <a:pt x="19391" y="2555"/>
                  </a:lnTo>
                  <a:lnTo>
                    <a:pt x="19391" y="2334"/>
                  </a:lnTo>
                  <a:lnTo>
                    <a:pt x="19478" y="1924"/>
                  </a:lnTo>
                  <a:lnTo>
                    <a:pt x="19565" y="1577"/>
                  </a:lnTo>
                  <a:lnTo>
                    <a:pt x="19826" y="1388"/>
                  </a:lnTo>
                  <a:lnTo>
                    <a:pt x="19826" y="1104"/>
                  </a:lnTo>
                  <a:lnTo>
                    <a:pt x="19913" y="883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15" name="AutoShape 33">
              <a:extLst>
                <a:ext uri="{FF2B5EF4-FFF2-40B4-BE49-F238E27FC236}">
                  <a16:creationId xmlns:a16="http://schemas.microsoft.com/office/drawing/2014/main" id="{B2835549-97AE-1E44-A8EC-C9967F176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6" y="1889"/>
              <a:ext cx="130" cy="15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8989"/>
                  </a:moveTo>
                  <a:lnTo>
                    <a:pt x="183" y="18484"/>
                  </a:lnTo>
                  <a:lnTo>
                    <a:pt x="459" y="17895"/>
                  </a:lnTo>
                  <a:lnTo>
                    <a:pt x="642" y="17432"/>
                  </a:lnTo>
                  <a:lnTo>
                    <a:pt x="642" y="16632"/>
                  </a:lnTo>
                  <a:lnTo>
                    <a:pt x="917" y="16042"/>
                  </a:lnTo>
                  <a:lnTo>
                    <a:pt x="1376" y="15537"/>
                  </a:lnTo>
                  <a:lnTo>
                    <a:pt x="1560" y="14947"/>
                  </a:lnTo>
                  <a:lnTo>
                    <a:pt x="1927" y="14232"/>
                  </a:lnTo>
                  <a:lnTo>
                    <a:pt x="2110" y="13768"/>
                  </a:lnTo>
                  <a:lnTo>
                    <a:pt x="2477" y="13221"/>
                  </a:lnTo>
                  <a:lnTo>
                    <a:pt x="2477" y="12589"/>
                  </a:lnTo>
                  <a:lnTo>
                    <a:pt x="2569" y="12042"/>
                  </a:lnTo>
                  <a:lnTo>
                    <a:pt x="2844" y="11326"/>
                  </a:lnTo>
                  <a:lnTo>
                    <a:pt x="2936" y="10737"/>
                  </a:lnTo>
                  <a:lnTo>
                    <a:pt x="3211" y="10232"/>
                  </a:lnTo>
                  <a:lnTo>
                    <a:pt x="3211" y="9853"/>
                  </a:lnTo>
                  <a:lnTo>
                    <a:pt x="3670" y="9347"/>
                  </a:lnTo>
                  <a:lnTo>
                    <a:pt x="4128" y="8758"/>
                  </a:lnTo>
                  <a:lnTo>
                    <a:pt x="4312" y="8253"/>
                  </a:lnTo>
                  <a:lnTo>
                    <a:pt x="4404" y="7789"/>
                  </a:lnTo>
                  <a:lnTo>
                    <a:pt x="4679" y="7284"/>
                  </a:lnTo>
                  <a:lnTo>
                    <a:pt x="4862" y="6779"/>
                  </a:lnTo>
                  <a:lnTo>
                    <a:pt x="5046" y="6358"/>
                  </a:lnTo>
                  <a:lnTo>
                    <a:pt x="5321" y="5937"/>
                  </a:lnTo>
                  <a:lnTo>
                    <a:pt x="5413" y="5516"/>
                  </a:lnTo>
                  <a:lnTo>
                    <a:pt x="5872" y="5011"/>
                  </a:lnTo>
                  <a:lnTo>
                    <a:pt x="5872" y="4463"/>
                  </a:lnTo>
                  <a:lnTo>
                    <a:pt x="6422" y="4253"/>
                  </a:lnTo>
                  <a:lnTo>
                    <a:pt x="6606" y="3747"/>
                  </a:lnTo>
                  <a:lnTo>
                    <a:pt x="6606" y="3411"/>
                  </a:lnTo>
                  <a:lnTo>
                    <a:pt x="7064" y="3032"/>
                  </a:lnTo>
                  <a:lnTo>
                    <a:pt x="7064" y="2568"/>
                  </a:lnTo>
                  <a:lnTo>
                    <a:pt x="7431" y="2358"/>
                  </a:lnTo>
                  <a:lnTo>
                    <a:pt x="7523" y="2105"/>
                  </a:lnTo>
                  <a:lnTo>
                    <a:pt x="7523" y="1853"/>
                  </a:lnTo>
                  <a:lnTo>
                    <a:pt x="7890" y="1558"/>
                  </a:lnTo>
                  <a:lnTo>
                    <a:pt x="7982" y="1389"/>
                  </a:lnTo>
                  <a:lnTo>
                    <a:pt x="8440" y="1053"/>
                  </a:lnTo>
                  <a:lnTo>
                    <a:pt x="8440" y="884"/>
                  </a:lnTo>
                  <a:lnTo>
                    <a:pt x="8899" y="674"/>
                  </a:lnTo>
                  <a:lnTo>
                    <a:pt x="8991" y="463"/>
                  </a:lnTo>
                  <a:lnTo>
                    <a:pt x="9174" y="421"/>
                  </a:lnTo>
                  <a:lnTo>
                    <a:pt x="9358" y="211"/>
                  </a:lnTo>
                  <a:lnTo>
                    <a:pt x="9358" y="168"/>
                  </a:lnTo>
                  <a:lnTo>
                    <a:pt x="9725" y="168"/>
                  </a:lnTo>
                  <a:lnTo>
                    <a:pt x="10183" y="42"/>
                  </a:lnTo>
                  <a:lnTo>
                    <a:pt x="10367" y="0"/>
                  </a:lnTo>
                  <a:lnTo>
                    <a:pt x="10642" y="42"/>
                  </a:lnTo>
                  <a:lnTo>
                    <a:pt x="10734" y="42"/>
                  </a:lnTo>
                  <a:lnTo>
                    <a:pt x="10826" y="168"/>
                  </a:lnTo>
                  <a:lnTo>
                    <a:pt x="11009" y="211"/>
                  </a:lnTo>
                  <a:lnTo>
                    <a:pt x="11468" y="421"/>
                  </a:lnTo>
                  <a:lnTo>
                    <a:pt x="11560" y="463"/>
                  </a:lnTo>
                  <a:lnTo>
                    <a:pt x="12018" y="800"/>
                  </a:lnTo>
                  <a:lnTo>
                    <a:pt x="12110" y="1011"/>
                  </a:lnTo>
                  <a:lnTo>
                    <a:pt x="12477" y="1305"/>
                  </a:lnTo>
                  <a:lnTo>
                    <a:pt x="12477" y="1558"/>
                  </a:lnTo>
                  <a:lnTo>
                    <a:pt x="12569" y="1895"/>
                  </a:lnTo>
                  <a:lnTo>
                    <a:pt x="12936" y="2232"/>
                  </a:lnTo>
                  <a:lnTo>
                    <a:pt x="12936" y="2568"/>
                  </a:lnTo>
                  <a:lnTo>
                    <a:pt x="13394" y="3158"/>
                  </a:lnTo>
                  <a:lnTo>
                    <a:pt x="13394" y="3537"/>
                  </a:lnTo>
                  <a:lnTo>
                    <a:pt x="13578" y="4000"/>
                  </a:lnTo>
                  <a:lnTo>
                    <a:pt x="14128" y="4379"/>
                  </a:lnTo>
                  <a:lnTo>
                    <a:pt x="14220" y="4926"/>
                  </a:lnTo>
                  <a:lnTo>
                    <a:pt x="14587" y="5516"/>
                  </a:lnTo>
                  <a:lnTo>
                    <a:pt x="14862" y="6021"/>
                  </a:lnTo>
                  <a:lnTo>
                    <a:pt x="15046" y="6400"/>
                  </a:lnTo>
                  <a:lnTo>
                    <a:pt x="15138" y="7074"/>
                  </a:lnTo>
                  <a:lnTo>
                    <a:pt x="15321" y="7705"/>
                  </a:lnTo>
                  <a:lnTo>
                    <a:pt x="15596" y="8126"/>
                  </a:lnTo>
                  <a:lnTo>
                    <a:pt x="15780" y="8758"/>
                  </a:lnTo>
                  <a:lnTo>
                    <a:pt x="15963" y="9347"/>
                  </a:lnTo>
                  <a:lnTo>
                    <a:pt x="16330" y="9979"/>
                  </a:lnTo>
                  <a:lnTo>
                    <a:pt x="16789" y="10358"/>
                  </a:lnTo>
                  <a:lnTo>
                    <a:pt x="16789" y="11032"/>
                  </a:lnTo>
                  <a:lnTo>
                    <a:pt x="17064" y="11663"/>
                  </a:lnTo>
                  <a:lnTo>
                    <a:pt x="17248" y="12168"/>
                  </a:lnTo>
                  <a:lnTo>
                    <a:pt x="17431" y="12716"/>
                  </a:lnTo>
                  <a:lnTo>
                    <a:pt x="17523" y="13221"/>
                  </a:lnTo>
                  <a:lnTo>
                    <a:pt x="17523" y="13853"/>
                  </a:lnTo>
                  <a:lnTo>
                    <a:pt x="17890" y="14316"/>
                  </a:lnTo>
                  <a:lnTo>
                    <a:pt x="17890" y="14947"/>
                  </a:lnTo>
                  <a:lnTo>
                    <a:pt x="18349" y="15537"/>
                  </a:lnTo>
                  <a:lnTo>
                    <a:pt x="18440" y="15916"/>
                  </a:lnTo>
                  <a:lnTo>
                    <a:pt x="18624" y="16463"/>
                  </a:lnTo>
                  <a:lnTo>
                    <a:pt x="18991" y="16842"/>
                  </a:lnTo>
                  <a:lnTo>
                    <a:pt x="19083" y="17432"/>
                  </a:lnTo>
                  <a:lnTo>
                    <a:pt x="19358" y="17768"/>
                  </a:lnTo>
                  <a:lnTo>
                    <a:pt x="19358" y="18147"/>
                  </a:lnTo>
                  <a:lnTo>
                    <a:pt x="19450" y="18484"/>
                  </a:lnTo>
                  <a:lnTo>
                    <a:pt x="19541" y="18947"/>
                  </a:lnTo>
                  <a:lnTo>
                    <a:pt x="19633" y="19158"/>
                  </a:lnTo>
                  <a:lnTo>
                    <a:pt x="19817" y="19537"/>
                  </a:lnTo>
                  <a:lnTo>
                    <a:pt x="19908" y="19789"/>
                  </a:lnTo>
                  <a:lnTo>
                    <a:pt x="19908" y="19958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16" name="AutoShape 34">
              <a:extLst>
                <a:ext uri="{FF2B5EF4-FFF2-40B4-BE49-F238E27FC236}">
                  <a16:creationId xmlns:a16="http://schemas.microsoft.com/office/drawing/2014/main" id="{D20C2CBA-0D3F-52F5-D947-7C24C5710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2040"/>
              <a:ext cx="137" cy="12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74" y="652"/>
                  </a:lnTo>
                  <a:lnTo>
                    <a:pt x="348" y="1348"/>
                  </a:lnTo>
                  <a:lnTo>
                    <a:pt x="522" y="1913"/>
                  </a:lnTo>
                  <a:lnTo>
                    <a:pt x="609" y="2435"/>
                  </a:lnTo>
                  <a:lnTo>
                    <a:pt x="870" y="3087"/>
                  </a:lnTo>
                  <a:lnTo>
                    <a:pt x="1304" y="3696"/>
                  </a:lnTo>
                  <a:lnTo>
                    <a:pt x="1304" y="4304"/>
                  </a:lnTo>
                  <a:lnTo>
                    <a:pt x="1565" y="5000"/>
                  </a:lnTo>
                  <a:lnTo>
                    <a:pt x="1652" y="5565"/>
                  </a:lnTo>
                  <a:lnTo>
                    <a:pt x="2261" y="6130"/>
                  </a:lnTo>
                  <a:lnTo>
                    <a:pt x="2435" y="6609"/>
                  </a:lnTo>
                  <a:lnTo>
                    <a:pt x="2522" y="7391"/>
                  </a:lnTo>
                  <a:lnTo>
                    <a:pt x="2609" y="7913"/>
                  </a:lnTo>
                  <a:lnTo>
                    <a:pt x="2783" y="8478"/>
                  </a:lnTo>
                  <a:lnTo>
                    <a:pt x="3043" y="9000"/>
                  </a:lnTo>
                  <a:lnTo>
                    <a:pt x="3130" y="9652"/>
                  </a:lnTo>
                  <a:lnTo>
                    <a:pt x="3130" y="10043"/>
                  </a:lnTo>
                  <a:lnTo>
                    <a:pt x="3478" y="10522"/>
                  </a:lnTo>
                  <a:lnTo>
                    <a:pt x="3652" y="11130"/>
                  </a:lnTo>
                  <a:lnTo>
                    <a:pt x="4000" y="11609"/>
                  </a:lnTo>
                  <a:lnTo>
                    <a:pt x="4174" y="12174"/>
                  </a:lnTo>
                  <a:lnTo>
                    <a:pt x="4348" y="12609"/>
                  </a:lnTo>
                  <a:lnTo>
                    <a:pt x="4435" y="13087"/>
                  </a:lnTo>
                  <a:lnTo>
                    <a:pt x="4609" y="13652"/>
                  </a:lnTo>
                  <a:lnTo>
                    <a:pt x="4870" y="14087"/>
                  </a:lnTo>
                  <a:lnTo>
                    <a:pt x="5217" y="14522"/>
                  </a:lnTo>
                  <a:lnTo>
                    <a:pt x="5478" y="15000"/>
                  </a:lnTo>
                  <a:lnTo>
                    <a:pt x="5652" y="15609"/>
                  </a:lnTo>
                  <a:lnTo>
                    <a:pt x="5739" y="15870"/>
                  </a:lnTo>
                  <a:lnTo>
                    <a:pt x="6087" y="16174"/>
                  </a:lnTo>
                  <a:lnTo>
                    <a:pt x="6174" y="16565"/>
                  </a:lnTo>
                  <a:lnTo>
                    <a:pt x="6522" y="16957"/>
                  </a:lnTo>
                  <a:lnTo>
                    <a:pt x="6783" y="17348"/>
                  </a:lnTo>
                  <a:lnTo>
                    <a:pt x="6870" y="17652"/>
                  </a:lnTo>
                  <a:lnTo>
                    <a:pt x="7130" y="17870"/>
                  </a:lnTo>
                  <a:lnTo>
                    <a:pt x="7217" y="18087"/>
                  </a:lnTo>
                  <a:lnTo>
                    <a:pt x="7565" y="18435"/>
                  </a:lnTo>
                  <a:lnTo>
                    <a:pt x="7565" y="18652"/>
                  </a:lnTo>
                  <a:lnTo>
                    <a:pt x="7652" y="18957"/>
                  </a:lnTo>
                  <a:lnTo>
                    <a:pt x="7826" y="19130"/>
                  </a:lnTo>
                  <a:lnTo>
                    <a:pt x="8087" y="19304"/>
                  </a:lnTo>
                  <a:lnTo>
                    <a:pt x="8522" y="19522"/>
                  </a:lnTo>
                  <a:lnTo>
                    <a:pt x="8609" y="19565"/>
                  </a:lnTo>
                  <a:lnTo>
                    <a:pt x="8957" y="19783"/>
                  </a:lnTo>
                  <a:lnTo>
                    <a:pt x="9130" y="19826"/>
                  </a:lnTo>
                  <a:lnTo>
                    <a:pt x="9304" y="19826"/>
                  </a:lnTo>
                  <a:lnTo>
                    <a:pt x="9478" y="19957"/>
                  </a:lnTo>
                  <a:lnTo>
                    <a:pt x="9652" y="19957"/>
                  </a:lnTo>
                  <a:lnTo>
                    <a:pt x="9826" y="19957"/>
                  </a:lnTo>
                  <a:lnTo>
                    <a:pt x="10174" y="19826"/>
                  </a:lnTo>
                  <a:lnTo>
                    <a:pt x="10348" y="19826"/>
                  </a:lnTo>
                  <a:lnTo>
                    <a:pt x="10522" y="19565"/>
                  </a:lnTo>
                  <a:lnTo>
                    <a:pt x="10696" y="19565"/>
                  </a:lnTo>
                  <a:lnTo>
                    <a:pt x="10870" y="19304"/>
                  </a:lnTo>
                  <a:lnTo>
                    <a:pt x="11391" y="19087"/>
                  </a:lnTo>
                  <a:lnTo>
                    <a:pt x="11391" y="18913"/>
                  </a:lnTo>
                  <a:lnTo>
                    <a:pt x="11913" y="18478"/>
                  </a:lnTo>
                  <a:lnTo>
                    <a:pt x="12174" y="18304"/>
                  </a:lnTo>
                  <a:lnTo>
                    <a:pt x="12348" y="17826"/>
                  </a:lnTo>
                  <a:lnTo>
                    <a:pt x="12522" y="17565"/>
                  </a:lnTo>
                  <a:lnTo>
                    <a:pt x="12522" y="17174"/>
                  </a:lnTo>
                  <a:lnTo>
                    <a:pt x="12870" y="16652"/>
                  </a:lnTo>
                  <a:lnTo>
                    <a:pt x="13130" y="16304"/>
                  </a:lnTo>
                  <a:lnTo>
                    <a:pt x="13217" y="15870"/>
                  </a:lnTo>
                  <a:lnTo>
                    <a:pt x="13565" y="15435"/>
                  </a:lnTo>
                  <a:lnTo>
                    <a:pt x="13913" y="14870"/>
                  </a:lnTo>
                  <a:lnTo>
                    <a:pt x="14087" y="14348"/>
                  </a:lnTo>
                  <a:lnTo>
                    <a:pt x="14348" y="13870"/>
                  </a:lnTo>
                  <a:lnTo>
                    <a:pt x="14696" y="13391"/>
                  </a:lnTo>
                  <a:lnTo>
                    <a:pt x="14783" y="12870"/>
                  </a:lnTo>
                  <a:lnTo>
                    <a:pt x="15304" y="12174"/>
                  </a:lnTo>
                  <a:lnTo>
                    <a:pt x="15565" y="11609"/>
                  </a:lnTo>
                  <a:lnTo>
                    <a:pt x="15652" y="11000"/>
                  </a:lnTo>
                  <a:lnTo>
                    <a:pt x="15826" y="10478"/>
                  </a:lnTo>
                  <a:lnTo>
                    <a:pt x="16087" y="10000"/>
                  </a:lnTo>
                  <a:lnTo>
                    <a:pt x="16435" y="9522"/>
                  </a:lnTo>
                  <a:lnTo>
                    <a:pt x="16783" y="9000"/>
                  </a:lnTo>
                  <a:lnTo>
                    <a:pt x="16870" y="8391"/>
                  </a:lnTo>
                  <a:lnTo>
                    <a:pt x="16957" y="7826"/>
                  </a:lnTo>
                  <a:lnTo>
                    <a:pt x="17217" y="7391"/>
                  </a:lnTo>
                  <a:lnTo>
                    <a:pt x="17391" y="6826"/>
                  </a:lnTo>
                  <a:lnTo>
                    <a:pt x="17565" y="6174"/>
                  </a:lnTo>
                  <a:lnTo>
                    <a:pt x="17565" y="5652"/>
                  </a:lnTo>
                  <a:lnTo>
                    <a:pt x="18087" y="5217"/>
                  </a:lnTo>
                  <a:lnTo>
                    <a:pt x="18348" y="4609"/>
                  </a:lnTo>
                  <a:lnTo>
                    <a:pt x="18435" y="4304"/>
                  </a:lnTo>
                  <a:lnTo>
                    <a:pt x="18696" y="3826"/>
                  </a:lnTo>
                  <a:lnTo>
                    <a:pt x="18957" y="3435"/>
                  </a:lnTo>
                  <a:lnTo>
                    <a:pt x="19130" y="3043"/>
                  </a:lnTo>
                  <a:lnTo>
                    <a:pt x="19391" y="2609"/>
                  </a:lnTo>
                  <a:lnTo>
                    <a:pt x="19391" y="2217"/>
                  </a:lnTo>
                  <a:lnTo>
                    <a:pt x="19478" y="1913"/>
                  </a:lnTo>
                  <a:lnTo>
                    <a:pt x="19565" y="1609"/>
                  </a:lnTo>
                  <a:lnTo>
                    <a:pt x="19826" y="1435"/>
                  </a:lnTo>
                  <a:lnTo>
                    <a:pt x="19826" y="1043"/>
                  </a:lnTo>
                  <a:lnTo>
                    <a:pt x="19913" y="87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17" name="AutoShape 35">
              <a:extLst>
                <a:ext uri="{FF2B5EF4-FFF2-40B4-BE49-F238E27FC236}">
                  <a16:creationId xmlns:a16="http://schemas.microsoft.com/office/drawing/2014/main" id="{0744B07C-C2EF-DA42-73CD-2263C04F5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3" y="1961"/>
              <a:ext cx="130" cy="10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8893"/>
                  </a:moveTo>
                  <a:lnTo>
                    <a:pt x="183" y="18450"/>
                  </a:lnTo>
                  <a:lnTo>
                    <a:pt x="459" y="17786"/>
                  </a:lnTo>
                  <a:lnTo>
                    <a:pt x="642" y="17269"/>
                  </a:lnTo>
                  <a:lnTo>
                    <a:pt x="642" y="16679"/>
                  </a:lnTo>
                  <a:lnTo>
                    <a:pt x="917" y="16089"/>
                  </a:lnTo>
                  <a:lnTo>
                    <a:pt x="1376" y="15498"/>
                  </a:lnTo>
                  <a:lnTo>
                    <a:pt x="1560" y="14982"/>
                  </a:lnTo>
                  <a:lnTo>
                    <a:pt x="1927" y="14391"/>
                  </a:lnTo>
                  <a:lnTo>
                    <a:pt x="2110" y="13727"/>
                  </a:lnTo>
                  <a:lnTo>
                    <a:pt x="2477" y="13284"/>
                  </a:lnTo>
                  <a:lnTo>
                    <a:pt x="2477" y="12546"/>
                  </a:lnTo>
                  <a:lnTo>
                    <a:pt x="2569" y="11956"/>
                  </a:lnTo>
                  <a:lnTo>
                    <a:pt x="2844" y="11439"/>
                  </a:lnTo>
                  <a:lnTo>
                    <a:pt x="2936" y="10849"/>
                  </a:lnTo>
                  <a:lnTo>
                    <a:pt x="3211" y="10258"/>
                  </a:lnTo>
                  <a:lnTo>
                    <a:pt x="3211" y="9889"/>
                  </a:lnTo>
                  <a:lnTo>
                    <a:pt x="3670" y="9373"/>
                  </a:lnTo>
                  <a:lnTo>
                    <a:pt x="4128" y="8708"/>
                  </a:lnTo>
                  <a:lnTo>
                    <a:pt x="4312" y="8266"/>
                  </a:lnTo>
                  <a:lnTo>
                    <a:pt x="4404" y="7749"/>
                  </a:lnTo>
                  <a:lnTo>
                    <a:pt x="4679" y="7306"/>
                  </a:lnTo>
                  <a:lnTo>
                    <a:pt x="4862" y="6716"/>
                  </a:lnTo>
                  <a:lnTo>
                    <a:pt x="5046" y="6273"/>
                  </a:lnTo>
                  <a:lnTo>
                    <a:pt x="5321" y="5978"/>
                  </a:lnTo>
                  <a:lnTo>
                    <a:pt x="5413" y="5535"/>
                  </a:lnTo>
                  <a:lnTo>
                    <a:pt x="5872" y="4945"/>
                  </a:lnTo>
                  <a:lnTo>
                    <a:pt x="5872" y="4502"/>
                  </a:lnTo>
                  <a:lnTo>
                    <a:pt x="6422" y="4133"/>
                  </a:lnTo>
                  <a:lnTo>
                    <a:pt x="6606" y="3764"/>
                  </a:lnTo>
                  <a:lnTo>
                    <a:pt x="6606" y="3469"/>
                  </a:lnTo>
                  <a:lnTo>
                    <a:pt x="7064" y="3026"/>
                  </a:lnTo>
                  <a:lnTo>
                    <a:pt x="7064" y="2731"/>
                  </a:lnTo>
                  <a:lnTo>
                    <a:pt x="7431" y="2362"/>
                  </a:lnTo>
                  <a:lnTo>
                    <a:pt x="7523" y="2214"/>
                  </a:lnTo>
                  <a:lnTo>
                    <a:pt x="7523" y="1845"/>
                  </a:lnTo>
                  <a:lnTo>
                    <a:pt x="7890" y="1550"/>
                  </a:lnTo>
                  <a:lnTo>
                    <a:pt x="7982" y="1328"/>
                  </a:lnTo>
                  <a:lnTo>
                    <a:pt x="8440" y="1107"/>
                  </a:lnTo>
                  <a:lnTo>
                    <a:pt x="8440" y="1033"/>
                  </a:lnTo>
                  <a:lnTo>
                    <a:pt x="8899" y="738"/>
                  </a:lnTo>
                  <a:lnTo>
                    <a:pt x="8991" y="443"/>
                  </a:lnTo>
                  <a:lnTo>
                    <a:pt x="9174" y="369"/>
                  </a:lnTo>
                  <a:lnTo>
                    <a:pt x="9358" y="295"/>
                  </a:lnTo>
                  <a:lnTo>
                    <a:pt x="9725" y="74"/>
                  </a:lnTo>
                  <a:lnTo>
                    <a:pt x="10183" y="74"/>
                  </a:lnTo>
                  <a:lnTo>
                    <a:pt x="10367" y="0"/>
                  </a:lnTo>
                  <a:lnTo>
                    <a:pt x="10642" y="74"/>
                  </a:lnTo>
                  <a:lnTo>
                    <a:pt x="10734" y="74"/>
                  </a:lnTo>
                  <a:lnTo>
                    <a:pt x="10826" y="74"/>
                  </a:lnTo>
                  <a:lnTo>
                    <a:pt x="11009" y="295"/>
                  </a:lnTo>
                  <a:lnTo>
                    <a:pt x="11468" y="369"/>
                  </a:lnTo>
                  <a:lnTo>
                    <a:pt x="11560" y="443"/>
                  </a:lnTo>
                  <a:lnTo>
                    <a:pt x="12018" y="812"/>
                  </a:lnTo>
                  <a:lnTo>
                    <a:pt x="12110" y="1107"/>
                  </a:lnTo>
                  <a:lnTo>
                    <a:pt x="12477" y="1255"/>
                  </a:lnTo>
                  <a:lnTo>
                    <a:pt x="12477" y="1550"/>
                  </a:lnTo>
                  <a:lnTo>
                    <a:pt x="12569" y="1845"/>
                  </a:lnTo>
                  <a:lnTo>
                    <a:pt x="12936" y="2288"/>
                  </a:lnTo>
                  <a:lnTo>
                    <a:pt x="12936" y="2731"/>
                  </a:lnTo>
                  <a:lnTo>
                    <a:pt x="13394" y="3247"/>
                  </a:lnTo>
                  <a:lnTo>
                    <a:pt x="13394" y="3690"/>
                  </a:lnTo>
                  <a:lnTo>
                    <a:pt x="13578" y="3985"/>
                  </a:lnTo>
                  <a:lnTo>
                    <a:pt x="14128" y="4428"/>
                  </a:lnTo>
                  <a:lnTo>
                    <a:pt x="14220" y="4797"/>
                  </a:lnTo>
                  <a:lnTo>
                    <a:pt x="14587" y="5535"/>
                  </a:lnTo>
                  <a:lnTo>
                    <a:pt x="14862" y="5978"/>
                  </a:lnTo>
                  <a:lnTo>
                    <a:pt x="15046" y="6494"/>
                  </a:lnTo>
                  <a:lnTo>
                    <a:pt x="15138" y="7085"/>
                  </a:lnTo>
                  <a:lnTo>
                    <a:pt x="15321" y="7454"/>
                  </a:lnTo>
                  <a:lnTo>
                    <a:pt x="15596" y="8192"/>
                  </a:lnTo>
                  <a:lnTo>
                    <a:pt x="15780" y="8708"/>
                  </a:lnTo>
                  <a:lnTo>
                    <a:pt x="15963" y="9373"/>
                  </a:lnTo>
                  <a:lnTo>
                    <a:pt x="16330" y="10037"/>
                  </a:lnTo>
                  <a:lnTo>
                    <a:pt x="16789" y="10480"/>
                  </a:lnTo>
                  <a:lnTo>
                    <a:pt x="16789" y="10996"/>
                  </a:lnTo>
                  <a:lnTo>
                    <a:pt x="17064" y="11587"/>
                  </a:lnTo>
                  <a:lnTo>
                    <a:pt x="17248" y="12103"/>
                  </a:lnTo>
                  <a:lnTo>
                    <a:pt x="17431" y="12694"/>
                  </a:lnTo>
                  <a:lnTo>
                    <a:pt x="17523" y="13284"/>
                  </a:lnTo>
                  <a:lnTo>
                    <a:pt x="17523" y="13948"/>
                  </a:lnTo>
                  <a:lnTo>
                    <a:pt x="17890" y="14465"/>
                  </a:lnTo>
                  <a:lnTo>
                    <a:pt x="17890" y="14982"/>
                  </a:lnTo>
                  <a:lnTo>
                    <a:pt x="18349" y="15498"/>
                  </a:lnTo>
                  <a:lnTo>
                    <a:pt x="18440" y="16015"/>
                  </a:lnTo>
                  <a:lnTo>
                    <a:pt x="18624" y="16310"/>
                  </a:lnTo>
                  <a:lnTo>
                    <a:pt x="18991" y="16753"/>
                  </a:lnTo>
                  <a:lnTo>
                    <a:pt x="19083" y="17269"/>
                  </a:lnTo>
                  <a:lnTo>
                    <a:pt x="19358" y="17712"/>
                  </a:lnTo>
                  <a:lnTo>
                    <a:pt x="19358" y="18155"/>
                  </a:lnTo>
                  <a:lnTo>
                    <a:pt x="19450" y="18524"/>
                  </a:lnTo>
                  <a:lnTo>
                    <a:pt x="19541" y="18893"/>
                  </a:lnTo>
                  <a:lnTo>
                    <a:pt x="19633" y="18967"/>
                  </a:lnTo>
                  <a:lnTo>
                    <a:pt x="19817" y="19557"/>
                  </a:lnTo>
                  <a:lnTo>
                    <a:pt x="19908" y="19705"/>
                  </a:lnTo>
                  <a:lnTo>
                    <a:pt x="19908" y="19926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18" name="AutoShape 36">
              <a:extLst>
                <a:ext uri="{FF2B5EF4-FFF2-40B4-BE49-F238E27FC236}">
                  <a16:creationId xmlns:a16="http://schemas.microsoft.com/office/drawing/2014/main" id="{086A6B01-9F5D-6F59-253A-C4AFBFA74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9" y="2038"/>
              <a:ext cx="146" cy="14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74" y="538"/>
                  </a:lnTo>
                  <a:lnTo>
                    <a:pt x="348" y="1308"/>
                  </a:lnTo>
                  <a:lnTo>
                    <a:pt x="522" y="1923"/>
                  </a:lnTo>
                  <a:lnTo>
                    <a:pt x="609" y="2462"/>
                  </a:lnTo>
                  <a:lnTo>
                    <a:pt x="870" y="3154"/>
                  </a:lnTo>
                  <a:lnTo>
                    <a:pt x="1304" y="3692"/>
                  </a:lnTo>
                  <a:lnTo>
                    <a:pt x="1304" y="4308"/>
                  </a:lnTo>
                  <a:lnTo>
                    <a:pt x="1565" y="5000"/>
                  </a:lnTo>
                  <a:lnTo>
                    <a:pt x="1652" y="5615"/>
                  </a:lnTo>
                  <a:lnTo>
                    <a:pt x="2261" y="6154"/>
                  </a:lnTo>
                  <a:lnTo>
                    <a:pt x="2435" y="6769"/>
                  </a:lnTo>
                  <a:lnTo>
                    <a:pt x="2522" y="7308"/>
                  </a:lnTo>
                  <a:lnTo>
                    <a:pt x="2609" y="7769"/>
                  </a:lnTo>
                  <a:lnTo>
                    <a:pt x="2783" y="8462"/>
                  </a:lnTo>
                  <a:lnTo>
                    <a:pt x="3043" y="9000"/>
                  </a:lnTo>
                  <a:lnTo>
                    <a:pt x="3130" y="9615"/>
                  </a:lnTo>
                  <a:lnTo>
                    <a:pt x="3130" y="10077"/>
                  </a:lnTo>
                  <a:lnTo>
                    <a:pt x="3478" y="10615"/>
                  </a:lnTo>
                  <a:lnTo>
                    <a:pt x="3652" y="11154"/>
                  </a:lnTo>
                  <a:lnTo>
                    <a:pt x="4000" y="11615"/>
                  </a:lnTo>
                  <a:lnTo>
                    <a:pt x="4174" y="12231"/>
                  </a:lnTo>
                  <a:lnTo>
                    <a:pt x="4348" y="12692"/>
                  </a:lnTo>
                  <a:lnTo>
                    <a:pt x="4435" y="13077"/>
                  </a:lnTo>
                  <a:lnTo>
                    <a:pt x="4609" y="13769"/>
                  </a:lnTo>
                  <a:lnTo>
                    <a:pt x="4870" y="14077"/>
                  </a:lnTo>
                  <a:lnTo>
                    <a:pt x="5217" y="14615"/>
                  </a:lnTo>
                  <a:lnTo>
                    <a:pt x="5478" y="15000"/>
                  </a:lnTo>
                  <a:lnTo>
                    <a:pt x="5652" y="15385"/>
                  </a:lnTo>
                  <a:lnTo>
                    <a:pt x="5739" y="15923"/>
                  </a:lnTo>
                  <a:lnTo>
                    <a:pt x="6087" y="16308"/>
                  </a:lnTo>
                  <a:lnTo>
                    <a:pt x="6174" y="16615"/>
                  </a:lnTo>
                  <a:lnTo>
                    <a:pt x="6522" y="16846"/>
                  </a:lnTo>
                  <a:lnTo>
                    <a:pt x="6783" y="17308"/>
                  </a:lnTo>
                  <a:lnTo>
                    <a:pt x="6870" y="17615"/>
                  </a:lnTo>
                  <a:lnTo>
                    <a:pt x="7130" y="17846"/>
                  </a:lnTo>
                  <a:lnTo>
                    <a:pt x="7217" y="18154"/>
                  </a:lnTo>
                  <a:lnTo>
                    <a:pt x="7565" y="18385"/>
                  </a:lnTo>
                  <a:lnTo>
                    <a:pt x="7565" y="18692"/>
                  </a:lnTo>
                  <a:lnTo>
                    <a:pt x="7652" y="18846"/>
                  </a:lnTo>
                  <a:lnTo>
                    <a:pt x="7826" y="18923"/>
                  </a:lnTo>
                  <a:lnTo>
                    <a:pt x="8087" y="19231"/>
                  </a:lnTo>
                  <a:lnTo>
                    <a:pt x="8522" y="19538"/>
                  </a:lnTo>
                  <a:lnTo>
                    <a:pt x="8609" y="19615"/>
                  </a:lnTo>
                  <a:lnTo>
                    <a:pt x="8957" y="19692"/>
                  </a:lnTo>
                  <a:lnTo>
                    <a:pt x="9130" y="19692"/>
                  </a:lnTo>
                  <a:lnTo>
                    <a:pt x="9304" y="19923"/>
                  </a:lnTo>
                  <a:lnTo>
                    <a:pt x="9478" y="19923"/>
                  </a:lnTo>
                  <a:lnTo>
                    <a:pt x="9652" y="19923"/>
                  </a:lnTo>
                  <a:lnTo>
                    <a:pt x="9826" y="19923"/>
                  </a:lnTo>
                  <a:lnTo>
                    <a:pt x="10174" y="19923"/>
                  </a:lnTo>
                  <a:lnTo>
                    <a:pt x="10348" y="19692"/>
                  </a:lnTo>
                  <a:lnTo>
                    <a:pt x="10522" y="19615"/>
                  </a:lnTo>
                  <a:lnTo>
                    <a:pt x="10696" y="19538"/>
                  </a:lnTo>
                  <a:lnTo>
                    <a:pt x="10870" y="19231"/>
                  </a:lnTo>
                  <a:lnTo>
                    <a:pt x="11391" y="18923"/>
                  </a:lnTo>
                  <a:lnTo>
                    <a:pt x="11391" y="18846"/>
                  </a:lnTo>
                  <a:lnTo>
                    <a:pt x="11913" y="18615"/>
                  </a:lnTo>
                  <a:lnTo>
                    <a:pt x="12174" y="18385"/>
                  </a:lnTo>
                  <a:lnTo>
                    <a:pt x="12348" y="17692"/>
                  </a:lnTo>
                  <a:lnTo>
                    <a:pt x="12522" y="17538"/>
                  </a:lnTo>
                  <a:lnTo>
                    <a:pt x="12522" y="17000"/>
                  </a:lnTo>
                  <a:lnTo>
                    <a:pt x="12870" y="16615"/>
                  </a:lnTo>
                  <a:lnTo>
                    <a:pt x="13130" y="16308"/>
                  </a:lnTo>
                  <a:lnTo>
                    <a:pt x="13217" y="15923"/>
                  </a:lnTo>
                  <a:lnTo>
                    <a:pt x="13565" y="15385"/>
                  </a:lnTo>
                  <a:lnTo>
                    <a:pt x="13913" y="15000"/>
                  </a:lnTo>
                  <a:lnTo>
                    <a:pt x="14087" y="14308"/>
                  </a:lnTo>
                  <a:lnTo>
                    <a:pt x="14348" y="13846"/>
                  </a:lnTo>
                  <a:lnTo>
                    <a:pt x="14696" y="13385"/>
                  </a:lnTo>
                  <a:lnTo>
                    <a:pt x="14783" y="12923"/>
                  </a:lnTo>
                  <a:lnTo>
                    <a:pt x="15304" y="12231"/>
                  </a:lnTo>
                  <a:lnTo>
                    <a:pt x="15565" y="11615"/>
                  </a:lnTo>
                  <a:lnTo>
                    <a:pt x="15652" y="11000"/>
                  </a:lnTo>
                  <a:lnTo>
                    <a:pt x="15826" y="10615"/>
                  </a:lnTo>
                  <a:lnTo>
                    <a:pt x="16087" y="10000"/>
                  </a:lnTo>
                  <a:lnTo>
                    <a:pt x="16435" y="9538"/>
                  </a:lnTo>
                  <a:lnTo>
                    <a:pt x="16783" y="9000"/>
                  </a:lnTo>
                  <a:lnTo>
                    <a:pt x="16870" y="8385"/>
                  </a:lnTo>
                  <a:lnTo>
                    <a:pt x="16957" y="7769"/>
                  </a:lnTo>
                  <a:lnTo>
                    <a:pt x="17217" y="7308"/>
                  </a:lnTo>
                  <a:lnTo>
                    <a:pt x="17391" y="6769"/>
                  </a:lnTo>
                  <a:lnTo>
                    <a:pt x="17565" y="6154"/>
                  </a:lnTo>
                  <a:lnTo>
                    <a:pt x="17565" y="5692"/>
                  </a:lnTo>
                  <a:lnTo>
                    <a:pt x="18087" y="5077"/>
                  </a:lnTo>
                  <a:lnTo>
                    <a:pt x="18348" y="4923"/>
                  </a:lnTo>
                  <a:lnTo>
                    <a:pt x="18435" y="4308"/>
                  </a:lnTo>
                  <a:lnTo>
                    <a:pt x="18696" y="3692"/>
                  </a:lnTo>
                  <a:lnTo>
                    <a:pt x="18957" y="3385"/>
                  </a:lnTo>
                  <a:lnTo>
                    <a:pt x="19130" y="3154"/>
                  </a:lnTo>
                  <a:lnTo>
                    <a:pt x="19391" y="2615"/>
                  </a:lnTo>
                  <a:lnTo>
                    <a:pt x="19391" y="2308"/>
                  </a:lnTo>
                  <a:lnTo>
                    <a:pt x="19478" y="1923"/>
                  </a:lnTo>
                  <a:lnTo>
                    <a:pt x="19565" y="1615"/>
                  </a:lnTo>
                  <a:lnTo>
                    <a:pt x="19826" y="1385"/>
                  </a:lnTo>
                  <a:lnTo>
                    <a:pt x="19826" y="1154"/>
                  </a:lnTo>
                  <a:lnTo>
                    <a:pt x="19913" y="1077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19" name="AutoShape 37">
              <a:extLst>
                <a:ext uri="{FF2B5EF4-FFF2-40B4-BE49-F238E27FC236}">
                  <a16:creationId xmlns:a16="http://schemas.microsoft.com/office/drawing/2014/main" id="{D1185D92-1E0E-4B91-E1BA-B9580817F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1976"/>
              <a:ext cx="130" cy="7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8893"/>
                  </a:moveTo>
                  <a:lnTo>
                    <a:pt x="183" y="18450"/>
                  </a:lnTo>
                  <a:lnTo>
                    <a:pt x="459" y="17786"/>
                  </a:lnTo>
                  <a:lnTo>
                    <a:pt x="642" y="17269"/>
                  </a:lnTo>
                  <a:lnTo>
                    <a:pt x="642" y="16679"/>
                  </a:lnTo>
                  <a:lnTo>
                    <a:pt x="917" y="16089"/>
                  </a:lnTo>
                  <a:lnTo>
                    <a:pt x="1376" y="15498"/>
                  </a:lnTo>
                  <a:lnTo>
                    <a:pt x="1560" y="14982"/>
                  </a:lnTo>
                  <a:lnTo>
                    <a:pt x="1927" y="14391"/>
                  </a:lnTo>
                  <a:lnTo>
                    <a:pt x="2110" y="13727"/>
                  </a:lnTo>
                  <a:lnTo>
                    <a:pt x="2477" y="13284"/>
                  </a:lnTo>
                  <a:lnTo>
                    <a:pt x="2477" y="12546"/>
                  </a:lnTo>
                  <a:lnTo>
                    <a:pt x="2569" y="11956"/>
                  </a:lnTo>
                  <a:lnTo>
                    <a:pt x="2844" y="11439"/>
                  </a:lnTo>
                  <a:lnTo>
                    <a:pt x="2936" y="10849"/>
                  </a:lnTo>
                  <a:lnTo>
                    <a:pt x="3211" y="10258"/>
                  </a:lnTo>
                  <a:lnTo>
                    <a:pt x="3211" y="9889"/>
                  </a:lnTo>
                  <a:lnTo>
                    <a:pt x="3670" y="9373"/>
                  </a:lnTo>
                  <a:lnTo>
                    <a:pt x="4128" y="8708"/>
                  </a:lnTo>
                  <a:lnTo>
                    <a:pt x="4312" y="8266"/>
                  </a:lnTo>
                  <a:lnTo>
                    <a:pt x="4404" y="7749"/>
                  </a:lnTo>
                  <a:lnTo>
                    <a:pt x="4679" y="7306"/>
                  </a:lnTo>
                  <a:lnTo>
                    <a:pt x="4862" y="6716"/>
                  </a:lnTo>
                  <a:lnTo>
                    <a:pt x="5046" y="6273"/>
                  </a:lnTo>
                  <a:lnTo>
                    <a:pt x="5321" y="5978"/>
                  </a:lnTo>
                  <a:lnTo>
                    <a:pt x="5413" y="5535"/>
                  </a:lnTo>
                  <a:lnTo>
                    <a:pt x="5872" y="4945"/>
                  </a:lnTo>
                  <a:lnTo>
                    <a:pt x="5872" y="4502"/>
                  </a:lnTo>
                  <a:lnTo>
                    <a:pt x="6422" y="4133"/>
                  </a:lnTo>
                  <a:lnTo>
                    <a:pt x="6606" y="3764"/>
                  </a:lnTo>
                  <a:lnTo>
                    <a:pt x="6606" y="3469"/>
                  </a:lnTo>
                  <a:lnTo>
                    <a:pt x="7064" y="3026"/>
                  </a:lnTo>
                  <a:lnTo>
                    <a:pt x="7064" y="2731"/>
                  </a:lnTo>
                  <a:lnTo>
                    <a:pt x="7431" y="2362"/>
                  </a:lnTo>
                  <a:lnTo>
                    <a:pt x="7523" y="2214"/>
                  </a:lnTo>
                  <a:lnTo>
                    <a:pt x="7523" y="1845"/>
                  </a:lnTo>
                  <a:lnTo>
                    <a:pt x="7890" y="1550"/>
                  </a:lnTo>
                  <a:lnTo>
                    <a:pt x="7982" y="1328"/>
                  </a:lnTo>
                  <a:lnTo>
                    <a:pt x="8440" y="1107"/>
                  </a:lnTo>
                  <a:lnTo>
                    <a:pt x="8440" y="1033"/>
                  </a:lnTo>
                  <a:lnTo>
                    <a:pt x="8899" y="738"/>
                  </a:lnTo>
                  <a:lnTo>
                    <a:pt x="8991" y="443"/>
                  </a:lnTo>
                  <a:lnTo>
                    <a:pt x="9174" y="369"/>
                  </a:lnTo>
                  <a:lnTo>
                    <a:pt x="9358" y="295"/>
                  </a:lnTo>
                  <a:lnTo>
                    <a:pt x="9725" y="74"/>
                  </a:lnTo>
                  <a:lnTo>
                    <a:pt x="10183" y="74"/>
                  </a:lnTo>
                  <a:lnTo>
                    <a:pt x="10367" y="0"/>
                  </a:lnTo>
                  <a:lnTo>
                    <a:pt x="10642" y="74"/>
                  </a:lnTo>
                  <a:lnTo>
                    <a:pt x="10734" y="74"/>
                  </a:lnTo>
                  <a:lnTo>
                    <a:pt x="10826" y="74"/>
                  </a:lnTo>
                  <a:lnTo>
                    <a:pt x="11009" y="295"/>
                  </a:lnTo>
                  <a:lnTo>
                    <a:pt x="11468" y="369"/>
                  </a:lnTo>
                  <a:lnTo>
                    <a:pt x="11560" y="443"/>
                  </a:lnTo>
                  <a:lnTo>
                    <a:pt x="12018" y="812"/>
                  </a:lnTo>
                  <a:lnTo>
                    <a:pt x="12110" y="1107"/>
                  </a:lnTo>
                  <a:lnTo>
                    <a:pt x="12477" y="1255"/>
                  </a:lnTo>
                  <a:lnTo>
                    <a:pt x="12477" y="1550"/>
                  </a:lnTo>
                  <a:lnTo>
                    <a:pt x="12569" y="1845"/>
                  </a:lnTo>
                  <a:lnTo>
                    <a:pt x="12936" y="2288"/>
                  </a:lnTo>
                  <a:lnTo>
                    <a:pt x="12936" y="2731"/>
                  </a:lnTo>
                  <a:lnTo>
                    <a:pt x="13394" y="3247"/>
                  </a:lnTo>
                  <a:lnTo>
                    <a:pt x="13394" y="3690"/>
                  </a:lnTo>
                  <a:lnTo>
                    <a:pt x="13578" y="3985"/>
                  </a:lnTo>
                  <a:lnTo>
                    <a:pt x="14128" y="4428"/>
                  </a:lnTo>
                  <a:lnTo>
                    <a:pt x="14220" y="4797"/>
                  </a:lnTo>
                  <a:lnTo>
                    <a:pt x="14587" y="5535"/>
                  </a:lnTo>
                  <a:lnTo>
                    <a:pt x="14862" y="5978"/>
                  </a:lnTo>
                  <a:lnTo>
                    <a:pt x="15046" y="6494"/>
                  </a:lnTo>
                  <a:lnTo>
                    <a:pt x="15138" y="7085"/>
                  </a:lnTo>
                  <a:lnTo>
                    <a:pt x="15321" y="7454"/>
                  </a:lnTo>
                  <a:lnTo>
                    <a:pt x="15596" y="8192"/>
                  </a:lnTo>
                  <a:lnTo>
                    <a:pt x="15780" y="8708"/>
                  </a:lnTo>
                  <a:lnTo>
                    <a:pt x="15963" y="9373"/>
                  </a:lnTo>
                  <a:lnTo>
                    <a:pt x="16330" y="10037"/>
                  </a:lnTo>
                  <a:lnTo>
                    <a:pt x="16789" y="10480"/>
                  </a:lnTo>
                  <a:lnTo>
                    <a:pt x="16789" y="10996"/>
                  </a:lnTo>
                  <a:lnTo>
                    <a:pt x="17064" y="11587"/>
                  </a:lnTo>
                  <a:lnTo>
                    <a:pt x="17248" y="12103"/>
                  </a:lnTo>
                  <a:lnTo>
                    <a:pt x="17431" y="12694"/>
                  </a:lnTo>
                  <a:lnTo>
                    <a:pt x="17523" y="13284"/>
                  </a:lnTo>
                  <a:lnTo>
                    <a:pt x="17523" y="13948"/>
                  </a:lnTo>
                  <a:lnTo>
                    <a:pt x="17890" y="14465"/>
                  </a:lnTo>
                  <a:lnTo>
                    <a:pt x="17890" y="14982"/>
                  </a:lnTo>
                  <a:lnTo>
                    <a:pt x="18349" y="15498"/>
                  </a:lnTo>
                  <a:lnTo>
                    <a:pt x="18440" y="16015"/>
                  </a:lnTo>
                  <a:lnTo>
                    <a:pt x="18624" y="16310"/>
                  </a:lnTo>
                  <a:lnTo>
                    <a:pt x="18991" y="16753"/>
                  </a:lnTo>
                  <a:lnTo>
                    <a:pt x="19083" y="17269"/>
                  </a:lnTo>
                  <a:lnTo>
                    <a:pt x="19358" y="17712"/>
                  </a:lnTo>
                  <a:lnTo>
                    <a:pt x="19358" y="18155"/>
                  </a:lnTo>
                  <a:lnTo>
                    <a:pt x="19450" y="18524"/>
                  </a:lnTo>
                  <a:lnTo>
                    <a:pt x="19541" y="18893"/>
                  </a:lnTo>
                  <a:lnTo>
                    <a:pt x="19633" y="18967"/>
                  </a:lnTo>
                  <a:lnTo>
                    <a:pt x="19817" y="19557"/>
                  </a:lnTo>
                  <a:lnTo>
                    <a:pt x="19908" y="19705"/>
                  </a:lnTo>
                  <a:lnTo>
                    <a:pt x="19908" y="19926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20" name="AutoShape 38">
              <a:extLst>
                <a:ext uri="{FF2B5EF4-FFF2-40B4-BE49-F238E27FC236}">
                  <a16:creationId xmlns:a16="http://schemas.microsoft.com/office/drawing/2014/main" id="{3BCAEB1D-F29B-971D-800E-87E6A3FF4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2038"/>
              <a:ext cx="107" cy="4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68" y="580"/>
                  </a:lnTo>
                  <a:lnTo>
                    <a:pt x="336" y="1449"/>
                  </a:lnTo>
                  <a:lnTo>
                    <a:pt x="504" y="2174"/>
                  </a:lnTo>
                  <a:lnTo>
                    <a:pt x="588" y="2464"/>
                  </a:lnTo>
                  <a:lnTo>
                    <a:pt x="840" y="3043"/>
                  </a:lnTo>
                  <a:lnTo>
                    <a:pt x="1345" y="3913"/>
                  </a:lnTo>
                  <a:lnTo>
                    <a:pt x="1345" y="4348"/>
                  </a:lnTo>
                  <a:lnTo>
                    <a:pt x="1597" y="5072"/>
                  </a:lnTo>
                  <a:lnTo>
                    <a:pt x="1681" y="5507"/>
                  </a:lnTo>
                  <a:lnTo>
                    <a:pt x="2269" y="6232"/>
                  </a:lnTo>
                  <a:lnTo>
                    <a:pt x="2437" y="6957"/>
                  </a:lnTo>
                  <a:lnTo>
                    <a:pt x="2521" y="7536"/>
                  </a:lnTo>
                  <a:lnTo>
                    <a:pt x="2605" y="7971"/>
                  </a:lnTo>
                  <a:lnTo>
                    <a:pt x="2773" y="8406"/>
                  </a:lnTo>
                  <a:lnTo>
                    <a:pt x="2941" y="9130"/>
                  </a:lnTo>
                  <a:lnTo>
                    <a:pt x="3109" y="9855"/>
                  </a:lnTo>
                  <a:lnTo>
                    <a:pt x="3109" y="10000"/>
                  </a:lnTo>
                  <a:lnTo>
                    <a:pt x="3445" y="10580"/>
                  </a:lnTo>
                  <a:lnTo>
                    <a:pt x="3613" y="11014"/>
                  </a:lnTo>
                  <a:lnTo>
                    <a:pt x="3950" y="11739"/>
                  </a:lnTo>
                  <a:lnTo>
                    <a:pt x="4118" y="12029"/>
                  </a:lnTo>
                  <a:lnTo>
                    <a:pt x="4286" y="12464"/>
                  </a:lnTo>
                  <a:lnTo>
                    <a:pt x="4370" y="13043"/>
                  </a:lnTo>
                  <a:lnTo>
                    <a:pt x="4538" y="13623"/>
                  </a:lnTo>
                  <a:lnTo>
                    <a:pt x="4790" y="14058"/>
                  </a:lnTo>
                  <a:lnTo>
                    <a:pt x="5210" y="14638"/>
                  </a:lnTo>
                  <a:lnTo>
                    <a:pt x="5462" y="14928"/>
                  </a:lnTo>
                  <a:lnTo>
                    <a:pt x="5714" y="15507"/>
                  </a:lnTo>
                  <a:lnTo>
                    <a:pt x="5798" y="15797"/>
                  </a:lnTo>
                  <a:lnTo>
                    <a:pt x="6134" y="16087"/>
                  </a:lnTo>
                  <a:lnTo>
                    <a:pt x="6218" y="16522"/>
                  </a:lnTo>
                  <a:lnTo>
                    <a:pt x="6555" y="16957"/>
                  </a:lnTo>
                  <a:lnTo>
                    <a:pt x="6807" y="17246"/>
                  </a:lnTo>
                  <a:lnTo>
                    <a:pt x="6891" y="17536"/>
                  </a:lnTo>
                  <a:lnTo>
                    <a:pt x="7143" y="17681"/>
                  </a:lnTo>
                  <a:lnTo>
                    <a:pt x="7227" y="18116"/>
                  </a:lnTo>
                  <a:lnTo>
                    <a:pt x="7563" y="18406"/>
                  </a:lnTo>
                  <a:lnTo>
                    <a:pt x="7563" y="18551"/>
                  </a:lnTo>
                  <a:lnTo>
                    <a:pt x="7647" y="18986"/>
                  </a:lnTo>
                  <a:lnTo>
                    <a:pt x="7899" y="19130"/>
                  </a:lnTo>
                  <a:lnTo>
                    <a:pt x="8151" y="19275"/>
                  </a:lnTo>
                  <a:lnTo>
                    <a:pt x="8571" y="19420"/>
                  </a:lnTo>
                  <a:lnTo>
                    <a:pt x="8655" y="19420"/>
                  </a:lnTo>
                  <a:lnTo>
                    <a:pt x="8992" y="19855"/>
                  </a:lnTo>
                  <a:lnTo>
                    <a:pt x="9160" y="19855"/>
                  </a:lnTo>
                  <a:lnTo>
                    <a:pt x="9328" y="19855"/>
                  </a:lnTo>
                  <a:lnTo>
                    <a:pt x="9496" y="19855"/>
                  </a:lnTo>
                  <a:lnTo>
                    <a:pt x="9664" y="19855"/>
                  </a:lnTo>
                  <a:lnTo>
                    <a:pt x="9832" y="19855"/>
                  </a:lnTo>
                  <a:lnTo>
                    <a:pt x="10168" y="19855"/>
                  </a:lnTo>
                  <a:lnTo>
                    <a:pt x="10336" y="19855"/>
                  </a:lnTo>
                  <a:lnTo>
                    <a:pt x="10504" y="19420"/>
                  </a:lnTo>
                  <a:lnTo>
                    <a:pt x="10672" y="19420"/>
                  </a:lnTo>
                  <a:lnTo>
                    <a:pt x="10840" y="19275"/>
                  </a:lnTo>
                  <a:lnTo>
                    <a:pt x="11345" y="19130"/>
                  </a:lnTo>
                  <a:lnTo>
                    <a:pt x="11345" y="18986"/>
                  </a:lnTo>
                  <a:lnTo>
                    <a:pt x="11849" y="18551"/>
                  </a:lnTo>
                  <a:lnTo>
                    <a:pt x="12101" y="18406"/>
                  </a:lnTo>
                  <a:lnTo>
                    <a:pt x="12353" y="17681"/>
                  </a:lnTo>
                  <a:lnTo>
                    <a:pt x="12521" y="17536"/>
                  </a:lnTo>
                  <a:lnTo>
                    <a:pt x="12521" y="17101"/>
                  </a:lnTo>
                  <a:lnTo>
                    <a:pt x="12857" y="16667"/>
                  </a:lnTo>
                  <a:lnTo>
                    <a:pt x="13109" y="16087"/>
                  </a:lnTo>
                  <a:lnTo>
                    <a:pt x="13193" y="15797"/>
                  </a:lnTo>
                  <a:lnTo>
                    <a:pt x="13529" y="15507"/>
                  </a:lnTo>
                  <a:lnTo>
                    <a:pt x="13866" y="14928"/>
                  </a:lnTo>
                  <a:lnTo>
                    <a:pt x="14034" y="14058"/>
                  </a:lnTo>
                  <a:lnTo>
                    <a:pt x="14286" y="13768"/>
                  </a:lnTo>
                  <a:lnTo>
                    <a:pt x="14706" y="13188"/>
                  </a:lnTo>
                  <a:lnTo>
                    <a:pt x="14790" y="12899"/>
                  </a:lnTo>
                  <a:lnTo>
                    <a:pt x="15378" y="12029"/>
                  </a:lnTo>
                  <a:lnTo>
                    <a:pt x="15630" y="11739"/>
                  </a:lnTo>
                  <a:lnTo>
                    <a:pt x="15714" y="10870"/>
                  </a:lnTo>
                  <a:lnTo>
                    <a:pt x="15882" y="10580"/>
                  </a:lnTo>
                  <a:lnTo>
                    <a:pt x="16134" y="10000"/>
                  </a:lnTo>
                  <a:lnTo>
                    <a:pt x="16471" y="9710"/>
                  </a:lnTo>
                  <a:lnTo>
                    <a:pt x="16807" y="9130"/>
                  </a:lnTo>
                  <a:lnTo>
                    <a:pt x="16891" y="8261"/>
                  </a:lnTo>
                  <a:lnTo>
                    <a:pt x="17059" y="7971"/>
                  </a:lnTo>
                  <a:lnTo>
                    <a:pt x="17227" y="7536"/>
                  </a:lnTo>
                  <a:lnTo>
                    <a:pt x="17395" y="6957"/>
                  </a:lnTo>
                  <a:lnTo>
                    <a:pt x="17563" y="6232"/>
                  </a:lnTo>
                  <a:lnTo>
                    <a:pt x="17563" y="5942"/>
                  </a:lnTo>
                  <a:lnTo>
                    <a:pt x="18067" y="5072"/>
                  </a:lnTo>
                  <a:lnTo>
                    <a:pt x="18319" y="5072"/>
                  </a:lnTo>
                  <a:lnTo>
                    <a:pt x="18403" y="4348"/>
                  </a:lnTo>
                  <a:lnTo>
                    <a:pt x="18655" y="3913"/>
                  </a:lnTo>
                  <a:lnTo>
                    <a:pt x="19076" y="3478"/>
                  </a:lnTo>
                  <a:lnTo>
                    <a:pt x="19160" y="3043"/>
                  </a:lnTo>
                  <a:lnTo>
                    <a:pt x="19412" y="2464"/>
                  </a:lnTo>
                  <a:lnTo>
                    <a:pt x="19412" y="2319"/>
                  </a:lnTo>
                  <a:lnTo>
                    <a:pt x="19496" y="2174"/>
                  </a:lnTo>
                  <a:lnTo>
                    <a:pt x="19580" y="1594"/>
                  </a:lnTo>
                  <a:lnTo>
                    <a:pt x="19832" y="1449"/>
                  </a:lnTo>
                  <a:lnTo>
                    <a:pt x="19832" y="1014"/>
                  </a:lnTo>
                  <a:lnTo>
                    <a:pt x="19916" y="87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21" name="AutoShape 39">
              <a:extLst>
                <a:ext uri="{FF2B5EF4-FFF2-40B4-BE49-F238E27FC236}">
                  <a16:creationId xmlns:a16="http://schemas.microsoft.com/office/drawing/2014/main" id="{D08CAD92-777B-0E4D-3F21-2A8F65392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2041"/>
              <a:ext cx="136" cy="5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54" y="702"/>
                  </a:lnTo>
                  <a:lnTo>
                    <a:pt x="308" y="1287"/>
                  </a:lnTo>
                  <a:lnTo>
                    <a:pt x="615" y="1988"/>
                  </a:lnTo>
                  <a:lnTo>
                    <a:pt x="615" y="2339"/>
                  </a:lnTo>
                  <a:lnTo>
                    <a:pt x="769" y="3158"/>
                  </a:lnTo>
                  <a:lnTo>
                    <a:pt x="1231" y="3743"/>
                  </a:lnTo>
                  <a:lnTo>
                    <a:pt x="1231" y="4327"/>
                  </a:lnTo>
                  <a:lnTo>
                    <a:pt x="1538" y="5029"/>
                  </a:lnTo>
                  <a:lnTo>
                    <a:pt x="1538" y="5731"/>
                  </a:lnTo>
                  <a:lnTo>
                    <a:pt x="2462" y="6082"/>
                  </a:lnTo>
                  <a:lnTo>
                    <a:pt x="2462" y="6784"/>
                  </a:lnTo>
                  <a:lnTo>
                    <a:pt x="2769" y="7251"/>
                  </a:lnTo>
                  <a:lnTo>
                    <a:pt x="2769" y="7836"/>
                  </a:lnTo>
                  <a:lnTo>
                    <a:pt x="2923" y="8304"/>
                  </a:lnTo>
                  <a:lnTo>
                    <a:pt x="3077" y="9123"/>
                  </a:lnTo>
                  <a:lnTo>
                    <a:pt x="3231" y="9825"/>
                  </a:lnTo>
                  <a:lnTo>
                    <a:pt x="3231" y="10058"/>
                  </a:lnTo>
                  <a:lnTo>
                    <a:pt x="3692" y="10643"/>
                  </a:lnTo>
                  <a:lnTo>
                    <a:pt x="3846" y="11111"/>
                  </a:lnTo>
                  <a:lnTo>
                    <a:pt x="4000" y="11696"/>
                  </a:lnTo>
                  <a:lnTo>
                    <a:pt x="4154" y="12164"/>
                  </a:lnTo>
                  <a:lnTo>
                    <a:pt x="4308" y="12749"/>
                  </a:lnTo>
                  <a:lnTo>
                    <a:pt x="4308" y="13216"/>
                  </a:lnTo>
                  <a:lnTo>
                    <a:pt x="4615" y="13684"/>
                  </a:lnTo>
                  <a:lnTo>
                    <a:pt x="4769" y="14035"/>
                  </a:lnTo>
                  <a:lnTo>
                    <a:pt x="5077" y="14854"/>
                  </a:lnTo>
                  <a:lnTo>
                    <a:pt x="5231" y="14971"/>
                  </a:lnTo>
                  <a:lnTo>
                    <a:pt x="5692" y="15088"/>
                  </a:lnTo>
                  <a:lnTo>
                    <a:pt x="5692" y="15789"/>
                  </a:lnTo>
                  <a:lnTo>
                    <a:pt x="6308" y="16257"/>
                  </a:lnTo>
                  <a:lnTo>
                    <a:pt x="6462" y="16725"/>
                  </a:lnTo>
                  <a:lnTo>
                    <a:pt x="6769" y="16842"/>
                  </a:lnTo>
                  <a:lnTo>
                    <a:pt x="6923" y="17193"/>
                  </a:lnTo>
                  <a:lnTo>
                    <a:pt x="6923" y="17895"/>
                  </a:lnTo>
                  <a:lnTo>
                    <a:pt x="7231" y="17895"/>
                  </a:lnTo>
                  <a:lnTo>
                    <a:pt x="7231" y="18129"/>
                  </a:lnTo>
                  <a:lnTo>
                    <a:pt x="7692" y="18129"/>
                  </a:lnTo>
                  <a:lnTo>
                    <a:pt x="7692" y="18713"/>
                  </a:lnTo>
                  <a:lnTo>
                    <a:pt x="7692" y="18830"/>
                  </a:lnTo>
                  <a:lnTo>
                    <a:pt x="7846" y="19181"/>
                  </a:lnTo>
                  <a:lnTo>
                    <a:pt x="8154" y="19298"/>
                  </a:lnTo>
                  <a:lnTo>
                    <a:pt x="8615" y="19298"/>
                  </a:lnTo>
                  <a:lnTo>
                    <a:pt x="8615" y="19532"/>
                  </a:lnTo>
                  <a:lnTo>
                    <a:pt x="8923" y="19883"/>
                  </a:lnTo>
                  <a:lnTo>
                    <a:pt x="9077" y="19883"/>
                  </a:lnTo>
                  <a:lnTo>
                    <a:pt x="9231" y="19883"/>
                  </a:lnTo>
                  <a:lnTo>
                    <a:pt x="9538" y="19883"/>
                  </a:lnTo>
                  <a:lnTo>
                    <a:pt x="9692" y="19883"/>
                  </a:lnTo>
                  <a:lnTo>
                    <a:pt x="10462" y="19883"/>
                  </a:lnTo>
                  <a:lnTo>
                    <a:pt x="10615" y="19883"/>
                  </a:lnTo>
                  <a:lnTo>
                    <a:pt x="10769" y="19532"/>
                  </a:lnTo>
                  <a:lnTo>
                    <a:pt x="10923" y="19298"/>
                  </a:lnTo>
                  <a:lnTo>
                    <a:pt x="11077" y="19298"/>
                  </a:lnTo>
                  <a:lnTo>
                    <a:pt x="11385" y="19181"/>
                  </a:lnTo>
                  <a:lnTo>
                    <a:pt x="11385" y="18830"/>
                  </a:lnTo>
                  <a:lnTo>
                    <a:pt x="12000" y="18713"/>
                  </a:lnTo>
                  <a:lnTo>
                    <a:pt x="12308" y="18129"/>
                  </a:lnTo>
                  <a:lnTo>
                    <a:pt x="12462" y="17895"/>
                  </a:lnTo>
                  <a:lnTo>
                    <a:pt x="12615" y="17661"/>
                  </a:lnTo>
                  <a:lnTo>
                    <a:pt x="12615" y="17076"/>
                  </a:lnTo>
                  <a:lnTo>
                    <a:pt x="12923" y="16725"/>
                  </a:lnTo>
                  <a:lnTo>
                    <a:pt x="13231" y="16257"/>
                  </a:lnTo>
                  <a:lnTo>
                    <a:pt x="13231" y="15789"/>
                  </a:lnTo>
                  <a:lnTo>
                    <a:pt x="13538" y="15088"/>
                  </a:lnTo>
                  <a:lnTo>
                    <a:pt x="14154" y="14971"/>
                  </a:lnTo>
                  <a:lnTo>
                    <a:pt x="14308" y="14269"/>
                  </a:lnTo>
                  <a:lnTo>
                    <a:pt x="14462" y="13918"/>
                  </a:lnTo>
                  <a:lnTo>
                    <a:pt x="14923" y="13450"/>
                  </a:lnTo>
                  <a:lnTo>
                    <a:pt x="15077" y="12982"/>
                  </a:lnTo>
                  <a:lnTo>
                    <a:pt x="15385" y="12164"/>
                  </a:lnTo>
                  <a:lnTo>
                    <a:pt x="15692" y="11696"/>
                  </a:lnTo>
                  <a:lnTo>
                    <a:pt x="15692" y="10877"/>
                  </a:lnTo>
                  <a:lnTo>
                    <a:pt x="16000" y="10643"/>
                  </a:lnTo>
                  <a:lnTo>
                    <a:pt x="16308" y="10058"/>
                  </a:lnTo>
                  <a:lnTo>
                    <a:pt x="16462" y="9357"/>
                  </a:lnTo>
                  <a:lnTo>
                    <a:pt x="16769" y="9123"/>
                  </a:lnTo>
                  <a:lnTo>
                    <a:pt x="16769" y="8304"/>
                  </a:lnTo>
                  <a:lnTo>
                    <a:pt x="17077" y="7836"/>
                  </a:lnTo>
                  <a:lnTo>
                    <a:pt x="17231" y="7251"/>
                  </a:lnTo>
                  <a:lnTo>
                    <a:pt x="17385" y="6784"/>
                  </a:lnTo>
                  <a:lnTo>
                    <a:pt x="17538" y="6082"/>
                  </a:lnTo>
                  <a:lnTo>
                    <a:pt x="17538" y="5731"/>
                  </a:lnTo>
                  <a:lnTo>
                    <a:pt x="18462" y="5029"/>
                  </a:lnTo>
                  <a:lnTo>
                    <a:pt x="18615" y="5029"/>
                  </a:lnTo>
                  <a:lnTo>
                    <a:pt x="18615" y="4327"/>
                  </a:lnTo>
                  <a:lnTo>
                    <a:pt x="18923" y="3743"/>
                  </a:lnTo>
                  <a:lnTo>
                    <a:pt x="19231" y="3275"/>
                  </a:lnTo>
                  <a:lnTo>
                    <a:pt x="19385" y="3158"/>
                  </a:lnTo>
                  <a:lnTo>
                    <a:pt x="19538" y="2339"/>
                  </a:lnTo>
                  <a:lnTo>
                    <a:pt x="19538" y="2105"/>
                  </a:lnTo>
                  <a:lnTo>
                    <a:pt x="19538" y="1988"/>
                  </a:lnTo>
                  <a:lnTo>
                    <a:pt x="19692" y="1871"/>
                  </a:lnTo>
                  <a:lnTo>
                    <a:pt x="19846" y="1287"/>
                  </a:lnTo>
                  <a:lnTo>
                    <a:pt x="19846" y="1170"/>
                  </a:lnTo>
                  <a:lnTo>
                    <a:pt x="19846" y="819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22" name="AutoShape 41">
              <a:extLst>
                <a:ext uri="{FF2B5EF4-FFF2-40B4-BE49-F238E27FC236}">
                  <a16:creationId xmlns:a16="http://schemas.microsoft.com/office/drawing/2014/main" id="{C97290E3-8B3C-18B8-A2EC-06EB822E6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" y="2043"/>
              <a:ext cx="130" cy="13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26" y="662"/>
                  </a:lnTo>
                  <a:lnTo>
                    <a:pt x="377" y="1324"/>
                  </a:lnTo>
                  <a:lnTo>
                    <a:pt x="503" y="1912"/>
                  </a:lnTo>
                  <a:lnTo>
                    <a:pt x="629" y="2426"/>
                  </a:lnTo>
                  <a:lnTo>
                    <a:pt x="881" y="3088"/>
                  </a:lnTo>
                  <a:lnTo>
                    <a:pt x="1132" y="3676"/>
                  </a:lnTo>
                  <a:lnTo>
                    <a:pt x="1132" y="4338"/>
                  </a:lnTo>
                  <a:lnTo>
                    <a:pt x="1509" y="5000"/>
                  </a:lnTo>
                  <a:lnTo>
                    <a:pt x="1509" y="5588"/>
                  </a:lnTo>
                  <a:lnTo>
                    <a:pt x="2390" y="6176"/>
                  </a:lnTo>
                  <a:lnTo>
                    <a:pt x="2516" y="6618"/>
                  </a:lnTo>
                  <a:lnTo>
                    <a:pt x="2516" y="7426"/>
                  </a:lnTo>
                  <a:lnTo>
                    <a:pt x="2642" y="7941"/>
                  </a:lnTo>
                  <a:lnTo>
                    <a:pt x="2893" y="8456"/>
                  </a:lnTo>
                  <a:lnTo>
                    <a:pt x="3019" y="8971"/>
                  </a:lnTo>
                  <a:lnTo>
                    <a:pt x="3145" y="9632"/>
                  </a:lnTo>
                  <a:lnTo>
                    <a:pt x="3145" y="10147"/>
                  </a:lnTo>
                  <a:lnTo>
                    <a:pt x="3522" y="10588"/>
                  </a:lnTo>
                  <a:lnTo>
                    <a:pt x="3648" y="11176"/>
                  </a:lnTo>
                  <a:lnTo>
                    <a:pt x="3899" y="11618"/>
                  </a:lnTo>
                  <a:lnTo>
                    <a:pt x="4151" y="12206"/>
                  </a:lnTo>
                  <a:lnTo>
                    <a:pt x="4277" y="12574"/>
                  </a:lnTo>
                  <a:lnTo>
                    <a:pt x="4403" y="13088"/>
                  </a:lnTo>
                  <a:lnTo>
                    <a:pt x="4528" y="13676"/>
                  </a:lnTo>
                  <a:lnTo>
                    <a:pt x="4780" y="14118"/>
                  </a:lnTo>
                  <a:lnTo>
                    <a:pt x="5157" y="14559"/>
                  </a:lnTo>
                  <a:lnTo>
                    <a:pt x="5535" y="15000"/>
                  </a:lnTo>
                  <a:lnTo>
                    <a:pt x="5660" y="15588"/>
                  </a:lnTo>
                  <a:lnTo>
                    <a:pt x="5786" y="15882"/>
                  </a:lnTo>
                  <a:lnTo>
                    <a:pt x="6164" y="16250"/>
                  </a:lnTo>
                  <a:lnTo>
                    <a:pt x="6289" y="16544"/>
                  </a:lnTo>
                  <a:lnTo>
                    <a:pt x="6541" y="16985"/>
                  </a:lnTo>
                  <a:lnTo>
                    <a:pt x="6792" y="17353"/>
                  </a:lnTo>
                  <a:lnTo>
                    <a:pt x="6918" y="17647"/>
                  </a:lnTo>
                  <a:lnTo>
                    <a:pt x="7170" y="17868"/>
                  </a:lnTo>
                  <a:lnTo>
                    <a:pt x="7170" y="18088"/>
                  </a:lnTo>
                  <a:lnTo>
                    <a:pt x="7547" y="18456"/>
                  </a:lnTo>
                  <a:lnTo>
                    <a:pt x="7547" y="18676"/>
                  </a:lnTo>
                  <a:lnTo>
                    <a:pt x="7547" y="18897"/>
                  </a:lnTo>
                  <a:lnTo>
                    <a:pt x="7799" y="19118"/>
                  </a:lnTo>
                  <a:lnTo>
                    <a:pt x="8050" y="19338"/>
                  </a:lnTo>
                  <a:lnTo>
                    <a:pt x="8553" y="19559"/>
                  </a:lnTo>
                  <a:lnTo>
                    <a:pt x="8679" y="19559"/>
                  </a:lnTo>
                  <a:lnTo>
                    <a:pt x="8931" y="19779"/>
                  </a:lnTo>
                  <a:lnTo>
                    <a:pt x="9057" y="19853"/>
                  </a:lnTo>
                  <a:lnTo>
                    <a:pt x="9182" y="19853"/>
                  </a:lnTo>
                  <a:lnTo>
                    <a:pt x="9434" y="19926"/>
                  </a:lnTo>
                  <a:lnTo>
                    <a:pt x="9560" y="19926"/>
                  </a:lnTo>
                  <a:lnTo>
                    <a:pt x="9811" y="19926"/>
                  </a:lnTo>
                  <a:lnTo>
                    <a:pt x="10189" y="19853"/>
                  </a:lnTo>
                  <a:lnTo>
                    <a:pt x="10440" y="19853"/>
                  </a:lnTo>
                  <a:lnTo>
                    <a:pt x="10566" y="19559"/>
                  </a:lnTo>
                  <a:lnTo>
                    <a:pt x="10818" y="19559"/>
                  </a:lnTo>
                  <a:lnTo>
                    <a:pt x="10943" y="19338"/>
                  </a:lnTo>
                  <a:lnTo>
                    <a:pt x="11321" y="19044"/>
                  </a:lnTo>
                  <a:lnTo>
                    <a:pt x="11321" y="18897"/>
                  </a:lnTo>
                  <a:lnTo>
                    <a:pt x="11950" y="18456"/>
                  </a:lnTo>
                  <a:lnTo>
                    <a:pt x="12201" y="18382"/>
                  </a:lnTo>
                  <a:lnTo>
                    <a:pt x="12453" y="17794"/>
                  </a:lnTo>
                  <a:lnTo>
                    <a:pt x="12453" y="17574"/>
                  </a:lnTo>
                  <a:lnTo>
                    <a:pt x="12453" y="17206"/>
                  </a:lnTo>
                  <a:lnTo>
                    <a:pt x="12830" y="16691"/>
                  </a:lnTo>
                  <a:lnTo>
                    <a:pt x="13082" y="16324"/>
                  </a:lnTo>
                  <a:lnTo>
                    <a:pt x="13208" y="15882"/>
                  </a:lnTo>
                  <a:lnTo>
                    <a:pt x="13459" y="15368"/>
                  </a:lnTo>
                  <a:lnTo>
                    <a:pt x="13836" y="14926"/>
                  </a:lnTo>
                  <a:lnTo>
                    <a:pt x="14088" y="14338"/>
                  </a:lnTo>
                  <a:lnTo>
                    <a:pt x="14340" y="13824"/>
                  </a:lnTo>
                  <a:lnTo>
                    <a:pt x="14717" y="13382"/>
                  </a:lnTo>
                  <a:lnTo>
                    <a:pt x="14843" y="12868"/>
                  </a:lnTo>
                  <a:lnTo>
                    <a:pt x="15346" y="12206"/>
                  </a:lnTo>
                  <a:lnTo>
                    <a:pt x="15597" y="11618"/>
                  </a:lnTo>
                  <a:lnTo>
                    <a:pt x="15723" y="11029"/>
                  </a:lnTo>
                  <a:lnTo>
                    <a:pt x="15849" y="10515"/>
                  </a:lnTo>
                  <a:lnTo>
                    <a:pt x="16226" y="10074"/>
                  </a:lnTo>
                  <a:lnTo>
                    <a:pt x="16478" y="9485"/>
                  </a:lnTo>
                  <a:lnTo>
                    <a:pt x="16855" y="8971"/>
                  </a:lnTo>
                  <a:lnTo>
                    <a:pt x="16855" y="8382"/>
                  </a:lnTo>
                  <a:lnTo>
                    <a:pt x="16981" y="7794"/>
                  </a:lnTo>
                  <a:lnTo>
                    <a:pt x="17107" y="7426"/>
                  </a:lnTo>
                  <a:lnTo>
                    <a:pt x="17358" y="6765"/>
                  </a:lnTo>
                  <a:lnTo>
                    <a:pt x="17484" y="6250"/>
                  </a:lnTo>
                  <a:lnTo>
                    <a:pt x="17484" y="5662"/>
                  </a:lnTo>
                  <a:lnTo>
                    <a:pt x="18113" y="5221"/>
                  </a:lnTo>
                  <a:lnTo>
                    <a:pt x="18491" y="4632"/>
                  </a:lnTo>
                  <a:lnTo>
                    <a:pt x="18491" y="4338"/>
                  </a:lnTo>
                  <a:lnTo>
                    <a:pt x="18868" y="3824"/>
                  </a:lnTo>
                  <a:lnTo>
                    <a:pt x="18994" y="3456"/>
                  </a:lnTo>
                  <a:lnTo>
                    <a:pt x="19119" y="3015"/>
                  </a:lnTo>
                  <a:lnTo>
                    <a:pt x="19371" y="2574"/>
                  </a:lnTo>
                  <a:lnTo>
                    <a:pt x="19371" y="2206"/>
                  </a:lnTo>
                  <a:lnTo>
                    <a:pt x="19497" y="1912"/>
                  </a:lnTo>
                  <a:lnTo>
                    <a:pt x="19497" y="1618"/>
                  </a:lnTo>
                  <a:lnTo>
                    <a:pt x="19874" y="1397"/>
                  </a:lnTo>
                  <a:lnTo>
                    <a:pt x="19874" y="1103"/>
                  </a:lnTo>
                  <a:lnTo>
                    <a:pt x="19874" y="882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23" name="AutoShape 42">
              <a:extLst>
                <a:ext uri="{FF2B5EF4-FFF2-40B4-BE49-F238E27FC236}">
                  <a16:creationId xmlns:a16="http://schemas.microsoft.com/office/drawing/2014/main" id="{5E287D38-D1E6-3F79-5D3D-CCA8CDF1A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" y="1930"/>
              <a:ext cx="133" cy="1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8956"/>
                  </a:moveTo>
                  <a:lnTo>
                    <a:pt x="209" y="18486"/>
                  </a:lnTo>
                  <a:lnTo>
                    <a:pt x="524" y="17807"/>
                  </a:lnTo>
                  <a:lnTo>
                    <a:pt x="733" y="17337"/>
                  </a:lnTo>
                  <a:lnTo>
                    <a:pt x="733" y="16658"/>
                  </a:lnTo>
                  <a:lnTo>
                    <a:pt x="1047" y="16136"/>
                  </a:lnTo>
                  <a:lnTo>
                    <a:pt x="1257" y="15614"/>
                  </a:lnTo>
                  <a:lnTo>
                    <a:pt x="1361" y="14935"/>
                  </a:lnTo>
                  <a:lnTo>
                    <a:pt x="1885" y="14465"/>
                  </a:lnTo>
                  <a:lnTo>
                    <a:pt x="2199" y="13734"/>
                  </a:lnTo>
                  <a:lnTo>
                    <a:pt x="2513" y="13264"/>
                  </a:lnTo>
                  <a:lnTo>
                    <a:pt x="2513" y="12533"/>
                  </a:lnTo>
                  <a:lnTo>
                    <a:pt x="2618" y="12010"/>
                  </a:lnTo>
                  <a:lnTo>
                    <a:pt x="2932" y="11436"/>
                  </a:lnTo>
                  <a:lnTo>
                    <a:pt x="3037" y="10862"/>
                  </a:lnTo>
                  <a:lnTo>
                    <a:pt x="3246" y="10287"/>
                  </a:lnTo>
                  <a:lnTo>
                    <a:pt x="3246" y="9922"/>
                  </a:lnTo>
                  <a:lnTo>
                    <a:pt x="3665" y="9452"/>
                  </a:lnTo>
                  <a:lnTo>
                    <a:pt x="4084" y="8721"/>
                  </a:lnTo>
                  <a:lnTo>
                    <a:pt x="4293" y="8303"/>
                  </a:lnTo>
                  <a:lnTo>
                    <a:pt x="4293" y="7781"/>
                  </a:lnTo>
                  <a:lnTo>
                    <a:pt x="4607" y="7311"/>
                  </a:lnTo>
                  <a:lnTo>
                    <a:pt x="4817" y="6789"/>
                  </a:lnTo>
                  <a:lnTo>
                    <a:pt x="5026" y="6319"/>
                  </a:lnTo>
                  <a:lnTo>
                    <a:pt x="5340" y="5901"/>
                  </a:lnTo>
                  <a:lnTo>
                    <a:pt x="5445" y="5483"/>
                  </a:lnTo>
                  <a:lnTo>
                    <a:pt x="5864" y="4909"/>
                  </a:lnTo>
                  <a:lnTo>
                    <a:pt x="5864" y="4439"/>
                  </a:lnTo>
                  <a:lnTo>
                    <a:pt x="6492" y="4125"/>
                  </a:lnTo>
                  <a:lnTo>
                    <a:pt x="6702" y="3708"/>
                  </a:lnTo>
                  <a:lnTo>
                    <a:pt x="6702" y="3394"/>
                  </a:lnTo>
                  <a:lnTo>
                    <a:pt x="7120" y="2977"/>
                  </a:lnTo>
                  <a:lnTo>
                    <a:pt x="7120" y="2715"/>
                  </a:lnTo>
                  <a:lnTo>
                    <a:pt x="7435" y="2298"/>
                  </a:lnTo>
                  <a:lnTo>
                    <a:pt x="7435" y="2245"/>
                  </a:lnTo>
                  <a:lnTo>
                    <a:pt x="7435" y="1775"/>
                  </a:lnTo>
                  <a:lnTo>
                    <a:pt x="7749" y="1514"/>
                  </a:lnTo>
                  <a:lnTo>
                    <a:pt x="7853" y="1305"/>
                  </a:lnTo>
                  <a:lnTo>
                    <a:pt x="8482" y="1097"/>
                  </a:lnTo>
                  <a:lnTo>
                    <a:pt x="8482" y="992"/>
                  </a:lnTo>
                  <a:lnTo>
                    <a:pt x="8901" y="731"/>
                  </a:lnTo>
                  <a:lnTo>
                    <a:pt x="9005" y="418"/>
                  </a:lnTo>
                  <a:lnTo>
                    <a:pt x="9110" y="366"/>
                  </a:lnTo>
                  <a:lnTo>
                    <a:pt x="9319" y="261"/>
                  </a:lnTo>
                  <a:lnTo>
                    <a:pt x="9738" y="104"/>
                  </a:lnTo>
                  <a:lnTo>
                    <a:pt x="10157" y="104"/>
                  </a:lnTo>
                  <a:lnTo>
                    <a:pt x="10366" y="0"/>
                  </a:lnTo>
                  <a:lnTo>
                    <a:pt x="10681" y="104"/>
                  </a:lnTo>
                  <a:lnTo>
                    <a:pt x="10785" y="104"/>
                  </a:lnTo>
                  <a:lnTo>
                    <a:pt x="10890" y="104"/>
                  </a:lnTo>
                  <a:lnTo>
                    <a:pt x="10995" y="261"/>
                  </a:lnTo>
                  <a:lnTo>
                    <a:pt x="11414" y="366"/>
                  </a:lnTo>
                  <a:lnTo>
                    <a:pt x="11518" y="418"/>
                  </a:lnTo>
                  <a:lnTo>
                    <a:pt x="12147" y="731"/>
                  </a:lnTo>
                  <a:lnTo>
                    <a:pt x="12251" y="1097"/>
                  </a:lnTo>
                  <a:lnTo>
                    <a:pt x="12565" y="1253"/>
                  </a:lnTo>
                  <a:lnTo>
                    <a:pt x="12565" y="1514"/>
                  </a:lnTo>
                  <a:lnTo>
                    <a:pt x="12565" y="1775"/>
                  </a:lnTo>
                  <a:lnTo>
                    <a:pt x="12880" y="2298"/>
                  </a:lnTo>
                  <a:lnTo>
                    <a:pt x="12880" y="2715"/>
                  </a:lnTo>
                  <a:lnTo>
                    <a:pt x="13298" y="3290"/>
                  </a:lnTo>
                  <a:lnTo>
                    <a:pt x="13298" y="3708"/>
                  </a:lnTo>
                  <a:lnTo>
                    <a:pt x="13508" y="4021"/>
                  </a:lnTo>
                  <a:lnTo>
                    <a:pt x="14136" y="4386"/>
                  </a:lnTo>
                  <a:lnTo>
                    <a:pt x="14241" y="4752"/>
                  </a:lnTo>
                  <a:lnTo>
                    <a:pt x="14555" y="5483"/>
                  </a:lnTo>
                  <a:lnTo>
                    <a:pt x="14869" y="5901"/>
                  </a:lnTo>
                  <a:lnTo>
                    <a:pt x="15079" y="6475"/>
                  </a:lnTo>
                  <a:lnTo>
                    <a:pt x="15183" y="7154"/>
                  </a:lnTo>
                  <a:lnTo>
                    <a:pt x="15393" y="7520"/>
                  </a:lnTo>
                  <a:lnTo>
                    <a:pt x="15707" y="8303"/>
                  </a:lnTo>
                  <a:lnTo>
                    <a:pt x="15812" y="8721"/>
                  </a:lnTo>
                  <a:lnTo>
                    <a:pt x="16021" y="9452"/>
                  </a:lnTo>
                  <a:lnTo>
                    <a:pt x="16335" y="10026"/>
                  </a:lnTo>
                  <a:lnTo>
                    <a:pt x="16754" y="10496"/>
                  </a:lnTo>
                  <a:lnTo>
                    <a:pt x="16754" y="11018"/>
                  </a:lnTo>
                  <a:lnTo>
                    <a:pt x="16963" y="11540"/>
                  </a:lnTo>
                  <a:lnTo>
                    <a:pt x="17173" y="12063"/>
                  </a:lnTo>
                  <a:lnTo>
                    <a:pt x="17382" y="12742"/>
                  </a:lnTo>
                  <a:lnTo>
                    <a:pt x="17487" y="13264"/>
                  </a:lnTo>
                  <a:lnTo>
                    <a:pt x="17487" y="13943"/>
                  </a:lnTo>
                  <a:lnTo>
                    <a:pt x="17801" y="14517"/>
                  </a:lnTo>
                  <a:lnTo>
                    <a:pt x="17801" y="14935"/>
                  </a:lnTo>
                  <a:lnTo>
                    <a:pt x="18534" y="15614"/>
                  </a:lnTo>
                  <a:lnTo>
                    <a:pt x="18639" y="16031"/>
                  </a:lnTo>
                  <a:lnTo>
                    <a:pt x="18743" y="16345"/>
                  </a:lnTo>
                  <a:lnTo>
                    <a:pt x="18953" y="16762"/>
                  </a:lnTo>
                  <a:lnTo>
                    <a:pt x="18953" y="17337"/>
                  </a:lnTo>
                  <a:lnTo>
                    <a:pt x="19267" y="17755"/>
                  </a:lnTo>
                  <a:lnTo>
                    <a:pt x="19267" y="18277"/>
                  </a:lnTo>
                  <a:lnTo>
                    <a:pt x="19372" y="18538"/>
                  </a:lnTo>
                  <a:lnTo>
                    <a:pt x="19476" y="18956"/>
                  </a:lnTo>
                  <a:lnTo>
                    <a:pt x="19581" y="19060"/>
                  </a:lnTo>
                  <a:lnTo>
                    <a:pt x="19791" y="19634"/>
                  </a:lnTo>
                  <a:lnTo>
                    <a:pt x="19895" y="19791"/>
                  </a:lnTo>
                  <a:lnTo>
                    <a:pt x="19895" y="19948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24" name="AutoShape 43">
              <a:extLst>
                <a:ext uri="{FF2B5EF4-FFF2-40B4-BE49-F238E27FC236}">
                  <a16:creationId xmlns:a16="http://schemas.microsoft.com/office/drawing/2014/main" id="{4E25788B-2D87-9EB9-1EC1-2E19535A0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" y="2044"/>
              <a:ext cx="137" cy="6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75" y="488"/>
                  </a:lnTo>
                  <a:lnTo>
                    <a:pt x="351" y="1463"/>
                  </a:lnTo>
                  <a:lnTo>
                    <a:pt x="526" y="2114"/>
                  </a:lnTo>
                  <a:lnTo>
                    <a:pt x="614" y="2439"/>
                  </a:lnTo>
                  <a:lnTo>
                    <a:pt x="877" y="3089"/>
                  </a:lnTo>
                  <a:lnTo>
                    <a:pt x="1228" y="3740"/>
                  </a:lnTo>
                  <a:lnTo>
                    <a:pt x="1228" y="4390"/>
                  </a:lnTo>
                  <a:lnTo>
                    <a:pt x="1579" y="5041"/>
                  </a:lnTo>
                  <a:lnTo>
                    <a:pt x="1667" y="5528"/>
                  </a:lnTo>
                  <a:lnTo>
                    <a:pt x="2281" y="6179"/>
                  </a:lnTo>
                  <a:lnTo>
                    <a:pt x="2456" y="6667"/>
                  </a:lnTo>
                  <a:lnTo>
                    <a:pt x="2544" y="7317"/>
                  </a:lnTo>
                  <a:lnTo>
                    <a:pt x="2632" y="7967"/>
                  </a:lnTo>
                  <a:lnTo>
                    <a:pt x="2807" y="8455"/>
                  </a:lnTo>
                  <a:lnTo>
                    <a:pt x="2982" y="9106"/>
                  </a:lnTo>
                  <a:lnTo>
                    <a:pt x="3070" y="9756"/>
                  </a:lnTo>
                  <a:lnTo>
                    <a:pt x="3070" y="10081"/>
                  </a:lnTo>
                  <a:lnTo>
                    <a:pt x="3509" y="10569"/>
                  </a:lnTo>
                  <a:lnTo>
                    <a:pt x="3684" y="11220"/>
                  </a:lnTo>
                  <a:lnTo>
                    <a:pt x="3947" y="11870"/>
                  </a:lnTo>
                  <a:lnTo>
                    <a:pt x="4123" y="12033"/>
                  </a:lnTo>
                  <a:lnTo>
                    <a:pt x="4386" y="12683"/>
                  </a:lnTo>
                  <a:lnTo>
                    <a:pt x="4474" y="13333"/>
                  </a:lnTo>
                  <a:lnTo>
                    <a:pt x="4649" y="13659"/>
                  </a:lnTo>
                  <a:lnTo>
                    <a:pt x="4912" y="14146"/>
                  </a:lnTo>
                  <a:lnTo>
                    <a:pt x="5175" y="14797"/>
                  </a:lnTo>
                  <a:lnTo>
                    <a:pt x="5439" y="14959"/>
                  </a:lnTo>
                  <a:lnTo>
                    <a:pt x="5702" y="15447"/>
                  </a:lnTo>
                  <a:lnTo>
                    <a:pt x="5789" y="15772"/>
                  </a:lnTo>
                  <a:lnTo>
                    <a:pt x="6140" y="16260"/>
                  </a:lnTo>
                  <a:lnTo>
                    <a:pt x="6228" y="16423"/>
                  </a:lnTo>
                  <a:lnTo>
                    <a:pt x="6491" y="16911"/>
                  </a:lnTo>
                  <a:lnTo>
                    <a:pt x="6754" y="17236"/>
                  </a:lnTo>
                  <a:lnTo>
                    <a:pt x="6842" y="17561"/>
                  </a:lnTo>
                  <a:lnTo>
                    <a:pt x="7018" y="17724"/>
                  </a:lnTo>
                  <a:lnTo>
                    <a:pt x="7193" y="18374"/>
                  </a:lnTo>
                  <a:lnTo>
                    <a:pt x="7544" y="18537"/>
                  </a:lnTo>
                  <a:lnTo>
                    <a:pt x="7632" y="19024"/>
                  </a:lnTo>
                  <a:lnTo>
                    <a:pt x="7895" y="19187"/>
                  </a:lnTo>
                  <a:lnTo>
                    <a:pt x="8158" y="19350"/>
                  </a:lnTo>
                  <a:lnTo>
                    <a:pt x="8596" y="19512"/>
                  </a:lnTo>
                  <a:lnTo>
                    <a:pt x="8684" y="19512"/>
                  </a:lnTo>
                  <a:lnTo>
                    <a:pt x="8947" y="19837"/>
                  </a:lnTo>
                  <a:lnTo>
                    <a:pt x="9035" y="19837"/>
                  </a:lnTo>
                  <a:lnTo>
                    <a:pt x="9211" y="19837"/>
                  </a:lnTo>
                  <a:lnTo>
                    <a:pt x="9386" y="19837"/>
                  </a:lnTo>
                  <a:lnTo>
                    <a:pt x="9561" y="19837"/>
                  </a:lnTo>
                  <a:lnTo>
                    <a:pt x="9737" y="19837"/>
                  </a:lnTo>
                  <a:lnTo>
                    <a:pt x="10263" y="19837"/>
                  </a:lnTo>
                  <a:lnTo>
                    <a:pt x="10439" y="19837"/>
                  </a:lnTo>
                  <a:lnTo>
                    <a:pt x="10614" y="19512"/>
                  </a:lnTo>
                  <a:lnTo>
                    <a:pt x="10789" y="19512"/>
                  </a:lnTo>
                  <a:lnTo>
                    <a:pt x="10965" y="19350"/>
                  </a:lnTo>
                  <a:lnTo>
                    <a:pt x="11316" y="19187"/>
                  </a:lnTo>
                  <a:lnTo>
                    <a:pt x="11316" y="19024"/>
                  </a:lnTo>
                  <a:lnTo>
                    <a:pt x="11842" y="18537"/>
                  </a:lnTo>
                  <a:lnTo>
                    <a:pt x="12105" y="18537"/>
                  </a:lnTo>
                  <a:lnTo>
                    <a:pt x="12368" y="17724"/>
                  </a:lnTo>
                  <a:lnTo>
                    <a:pt x="12544" y="17561"/>
                  </a:lnTo>
                  <a:lnTo>
                    <a:pt x="12544" y="17073"/>
                  </a:lnTo>
                  <a:lnTo>
                    <a:pt x="12982" y="16585"/>
                  </a:lnTo>
                  <a:lnTo>
                    <a:pt x="13158" y="16260"/>
                  </a:lnTo>
                  <a:lnTo>
                    <a:pt x="13246" y="15772"/>
                  </a:lnTo>
                  <a:lnTo>
                    <a:pt x="13596" y="15447"/>
                  </a:lnTo>
                  <a:lnTo>
                    <a:pt x="13860" y="14959"/>
                  </a:lnTo>
                  <a:lnTo>
                    <a:pt x="14035" y="14146"/>
                  </a:lnTo>
                  <a:lnTo>
                    <a:pt x="14298" y="13821"/>
                  </a:lnTo>
                  <a:lnTo>
                    <a:pt x="14737" y="13496"/>
                  </a:lnTo>
                  <a:lnTo>
                    <a:pt x="14825" y="13008"/>
                  </a:lnTo>
                  <a:lnTo>
                    <a:pt x="15263" y="12033"/>
                  </a:lnTo>
                  <a:lnTo>
                    <a:pt x="15526" y="11870"/>
                  </a:lnTo>
                  <a:lnTo>
                    <a:pt x="15614" y="10894"/>
                  </a:lnTo>
                  <a:lnTo>
                    <a:pt x="15877" y="10569"/>
                  </a:lnTo>
                  <a:lnTo>
                    <a:pt x="16140" y="10081"/>
                  </a:lnTo>
                  <a:lnTo>
                    <a:pt x="16404" y="9431"/>
                  </a:lnTo>
                  <a:lnTo>
                    <a:pt x="16842" y="9106"/>
                  </a:lnTo>
                  <a:lnTo>
                    <a:pt x="16930" y="8130"/>
                  </a:lnTo>
                  <a:lnTo>
                    <a:pt x="17018" y="7967"/>
                  </a:lnTo>
                  <a:lnTo>
                    <a:pt x="17193" y="7317"/>
                  </a:lnTo>
                  <a:lnTo>
                    <a:pt x="17368" y="6667"/>
                  </a:lnTo>
                  <a:lnTo>
                    <a:pt x="17544" y="6179"/>
                  </a:lnTo>
                  <a:lnTo>
                    <a:pt x="17544" y="5854"/>
                  </a:lnTo>
                  <a:lnTo>
                    <a:pt x="18070" y="5041"/>
                  </a:lnTo>
                  <a:lnTo>
                    <a:pt x="18333" y="5041"/>
                  </a:lnTo>
                  <a:lnTo>
                    <a:pt x="18421" y="4390"/>
                  </a:lnTo>
                  <a:lnTo>
                    <a:pt x="18772" y="3740"/>
                  </a:lnTo>
                  <a:lnTo>
                    <a:pt x="19035" y="3577"/>
                  </a:lnTo>
                  <a:lnTo>
                    <a:pt x="19123" y="3089"/>
                  </a:lnTo>
                  <a:lnTo>
                    <a:pt x="19386" y="2439"/>
                  </a:lnTo>
                  <a:lnTo>
                    <a:pt x="19386" y="2276"/>
                  </a:lnTo>
                  <a:lnTo>
                    <a:pt x="19474" y="2114"/>
                  </a:lnTo>
                  <a:lnTo>
                    <a:pt x="19561" y="1463"/>
                  </a:lnTo>
                  <a:lnTo>
                    <a:pt x="19825" y="1463"/>
                  </a:lnTo>
                  <a:lnTo>
                    <a:pt x="19825" y="976"/>
                  </a:lnTo>
                  <a:lnTo>
                    <a:pt x="19912" y="813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25" name="Text Box 44">
              <a:extLst>
                <a:ext uri="{FF2B5EF4-FFF2-40B4-BE49-F238E27FC236}">
                  <a16:creationId xmlns:a16="http://schemas.microsoft.com/office/drawing/2014/main" id="{6ADE61F4-EE60-B3E6-7830-AB4807D686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" y="1570"/>
              <a:ext cx="184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11" tIns="45706" rIns="91411" bIns="45706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>
                  <a:solidFill>
                    <a:schemeClr val="tx1"/>
                  </a:solidFill>
                </a:rPr>
                <a:t>x</a:t>
              </a:r>
              <a:endParaRPr lang="en-US" altLang="zh-CN" sz="2800" b="0">
                <a:solidFill>
                  <a:schemeClr val="tx1"/>
                </a:solidFill>
              </a:endParaRPr>
            </a:p>
          </p:txBody>
        </p:sp>
        <p:sp>
          <p:nvSpPr>
            <p:cNvPr id="42026" name="Text Box 45">
              <a:extLst>
                <a:ext uri="{FF2B5EF4-FFF2-40B4-BE49-F238E27FC236}">
                  <a16:creationId xmlns:a16="http://schemas.microsoft.com/office/drawing/2014/main" id="{19E0B831-0C43-1C20-A213-294B090280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3" y="2048"/>
              <a:ext cx="321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11" tIns="45706" rIns="91411" bIns="45706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>
                  <a:solidFill>
                    <a:schemeClr val="tx1"/>
                  </a:solidFill>
                </a:rPr>
                <a:t>t</a:t>
              </a:r>
              <a:endParaRPr lang="en-US" altLang="zh-CN" sz="2800">
                <a:solidFill>
                  <a:schemeClr val="tx1"/>
                </a:solidFill>
              </a:endParaRPr>
            </a:p>
          </p:txBody>
        </p:sp>
        <p:sp>
          <p:nvSpPr>
            <p:cNvPr id="42027" name="Line 46">
              <a:extLst>
                <a:ext uri="{FF2B5EF4-FFF2-40B4-BE49-F238E27FC236}">
                  <a16:creationId xmlns:a16="http://schemas.microsoft.com/office/drawing/2014/main" id="{C549D3C6-DAAA-00A5-5FD4-962BD5B2A4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0" y="1745"/>
              <a:ext cx="0" cy="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28" name="Line 47">
              <a:extLst>
                <a:ext uri="{FF2B5EF4-FFF2-40B4-BE49-F238E27FC236}">
                  <a16:creationId xmlns:a16="http://schemas.microsoft.com/office/drawing/2014/main" id="{747B18CD-B3BC-58A0-06C7-65905C6AA1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3" y="1745"/>
              <a:ext cx="0" cy="5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29" name="Line 48">
              <a:extLst>
                <a:ext uri="{FF2B5EF4-FFF2-40B4-BE49-F238E27FC236}">
                  <a16:creationId xmlns:a16="http://schemas.microsoft.com/office/drawing/2014/main" id="{44F74BFA-C2F2-7CAB-926B-AD05E352D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1745"/>
              <a:ext cx="0" cy="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  <p:sp>
          <p:nvSpPr>
            <p:cNvPr id="42030" name="AutoShape 135">
              <a:extLst>
                <a:ext uri="{FF2B5EF4-FFF2-40B4-BE49-F238E27FC236}">
                  <a16:creationId xmlns:a16="http://schemas.microsoft.com/office/drawing/2014/main" id="{559D0E2C-CC02-F201-B4D6-A0086AAD6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0" y="2048"/>
              <a:ext cx="91" cy="4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61" y="674"/>
                  </a:lnTo>
                  <a:lnTo>
                    <a:pt x="323" y="1236"/>
                  </a:lnTo>
                  <a:lnTo>
                    <a:pt x="645" y="2022"/>
                  </a:lnTo>
                  <a:lnTo>
                    <a:pt x="645" y="2360"/>
                  </a:lnTo>
                  <a:lnTo>
                    <a:pt x="806" y="3146"/>
                  </a:lnTo>
                  <a:lnTo>
                    <a:pt x="1290" y="3708"/>
                  </a:lnTo>
                  <a:lnTo>
                    <a:pt x="1290" y="4270"/>
                  </a:lnTo>
                  <a:lnTo>
                    <a:pt x="1613" y="5056"/>
                  </a:lnTo>
                  <a:lnTo>
                    <a:pt x="1613" y="5730"/>
                  </a:lnTo>
                  <a:lnTo>
                    <a:pt x="2258" y="6067"/>
                  </a:lnTo>
                  <a:lnTo>
                    <a:pt x="2258" y="6854"/>
                  </a:lnTo>
                  <a:lnTo>
                    <a:pt x="2742" y="7303"/>
                  </a:lnTo>
                  <a:lnTo>
                    <a:pt x="2742" y="7865"/>
                  </a:lnTo>
                  <a:lnTo>
                    <a:pt x="2903" y="8315"/>
                  </a:lnTo>
                  <a:lnTo>
                    <a:pt x="3065" y="9101"/>
                  </a:lnTo>
                  <a:lnTo>
                    <a:pt x="3226" y="9775"/>
                  </a:lnTo>
                  <a:lnTo>
                    <a:pt x="3226" y="10000"/>
                  </a:lnTo>
                  <a:lnTo>
                    <a:pt x="3710" y="10674"/>
                  </a:lnTo>
                  <a:lnTo>
                    <a:pt x="3871" y="11124"/>
                  </a:lnTo>
                  <a:lnTo>
                    <a:pt x="4032" y="11685"/>
                  </a:lnTo>
                  <a:lnTo>
                    <a:pt x="4194" y="12135"/>
                  </a:lnTo>
                  <a:lnTo>
                    <a:pt x="4355" y="12697"/>
                  </a:lnTo>
                  <a:lnTo>
                    <a:pt x="4355" y="13146"/>
                  </a:lnTo>
                  <a:lnTo>
                    <a:pt x="4677" y="13596"/>
                  </a:lnTo>
                  <a:lnTo>
                    <a:pt x="4839" y="14045"/>
                  </a:lnTo>
                  <a:lnTo>
                    <a:pt x="5161" y="14831"/>
                  </a:lnTo>
                  <a:lnTo>
                    <a:pt x="5323" y="14944"/>
                  </a:lnTo>
                  <a:lnTo>
                    <a:pt x="5806" y="15169"/>
                  </a:lnTo>
                  <a:lnTo>
                    <a:pt x="5806" y="15843"/>
                  </a:lnTo>
                  <a:lnTo>
                    <a:pt x="6129" y="16292"/>
                  </a:lnTo>
                  <a:lnTo>
                    <a:pt x="6290" y="16742"/>
                  </a:lnTo>
                  <a:lnTo>
                    <a:pt x="6613" y="16854"/>
                  </a:lnTo>
                  <a:lnTo>
                    <a:pt x="6774" y="17191"/>
                  </a:lnTo>
                  <a:lnTo>
                    <a:pt x="6774" y="17865"/>
                  </a:lnTo>
                  <a:lnTo>
                    <a:pt x="7097" y="17865"/>
                  </a:lnTo>
                  <a:lnTo>
                    <a:pt x="7097" y="18202"/>
                  </a:lnTo>
                  <a:lnTo>
                    <a:pt x="7742" y="18202"/>
                  </a:lnTo>
                  <a:lnTo>
                    <a:pt x="7742" y="18764"/>
                  </a:lnTo>
                  <a:lnTo>
                    <a:pt x="7742" y="18876"/>
                  </a:lnTo>
                  <a:lnTo>
                    <a:pt x="7903" y="19213"/>
                  </a:lnTo>
                  <a:lnTo>
                    <a:pt x="8226" y="19326"/>
                  </a:lnTo>
                  <a:lnTo>
                    <a:pt x="8710" y="19326"/>
                  </a:lnTo>
                  <a:lnTo>
                    <a:pt x="8710" y="19551"/>
                  </a:lnTo>
                  <a:lnTo>
                    <a:pt x="9032" y="19888"/>
                  </a:lnTo>
                  <a:lnTo>
                    <a:pt x="9194" y="19888"/>
                  </a:lnTo>
                  <a:lnTo>
                    <a:pt x="9355" y="19888"/>
                  </a:lnTo>
                  <a:lnTo>
                    <a:pt x="9677" y="19888"/>
                  </a:lnTo>
                  <a:lnTo>
                    <a:pt x="9839" y="19888"/>
                  </a:lnTo>
                  <a:lnTo>
                    <a:pt x="10323" y="19888"/>
                  </a:lnTo>
                  <a:lnTo>
                    <a:pt x="10484" y="19888"/>
                  </a:lnTo>
                  <a:lnTo>
                    <a:pt x="10645" y="19551"/>
                  </a:lnTo>
                  <a:lnTo>
                    <a:pt x="10806" y="19326"/>
                  </a:lnTo>
                  <a:lnTo>
                    <a:pt x="10968" y="19326"/>
                  </a:lnTo>
                  <a:lnTo>
                    <a:pt x="11290" y="19213"/>
                  </a:lnTo>
                  <a:lnTo>
                    <a:pt x="11290" y="18876"/>
                  </a:lnTo>
                  <a:lnTo>
                    <a:pt x="11935" y="18764"/>
                  </a:lnTo>
                  <a:lnTo>
                    <a:pt x="12258" y="18202"/>
                  </a:lnTo>
                  <a:lnTo>
                    <a:pt x="12581" y="17865"/>
                  </a:lnTo>
                  <a:lnTo>
                    <a:pt x="12742" y="17640"/>
                  </a:lnTo>
                  <a:lnTo>
                    <a:pt x="12742" y="17079"/>
                  </a:lnTo>
                  <a:lnTo>
                    <a:pt x="13065" y="16742"/>
                  </a:lnTo>
                  <a:lnTo>
                    <a:pt x="13387" y="16292"/>
                  </a:lnTo>
                  <a:lnTo>
                    <a:pt x="13387" y="15843"/>
                  </a:lnTo>
                  <a:lnTo>
                    <a:pt x="13710" y="15169"/>
                  </a:lnTo>
                  <a:lnTo>
                    <a:pt x="14032" y="14944"/>
                  </a:lnTo>
                  <a:lnTo>
                    <a:pt x="14194" y="14270"/>
                  </a:lnTo>
                  <a:lnTo>
                    <a:pt x="14355" y="13933"/>
                  </a:lnTo>
                  <a:lnTo>
                    <a:pt x="14839" y="13371"/>
                  </a:lnTo>
                  <a:lnTo>
                    <a:pt x="15000" y="12921"/>
                  </a:lnTo>
                  <a:lnTo>
                    <a:pt x="15323" y="12135"/>
                  </a:lnTo>
                  <a:lnTo>
                    <a:pt x="15645" y="11685"/>
                  </a:lnTo>
                  <a:lnTo>
                    <a:pt x="15645" y="10899"/>
                  </a:lnTo>
                  <a:lnTo>
                    <a:pt x="15968" y="10674"/>
                  </a:lnTo>
                  <a:lnTo>
                    <a:pt x="16290" y="10000"/>
                  </a:lnTo>
                  <a:lnTo>
                    <a:pt x="16452" y="9326"/>
                  </a:lnTo>
                  <a:lnTo>
                    <a:pt x="16774" y="9101"/>
                  </a:lnTo>
                  <a:lnTo>
                    <a:pt x="16774" y="8315"/>
                  </a:lnTo>
                  <a:lnTo>
                    <a:pt x="17097" y="7865"/>
                  </a:lnTo>
                  <a:lnTo>
                    <a:pt x="17258" y="7303"/>
                  </a:lnTo>
                  <a:lnTo>
                    <a:pt x="17581" y="6854"/>
                  </a:lnTo>
                  <a:lnTo>
                    <a:pt x="17742" y="6067"/>
                  </a:lnTo>
                  <a:lnTo>
                    <a:pt x="17742" y="5730"/>
                  </a:lnTo>
                  <a:lnTo>
                    <a:pt x="18387" y="5056"/>
                  </a:lnTo>
                  <a:lnTo>
                    <a:pt x="18548" y="4944"/>
                  </a:lnTo>
                  <a:lnTo>
                    <a:pt x="18548" y="4270"/>
                  </a:lnTo>
                  <a:lnTo>
                    <a:pt x="18871" y="3708"/>
                  </a:lnTo>
                  <a:lnTo>
                    <a:pt x="19194" y="3258"/>
                  </a:lnTo>
                  <a:lnTo>
                    <a:pt x="19355" y="3146"/>
                  </a:lnTo>
                  <a:lnTo>
                    <a:pt x="19516" y="2360"/>
                  </a:lnTo>
                  <a:lnTo>
                    <a:pt x="19516" y="2135"/>
                  </a:lnTo>
                  <a:lnTo>
                    <a:pt x="19516" y="2022"/>
                  </a:lnTo>
                  <a:lnTo>
                    <a:pt x="19677" y="1798"/>
                  </a:lnTo>
                  <a:lnTo>
                    <a:pt x="19839" y="1236"/>
                  </a:lnTo>
                  <a:lnTo>
                    <a:pt x="19839" y="1124"/>
                  </a:lnTo>
                  <a:lnTo>
                    <a:pt x="19839" y="787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4"/>
                    <a:srcRect/>
                    <a:tile tx="0" ty="0" sx="100000" sy="100000" flip="none" algn="tl"/>
                  </a:blipFill>
                </a14:hiddenFill>
              </a:ext>
            </a:extLst>
          </p:spPr>
          <p:txBody>
            <a:bodyPr lIns="91411" tIns="45706" rIns="91411" bIns="45706"/>
            <a:lstStyle/>
            <a:p>
              <a:endParaRPr lang="zh-CN" altLang="en-US"/>
            </a:p>
          </p:txBody>
        </p:sp>
      </p:grpSp>
      <p:graphicFrame>
        <p:nvGraphicFramePr>
          <p:cNvPr id="130185" name="Object 137">
            <a:extLst>
              <a:ext uri="{FF2B5EF4-FFF2-40B4-BE49-F238E27FC236}">
                <a16:creationId xmlns:a16="http://schemas.microsoft.com/office/drawing/2014/main" id="{C3F9B7EE-6165-2C31-3CF1-60D828274D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21138" y="5013325"/>
          <a:ext cx="220662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905059" imgH="800100" progId="Equation.3">
                  <p:embed/>
                </p:oleObj>
              </mc:Choice>
              <mc:Fallback>
                <p:oleObj name="公式" r:id="rId5" imgW="1905059" imgH="800100" progId="Equation.3">
                  <p:embed/>
                  <p:pic>
                    <p:nvPicPr>
                      <p:cNvPr id="0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1138" y="5013325"/>
                        <a:ext cx="220662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186" name="Text Box 138">
            <a:extLst>
              <a:ext uri="{FF2B5EF4-FFF2-40B4-BE49-F238E27FC236}">
                <a16:creationId xmlns:a16="http://schemas.microsoft.com/office/drawing/2014/main" id="{1213187F-4404-DB7F-832B-FE3554B5F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788" y="5229225"/>
            <a:ext cx="4054475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振幅变化的周期为：</a:t>
            </a:r>
          </a:p>
        </p:txBody>
      </p:sp>
      <p:sp>
        <p:nvSpPr>
          <p:cNvPr id="130194" name="Text Box 146">
            <a:extLst>
              <a:ext uri="{FF2B5EF4-FFF2-40B4-BE49-F238E27FC236}">
                <a16:creationId xmlns:a16="http://schemas.microsoft.com/office/drawing/2014/main" id="{F1A27977-2E0D-A00E-5C27-40787BEB4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88" y="4437063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6600"/>
                </a:solidFill>
                <a:ea typeface="新宋体" panose="02010609030101010101" pitchFamily="49" charset="-122"/>
              </a:rPr>
              <a:t>(7-25)  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3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13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3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13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3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3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3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4" grpId="0"/>
      <p:bldP spid="130186" grpId="0"/>
      <p:bldP spid="13019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6" name="Rectangle 4">
            <a:extLst>
              <a:ext uri="{FF2B5EF4-FFF2-40B4-BE49-F238E27FC236}">
                <a16:creationId xmlns:a16="http://schemas.microsoft.com/office/drawing/2014/main" id="{E13D32A3-DF2E-58FD-AEB9-A03A20765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863" y="333375"/>
            <a:ext cx="3081337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拍现象的应用：                  </a:t>
            </a:r>
          </a:p>
        </p:txBody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F5F8598C-5CFC-7670-7065-32C94FE81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765175"/>
            <a:ext cx="6232525" cy="163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buClr>
                <a:srgbClr val="FF3300"/>
              </a:buClr>
              <a:buFont typeface="Wingdings" panose="05000000000000000000" pitchFamily="2" charset="2"/>
              <a:buChar char="v"/>
            </a:pPr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用音叉振动校准乐器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anose="05000000000000000000" pitchFamily="2" charset="2"/>
              <a:buChar char="v"/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 测定超声波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anose="05000000000000000000" pitchFamily="2" charset="2"/>
              <a:buChar char="v"/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 测定无线电频率</a:t>
            </a:r>
          </a:p>
          <a:p>
            <a:pPr>
              <a:lnSpc>
                <a:spcPct val="110000"/>
              </a:lnSpc>
              <a:buClr>
                <a:srgbClr val="FF3300"/>
              </a:buClr>
              <a:buFont typeface="Wingdings" panose="05000000000000000000" pitchFamily="2" charset="2"/>
              <a:buChar char="v"/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 调制高频振荡的振幅和频率等</a:t>
            </a:r>
          </a:p>
        </p:txBody>
      </p:sp>
      <p:sp>
        <p:nvSpPr>
          <p:cNvPr id="131078" name="Text Box 6">
            <a:extLst>
              <a:ext uri="{FF2B5EF4-FFF2-40B4-BE49-F238E27FC236}">
                <a16:creationId xmlns:a16="http://schemas.microsoft.com/office/drawing/2014/main" id="{C0F3EE46-1392-B43C-377C-B49F3CA3C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2636838"/>
            <a:ext cx="53149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80"/>
                </a:solidFill>
              </a:rPr>
              <a:t>三、</a:t>
            </a:r>
            <a:r>
              <a:rPr lang="zh-CN" altLang="en-US" sz="2600">
                <a:solidFill>
                  <a:srgbClr val="000066"/>
                </a:solidFill>
              </a:rPr>
              <a:t>同振向</a:t>
            </a:r>
            <a:r>
              <a:rPr lang="zh-CN" altLang="en-US" sz="2600"/>
              <a:t>倍频</a:t>
            </a:r>
            <a:r>
              <a:rPr lang="zh-CN" altLang="en-US" sz="2600">
                <a:solidFill>
                  <a:srgbClr val="000066"/>
                </a:solidFill>
              </a:rPr>
              <a:t>谐振动的合成                     </a:t>
            </a:r>
          </a:p>
        </p:txBody>
      </p:sp>
      <p:grpSp>
        <p:nvGrpSpPr>
          <p:cNvPr id="131089" name="Group 17">
            <a:extLst>
              <a:ext uri="{FF2B5EF4-FFF2-40B4-BE49-F238E27FC236}">
                <a16:creationId xmlns:a16="http://schemas.microsoft.com/office/drawing/2014/main" id="{B59655C3-6C27-A050-C441-0B45827B4DFE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3151188"/>
            <a:ext cx="8569325" cy="2798762"/>
            <a:chOff x="204" y="2296"/>
            <a:chExt cx="5398" cy="1763"/>
          </a:xfrm>
        </p:grpSpPr>
        <p:pic>
          <p:nvPicPr>
            <p:cNvPr id="43014" name="Picture 7" descr="f">
              <a:extLst>
                <a:ext uri="{FF2B5EF4-FFF2-40B4-BE49-F238E27FC236}">
                  <a16:creationId xmlns:a16="http://schemas.microsoft.com/office/drawing/2014/main" id="{3783193C-528F-C943-6398-1F0FDD1782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" y="2296"/>
              <a:ext cx="5398" cy="1763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43015" name="Object 8">
              <a:extLst>
                <a:ext uri="{FF2B5EF4-FFF2-40B4-BE49-F238E27FC236}">
                  <a16:creationId xmlns:a16="http://schemas.microsoft.com/office/drawing/2014/main" id="{E41430EB-5BAE-75EC-702C-07C01FFB8F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2" y="3609"/>
            <a:ext cx="2976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4610129" imgH="390525" progId="Equation.3">
                    <p:embed/>
                  </p:oleObj>
                </mc:Choice>
                <mc:Fallback>
                  <p:oleObj name="公式" r:id="rId3" imgW="4610129" imgH="39052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3609"/>
                          <a:ext cx="2976" cy="32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6" name="Object 9">
              <a:extLst>
                <a:ext uri="{FF2B5EF4-FFF2-40B4-BE49-F238E27FC236}">
                  <a16:creationId xmlns:a16="http://schemas.microsoft.com/office/drawing/2014/main" id="{7F3B709B-BE42-CDB9-62F3-C31C0AC152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1" y="2387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53890" imgH="241195" progId="Equation.3">
                    <p:embed/>
                  </p:oleObj>
                </mc:Choice>
                <mc:Fallback>
                  <p:oleObj name="公式" r:id="rId5" imgW="253890" imgH="241195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" y="2387"/>
                          <a:ext cx="160" cy="15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7" name="Object 10">
              <a:extLst>
                <a:ext uri="{FF2B5EF4-FFF2-40B4-BE49-F238E27FC236}">
                  <a16:creationId xmlns:a16="http://schemas.microsoft.com/office/drawing/2014/main" id="{2D807A67-9995-AFEA-0D68-285217BFEF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03" y="3115"/>
            <a:ext cx="133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65028" imgH="279279" progId="Equation.3">
                    <p:embed/>
                  </p:oleObj>
                </mc:Choice>
                <mc:Fallback>
                  <p:oleObj name="公式" r:id="rId7" imgW="165028" imgH="279279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3" y="3115"/>
                          <a:ext cx="133" cy="22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8" name="Object 11">
              <a:extLst>
                <a:ext uri="{FF2B5EF4-FFF2-40B4-BE49-F238E27FC236}">
                  <a16:creationId xmlns:a16="http://schemas.microsoft.com/office/drawing/2014/main" id="{13E538E8-0EA2-55EE-953E-19119BA6BAF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" y="2976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91847" imgH="317225" progId="Equation.3">
                    <p:embed/>
                  </p:oleObj>
                </mc:Choice>
                <mc:Fallback>
                  <p:oleObj name="公式" r:id="rId9" imgW="291847" imgH="317225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2976"/>
                          <a:ext cx="184" cy="2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19" name="Text Box 12">
              <a:extLst>
                <a:ext uri="{FF2B5EF4-FFF2-40B4-BE49-F238E27FC236}">
                  <a16:creationId xmlns:a16="http://schemas.microsoft.com/office/drawing/2014/main" id="{4226FEFB-CCC3-6072-AFC2-A205073EBD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8" y="2416"/>
              <a:ext cx="1225" cy="28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/>
                <a:t>合振动        </a:t>
              </a:r>
            </a:p>
          </p:txBody>
        </p:sp>
        <p:sp>
          <p:nvSpPr>
            <p:cNvPr id="43020" name="Line 13">
              <a:extLst>
                <a:ext uri="{FF2B5EF4-FFF2-40B4-BE49-F238E27FC236}">
                  <a16:creationId xmlns:a16="http://schemas.microsoft.com/office/drawing/2014/main" id="{E4AFF050-FE5D-B2E1-C7D1-9973EF3A2A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8" y="2613"/>
              <a:ext cx="136" cy="9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1" name="Rectangle 14">
              <a:extLst>
                <a:ext uri="{FF2B5EF4-FFF2-40B4-BE49-F238E27FC236}">
                  <a16:creationId xmlns:a16="http://schemas.microsoft.com/office/drawing/2014/main" id="{64CAAA28-6D56-26D2-B140-5E7529FC7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9" y="2704"/>
              <a:ext cx="136" cy="136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bg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43022" name="Object 15">
              <a:extLst>
                <a:ext uri="{FF2B5EF4-FFF2-40B4-BE49-F238E27FC236}">
                  <a16:creationId xmlns:a16="http://schemas.microsoft.com/office/drawing/2014/main" id="{83F567DD-FADD-A2B2-0578-64D23FCEC0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36" y="2512"/>
            <a:ext cx="11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66726" imgH="190500" progId="Equation.3">
                    <p:embed/>
                  </p:oleObj>
                </mc:Choice>
                <mc:Fallback>
                  <p:oleObj name="公式" r:id="rId11" imgW="66726" imgH="1905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6" y="2512"/>
                          <a:ext cx="112" cy="19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3" name="Object 16">
              <a:extLst>
                <a:ext uri="{FF2B5EF4-FFF2-40B4-BE49-F238E27FC236}">
                  <a16:creationId xmlns:a16="http://schemas.microsoft.com/office/drawing/2014/main" id="{835DB71D-9531-3F64-7BB8-33DE465150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20" y="3238"/>
            <a:ext cx="13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95324" imgH="190500" progId="Equation.3">
                    <p:embed/>
                  </p:oleObj>
                </mc:Choice>
                <mc:Fallback>
                  <p:oleObj name="公式" r:id="rId13" imgW="95324" imgH="1905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0" y="3238"/>
                          <a:ext cx="136" cy="19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3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3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3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0"/>
                                        <p:tgtEl>
                                          <p:spTgt spid="13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6" grpId="0"/>
      <p:bldP spid="131077" grpId="0"/>
      <p:bldP spid="13107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00" name="Rectangle 4">
            <a:hlinkClick r:id="rId2" action="ppaction://hlinkfile"/>
            <a:extLst>
              <a:ext uri="{FF2B5EF4-FFF2-40B4-BE49-F238E27FC236}">
                <a16:creationId xmlns:a16="http://schemas.microsoft.com/office/drawing/2014/main" id="{7E635A21-7361-189D-BC2C-8A7AE634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88" y="1125538"/>
            <a:ext cx="709136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66"/>
                </a:solidFill>
                <a:latin typeface="华文中宋" panose="02010600040101010101" pitchFamily="2" charset="-122"/>
              </a:rPr>
              <a:t>一、相互垂直的同频率谐振动的合成        </a:t>
            </a:r>
          </a:p>
        </p:txBody>
      </p:sp>
      <p:sp>
        <p:nvSpPr>
          <p:cNvPr id="132102" name="Rectangle 6">
            <a:extLst>
              <a:ext uri="{FF2B5EF4-FFF2-40B4-BE49-F238E27FC236}">
                <a16:creationId xmlns:a16="http://schemas.microsoft.com/office/drawing/2014/main" id="{EDA82DF9-C57D-7BDF-FB7E-687C745AC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00" y="2852738"/>
            <a:ext cx="42846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消去参数</a:t>
            </a:r>
            <a:r>
              <a:rPr lang="zh-CN" altLang="en-US" sz="1500">
                <a:solidFill>
                  <a:srgbClr val="000080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1000">
                <a:solidFill>
                  <a:srgbClr val="000080"/>
                </a:solidFill>
              </a:rPr>
              <a:t> </a:t>
            </a:r>
            <a:r>
              <a:rPr lang="en-US" altLang="zh-CN" sz="3200" i="1"/>
              <a:t>t</a:t>
            </a:r>
            <a:r>
              <a:rPr lang="en-US" altLang="zh-CN" i="1">
                <a:solidFill>
                  <a:srgbClr val="000080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，得轨迹方程：</a:t>
            </a:r>
            <a:r>
              <a:rPr lang="zh-CN" altLang="en-US">
                <a:solidFill>
                  <a:srgbClr val="000080"/>
                </a:solidFill>
                <a:latin typeface="华文中宋" panose="02010600040101010101" pitchFamily="2" charset="-122"/>
              </a:rPr>
              <a:t>        </a:t>
            </a:r>
          </a:p>
        </p:txBody>
      </p:sp>
      <p:graphicFrame>
        <p:nvGraphicFramePr>
          <p:cNvPr id="132103" name="Object 7">
            <a:extLst>
              <a:ext uri="{FF2B5EF4-FFF2-40B4-BE49-F238E27FC236}">
                <a16:creationId xmlns:a16="http://schemas.microsoft.com/office/drawing/2014/main" id="{76234DA6-F668-7FB6-DFE2-FC3088BDBE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3650" y="3648075"/>
          <a:ext cx="5751513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762265" imgH="352425" progId="Equation.3">
                  <p:embed/>
                </p:oleObj>
              </mc:Choice>
              <mc:Fallback>
                <p:oleObj name="公式" r:id="rId3" imgW="2762265" imgH="35242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650" y="3648075"/>
                        <a:ext cx="5751513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4" name="Object 8">
            <a:extLst>
              <a:ext uri="{FF2B5EF4-FFF2-40B4-BE49-F238E27FC236}">
                <a16:creationId xmlns:a16="http://schemas.microsoft.com/office/drawing/2014/main" id="{3D309975-8CF8-9A1D-0FAF-12F7603418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7838" y="1670050"/>
          <a:ext cx="333851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219082" imgH="123825" progId="Equation.3">
                  <p:embed/>
                </p:oleObj>
              </mc:Choice>
              <mc:Fallback>
                <p:oleObj name="公式" r:id="rId5" imgW="1219082" imgH="12382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838" y="1670050"/>
                        <a:ext cx="3338512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05" name="Rectangle 9">
            <a:extLst>
              <a:ext uri="{FF2B5EF4-FFF2-40B4-BE49-F238E27FC236}">
                <a16:creationId xmlns:a16="http://schemas.microsoft.com/office/drawing/2014/main" id="{E53CFBCA-0404-91F0-1AA0-BF346D9A7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5013325"/>
            <a:ext cx="5610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是一个</a:t>
            </a:r>
            <a:r>
              <a:rPr lang="zh-CN" altLang="en-US">
                <a:latin typeface="华文中宋" panose="02010600040101010101" pitchFamily="2" charset="-122"/>
              </a:rPr>
              <a:t>椭圆类二次曲线方程。    </a:t>
            </a:r>
          </a:p>
        </p:txBody>
      </p:sp>
      <p:sp>
        <p:nvSpPr>
          <p:cNvPr id="132106" name="Rectangle 10">
            <a:extLst>
              <a:ext uri="{FF2B5EF4-FFF2-40B4-BE49-F238E27FC236}">
                <a16:creationId xmlns:a16="http://schemas.microsoft.com/office/drawing/2014/main" id="{7DD82B97-8D00-9E00-918B-1AFB645F3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09575"/>
            <a:ext cx="8280400" cy="5715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/>
          <a:p>
            <a:pPr eaLnBrk="1" hangingPunct="1">
              <a:defRPr/>
            </a:pPr>
            <a:r>
              <a:rPr lang="zh-CN" altLang="en-US" sz="3400">
                <a:solidFill>
                  <a:srgbClr val="0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三</a:t>
            </a:r>
            <a:r>
              <a:rPr lang="zh-CN" altLang="en-US" sz="3400">
                <a:solidFill>
                  <a:srgbClr val="0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3300">
                <a:solidFill>
                  <a:srgbClr val="0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相互垂直振向简谐振动的合成</a:t>
            </a:r>
            <a:r>
              <a:rPr lang="zh-CN" altLang="en-US" sz="3400">
                <a:solidFill>
                  <a:srgbClr val="0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aphicFrame>
        <p:nvGraphicFramePr>
          <p:cNvPr id="132107" name="Object 11">
            <a:extLst>
              <a:ext uri="{FF2B5EF4-FFF2-40B4-BE49-F238E27FC236}">
                <a16:creationId xmlns:a16="http://schemas.microsoft.com/office/drawing/2014/main" id="{56953C2C-A4E4-961B-8CB2-94BEAE04C0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2374900"/>
          <a:ext cx="358457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257212" imgH="123825" progId="Equation.3">
                  <p:embed/>
                </p:oleObj>
              </mc:Choice>
              <mc:Fallback>
                <p:oleObj name="公式" r:id="rId7" imgW="1257212" imgH="12382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374900"/>
                        <a:ext cx="358457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08" name="Text Box 12">
            <a:extLst>
              <a:ext uri="{FF2B5EF4-FFF2-40B4-BE49-F238E27FC236}">
                <a16:creationId xmlns:a16="http://schemas.microsoft.com/office/drawing/2014/main" id="{6EF4A40C-A22B-8D14-B522-B96CA47FB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88" y="3908425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6600"/>
                </a:solidFill>
                <a:ea typeface="新宋体" panose="02010609030101010101" pitchFamily="49" charset="-122"/>
              </a:rPr>
              <a:t>(7-31)  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13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13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3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3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13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0"/>
                                        <p:tgtEl>
                                          <p:spTgt spid="13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32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13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0" grpId="0"/>
      <p:bldP spid="132102" grpId="0"/>
      <p:bldP spid="132105" grpId="0"/>
      <p:bldP spid="132106" grpId="0" autoUpdateAnimBg="0"/>
      <p:bldP spid="13210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6" name="Rectangle 6">
            <a:extLst>
              <a:ext uri="{FF2B5EF4-FFF2-40B4-BE49-F238E27FC236}">
                <a16:creationId xmlns:a16="http://schemas.microsoft.com/office/drawing/2014/main" id="{688979EE-F69D-17C5-6ACA-DE63C4C0C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717550"/>
            <a:ext cx="1730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>
                <a:solidFill>
                  <a:srgbClr val="000080"/>
                </a:solidFill>
                <a:latin typeface="华文中宋" panose="02010600040101010101" pitchFamily="2" charset="-122"/>
              </a:rPr>
              <a:t>1. </a:t>
            </a:r>
          </a:p>
        </p:txBody>
      </p:sp>
      <p:sp>
        <p:nvSpPr>
          <p:cNvPr id="133127" name="Rectangle 7">
            <a:extLst>
              <a:ext uri="{FF2B5EF4-FFF2-40B4-BE49-F238E27FC236}">
                <a16:creationId xmlns:a16="http://schemas.microsoft.com/office/drawing/2014/main" id="{BC5FFC0A-FE90-D937-7631-F1B6E08C5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381375"/>
            <a:ext cx="1730375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300">
                <a:solidFill>
                  <a:srgbClr val="000080"/>
                </a:solidFill>
                <a:latin typeface="华文中宋" panose="02010600040101010101" pitchFamily="2" charset="-122"/>
              </a:rPr>
              <a:t>2. </a:t>
            </a:r>
          </a:p>
        </p:txBody>
      </p:sp>
      <p:sp>
        <p:nvSpPr>
          <p:cNvPr id="133128" name="Rectangle 8">
            <a:extLst>
              <a:ext uri="{FF2B5EF4-FFF2-40B4-BE49-F238E27FC236}">
                <a16:creationId xmlns:a16="http://schemas.microsoft.com/office/drawing/2014/main" id="{DE3C43E1-CD59-0104-A3DC-3696B3E7D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417638"/>
            <a:ext cx="1512887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80"/>
                </a:solidFill>
                <a:latin typeface="华文中宋" panose="02010600040101010101" pitchFamily="2" charset="-122"/>
              </a:rPr>
              <a:t>轨 迹：</a:t>
            </a:r>
          </a:p>
        </p:txBody>
      </p:sp>
      <p:sp>
        <p:nvSpPr>
          <p:cNvPr id="133129" name="Rectangle 9">
            <a:extLst>
              <a:ext uri="{FF2B5EF4-FFF2-40B4-BE49-F238E27FC236}">
                <a16:creationId xmlns:a16="http://schemas.microsoft.com/office/drawing/2014/main" id="{CCFAE553-68CF-0706-653B-DEFABF70F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276475"/>
            <a:ext cx="2016125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运动方程：</a:t>
            </a:r>
          </a:p>
        </p:txBody>
      </p:sp>
      <p:graphicFrame>
        <p:nvGraphicFramePr>
          <p:cNvPr id="133130" name="Object 10">
            <a:extLst>
              <a:ext uri="{FF2B5EF4-FFF2-40B4-BE49-F238E27FC236}">
                <a16:creationId xmlns:a16="http://schemas.microsoft.com/office/drawing/2014/main" id="{044DD9D2-FAE6-4A59-B7BD-BC74CC6A31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2205038"/>
          <a:ext cx="3671888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38153" imgH="190500" progId="Equation.3">
                  <p:embed/>
                </p:oleObj>
              </mc:Choice>
              <mc:Fallback>
                <p:oleObj name="公式" r:id="rId2" imgW="1638153" imgH="190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205038"/>
                        <a:ext cx="3671888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1" name="Object 11">
            <a:extLst>
              <a:ext uri="{FF2B5EF4-FFF2-40B4-BE49-F238E27FC236}">
                <a16:creationId xmlns:a16="http://schemas.microsoft.com/office/drawing/2014/main" id="{B8ECCCAC-100A-DA88-799D-2442BA72DD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1196975"/>
          <a:ext cx="132080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23926" imgH="352425" progId="Equation.3">
                  <p:embed/>
                </p:oleObj>
              </mc:Choice>
              <mc:Fallback>
                <p:oleObj name="公式" r:id="rId4" imgW="523926" imgH="35242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196975"/>
                        <a:ext cx="132080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2" name="Rectangle 12">
            <a:extLst>
              <a:ext uri="{FF2B5EF4-FFF2-40B4-BE49-F238E27FC236}">
                <a16:creationId xmlns:a16="http://schemas.microsoft.com/office/drawing/2014/main" id="{FB84BD68-2B5C-FE9C-8D31-548482046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" y="2852738"/>
            <a:ext cx="4791075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是</a:t>
            </a:r>
            <a:r>
              <a:rPr lang="zh-CN" altLang="en-US" sz="2300">
                <a:latin typeface="华文中宋" panose="02010600040101010101" pitchFamily="2" charset="-122"/>
              </a:rPr>
              <a:t>谐振动</a:t>
            </a:r>
            <a:r>
              <a:rPr lang="zh-CN" altLang="en-US" sz="2300">
                <a:solidFill>
                  <a:srgbClr val="000080"/>
                </a:solidFill>
                <a:latin typeface="华文中宋" panose="02010600040101010101" pitchFamily="2" charset="-122"/>
              </a:rPr>
              <a:t>，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角频率与初相不变。</a:t>
            </a:r>
          </a:p>
        </p:txBody>
      </p:sp>
      <p:sp>
        <p:nvSpPr>
          <p:cNvPr id="133134" name="Rectangle 14">
            <a:extLst>
              <a:ext uri="{FF2B5EF4-FFF2-40B4-BE49-F238E27FC236}">
                <a16:creationId xmlns:a16="http://schemas.microsoft.com/office/drawing/2014/main" id="{81F46DBB-B4D1-921D-4706-48D6CEE00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975" y="4100513"/>
            <a:ext cx="1524000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轨 迹：</a:t>
            </a:r>
          </a:p>
        </p:txBody>
      </p:sp>
      <p:sp>
        <p:nvSpPr>
          <p:cNvPr id="133135" name="Rectangle 15">
            <a:extLst>
              <a:ext uri="{FF2B5EF4-FFF2-40B4-BE49-F238E27FC236}">
                <a16:creationId xmlns:a16="http://schemas.microsoft.com/office/drawing/2014/main" id="{F18CD2F6-30F9-5E0A-1116-75706497A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976813"/>
            <a:ext cx="2438400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运动方程：</a:t>
            </a:r>
          </a:p>
        </p:txBody>
      </p:sp>
      <p:sp>
        <p:nvSpPr>
          <p:cNvPr id="133137" name="Rectangle 17">
            <a:extLst>
              <a:ext uri="{FF2B5EF4-FFF2-40B4-BE49-F238E27FC236}">
                <a16:creationId xmlns:a16="http://schemas.microsoft.com/office/drawing/2014/main" id="{4CE5B323-27D1-08E1-78C0-F1BC46E11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578475"/>
            <a:ext cx="4824413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是</a:t>
            </a:r>
            <a:r>
              <a:rPr lang="zh-CN" altLang="en-US" sz="2300">
                <a:latin typeface="华文中宋" panose="02010600040101010101" pitchFamily="2" charset="-122"/>
              </a:rPr>
              <a:t>谐振动</a:t>
            </a:r>
            <a:r>
              <a:rPr lang="zh-CN" altLang="en-US" sz="2300">
                <a:solidFill>
                  <a:srgbClr val="000080"/>
                </a:solidFill>
                <a:latin typeface="华文中宋" panose="02010600040101010101" pitchFamily="2" charset="-122"/>
              </a:rPr>
              <a:t>，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角频率与初相不变。</a:t>
            </a:r>
          </a:p>
        </p:txBody>
      </p:sp>
      <p:graphicFrame>
        <p:nvGraphicFramePr>
          <p:cNvPr id="133139" name="Object 19">
            <a:extLst>
              <a:ext uri="{FF2B5EF4-FFF2-40B4-BE49-F238E27FC236}">
                <a16:creationId xmlns:a16="http://schemas.microsoft.com/office/drawing/2014/main" id="{C8AEE944-83A2-46E7-E421-37627FA398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3933825"/>
          <a:ext cx="1566863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85977" imgH="352425" progId="Equation.3">
                  <p:embed/>
                </p:oleObj>
              </mc:Choice>
              <mc:Fallback>
                <p:oleObj name="公式" r:id="rId6" imgW="685977" imgH="35242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933825"/>
                        <a:ext cx="1566863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40" name="Rectangle 20">
            <a:extLst>
              <a:ext uri="{FF2B5EF4-FFF2-40B4-BE49-F238E27FC236}">
                <a16:creationId xmlns:a16="http://schemas.microsoft.com/office/drawing/2014/main" id="{46C4827E-76A1-5463-D6A9-C8BB50850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692150"/>
            <a:ext cx="3671887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300"/>
              <a:t>(</a:t>
            </a:r>
            <a:r>
              <a:rPr lang="zh-CN" altLang="en-US" sz="2300">
                <a:latin typeface="华文中宋" panose="02010600040101010101" pitchFamily="2" charset="-122"/>
              </a:rPr>
              <a:t>两个分振动同相</a:t>
            </a:r>
            <a:r>
              <a:rPr lang="en-US" altLang="zh-CN" sz="2300"/>
              <a:t>)</a:t>
            </a:r>
          </a:p>
        </p:txBody>
      </p:sp>
      <p:sp>
        <p:nvSpPr>
          <p:cNvPr id="133141" name="Rectangle 21">
            <a:extLst>
              <a:ext uri="{FF2B5EF4-FFF2-40B4-BE49-F238E27FC236}">
                <a16:creationId xmlns:a16="http://schemas.microsoft.com/office/drawing/2014/main" id="{072FF6CD-805D-4F23-BBBE-60BA81072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3225" y="3382963"/>
            <a:ext cx="3573463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300"/>
              <a:t>(</a:t>
            </a:r>
            <a:r>
              <a:rPr lang="zh-CN" altLang="en-US" sz="2300">
                <a:latin typeface="华文中宋" panose="02010600040101010101" pitchFamily="2" charset="-122"/>
              </a:rPr>
              <a:t>两个分振动反相</a:t>
            </a:r>
            <a:r>
              <a:rPr lang="en-US" altLang="zh-CN" sz="2300"/>
              <a:t>)</a:t>
            </a:r>
          </a:p>
        </p:txBody>
      </p:sp>
      <p:sp>
        <p:nvSpPr>
          <p:cNvPr id="133143" name="Rectangle 23">
            <a:extLst>
              <a:ext uri="{FF2B5EF4-FFF2-40B4-BE49-F238E27FC236}">
                <a16:creationId xmlns:a16="http://schemas.microsoft.com/office/drawing/2014/main" id="{30E459A1-2AE8-CBF9-0C48-CBDBFA1EB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60350"/>
            <a:ext cx="2303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100">
                <a:latin typeface="华文中宋" panose="02010600040101010101" pitchFamily="2" charset="-122"/>
              </a:rPr>
              <a:t>★</a:t>
            </a:r>
            <a:r>
              <a:rPr lang="en-US" altLang="zh-CN">
                <a:solidFill>
                  <a:srgbClr val="000080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讨论：</a:t>
            </a:r>
          </a:p>
        </p:txBody>
      </p:sp>
      <p:graphicFrame>
        <p:nvGraphicFramePr>
          <p:cNvPr id="133144" name="Object 24">
            <a:extLst>
              <a:ext uri="{FF2B5EF4-FFF2-40B4-BE49-F238E27FC236}">
                <a16:creationId xmlns:a16="http://schemas.microsoft.com/office/drawing/2014/main" id="{71F62462-E7A5-BBD3-5D4E-3BDA10E0BB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765175"/>
          <a:ext cx="171926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28782" imgH="123825" progId="Equation.3">
                  <p:embed/>
                </p:oleObj>
              </mc:Choice>
              <mc:Fallback>
                <p:oleObj name="公式" r:id="rId8" imgW="628782" imgH="123825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765175"/>
                        <a:ext cx="1719262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8" name="Object 48">
            <a:extLst>
              <a:ext uri="{FF2B5EF4-FFF2-40B4-BE49-F238E27FC236}">
                <a16:creationId xmlns:a16="http://schemas.microsoft.com/office/drawing/2014/main" id="{BC3BAB37-379D-CE50-EA89-7E9DFADE12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3500438"/>
          <a:ext cx="169703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19250" imgH="85725" progId="Equation.3">
                  <p:embed/>
                </p:oleObj>
              </mc:Choice>
              <mc:Fallback>
                <p:oleObj name="公式" r:id="rId10" imgW="619250" imgH="85725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500438"/>
                        <a:ext cx="1697037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180" name="Group 60">
            <a:extLst>
              <a:ext uri="{FF2B5EF4-FFF2-40B4-BE49-F238E27FC236}">
                <a16:creationId xmlns:a16="http://schemas.microsoft.com/office/drawing/2014/main" id="{ACA8E2A4-C205-2A6B-C170-2FA79B4F6AFE}"/>
              </a:ext>
            </a:extLst>
          </p:cNvPr>
          <p:cNvGrpSpPr>
            <a:grpSpLocks/>
          </p:cNvGrpSpPr>
          <p:nvPr/>
        </p:nvGrpSpPr>
        <p:grpSpPr bwMode="auto">
          <a:xfrm>
            <a:off x="6588125" y="188913"/>
            <a:ext cx="2325688" cy="2735262"/>
            <a:chOff x="4150" y="119"/>
            <a:chExt cx="1465" cy="1723"/>
          </a:xfrm>
        </p:grpSpPr>
        <p:sp>
          <p:nvSpPr>
            <p:cNvPr id="45089" name="Text Box 36">
              <a:extLst>
                <a:ext uri="{FF2B5EF4-FFF2-40B4-BE49-F238E27FC236}">
                  <a16:creationId xmlns:a16="http://schemas.microsoft.com/office/drawing/2014/main" id="{7409DF3F-A47D-6ABB-5B06-FC4A4E0367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9" y="119"/>
              <a:ext cx="27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2"/>
                  </a:solidFill>
                </a:rPr>
                <a:t>y </a:t>
              </a:r>
            </a:p>
          </p:txBody>
        </p:sp>
        <p:grpSp>
          <p:nvGrpSpPr>
            <p:cNvPr id="45090" name="Group 26">
              <a:extLst>
                <a:ext uri="{FF2B5EF4-FFF2-40B4-BE49-F238E27FC236}">
                  <a16:creationId xmlns:a16="http://schemas.microsoft.com/office/drawing/2014/main" id="{F34EC901-AC8F-8C19-49C6-8DA06782AF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6" y="527"/>
              <a:ext cx="816" cy="934"/>
              <a:chOff x="480" y="1392"/>
              <a:chExt cx="768" cy="960"/>
            </a:xfrm>
          </p:grpSpPr>
          <p:sp>
            <p:nvSpPr>
              <p:cNvPr id="45099" name="Rectangle 27">
                <a:extLst>
                  <a:ext uri="{FF2B5EF4-FFF2-40B4-BE49-F238E27FC236}">
                    <a16:creationId xmlns:a16="http://schemas.microsoft.com/office/drawing/2014/main" id="{3B7750AB-A31F-C5FD-4DC2-37C25596E7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392"/>
                <a:ext cx="768" cy="960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5100" name="Line 28">
                <a:extLst>
                  <a:ext uri="{FF2B5EF4-FFF2-40B4-BE49-F238E27FC236}">
                    <a16:creationId xmlns:a16="http://schemas.microsoft.com/office/drawing/2014/main" id="{D6F2D181-C891-1405-E5EB-3FF32057D1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1392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01" name="Line 29">
                <a:extLst>
                  <a:ext uri="{FF2B5EF4-FFF2-40B4-BE49-F238E27FC236}">
                    <a16:creationId xmlns:a16="http://schemas.microsoft.com/office/drawing/2014/main" id="{CB626F53-EF7E-02E2-6309-BCB94CA56E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872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091" name="Line 30">
              <a:extLst>
                <a:ext uri="{FF2B5EF4-FFF2-40B4-BE49-F238E27FC236}">
                  <a16:creationId xmlns:a16="http://schemas.microsoft.com/office/drawing/2014/main" id="{0C16316A-CB66-B369-B35A-453A97847C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36" y="533"/>
              <a:ext cx="802" cy="928"/>
            </a:xfrm>
            <a:prstGeom prst="line">
              <a:avLst/>
            </a:prstGeom>
            <a:noFill/>
            <a:ln w="38100" cap="rnd">
              <a:solidFill>
                <a:srgbClr val="FC1B0A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5092" name="Object 31">
              <a:extLst>
                <a:ext uri="{FF2B5EF4-FFF2-40B4-BE49-F238E27FC236}">
                  <a16:creationId xmlns:a16="http://schemas.microsoft.com/office/drawing/2014/main" id="{63D8452A-7B02-4E05-5F5E-B813D55C290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99" y="1566"/>
            <a:ext cx="707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61876" imgH="85725" progId="Equation.3">
                    <p:embed/>
                  </p:oleObj>
                </mc:Choice>
                <mc:Fallback>
                  <p:oleObj name="Equation" r:id="rId12" imgW="361876" imgH="85725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9" y="1566"/>
                          <a:ext cx="707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C6100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93" name="Line 33">
              <a:extLst>
                <a:ext uri="{FF2B5EF4-FFF2-40B4-BE49-F238E27FC236}">
                  <a16:creationId xmlns:a16="http://schemas.microsoft.com/office/drawing/2014/main" id="{A6C2F617-B245-41CD-A4A9-4F6167652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989"/>
              <a:ext cx="136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4" name="Line 34">
              <a:extLst>
                <a:ext uri="{FF2B5EF4-FFF2-40B4-BE49-F238E27FC236}">
                  <a16:creationId xmlns:a16="http://schemas.microsoft.com/office/drawing/2014/main" id="{CBBAC4F8-FE95-1BEC-EC3A-D5094A52CD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4" y="300"/>
              <a:ext cx="0" cy="127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5" name="Text Box 35">
              <a:extLst>
                <a:ext uri="{FF2B5EF4-FFF2-40B4-BE49-F238E27FC236}">
                  <a16:creationId xmlns:a16="http://schemas.microsoft.com/office/drawing/2014/main" id="{99A1A2FD-D2E1-733A-66FE-AD7AD9AE26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1" y="935"/>
              <a:ext cx="2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2"/>
                  </a:solidFill>
                </a:rPr>
                <a:t>x </a:t>
              </a:r>
            </a:p>
          </p:txBody>
        </p:sp>
        <p:sp>
          <p:nvSpPr>
            <p:cNvPr id="45096" name="Text Box 49">
              <a:extLst>
                <a:ext uri="{FF2B5EF4-FFF2-40B4-BE49-F238E27FC236}">
                  <a16:creationId xmlns:a16="http://schemas.microsoft.com/office/drawing/2014/main" id="{6D294A99-2163-5A99-985D-3B87D5B47F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2" y="602"/>
              <a:ext cx="2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i="1"/>
                <a:t>S </a:t>
              </a:r>
            </a:p>
          </p:txBody>
        </p:sp>
        <p:sp>
          <p:nvSpPr>
            <p:cNvPr id="45097" name="Text Box 53">
              <a:extLst>
                <a:ext uri="{FF2B5EF4-FFF2-40B4-BE49-F238E27FC236}">
                  <a16:creationId xmlns:a16="http://schemas.microsoft.com/office/drawing/2014/main" id="{708419E5-BA1C-0536-A0E4-042BA25D08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1" y="935"/>
              <a:ext cx="289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600" i="1">
                  <a:solidFill>
                    <a:srgbClr val="000080"/>
                  </a:solidFill>
                </a:rPr>
                <a:t>A</a:t>
              </a:r>
              <a:r>
                <a:rPr lang="en-US" altLang="zh-CN" sz="2600" baseline="-25000">
                  <a:solidFill>
                    <a:srgbClr val="000080"/>
                  </a:solidFill>
                </a:rPr>
                <a:t> </a:t>
              </a:r>
            </a:p>
          </p:txBody>
        </p:sp>
        <p:sp>
          <p:nvSpPr>
            <p:cNvPr id="45098" name="Text Box 55">
              <a:extLst>
                <a:ext uri="{FF2B5EF4-FFF2-40B4-BE49-F238E27FC236}">
                  <a16:creationId xmlns:a16="http://schemas.microsoft.com/office/drawing/2014/main" id="{0468092D-DAA5-206E-BEFE-3AA1A4C9B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572"/>
              <a:ext cx="289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GB" altLang="zh-CN" sz="2600" i="1">
                  <a:solidFill>
                    <a:srgbClr val="000080"/>
                  </a:solidFill>
                </a:rPr>
                <a:t>B</a:t>
              </a:r>
              <a:r>
                <a:rPr lang="en-US" altLang="zh-CN" sz="2600" baseline="-25000">
                  <a:solidFill>
                    <a:srgbClr val="000080"/>
                  </a:solidFill>
                </a:rPr>
                <a:t> </a:t>
              </a:r>
            </a:p>
          </p:txBody>
        </p:sp>
      </p:grpSp>
      <p:grpSp>
        <p:nvGrpSpPr>
          <p:cNvPr id="133178" name="Group 58">
            <a:extLst>
              <a:ext uri="{FF2B5EF4-FFF2-40B4-BE49-F238E27FC236}">
                <a16:creationId xmlns:a16="http://schemas.microsoft.com/office/drawing/2014/main" id="{D577DF89-08BC-D440-F6D2-EBE7EDE0EC96}"/>
              </a:ext>
            </a:extLst>
          </p:cNvPr>
          <p:cNvGrpSpPr>
            <a:grpSpLocks/>
          </p:cNvGrpSpPr>
          <p:nvPr/>
        </p:nvGrpSpPr>
        <p:grpSpPr bwMode="auto">
          <a:xfrm>
            <a:off x="6588125" y="3284538"/>
            <a:ext cx="2325688" cy="2489200"/>
            <a:chOff x="4150" y="2115"/>
            <a:chExt cx="1465" cy="1568"/>
          </a:xfrm>
        </p:grpSpPr>
        <p:grpSp>
          <p:nvGrpSpPr>
            <p:cNvPr id="45077" name="Group 39">
              <a:extLst>
                <a:ext uri="{FF2B5EF4-FFF2-40B4-BE49-F238E27FC236}">
                  <a16:creationId xmlns:a16="http://schemas.microsoft.com/office/drawing/2014/main" id="{84230ED0-E572-A67D-E006-E1B20EC43D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6" y="2342"/>
              <a:ext cx="816" cy="934"/>
              <a:chOff x="480" y="1392"/>
              <a:chExt cx="768" cy="960"/>
            </a:xfrm>
          </p:grpSpPr>
          <p:sp>
            <p:nvSpPr>
              <p:cNvPr id="45086" name="Rectangle 40">
                <a:extLst>
                  <a:ext uri="{FF2B5EF4-FFF2-40B4-BE49-F238E27FC236}">
                    <a16:creationId xmlns:a16="http://schemas.microsoft.com/office/drawing/2014/main" id="{6EA0A7BD-1AFB-7C40-2D73-0F027A26EA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392"/>
                <a:ext cx="768" cy="960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5087" name="Line 41">
                <a:extLst>
                  <a:ext uri="{FF2B5EF4-FFF2-40B4-BE49-F238E27FC236}">
                    <a16:creationId xmlns:a16="http://schemas.microsoft.com/office/drawing/2014/main" id="{EFCD4264-E9E3-7527-48EE-8DA14EE707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1392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88" name="Line 42">
                <a:extLst>
                  <a:ext uri="{FF2B5EF4-FFF2-40B4-BE49-F238E27FC236}">
                    <a16:creationId xmlns:a16="http://schemas.microsoft.com/office/drawing/2014/main" id="{B3F81253-E7AF-F4A7-7F16-BE15ED5E2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872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078" name="Line 43">
              <a:extLst>
                <a:ext uri="{FF2B5EF4-FFF2-40B4-BE49-F238E27FC236}">
                  <a16:creationId xmlns:a16="http://schemas.microsoft.com/office/drawing/2014/main" id="{8227D850-7111-DA41-8C16-CC0DA2E1224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687739" flipV="1">
              <a:off x="4436" y="2348"/>
              <a:ext cx="802" cy="928"/>
            </a:xfrm>
            <a:prstGeom prst="line">
              <a:avLst/>
            </a:prstGeom>
            <a:noFill/>
            <a:ln w="38100" cap="rnd">
              <a:solidFill>
                <a:srgbClr val="FC1B0A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5079" name="Object 44">
              <a:extLst>
                <a:ext uri="{FF2B5EF4-FFF2-40B4-BE49-F238E27FC236}">
                  <a16:creationId xmlns:a16="http://schemas.microsoft.com/office/drawing/2014/main" id="{6F4A63F9-B6E9-33A6-079A-1FAF923F0A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39" y="3444"/>
            <a:ext cx="79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180953" imgH="266700" progId="Equation.3">
                    <p:embed/>
                  </p:oleObj>
                </mc:Choice>
                <mc:Fallback>
                  <p:oleObj name="公式" r:id="rId14" imgW="1180953" imgH="26670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9" y="3444"/>
                          <a:ext cx="79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C6100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80" name="Line 45">
              <a:extLst>
                <a:ext uri="{FF2B5EF4-FFF2-40B4-BE49-F238E27FC236}">
                  <a16:creationId xmlns:a16="http://schemas.microsoft.com/office/drawing/2014/main" id="{505E1BAA-ABF1-9422-2813-C3825F37C3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2804"/>
              <a:ext cx="136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1" name="Line 46">
              <a:extLst>
                <a:ext uri="{FF2B5EF4-FFF2-40B4-BE49-F238E27FC236}">
                  <a16:creationId xmlns:a16="http://schemas.microsoft.com/office/drawing/2014/main" id="{02F33201-E88B-37BB-57C2-85C2FDA568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4" y="2115"/>
              <a:ext cx="0" cy="127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2" name="Text Box 47">
              <a:extLst>
                <a:ext uri="{FF2B5EF4-FFF2-40B4-BE49-F238E27FC236}">
                  <a16:creationId xmlns:a16="http://schemas.microsoft.com/office/drawing/2014/main" id="{78BE192E-CFA8-90BE-D206-0A59F8509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1" y="2750"/>
              <a:ext cx="2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2"/>
                  </a:solidFill>
                </a:rPr>
                <a:t>x </a:t>
              </a:r>
            </a:p>
          </p:txBody>
        </p:sp>
        <p:sp>
          <p:nvSpPr>
            <p:cNvPr id="45083" name="Text Box 50">
              <a:extLst>
                <a:ext uri="{FF2B5EF4-FFF2-40B4-BE49-F238E27FC236}">
                  <a16:creationId xmlns:a16="http://schemas.microsoft.com/office/drawing/2014/main" id="{F0E8B9FC-396E-9755-A6E1-042ADD6F2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2371"/>
              <a:ext cx="2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i="1"/>
                <a:t>S </a:t>
              </a:r>
            </a:p>
          </p:txBody>
        </p:sp>
        <p:sp>
          <p:nvSpPr>
            <p:cNvPr id="45084" name="Text Box 54">
              <a:extLst>
                <a:ext uri="{FF2B5EF4-FFF2-40B4-BE49-F238E27FC236}">
                  <a16:creationId xmlns:a16="http://schemas.microsoft.com/office/drawing/2014/main" id="{5E3D92FF-8390-049E-154B-8B10A19260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2" y="2759"/>
              <a:ext cx="289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600" i="1">
                  <a:solidFill>
                    <a:srgbClr val="000080"/>
                  </a:solidFill>
                </a:rPr>
                <a:t>A</a:t>
              </a:r>
              <a:r>
                <a:rPr lang="en-US" altLang="zh-CN" sz="2600" baseline="-25000">
                  <a:solidFill>
                    <a:srgbClr val="000080"/>
                  </a:solidFill>
                </a:rPr>
                <a:t> </a:t>
              </a:r>
            </a:p>
          </p:txBody>
        </p:sp>
        <p:sp>
          <p:nvSpPr>
            <p:cNvPr id="45085" name="Text Box 56">
              <a:extLst>
                <a:ext uri="{FF2B5EF4-FFF2-40B4-BE49-F238E27FC236}">
                  <a16:creationId xmlns:a16="http://schemas.microsoft.com/office/drawing/2014/main" id="{CA7F6DB6-8D8A-2169-F333-B6E46FEA4C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5" y="2351"/>
              <a:ext cx="289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600" i="1">
                  <a:solidFill>
                    <a:srgbClr val="000080"/>
                  </a:solidFill>
                </a:rPr>
                <a:t>B</a:t>
              </a:r>
              <a:r>
                <a:rPr lang="en-US" altLang="zh-CN" sz="2600" baseline="-25000">
                  <a:solidFill>
                    <a:srgbClr val="000080"/>
                  </a:solidFill>
                </a:rPr>
                <a:t> </a:t>
              </a:r>
            </a:p>
          </p:txBody>
        </p:sp>
      </p:grpSp>
      <p:graphicFrame>
        <p:nvGraphicFramePr>
          <p:cNvPr id="133179" name="Object 59">
            <a:extLst>
              <a:ext uri="{FF2B5EF4-FFF2-40B4-BE49-F238E27FC236}">
                <a16:creationId xmlns:a16="http://schemas.microsoft.com/office/drawing/2014/main" id="{AEC4F6D4-2107-C771-FC89-4639846634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5000625"/>
          <a:ext cx="33845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638153" imgH="190500" progId="Equation.3">
                  <p:embed/>
                </p:oleObj>
              </mc:Choice>
              <mc:Fallback>
                <p:oleObj name="公式" r:id="rId16" imgW="1638153" imgH="19050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000625"/>
                        <a:ext cx="338455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33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3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33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3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3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33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3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3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0"/>
                                        <p:tgtEl>
                                          <p:spTgt spid="13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0"/>
                                        <p:tgtEl>
                                          <p:spTgt spid="13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33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33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133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13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13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3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13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3000"/>
                                        <p:tgtEl>
                                          <p:spTgt spid="133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0"/>
                                        <p:tgtEl>
                                          <p:spTgt spid="133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6" grpId="0"/>
      <p:bldP spid="133127" grpId="0"/>
      <p:bldP spid="133128" grpId="0"/>
      <p:bldP spid="133129" grpId="0"/>
      <p:bldP spid="133132" grpId="0"/>
      <p:bldP spid="133134" grpId="0"/>
      <p:bldP spid="133135" grpId="0"/>
      <p:bldP spid="133137" grpId="0"/>
      <p:bldP spid="133140" grpId="0"/>
      <p:bldP spid="133141" grpId="0"/>
      <p:bldP spid="13314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8" name="Rectangle 4">
            <a:extLst>
              <a:ext uri="{FF2B5EF4-FFF2-40B4-BE49-F238E27FC236}">
                <a16:creationId xmlns:a16="http://schemas.microsoft.com/office/drawing/2014/main" id="{C751FA45-80C7-DB7E-3952-B334466F0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76250"/>
            <a:ext cx="1081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3. </a:t>
            </a:r>
          </a:p>
        </p:txBody>
      </p:sp>
      <p:sp>
        <p:nvSpPr>
          <p:cNvPr id="134149" name="Rectangle 5">
            <a:extLst>
              <a:ext uri="{FF2B5EF4-FFF2-40B4-BE49-F238E27FC236}">
                <a16:creationId xmlns:a16="http://schemas.microsoft.com/office/drawing/2014/main" id="{190F4958-FE11-54F6-2314-2941DD3B9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116263"/>
            <a:ext cx="1079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4</a:t>
            </a:r>
            <a:r>
              <a:rPr lang="en-US" altLang="zh-CN">
                <a:solidFill>
                  <a:srgbClr val="000066"/>
                </a:solidFill>
              </a:rPr>
              <a:t>. </a:t>
            </a:r>
          </a:p>
        </p:txBody>
      </p:sp>
      <p:graphicFrame>
        <p:nvGraphicFramePr>
          <p:cNvPr id="134150" name="Object 6">
            <a:extLst>
              <a:ext uri="{FF2B5EF4-FFF2-40B4-BE49-F238E27FC236}">
                <a16:creationId xmlns:a16="http://schemas.microsoft.com/office/drawing/2014/main" id="{CD7644D1-D530-5C3F-7496-361B7F1D7A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1196975"/>
          <a:ext cx="215582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47674" imgH="361950" progId="Equation.3">
                  <p:embed/>
                </p:oleObj>
              </mc:Choice>
              <mc:Fallback>
                <p:oleObj name="公式" r:id="rId2" imgW="847674" imgH="36195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196975"/>
                        <a:ext cx="2155825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1" name="Rectangle 7">
            <a:extLst>
              <a:ext uri="{FF2B5EF4-FFF2-40B4-BE49-F238E27FC236}">
                <a16:creationId xmlns:a16="http://schemas.microsoft.com/office/drawing/2014/main" id="{8DDD7F73-9821-0687-E27D-76D4587B1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458913"/>
            <a:ext cx="1655762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轨 迹：</a:t>
            </a:r>
          </a:p>
        </p:txBody>
      </p:sp>
      <p:sp>
        <p:nvSpPr>
          <p:cNvPr id="134153" name="Rectangle 9">
            <a:extLst>
              <a:ext uri="{FF2B5EF4-FFF2-40B4-BE49-F238E27FC236}">
                <a16:creationId xmlns:a16="http://schemas.microsoft.com/office/drawing/2014/main" id="{4686DB72-F6B9-0A37-6EC9-2CF28C090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395538"/>
            <a:ext cx="5688012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/>
            <a:r>
              <a:rPr lang="zh-CN" altLang="en-US" sz="2300">
                <a:solidFill>
                  <a:srgbClr val="000066"/>
                </a:solidFill>
              </a:rPr>
              <a:t>是</a:t>
            </a:r>
            <a:r>
              <a:rPr lang="zh-CN" altLang="en-US" sz="2300"/>
              <a:t>椭圆运动</a:t>
            </a:r>
            <a:r>
              <a:rPr lang="zh-CN" altLang="en-US" sz="2300">
                <a:solidFill>
                  <a:srgbClr val="000066"/>
                </a:solidFill>
              </a:rPr>
              <a:t>，方向时顺时针</a:t>
            </a:r>
            <a:r>
              <a:rPr lang="zh-CN" altLang="en-US" sz="2300">
                <a:solidFill>
                  <a:srgbClr val="000080"/>
                </a:solidFill>
              </a:rPr>
              <a:t> </a:t>
            </a:r>
            <a:r>
              <a:rPr lang="en-US" altLang="zh-CN" sz="2300"/>
              <a:t>(</a:t>
            </a:r>
            <a:r>
              <a:rPr lang="zh-CN" altLang="en-US" sz="2300"/>
              <a:t>右旋</a:t>
            </a:r>
            <a:r>
              <a:rPr lang="en-US" altLang="zh-CN" sz="2300"/>
              <a:t>)</a:t>
            </a:r>
            <a:r>
              <a:rPr lang="zh-CN" altLang="en-US" sz="2300">
                <a:solidFill>
                  <a:srgbClr val="000080"/>
                </a:solidFill>
              </a:rPr>
              <a:t>。</a:t>
            </a:r>
          </a:p>
        </p:txBody>
      </p:sp>
      <p:graphicFrame>
        <p:nvGraphicFramePr>
          <p:cNvPr id="134154" name="Object 10">
            <a:extLst>
              <a:ext uri="{FF2B5EF4-FFF2-40B4-BE49-F238E27FC236}">
                <a16:creationId xmlns:a16="http://schemas.microsoft.com/office/drawing/2014/main" id="{2863C513-93C6-AAFF-9CDF-5235BB716E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333375"/>
          <a:ext cx="1728787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47847" imgH="295275" progId="Equation.3">
                  <p:embed/>
                </p:oleObj>
              </mc:Choice>
              <mc:Fallback>
                <p:oleObj name="公式" r:id="rId4" imgW="647847" imgH="29527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33375"/>
                        <a:ext cx="1728787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5" name="Object 11">
            <a:extLst>
              <a:ext uri="{FF2B5EF4-FFF2-40B4-BE49-F238E27FC236}">
                <a16:creationId xmlns:a16="http://schemas.microsoft.com/office/drawing/2014/main" id="{D2B236D5-AA96-DE61-4590-5FDDD21626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3911600"/>
          <a:ext cx="191135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47674" imgH="361950" progId="Equation.3">
                  <p:embed/>
                </p:oleObj>
              </mc:Choice>
              <mc:Fallback>
                <p:oleObj name="公式" r:id="rId6" imgW="847674" imgH="36195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911600"/>
                        <a:ext cx="1911350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6" name="Rectangle 12">
            <a:extLst>
              <a:ext uri="{FF2B5EF4-FFF2-40B4-BE49-F238E27FC236}">
                <a16:creationId xmlns:a16="http://schemas.microsoft.com/office/drawing/2014/main" id="{4BA171A6-C67E-1432-7177-3D771BA0B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076700"/>
            <a:ext cx="1833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>
                <a:solidFill>
                  <a:srgbClr val="000080"/>
                </a:solidFill>
              </a:rPr>
              <a:t>轨 迹：</a:t>
            </a:r>
          </a:p>
        </p:txBody>
      </p:sp>
      <p:sp>
        <p:nvSpPr>
          <p:cNvPr id="134158" name="Rectangle 14">
            <a:extLst>
              <a:ext uri="{FF2B5EF4-FFF2-40B4-BE49-F238E27FC236}">
                <a16:creationId xmlns:a16="http://schemas.microsoft.com/office/drawing/2014/main" id="{0705C707-7ADB-109E-817D-AA7B5CF54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13" y="4868863"/>
            <a:ext cx="5903912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/>
            <a:r>
              <a:rPr lang="zh-CN" altLang="en-US" sz="2300">
                <a:solidFill>
                  <a:srgbClr val="000066"/>
                </a:solidFill>
              </a:rPr>
              <a:t>是</a:t>
            </a:r>
            <a:r>
              <a:rPr lang="zh-CN" altLang="en-US" sz="2300"/>
              <a:t>椭圆运动</a:t>
            </a:r>
            <a:r>
              <a:rPr lang="zh-CN" altLang="en-US" sz="2300">
                <a:solidFill>
                  <a:srgbClr val="000066"/>
                </a:solidFill>
              </a:rPr>
              <a:t>，方向时逆时针</a:t>
            </a:r>
            <a:r>
              <a:rPr lang="zh-CN" altLang="en-US" sz="2300">
                <a:solidFill>
                  <a:srgbClr val="000080"/>
                </a:solidFill>
              </a:rPr>
              <a:t> </a:t>
            </a:r>
            <a:r>
              <a:rPr lang="en-US" altLang="zh-CN" sz="2300"/>
              <a:t>(</a:t>
            </a:r>
            <a:r>
              <a:rPr lang="zh-CN" altLang="en-US" sz="2300"/>
              <a:t>左旋</a:t>
            </a:r>
            <a:r>
              <a:rPr lang="en-US" altLang="zh-CN" sz="2300"/>
              <a:t>)</a:t>
            </a:r>
            <a:r>
              <a:rPr lang="en-US" altLang="zh-CN" sz="2300">
                <a:solidFill>
                  <a:srgbClr val="000080"/>
                </a:solidFill>
              </a:rPr>
              <a:t> </a:t>
            </a:r>
            <a:r>
              <a:rPr lang="zh-CN" altLang="en-US" sz="2300">
                <a:solidFill>
                  <a:srgbClr val="000080"/>
                </a:solidFill>
              </a:rPr>
              <a:t>。</a:t>
            </a:r>
          </a:p>
        </p:txBody>
      </p:sp>
      <p:sp>
        <p:nvSpPr>
          <p:cNvPr id="134160" name="Rectangle 16">
            <a:extLst>
              <a:ext uri="{FF2B5EF4-FFF2-40B4-BE49-F238E27FC236}">
                <a16:creationId xmlns:a16="http://schemas.microsoft.com/office/drawing/2014/main" id="{A45DCF52-40E2-E9A7-77D5-3EF76D830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5" y="419100"/>
            <a:ext cx="399573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  <a:r>
              <a:rPr lang="en-US" altLang="zh-CN" sz="2300"/>
              <a:t>(</a:t>
            </a:r>
            <a:r>
              <a:rPr lang="en-US" altLang="zh-CN" sz="2600"/>
              <a:t> </a:t>
            </a:r>
            <a:r>
              <a:rPr lang="en-US" altLang="zh-CN" sz="2600" i="1"/>
              <a:t>y</a:t>
            </a:r>
            <a:r>
              <a:rPr lang="en-US" altLang="zh-CN" i="1"/>
              <a:t> </a:t>
            </a:r>
            <a:r>
              <a:rPr lang="zh-CN" altLang="en-US" sz="2300"/>
              <a:t>比</a:t>
            </a:r>
            <a:r>
              <a:rPr lang="zh-CN" altLang="en-US"/>
              <a:t> </a:t>
            </a:r>
            <a:r>
              <a:rPr lang="en-US" altLang="zh-CN" sz="2600" i="1"/>
              <a:t>x</a:t>
            </a:r>
            <a:r>
              <a:rPr lang="en-US" altLang="zh-CN" i="1"/>
              <a:t> </a:t>
            </a:r>
            <a:r>
              <a:rPr lang="zh-CN" altLang="en-US" sz="2300"/>
              <a:t>相位超前</a:t>
            </a:r>
            <a:r>
              <a:rPr lang="zh-CN" altLang="en-US" sz="2600" i="1">
                <a:sym typeface="Symbol" panose="05050102010706020507" pitchFamily="18" charset="2"/>
              </a:rPr>
              <a:t></a:t>
            </a:r>
            <a:r>
              <a:rPr lang="zh-CN" altLang="en-US" sz="1500" i="1">
                <a:sym typeface="Symbol" panose="05050102010706020507" pitchFamily="18" charset="2"/>
              </a:rPr>
              <a:t> </a:t>
            </a:r>
            <a:r>
              <a:rPr lang="en-US" altLang="zh-CN" sz="2600"/>
              <a:t>/</a:t>
            </a:r>
            <a:r>
              <a:rPr lang="en-US" altLang="zh-CN" sz="1500"/>
              <a:t> </a:t>
            </a:r>
            <a:r>
              <a:rPr lang="en-US" altLang="zh-CN" sz="2600"/>
              <a:t>2 </a:t>
            </a:r>
            <a:r>
              <a:rPr lang="en-US" altLang="zh-CN"/>
              <a:t>)           </a:t>
            </a:r>
          </a:p>
        </p:txBody>
      </p:sp>
      <p:grpSp>
        <p:nvGrpSpPr>
          <p:cNvPr id="134191" name="Group 47">
            <a:extLst>
              <a:ext uri="{FF2B5EF4-FFF2-40B4-BE49-F238E27FC236}">
                <a16:creationId xmlns:a16="http://schemas.microsoft.com/office/drawing/2014/main" id="{7D6B37DD-7648-7CC9-2548-0EEFE9944214}"/>
              </a:ext>
            </a:extLst>
          </p:cNvPr>
          <p:cNvGrpSpPr>
            <a:grpSpLocks/>
          </p:cNvGrpSpPr>
          <p:nvPr/>
        </p:nvGrpSpPr>
        <p:grpSpPr bwMode="auto">
          <a:xfrm>
            <a:off x="6659563" y="188913"/>
            <a:ext cx="2190750" cy="2879725"/>
            <a:chOff x="4150" y="164"/>
            <a:chExt cx="1471" cy="1881"/>
          </a:xfrm>
        </p:grpSpPr>
        <p:grpSp>
          <p:nvGrpSpPr>
            <p:cNvPr id="46111" name="Group 17">
              <a:extLst>
                <a:ext uri="{FF2B5EF4-FFF2-40B4-BE49-F238E27FC236}">
                  <a16:creationId xmlns:a16="http://schemas.microsoft.com/office/drawing/2014/main" id="{1586D081-4150-7E1B-3791-9D6F2151DB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7" y="482"/>
              <a:ext cx="855" cy="1062"/>
              <a:chOff x="480" y="1392"/>
              <a:chExt cx="768" cy="960"/>
            </a:xfrm>
          </p:grpSpPr>
          <p:sp>
            <p:nvSpPr>
              <p:cNvPr id="46122" name="Rectangle 18">
                <a:extLst>
                  <a:ext uri="{FF2B5EF4-FFF2-40B4-BE49-F238E27FC236}">
                    <a16:creationId xmlns:a16="http://schemas.microsoft.com/office/drawing/2014/main" id="{371734DB-EF1F-5C50-D4E3-56692A0A0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392"/>
                <a:ext cx="768" cy="960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6123" name="Line 19">
                <a:extLst>
                  <a:ext uri="{FF2B5EF4-FFF2-40B4-BE49-F238E27FC236}">
                    <a16:creationId xmlns:a16="http://schemas.microsoft.com/office/drawing/2014/main" id="{3F724CAF-330F-C4EB-6AD1-F45018FBF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1392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24" name="Line 20">
                <a:extLst>
                  <a:ext uri="{FF2B5EF4-FFF2-40B4-BE49-F238E27FC236}">
                    <a16:creationId xmlns:a16="http://schemas.microsoft.com/office/drawing/2014/main" id="{DB746EC8-B519-FBEC-079A-24D3941074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872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6112" name="Oval 21">
              <a:extLst>
                <a:ext uri="{FF2B5EF4-FFF2-40B4-BE49-F238E27FC236}">
                  <a16:creationId xmlns:a16="http://schemas.microsoft.com/office/drawing/2014/main" id="{0624A373-6F97-A761-D267-02EAB3673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482"/>
              <a:ext cx="855" cy="1062"/>
            </a:xfrm>
            <a:prstGeom prst="ellipse">
              <a:avLst/>
            </a:prstGeom>
            <a:noFill/>
            <a:ln w="38100" cap="rnd">
              <a:solidFill>
                <a:srgbClr val="FC1B0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13" name="Freeform 22">
              <a:extLst>
                <a:ext uri="{FF2B5EF4-FFF2-40B4-BE49-F238E27FC236}">
                  <a16:creationId xmlns:a16="http://schemas.microsoft.com/office/drawing/2014/main" id="{8808402C-1511-87A9-0699-9803D1B5EA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5" y="820"/>
              <a:ext cx="34" cy="173"/>
            </a:xfrm>
            <a:custGeom>
              <a:avLst/>
              <a:gdLst>
                <a:gd name="T0" fmla="*/ 0 w 30"/>
                <a:gd name="T1" fmla="*/ 0 h 156"/>
                <a:gd name="T2" fmla="*/ 201 w 30"/>
                <a:gd name="T3" fmla="*/ 737 h 15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" h="156">
                  <a:moveTo>
                    <a:pt x="0" y="0"/>
                  </a:moveTo>
                  <a:lnTo>
                    <a:pt x="30" y="156"/>
                  </a:lnTo>
                </a:path>
              </a:pathLst>
            </a:custGeom>
            <a:noFill/>
            <a:ln w="38100" cap="rnd">
              <a:solidFill>
                <a:srgbClr val="FC1B0A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4" name="Freeform 23">
              <a:extLst>
                <a:ext uri="{FF2B5EF4-FFF2-40B4-BE49-F238E27FC236}">
                  <a16:creationId xmlns:a16="http://schemas.microsoft.com/office/drawing/2014/main" id="{B3464D2C-322B-CD49-E577-7772204CE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7" y="1100"/>
              <a:ext cx="60" cy="180"/>
            </a:xfrm>
            <a:custGeom>
              <a:avLst/>
              <a:gdLst>
                <a:gd name="T0" fmla="*/ 259 w 54"/>
                <a:gd name="T1" fmla="*/ 787 h 162"/>
                <a:gd name="T2" fmla="*/ 0 w 54"/>
                <a:gd name="T3" fmla="*/ 0 h 16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" h="162">
                  <a:moveTo>
                    <a:pt x="54" y="162"/>
                  </a:moveTo>
                  <a:lnTo>
                    <a:pt x="0" y="0"/>
                  </a:lnTo>
                </a:path>
              </a:pathLst>
            </a:custGeom>
            <a:noFill/>
            <a:ln w="38100" cap="rnd">
              <a:solidFill>
                <a:srgbClr val="FC1B0A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6115" name="Object 26">
              <a:extLst>
                <a:ext uri="{FF2B5EF4-FFF2-40B4-BE49-F238E27FC236}">
                  <a16:creationId xmlns:a16="http://schemas.microsoft.com/office/drawing/2014/main" id="{F1AB1A1D-EC48-DF22-3A05-2832C192BE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17" y="1525"/>
            <a:ext cx="776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114579" imgH="704850" progId="Equation.3">
                    <p:embed/>
                  </p:oleObj>
                </mc:Choice>
                <mc:Fallback>
                  <p:oleObj name="公式" r:id="rId8" imgW="1114579" imgH="70485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7" y="1525"/>
                          <a:ext cx="776" cy="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16" name="Line 27">
              <a:extLst>
                <a:ext uri="{FF2B5EF4-FFF2-40B4-BE49-F238E27FC236}">
                  <a16:creationId xmlns:a16="http://schemas.microsoft.com/office/drawing/2014/main" id="{D458CC41-FB80-C0D5-E408-4FECFB7A6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1010"/>
              <a:ext cx="1315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7" name="Line 28">
              <a:extLst>
                <a:ext uri="{FF2B5EF4-FFF2-40B4-BE49-F238E27FC236}">
                  <a16:creationId xmlns:a16="http://schemas.microsoft.com/office/drawing/2014/main" id="{17069C28-5F80-F5C3-BA38-7F94261A30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6" y="300"/>
              <a:ext cx="0" cy="136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8" name="Text Box 29">
              <a:extLst>
                <a:ext uri="{FF2B5EF4-FFF2-40B4-BE49-F238E27FC236}">
                  <a16:creationId xmlns:a16="http://schemas.microsoft.com/office/drawing/2014/main" id="{5FC7FBD8-19C0-ECC0-9198-97F2C2A43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2" y="935"/>
              <a:ext cx="299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1"/>
                  </a:solidFill>
                </a:rPr>
                <a:t>x</a:t>
              </a:r>
              <a:r>
                <a:rPr lang="en-US" altLang="zh-CN" sz="2600" i="1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46119" name="Text Box 30">
              <a:extLst>
                <a:ext uri="{FF2B5EF4-FFF2-40B4-BE49-F238E27FC236}">
                  <a16:creationId xmlns:a16="http://schemas.microsoft.com/office/drawing/2014/main" id="{BA67F062-DCFD-A430-30AE-905747B3E5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164"/>
              <a:ext cx="283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700" i="1">
                  <a:solidFill>
                    <a:schemeClr val="tx1"/>
                  </a:solidFill>
                </a:rPr>
                <a:t>y </a:t>
              </a:r>
            </a:p>
          </p:txBody>
        </p:sp>
        <p:sp>
          <p:nvSpPr>
            <p:cNvPr id="46120" name="Text Box 31">
              <a:extLst>
                <a:ext uri="{FF2B5EF4-FFF2-40B4-BE49-F238E27FC236}">
                  <a16:creationId xmlns:a16="http://schemas.microsoft.com/office/drawing/2014/main" id="{E1652767-ECB4-38A6-A997-91C810C2DA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8" y="955"/>
              <a:ext cx="301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500" i="1">
                  <a:solidFill>
                    <a:srgbClr val="000080"/>
                  </a:solidFill>
                </a:rPr>
                <a:t>A</a:t>
              </a:r>
              <a:r>
                <a:rPr lang="en-US" altLang="zh-CN" sz="2500" baseline="-25000">
                  <a:solidFill>
                    <a:srgbClr val="000080"/>
                  </a:solidFill>
                </a:rPr>
                <a:t> </a:t>
              </a:r>
            </a:p>
          </p:txBody>
        </p:sp>
        <p:sp>
          <p:nvSpPr>
            <p:cNvPr id="46121" name="Text Box 32">
              <a:extLst>
                <a:ext uri="{FF2B5EF4-FFF2-40B4-BE49-F238E27FC236}">
                  <a16:creationId xmlns:a16="http://schemas.microsoft.com/office/drawing/2014/main" id="{A83FF7F5-DA70-2BC8-E839-A06A9E5DD3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3" y="527"/>
              <a:ext cx="302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500" i="1">
                  <a:solidFill>
                    <a:srgbClr val="000080"/>
                  </a:solidFill>
                </a:rPr>
                <a:t>B</a:t>
              </a:r>
              <a:r>
                <a:rPr lang="en-US" altLang="zh-CN" sz="2500" baseline="-25000">
                  <a:solidFill>
                    <a:srgbClr val="000080"/>
                  </a:solidFill>
                </a:rPr>
                <a:t> </a:t>
              </a:r>
            </a:p>
          </p:txBody>
        </p:sp>
      </p:grpSp>
      <p:grpSp>
        <p:nvGrpSpPr>
          <p:cNvPr id="134194" name="Group 50">
            <a:extLst>
              <a:ext uri="{FF2B5EF4-FFF2-40B4-BE49-F238E27FC236}">
                <a16:creationId xmlns:a16="http://schemas.microsoft.com/office/drawing/2014/main" id="{C5AA2ADD-E713-F927-CBF5-AEC2C90F440C}"/>
              </a:ext>
            </a:extLst>
          </p:cNvPr>
          <p:cNvGrpSpPr>
            <a:grpSpLocks/>
          </p:cNvGrpSpPr>
          <p:nvPr/>
        </p:nvGrpSpPr>
        <p:grpSpPr bwMode="auto">
          <a:xfrm>
            <a:off x="6659563" y="3070225"/>
            <a:ext cx="2189162" cy="2879725"/>
            <a:chOff x="4105" y="1957"/>
            <a:chExt cx="1470" cy="1881"/>
          </a:xfrm>
        </p:grpSpPr>
        <p:grpSp>
          <p:nvGrpSpPr>
            <p:cNvPr id="46097" name="Group 33">
              <a:extLst>
                <a:ext uri="{FF2B5EF4-FFF2-40B4-BE49-F238E27FC236}">
                  <a16:creationId xmlns:a16="http://schemas.microsoft.com/office/drawing/2014/main" id="{281D0746-8D82-ADC8-A983-DE57930211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2275"/>
              <a:ext cx="855" cy="1062"/>
              <a:chOff x="480" y="1392"/>
              <a:chExt cx="768" cy="960"/>
            </a:xfrm>
          </p:grpSpPr>
          <p:sp>
            <p:nvSpPr>
              <p:cNvPr id="46108" name="Rectangle 34">
                <a:extLst>
                  <a:ext uri="{FF2B5EF4-FFF2-40B4-BE49-F238E27FC236}">
                    <a16:creationId xmlns:a16="http://schemas.microsoft.com/office/drawing/2014/main" id="{39B9579F-B53F-583C-5CC2-2B8E5955A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392"/>
                <a:ext cx="768" cy="960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6109" name="Line 35">
                <a:extLst>
                  <a:ext uri="{FF2B5EF4-FFF2-40B4-BE49-F238E27FC236}">
                    <a16:creationId xmlns:a16="http://schemas.microsoft.com/office/drawing/2014/main" id="{A0E526F6-18F8-E1E2-B84E-9E48CDB63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1392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10" name="Line 36">
                <a:extLst>
                  <a:ext uri="{FF2B5EF4-FFF2-40B4-BE49-F238E27FC236}">
                    <a16:creationId xmlns:a16="http://schemas.microsoft.com/office/drawing/2014/main" id="{7FF847A2-4426-CAEE-39F4-BDBF44411F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872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6098" name="Oval 37">
              <a:extLst>
                <a:ext uri="{FF2B5EF4-FFF2-40B4-BE49-F238E27FC236}">
                  <a16:creationId xmlns:a16="http://schemas.microsoft.com/office/drawing/2014/main" id="{70070C27-5B36-9F6D-DD7A-3B281B491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2275"/>
              <a:ext cx="855" cy="1062"/>
            </a:xfrm>
            <a:prstGeom prst="ellipse">
              <a:avLst/>
            </a:prstGeom>
            <a:noFill/>
            <a:ln w="38100" cap="rnd">
              <a:solidFill>
                <a:srgbClr val="FC1B0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099" name="Freeform 38">
              <a:extLst>
                <a:ext uri="{FF2B5EF4-FFF2-40B4-BE49-F238E27FC236}">
                  <a16:creationId xmlns:a16="http://schemas.microsoft.com/office/drawing/2014/main" id="{F395ABC6-820B-7EB9-26FD-DCA4FDA7B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" y="2613"/>
              <a:ext cx="34" cy="173"/>
            </a:xfrm>
            <a:custGeom>
              <a:avLst/>
              <a:gdLst>
                <a:gd name="T0" fmla="*/ 0 w 30"/>
                <a:gd name="T1" fmla="*/ 0 h 156"/>
                <a:gd name="T2" fmla="*/ 201 w 30"/>
                <a:gd name="T3" fmla="*/ 737 h 15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" h="156">
                  <a:moveTo>
                    <a:pt x="0" y="0"/>
                  </a:moveTo>
                  <a:lnTo>
                    <a:pt x="30" y="156"/>
                  </a:lnTo>
                </a:path>
              </a:pathLst>
            </a:custGeom>
            <a:noFill/>
            <a:ln w="38100" cap="rnd">
              <a:solidFill>
                <a:srgbClr val="FC1B0A"/>
              </a:solidFill>
              <a:round/>
              <a:headEnd type="triangle" w="sm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0" name="Freeform 39">
              <a:extLst>
                <a:ext uri="{FF2B5EF4-FFF2-40B4-BE49-F238E27FC236}">
                  <a16:creationId xmlns:a16="http://schemas.microsoft.com/office/drawing/2014/main" id="{1C11695B-0873-93DF-A51D-C64ECE83A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2" y="2893"/>
              <a:ext cx="60" cy="180"/>
            </a:xfrm>
            <a:custGeom>
              <a:avLst/>
              <a:gdLst>
                <a:gd name="T0" fmla="*/ 259 w 54"/>
                <a:gd name="T1" fmla="*/ 787 h 162"/>
                <a:gd name="T2" fmla="*/ 0 w 54"/>
                <a:gd name="T3" fmla="*/ 0 h 16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" h="162">
                  <a:moveTo>
                    <a:pt x="54" y="162"/>
                  </a:moveTo>
                  <a:lnTo>
                    <a:pt x="0" y="0"/>
                  </a:lnTo>
                </a:path>
              </a:pathLst>
            </a:custGeom>
            <a:noFill/>
            <a:ln w="38100" cap="rnd">
              <a:solidFill>
                <a:srgbClr val="FC1B0A"/>
              </a:solidFill>
              <a:round/>
              <a:headEnd type="triangle" w="sm" len="lg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6101" name="Object 40">
              <a:extLst>
                <a:ext uri="{FF2B5EF4-FFF2-40B4-BE49-F238E27FC236}">
                  <a16:creationId xmlns:a16="http://schemas.microsoft.com/office/drawing/2014/main" id="{13032A32-D1B9-20BB-9D6A-14442796A2E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16" y="3318"/>
            <a:ext cx="888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295341" imgH="704850" progId="Equation.3">
                    <p:embed/>
                  </p:oleObj>
                </mc:Choice>
                <mc:Fallback>
                  <p:oleObj name="公式" r:id="rId10" imgW="1295341" imgH="70485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6" y="3318"/>
                          <a:ext cx="888" cy="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02" name="Line 41">
              <a:extLst>
                <a:ext uri="{FF2B5EF4-FFF2-40B4-BE49-F238E27FC236}">
                  <a16:creationId xmlns:a16="http://schemas.microsoft.com/office/drawing/2014/main" id="{8503B769-037E-4BB9-B15B-EAC12DCC5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5" y="2803"/>
              <a:ext cx="1315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3" name="Line 42">
              <a:extLst>
                <a:ext uri="{FF2B5EF4-FFF2-40B4-BE49-F238E27FC236}">
                  <a16:creationId xmlns:a16="http://schemas.microsoft.com/office/drawing/2014/main" id="{3EA918EB-549D-E7E0-30E3-E8ADAE396A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61" y="2093"/>
              <a:ext cx="0" cy="136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4" name="Text Box 43">
              <a:extLst>
                <a:ext uri="{FF2B5EF4-FFF2-40B4-BE49-F238E27FC236}">
                  <a16:creationId xmlns:a16="http://schemas.microsoft.com/office/drawing/2014/main" id="{BD2A00DE-BC7B-9C39-0D50-24B29A0C20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7" y="2728"/>
              <a:ext cx="298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1"/>
                  </a:solidFill>
                </a:rPr>
                <a:t>x</a:t>
              </a:r>
              <a:r>
                <a:rPr lang="en-US" altLang="zh-CN" sz="2600" i="1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46105" name="Text Box 44">
              <a:extLst>
                <a:ext uri="{FF2B5EF4-FFF2-40B4-BE49-F238E27FC236}">
                  <a16:creationId xmlns:a16="http://schemas.microsoft.com/office/drawing/2014/main" id="{C5E9A957-E1CF-2763-E89D-B2EF43A4C0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9" y="1957"/>
              <a:ext cx="284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700" i="1">
                  <a:solidFill>
                    <a:schemeClr val="tx1"/>
                  </a:solidFill>
                </a:rPr>
                <a:t>y </a:t>
              </a:r>
            </a:p>
          </p:txBody>
        </p:sp>
        <p:sp>
          <p:nvSpPr>
            <p:cNvPr id="46106" name="Text Box 45">
              <a:extLst>
                <a:ext uri="{FF2B5EF4-FFF2-40B4-BE49-F238E27FC236}">
                  <a16:creationId xmlns:a16="http://schemas.microsoft.com/office/drawing/2014/main" id="{D795C665-89FC-702E-9705-6FDC37306A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3" y="2748"/>
              <a:ext cx="301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500" i="1">
                  <a:solidFill>
                    <a:srgbClr val="000080"/>
                  </a:solidFill>
                </a:rPr>
                <a:t>A</a:t>
              </a:r>
              <a:r>
                <a:rPr lang="en-US" altLang="zh-CN" sz="2500" baseline="-25000">
                  <a:solidFill>
                    <a:srgbClr val="000080"/>
                  </a:solidFill>
                </a:rPr>
                <a:t> </a:t>
              </a:r>
            </a:p>
          </p:txBody>
        </p:sp>
        <p:sp>
          <p:nvSpPr>
            <p:cNvPr id="46107" name="Text Box 46">
              <a:extLst>
                <a:ext uri="{FF2B5EF4-FFF2-40B4-BE49-F238E27FC236}">
                  <a16:creationId xmlns:a16="http://schemas.microsoft.com/office/drawing/2014/main" id="{4287B44B-E06E-7FC9-A759-BB5F5899A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9" y="2320"/>
              <a:ext cx="301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500" i="1">
                  <a:solidFill>
                    <a:srgbClr val="000080"/>
                  </a:solidFill>
                </a:rPr>
                <a:t>B</a:t>
              </a:r>
              <a:r>
                <a:rPr lang="en-US" altLang="zh-CN" sz="2500" baseline="-25000">
                  <a:solidFill>
                    <a:srgbClr val="000080"/>
                  </a:solidFill>
                </a:rPr>
                <a:t> </a:t>
              </a:r>
            </a:p>
          </p:txBody>
        </p:sp>
      </p:grpSp>
      <p:sp>
        <p:nvSpPr>
          <p:cNvPr id="134192" name="Rectangle 48">
            <a:extLst>
              <a:ext uri="{FF2B5EF4-FFF2-40B4-BE49-F238E27FC236}">
                <a16:creationId xmlns:a16="http://schemas.microsoft.com/office/drawing/2014/main" id="{A9856BCF-2182-C1D6-E299-02C968162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350" y="3155950"/>
            <a:ext cx="40513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  <a:r>
              <a:rPr lang="en-US" altLang="zh-CN" sz="2300"/>
              <a:t>(</a:t>
            </a:r>
            <a:r>
              <a:rPr lang="en-US" altLang="zh-CN" sz="2600"/>
              <a:t> </a:t>
            </a:r>
            <a:r>
              <a:rPr lang="en-US" altLang="zh-CN" sz="2600" i="1"/>
              <a:t>y</a:t>
            </a:r>
            <a:r>
              <a:rPr lang="en-US" altLang="zh-CN" i="1"/>
              <a:t> </a:t>
            </a:r>
            <a:r>
              <a:rPr lang="zh-CN" altLang="en-US" sz="2300"/>
              <a:t>比</a:t>
            </a:r>
            <a:r>
              <a:rPr lang="zh-CN" altLang="en-US"/>
              <a:t> </a:t>
            </a:r>
            <a:r>
              <a:rPr lang="en-US" altLang="zh-CN" sz="2600" i="1"/>
              <a:t>x</a:t>
            </a:r>
            <a:r>
              <a:rPr lang="en-US" altLang="zh-CN" i="1"/>
              <a:t> </a:t>
            </a:r>
            <a:r>
              <a:rPr lang="zh-CN" altLang="en-US" sz="2300"/>
              <a:t>相位落后</a:t>
            </a:r>
            <a:r>
              <a:rPr lang="zh-CN" altLang="en-US" sz="2600" i="1">
                <a:sym typeface="Symbol" panose="05050102010706020507" pitchFamily="18" charset="2"/>
              </a:rPr>
              <a:t></a:t>
            </a:r>
            <a:r>
              <a:rPr lang="zh-CN" altLang="en-US" sz="1500" i="1">
                <a:sym typeface="Symbol" panose="05050102010706020507" pitchFamily="18" charset="2"/>
              </a:rPr>
              <a:t> </a:t>
            </a:r>
            <a:r>
              <a:rPr lang="en-US" altLang="zh-CN" sz="2600"/>
              <a:t>/</a:t>
            </a:r>
            <a:r>
              <a:rPr lang="en-US" altLang="zh-CN" sz="1500"/>
              <a:t> </a:t>
            </a:r>
            <a:r>
              <a:rPr lang="en-US" altLang="zh-CN" sz="2600"/>
              <a:t>2 </a:t>
            </a:r>
            <a:r>
              <a:rPr lang="en-US" altLang="zh-CN" sz="2300"/>
              <a:t>)</a:t>
            </a:r>
            <a:r>
              <a:rPr lang="en-US" altLang="zh-CN"/>
              <a:t>         </a:t>
            </a:r>
          </a:p>
        </p:txBody>
      </p:sp>
      <p:sp>
        <p:nvSpPr>
          <p:cNvPr id="134193" name="Rectangle 49">
            <a:extLst>
              <a:ext uri="{FF2B5EF4-FFF2-40B4-BE49-F238E27FC236}">
                <a16:creationId xmlns:a16="http://schemas.microsoft.com/office/drawing/2014/main" id="{17F6B80A-FFFE-AC71-6532-94593D176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5" y="5256213"/>
            <a:ext cx="6102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800" i="1"/>
              <a:t>A</a:t>
            </a:r>
            <a:r>
              <a:rPr lang="en-US" altLang="zh-CN" sz="2800"/>
              <a:t>= </a:t>
            </a:r>
            <a:r>
              <a:rPr lang="en-US" altLang="zh-CN" sz="2800" i="1"/>
              <a:t>B</a:t>
            </a:r>
            <a:r>
              <a:rPr lang="en-US" altLang="zh-CN" sz="3000" baseline="-25000"/>
              <a:t> </a:t>
            </a:r>
            <a:r>
              <a:rPr lang="zh-CN" altLang="en-US" sz="2300">
                <a:solidFill>
                  <a:srgbClr val="000066"/>
                </a:solidFill>
              </a:rPr>
              <a:t>时，为圆轨道， 即作</a:t>
            </a:r>
            <a:r>
              <a:rPr lang="zh-CN" altLang="en-US" sz="2300"/>
              <a:t>圆周运动</a:t>
            </a:r>
            <a:r>
              <a:rPr lang="zh-CN" altLang="en-US" sz="2300">
                <a:solidFill>
                  <a:srgbClr val="000080"/>
                </a:solidFill>
              </a:rPr>
              <a:t>。     </a:t>
            </a:r>
          </a:p>
        </p:txBody>
      </p:sp>
      <p:graphicFrame>
        <p:nvGraphicFramePr>
          <p:cNvPr id="134195" name="Object 51">
            <a:extLst>
              <a:ext uri="{FF2B5EF4-FFF2-40B4-BE49-F238E27FC236}">
                <a16:creationId xmlns:a16="http://schemas.microsoft.com/office/drawing/2014/main" id="{AC8BFF08-1D99-31AA-DEF5-94CEEB8F62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924175"/>
          <a:ext cx="1906587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71415" imgH="295275" progId="Equation.3">
                  <p:embed/>
                </p:oleObj>
              </mc:Choice>
              <mc:Fallback>
                <p:oleObj name="公式" r:id="rId12" imgW="771415" imgH="295275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924175"/>
                        <a:ext cx="1906587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34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3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4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3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34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3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3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0"/>
                                        <p:tgtEl>
                                          <p:spTgt spid="134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3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0"/>
                                        <p:tgtEl>
                                          <p:spTgt spid="134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8" grpId="0"/>
      <p:bldP spid="134149" grpId="0"/>
      <p:bldP spid="134151" grpId="0"/>
      <p:bldP spid="134153" grpId="0"/>
      <p:bldP spid="134156" grpId="0"/>
      <p:bldP spid="134158" grpId="0"/>
      <p:bldP spid="134160" grpId="0"/>
      <p:bldP spid="13419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172" name="Object 4">
            <a:extLst>
              <a:ext uri="{FF2B5EF4-FFF2-40B4-BE49-F238E27FC236}">
                <a16:creationId xmlns:a16="http://schemas.microsoft.com/office/drawing/2014/main" id="{F3913ED2-72FF-4777-EEAE-8F51801791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368300"/>
          <a:ext cx="5761037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57409" imgH="361950" progId="Equation.3">
                  <p:embed/>
                </p:oleObj>
              </mc:Choice>
              <mc:Fallback>
                <p:oleObj name="公式" r:id="rId2" imgW="2657409" imgH="36195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68300"/>
                        <a:ext cx="5761037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5235" name="Group 67">
            <a:extLst>
              <a:ext uri="{FF2B5EF4-FFF2-40B4-BE49-F238E27FC236}">
                <a16:creationId xmlns:a16="http://schemas.microsoft.com/office/drawing/2014/main" id="{02E70351-0E67-95DF-D103-AF19E2CE2318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1628775"/>
            <a:ext cx="1333500" cy="1954213"/>
            <a:chOff x="1056" y="1288"/>
            <a:chExt cx="702" cy="1094"/>
          </a:xfrm>
        </p:grpSpPr>
        <p:grpSp>
          <p:nvGrpSpPr>
            <p:cNvPr id="47170" name="Group 8">
              <a:extLst>
                <a:ext uri="{FF2B5EF4-FFF2-40B4-BE49-F238E27FC236}">
                  <a16:creationId xmlns:a16="http://schemas.microsoft.com/office/drawing/2014/main" id="{66A6B2E3-EB46-6AA3-BA3D-77893122A5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1288"/>
              <a:ext cx="702" cy="867"/>
              <a:chOff x="480" y="1392"/>
              <a:chExt cx="768" cy="960"/>
            </a:xfrm>
          </p:grpSpPr>
          <p:sp>
            <p:nvSpPr>
              <p:cNvPr id="47173" name="Rectangle 9">
                <a:extLst>
                  <a:ext uri="{FF2B5EF4-FFF2-40B4-BE49-F238E27FC236}">
                    <a16:creationId xmlns:a16="http://schemas.microsoft.com/office/drawing/2014/main" id="{2FC700C5-2B10-BD9A-ECE5-2FF9193F47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392"/>
                <a:ext cx="768" cy="960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174" name="Line 10">
                <a:extLst>
                  <a:ext uri="{FF2B5EF4-FFF2-40B4-BE49-F238E27FC236}">
                    <a16:creationId xmlns:a16="http://schemas.microsoft.com/office/drawing/2014/main" id="{FDC92251-E57B-8335-3923-1BCB336D1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1392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75" name="Line 11">
                <a:extLst>
                  <a:ext uri="{FF2B5EF4-FFF2-40B4-BE49-F238E27FC236}">
                    <a16:creationId xmlns:a16="http://schemas.microsoft.com/office/drawing/2014/main" id="{37D68B7B-55D1-C202-B5DD-DFE8E93DA1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872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71" name="Line 12">
              <a:extLst>
                <a:ext uri="{FF2B5EF4-FFF2-40B4-BE49-F238E27FC236}">
                  <a16:creationId xmlns:a16="http://schemas.microsoft.com/office/drawing/2014/main" id="{3D95AF9E-C24E-A6BA-42D3-FF4DAEC4C4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1294"/>
              <a:ext cx="690" cy="861"/>
            </a:xfrm>
            <a:prstGeom prst="line">
              <a:avLst/>
            </a:prstGeom>
            <a:noFill/>
            <a:ln w="38100" cap="rnd">
              <a:solidFill>
                <a:srgbClr val="FC1B0A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7172" name="Object 56">
              <a:extLst>
                <a:ext uri="{FF2B5EF4-FFF2-40B4-BE49-F238E27FC236}">
                  <a16:creationId xmlns:a16="http://schemas.microsoft.com/office/drawing/2014/main" id="{0FCCECD4-46A8-828E-439A-A5C0EA069D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6" y="2126"/>
            <a:ext cx="60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21240" imgH="218880" progId="Equation.3">
                    <p:embed/>
                  </p:oleObj>
                </mc:Choice>
                <mc:Fallback>
                  <p:oleObj name="Equation" r:id="rId4" imgW="921240" imgH="218880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126"/>
                          <a:ext cx="608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C6100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5237" name="Group 69">
            <a:extLst>
              <a:ext uri="{FF2B5EF4-FFF2-40B4-BE49-F238E27FC236}">
                <a16:creationId xmlns:a16="http://schemas.microsoft.com/office/drawing/2014/main" id="{C5387CB6-AEA6-2C04-2BB9-0D59F583667B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1628775"/>
            <a:ext cx="1346200" cy="1982788"/>
            <a:chOff x="2988" y="1288"/>
            <a:chExt cx="708" cy="1110"/>
          </a:xfrm>
        </p:grpSpPr>
        <p:grpSp>
          <p:nvGrpSpPr>
            <p:cNvPr id="47162" name="Group 17">
              <a:extLst>
                <a:ext uri="{FF2B5EF4-FFF2-40B4-BE49-F238E27FC236}">
                  <a16:creationId xmlns:a16="http://schemas.microsoft.com/office/drawing/2014/main" id="{7E191927-0D8D-029D-7F86-8614B23CE2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8" y="1288"/>
              <a:ext cx="702" cy="867"/>
              <a:chOff x="480" y="1392"/>
              <a:chExt cx="768" cy="960"/>
            </a:xfrm>
          </p:grpSpPr>
          <p:sp>
            <p:nvSpPr>
              <p:cNvPr id="47167" name="Rectangle 18">
                <a:extLst>
                  <a:ext uri="{FF2B5EF4-FFF2-40B4-BE49-F238E27FC236}">
                    <a16:creationId xmlns:a16="http://schemas.microsoft.com/office/drawing/2014/main" id="{F797A142-3B34-D580-5268-1A348BC80D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392"/>
                <a:ext cx="768" cy="960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168" name="Line 19">
                <a:extLst>
                  <a:ext uri="{FF2B5EF4-FFF2-40B4-BE49-F238E27FC236}">
                    <a16:creationId xmlns:a16="http://schemas.microsoft.com/office/drawing/2014/main" id="{C7C1AD5B-6EA7-C94E-3BBA-F280B49CC7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1392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9" name="Line 20">
                <a:extLst>
                  <a:ext uri="{FF2B5EF4-FFF2-40B4-BE49-F238E27FC236}">
                    <a16:creationId xmlns:a16="http://schemas.microsoft.com/office/drawing/2014/main" id="{823262C6-A857-FAF3-15D4-3D28717A19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872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63" name="Oval 25">
              <a:extLst>
                <a:ext uri="{FF2B5EF4-FFF2-40B4-BE49-F238E27FC236}">
                  <a16:creationId xmlns:a16="http://schemas.microsoft.com/office/drawing/2014/main" id="{91858015-650D-554D-C75E-23B3F2BFE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1288"/>
              <a:ext cx="702" cy="867"/>
            </a:xfrm>
            <a:prstGeom prst="ellipse">
              <a:avLst/>
            </a:prstGeom>
            <a:noFill/>
            <a:ln w="38100" cap="rnd">
              <a:solidFill>
                <a:srgbClr val="FC1B0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7164" name="Freeform 28">
              <a:extLst>
                <a:ext uri="{FF2B5EF4-FFF2-40B4-BE49-F238E27FC236}">
                  <a16:creationId xmlns:a16="http://schemas.microsoft.com/office/drawing/2014/main" id="{1DED84CC-FC1B-40A4-4B9A-E5E756007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8" y="1564"/>
              <a:ext cx="28" cy="141"/>
            </a:xfrm>
            <a:custGeom>
              <a:avLst/>
              <a:gdLst>
                <a:gd name="T0" fmla="*/ 0 w 30"/>
                <a:gd name="T1" fmla="*/ 0 h 156"/>
                <a:gd name="T2" fmla="*/ 11 w 30"/>
                <a:gd name="T3" fmla="*/ 34 h 15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" h="156">
                  <a:moveTo>
                    <a:pt x="0" y="0"/>
                  </a:moveTo>
                  <a:lnTo>
                    <a:pt x="30" y="156"/>
                  </a:lnTo>
                </a:path>
              </a:pathLst>
            </a:custGeom>
            <a:noFill/>
            <a:ln w="38100" cap="rnd">
              <a:solidFill>
                <a:srgbClr val="FC1B0A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5" name="Freeform 29">
              <a:extLst>
                <a:ext uri="{FF2B5EF4-FFF2-40B4-BE49-F238E27FC236}">
                  <a16:creationId xmlns:a16="http://schemas.microsoft.com/office/drawing/2014/main" id="{119262D3-D1DF-39E8-B59D-A75DC89FE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8" y="1792"/>
              <a:ext cx="49" cy="147"/>
            </a:xfrm>
            <a:custGeom>
              <a:avLst/>
              <a:gdLst>
                <a:gd name="T0" fmla="*/ 13 w 54"/>
                <a:gd name="T1" fmla="*/ 38 h 162"/>
                <a:gd name="T2" fmla="*/ 0 w 54"/>
                <a:gd name="T3" fmla="*/ 0 h 16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" h="162">
                  <a:moveTo>
                    <a:pt x="54" y="162"/>
                  </a:moveTo>
                  <a:lnTo>
                    <a:pt x="0" y="0"/>
                  </a:lnTo>
                </a:path>
              </a:pathLst>
            </a:custGeom>
            <a:noFill/>
            <a:ln w="38100" cap="rnd">
              <a:solidFill>
                <a:srgbClr val="FC1B0A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7166" name="Object 58">
              <a:extLst>
                <a:ext uri="{FF2B5EF4-FFF2-40B4-BE49-F238E27FC236}">
                  <a16:creationId xmlns:a16="http://schemas.microsoft.com/office/drawing/2014/main" id="{295D6B4F-30F6-5550-F79A-9ACB192CC8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68" y="2126"/>
            <a:ext cx="35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12200" imgH="243000" progId="Equation.3">
                    <p:embed/>
                  </p:oleObj>
                </mc:Choice>
                <mc:Fallback>
                  <p:oleObj name="Equation" r:id="rId6" imgW="412200" imgH="243000" progId="Equation.3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2126"/>
                          <a:ext cx="35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C6100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5242" name="Group 74">
            <a:extLst>
              <a:ext uri="{FF2B5EF4-FFF2-40B4-BE49-F238E27FC236}">
                <a16:creationId xmlns:a16="http://schemas.microsoft.com/office/drawing/2014/main" id="{EACF7B88-80FA-0C8E-CBAF-A8D2CD33233F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3773488"/>
            <a:ext cx="1333500" cy="1987550"/>
            <a:chOff x="1056" y="2488"/>
            <a:chExt cx="702" cy="1113"/>
          </a:xfrm>
        </p:grpSpPr>
        <p:grpSp>
          <p:nvGrpSpPr>
            <p:cNvPr id="47156" name="Group 32">
              <a:extLst>
                <a:ext uri="{FF2B5EF4-FFF2-40B4-BE49-F238E27FC236}">
                  <a16:creationId xmlns:a16="http://schemas.microsoft.com/office/drawing/2014/main" id="{065FA341-F11F-3D0F-86B9-FE3C700AF5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2488"/>
              <a:ext cx="702" cy="867"/>
              <a:chOff x="480" y="1392"/>
              <a:chExt cx="768" cy="960"/>
            </a:xfrm>
          </p:grpSpPr>
          <p:sp>
            <p:nvSpPr>
              <p:cNvPr id="47159" name="Rectangle 33">
                <a:extLst>
                  <a:ext uri="{FF2B5EF4-FFF2-40B4-BE49-F238E27FC236}">
                    <a16:creationId xmlns:a16="http://schemas.microsoft.com/office/drawing/2014/main" id="{8252F749-B4AA-A404-1AA2-16E0F0F0C5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392"/>
                <a:ext cx="768" cy="960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160" name="Line 34">
                <a:extLst>
                  <a:ext uri="{FF2B5EF4-FFF2-40B4-BE49-F238E27FC236}">
                    <a16:creationId xmlns:a16="http://schemas.microsoft.com/office/drawing/2014/main" id="{916EDFD2-AFF1-9617-45CF-3408BD6BF3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1392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1" name="Line 35">
                <a:extLst>
                  <a:ext uri="{FF2B5EF4-FFF2-40B4-BE49-F238E27FC236}">
                    <a16:creationId xmlns:a16="http://schemas.microsoft.com/office/drawing/2014/main" id="{A6D71287-997E-546B-F26D-873A70A53F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872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57" name="Line 49">
              <a:extLst>
                <a:ext uri="{FF2B5EF4-FFF2-40B4-BE49-F238E27FC236}">
                  <a16:creationId xmlns:a16="http://schemas.microsoft.com/office/drawing/2014/main" id="{B6EA872A-65DC-1C26-27C2-8517B5BE32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56" y="2498"/>
              <a:ext cx="690" cy="862"/>
            </a:xfrm>
            <a:prstGeom prst="line">
              <a:avLst/>
            </a:prstGeom>
            <a:noFill/>
            <a:ln w="38100" cap="rnd">
              <a:solidFill>
                <a:srgbClr val="FC1B0A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7158" name="Object 60">
              <a:extLst>
                <a:ext uri="{FF2B5EF4-FFF2-40B4-BE49-F238E27FC236}">
                  <a16:creationId xmlns:a16="http://schemas.microsoft.com/office/drawing/2014/main" id="{F4C4A5F8-7D44-6943-453E-0BE9E95113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6" y="3425"/>
            <a:ext cx="19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6840" imgH="73080" progId="Equation.3">
                    <p:embed/>
                  </p:oleObj>
                </mc:Choice>
                <mc:Fallback>
                  <p:oleObj name="Equation" r:id="rId8" imgW="96840" imgH="73080" progId="Equation.3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3425"/>
                          <a:ext cx="192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C6100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5247" name="Group 79">
            <a:extLst>
              <a:ext uri="{FF2B5EF4-FFF2-40B4-BE49-F238E27FC236}">
                <a16:creationId xmlns:a16="http://schemas.microsoft.com/office/drawing/2014/main" id="{C920568D-2D16-C07E-81AE-C5139EA2D71A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3773488"/>
            <a:ext cx="1333500" cy="2030412"/>
            <a:chOff x="3016" y="2605"/>
            <a:chExt cx="840" cy="1279"/>
          </a:xfrm>
        </p:grpSpPr>
        <p:grpSp>
          <p:nvGrpSpPr>
            <p:cNvPr id="47148" name="Group 40">
              <a:extLst>
                <a:ext uri="{FF2B5EF4-FFF2-40B4-BE49-F238E27FC236}">
                  <a16:creationId xmlns:a16="http://schemas.microsoft.com/office/drawing/2014/main" id="{237C7B77-D19A-861D-7F4F-B373522BD3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6" y="2605"/>
              <a:ext cx="840" cy="975"/>
              <a:chOff x="480" y="1392"/>
              <a:chExt cx="768" cy="960"/>
            </a:xfrm>
          </p:grpSpPr>
          <p:sp>
            <p:nvSpPr>
              <p:cNvPr id="47153" name="Rectangle 41">
                <a:extLst>
                  <a:ext uri="{FF2B5EF4-FFF2-40B4-BE49-F238E27FC236}">
                    <a16:creationId xmlns:a16="http://schemas.microsoft.com/office/drawing/2014/main" id="{5E9E036D-C8F9-3EC8-6540-2F40F0286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392"/>
                <a:ext cx="768" cy="960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154" name="Line 42">
                <a:extLst>
                  <a:ext uri="{FF2B5EF4-FFF2-40B4-BE49-F238E27FC236}">
                    <a16:creationId xmlns:a16="http://schemas.microsoft.com/office/drawing/2014/main" id="{1215FEC7-1CCE-C774-074C-8D10DD90C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1392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5" name="Line 43">
                <a:extLst>
                  <a:ext uri="{FF2B5EF4-FFF2-40B4-BE49-F238E27FC236}">
                    <a16:creationId xmlns:a16="http://schemas.microsoft.com/office/drawing/2014/main" id="{DAD45F25-31A6-16F1-BBE6-1F35941C2C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872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49" name="Oval 48">
              <a:extLst>
                <a:ext uri="{FF2B5EF4-FFF2-40B4-BE49-F238E27FC236}">
                  <a16:creationId xmlns:a16="http://schemas.microsoft.com/office/drawing/2014/main" id="{217D06F4-2390-FFB6-02BB-6668E7F7C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2605"/>
              <a:ext cx="840" cy="975"/>
            </a:xfrm>
            <a:prstGeom prst="ellipse">
              <a:avLst/>
            </a:prstGeom>
            <a:noFill/>
            <a:ln w="38100" cap="rnd">
              <a:solidFill>
                <a:srgbClr val="FC1B0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7150" name="Freeform 53">
              <a:extLst>
                <a:ext uri="{FF2B5EF4-FFF2-40B4-BE49-F238E27FC236}">
                  <a16:creationId xmlns:a16="http://schemas.microsoft.com/office/drawing/2014/main" id="{68CCE91C-7CF2-5827-B251-EEC9002A7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1" y="3306"/>
              <a:ext cx="85" cy="134"/>
            </a:xfrm>
            <a:custGeom>
              <a:avLst/>
              <a:gdLst>
                <a:gd name="T0" fmla="*/ 0 w 78"/>
                <a:gd name="T1" fmla="*/ 0 h 132"/>
                <a:gd name="T2" fmla="*/ 286 w 78"/>
                <a:gd name="T3" fmla="*/ 162 h 1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" h="132">
                  <a:moveTo>
                    <a:pt x="0" y="0"/>
                  </a:moveTo>
                  <a:lnTo>
                    <a:pt x="78" y="132"/>
                  </a:lnTo>
                </a:path>
              </a:pathLst>
            </a:custGeom>
            <a:noFill/>
            <a:ln w="38100" cap="rnd">
              <a:solidFill>
                <a:srgbClr val="FC1B0A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7151" name="Object 62">
              <a:extLst>
                <a:ext uri="{FF2B5EF4-FFF2-40B4-BE49-F238E27FC236}">
                  <a16:creationId xmlns:a16="http://schemas.microsoft.com/office/drawing/2014/main" id="{4DCEBF52-0997-3240-6101-5F2537D2E8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88" y="3578"/>
            <a:ext cx="536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06240" imgH="243000" progId="Equation.3">
                    <p:embed/>
                  </p:oleObj>
                </mc:Choice>
                <mc:Fallback>
                  <p:oleObj name="Equation" r:id="rId10" imgW="606240" imgH="243000" progId="Equation.3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8" y="3578"/>
                          <a:ext cx="536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C6100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52" name="Freeform 52">
              <a:extLst>
                <a:ext uri="{FF2B5EF4-FFF2-40B4-BE49-F238E27FC236}">
                  <a16:creationId xmlns:a16="http://schemas.microsoft.com/office/drawing/2014/main" id="{BD4E6427-E6C9-FB30-525E-FE982E834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5" y="2755"/>
              <a:ext cx="72" cy="140"/>
            </a:xfrm>
            <a:custGeom>
              <a:avLst/>
              <a:gdLst>
                <a:gd name="T0" fmla="*/ 244 w 66"/>
                <a:gd name="T1" fmla="*/ 168 h 138"/>
                <a:gd name="T2" fmla="*/ 0 w 66"/>
                <a:gd name="T3" fmla="*/ 0 h 13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6" h="138">
                  <a:moveTo>
                    <a:pt x="66" y="138"/>
                  </a:moveTo>
                  <a:lnTo>
                    <a:pt x="0" y="0"/>
                  </a:lnTo>
                </a:path>
              </a:pathLst>
            </a:custGeom>
            <a:noFill/>
            <a:ln w="38100" cap="rnd">
              <a:solidFill>
                <a:srgbClr val="FC1B0A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5248" name="Group 80">
            <a:extLst>
              <a:ext uri="{FF2B5EF4-FFF2-40B4-BE49-F238E27FC236}">
                <a16:creationId xmlns:a16="http://schemas.microsoft.com/office/drawing/2014/main" id="{B0AF68AB-2ADE-F902-35B8-73CF39E8527B}"/>
              </a:ext>
            </a:extLst>
          </p:cNvPr>
          <p:cNvGrpSpPr>
            <a:grpSpLocks/>
          </p:cNvGrpSpPr>
          <p:nvPr/>
        </p:nvGrpSpPr>
        <p:grpSpPr bwMode="auto">
          <a:xfrm>
            <a:off x="6623050" y="3633788"/>
            <a:ext cx="1335088" cy="2170112"/>
            <a:chOff x="4172" y="2517"/>
            <a:chExt cx="841" cy="1367"/>
          </a:xfrm>
        </p:grpSpPr>
        <p:sp>
          <p:nvSpPr>
            <p:cNvPr id="47140" name="Oval 7">
              <a:extLst>
                <a:ext uri="{FF2B5EF4-FFF2-40B4-BE49-F238E27FC236}">
                  <a16:creationId xmlns:a16="http://schemas.microsoft.com/office/drawing/2014/main" id="{81982D4D-F198-82E6-D43A-7A3F37759DF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60000">
              <a:off x="4387" y="2517"/>
              <a:ext cx="406" cy="1145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47141" name="Group 44">
              <a:extLst>
                <a:ext uri="{FF2B5EF4-FFF2-40B4-BE49-F238E27FC236}">
                  <a16:creationId xmlns:a16="http://schemas.microsoft.com/office/drawing/2014/main" id="{8E7F5B9A-F08E-028B-8A4F-1E8B334CC4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2" y="2605"/>
              <a:ext cx="841" cy="975"/>
              <a:chOff x="480" y="1392"/>
              <a:chExt cx="768" cy="960"/>
            </a:xfrm>
          </p:grpSpPr>
          <p:sp>
            <p:nvSpPr>
              <p:cNvPr id="47145" name="Rectangle 45">
                <a:extLst>
                  <a:ext uri="{FF2B5EF4-FFF2-40B4-BE49-F238E27FC236}">
                    <a16:creationId xmlns:a16="http://schemas.microsoft.com/office/drawing/2014/main" id="{D89D1EBE-84A0-9094-A1D8-FBC86A8CA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392"/>
                <a:ext cx="768" cy="960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146" name="Line 46">
                <a:extLst>
                  <a:ext uri="{FF2B5EF4-FFF2-40B4-BE49-F238E27FC236}">
                    <a16:creationId xmlns:a16="http://schemas.microsoft.com/office/drawing/2014/main" id="{216B9766-8211-8572-BF08-3104AFEC15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1392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7" name="Line 47">
                <a:extLst>
                  <a:ext uri="{FF2B5EF4-FFF2-40B4-BE49-F238E27FC236}">
                    <a16:creationId xmlns:a16="http://schemas.microsoft.com/office/drawing/2014/main" id="{2C17A874-FD04-0E48-F543-34512D8931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872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42" name="Freeform 50">
              <a:extLst>
                <a:ext uri="{FF2B5EF4-FFF2-40B4-BE49-F238E27FC236}">
                  <a16:creationId xmlns:a16="http://schemas.microsoft.com/office/drawing/2014/main" id="{6014DD99-954D-4049-08BB-2A69165392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9" y="2918"/>
              <a:ext cx="105" cy="146"/>
            </a:xfrm>
            <a:custGeom>
              <a:avLst/>
              <a:gdLst>
                <a:gd name="T0" fmla="*/ 368 w 96"/>
                <a:gd name="T1" fmla="*/ 0 h 144"/>
                <a:gd name="T2" fmla="*/ 0 w 96"/>
                <a:gd name="T3" fmla="*/ 174 h 1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6" h="144">
                  <a:moveTo>
                    <a:pt x="96" y="0"/>
                  </a:moveTo>
                  <a:lnTo>
                    <a:pt x="0" y="144"/>
                  </a:lnTo>
                </a:path>
              </a:pathLst>
            </a:custGeom>
            <a:noFill/>
            <a:ln w="38100" cap="rnd">
              <a:solidFill>
                <a:srgbClr val="FC1B0A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3" name="Freeform 51">
              <a:extLst>
                <a:ext uri="{FF2B5EF4-FFF2-40B4-BE49-F238E27FC236}">
                  <a16:creationId xmlns:a16="http://schemas.microsoft.com/office/drawing/2014/main" id="{C38CFAD8-2359-E4C8-7713-5E0EECEB9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8" y="3092"/>
              <a:ext cx="104" cy="141"/>
            </a:xfrm>
            <a:custGeom>
              <a:avLst/>
              <a:gdLst>
                <a:gd name="T0" fmla="*/ 0 w 96"/>
                <a:gd name="T1" fmla="*/ 190 h 138"/>
                <a:gd name="T2" fmla="*/ 319 w 96"/>
                <a:gd name="T3" fmla="*/ 0 h 13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6" h="138">
                  <a:moveTo>
                    <a:pt x="0" y="138"/>
                  </a:moveTo>
                  <a:lnTo>
                    <a:pt x="96" y="0"/>
                  </a:lnTo>
                </a:path>
              </a:pathLst>
            </a:custGeom>
            <a:noFill/>
            <a:ln w="38100" cap="rnd">
              <a:solidFill>
                <a:srgbClr val="FC1B0A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7144" name="Object 63">
              <a:extLst>
                <a:ext uri="{FF2B5EF4-FFF2-40B4-BE49-F238E27FC236}">
                  <a16:creationId xmlns:a16="http://schemas.microsoft.com/office/drawing/2014/main" id="{A988CF26-F379-6490-4A2A-23522A09D2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0" y="3578"/>
            <a:ext cx="537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606240" imgH="243000" progId="Equation.3">
                    <p:embed/>
                  </p:oleObj>
                </mc:Choice>
                <mc:Fallback>
                  <p:oleObj name="Equation" r:id="rId12" imgW="606240" imgH="243000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0" y="3578"/>
                          <a:ext cx="537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C6100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5244" name="Group 76">
            <a:extLst>
              <a:ext uri="{FF2B5EF4-FFF2-40B4-BE49-F238E27FC236}">
                <a16:creationId xmlns:a16="http://schemas.microsoft.com/office/drawing/2014/main" id="{ADF1C058-D732-85DA-F354-DD53B111EDA8}"/>
              </a:ext>
            </a:extLst>
          </p:cNvPr>
          <p:cNvGrpSpPr>
            <a:grpSpLocks/>
          </p:cNvGrpSpPr>
          <p:nvPr/>
        </p:nvGrpSpPr>
        <p:grpSpPr bwMode="auto">
          <a:xfrm>
            <a:off x="2952750" y="1484313"/>
            <a:ext cx="1333500" cy="2127250"/>
            <a:chOff x="1860" y="1163"/>
            <a:chExt cx="840" cy="1340"/>
          </a:xfrm>
        </p:grpSpPr>
        <p:grpSp>
          <p:nvGrpSpPr>
            <p:cNvPr id="47132" name="Group 13">
              <a:extLst>
                <a:ext uri="{FF2B5EF4-FFF2-40B4-BE49-F238E27FC236}">
                  <a16:creationId xmlns:a16="http://schemas.microsoft.com/office/drawing/2014/main" id="{78E89DDB-3CFC-E6D2-ED72-4E65149062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0" y="1254"/>
              <a:ext cx="840" cy="976"/>
              <a:chOff x="480" y="1392"/>
              <a:chExt cx="768" cy="960"/>
            </a:xfrm>
          </p:grpSpPr>
          <p:sp>
            <p:nvSpPr>
              <p:cNvPr id="47137" name="Rectangle 14">
                <a:extLst>
                  <a:ext uri="{FF2B5EF4-FFF2-40B4-BE49-F238E27FC236}">
                    <a16:creationId xmlns:a16="http://schemas.microsoft.com/office/drawing/2014/main" id="{76F01942-0A1E-3C9D-02F4-3722621412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392"/>
                <a:ext cx="768" cy="960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138" name="Line 15">
                <a:extLst>
                  <a:ext uri="{FF2B5EF4-FFF2-40B4-BE49-F238E27FC236}">
                    <a16:creationId xmlns:a16="http://schemas.microsoft.com/office/drawing/2014/main" id="{86872625-9760-FE08-DDDB-58D194F407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1392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9" name="Line 16">
                <a:extLst>
                  <a:ext uri="{FF2B5EF4-FFF2-40B4-BE49-F238E27FC236}">
                    <a16:creationId xmlns:a16="http://schemas.microsoft.com/office/drawing/2014/main" id="{65CE5FA9-5857-4F23-106D-09D052C5FD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872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33" name="Freeform 26">
              <a:extLst>
                <a:ext uri="{FF2B5EF4-FFF2-40B4-BE49-F238E27FC236}">
                  <a16:creationId xmlns:a16="http://schemas.microsoft.com/office/drawing/2014/main" id="{56C81FBF-3E35-AD08-1E76-3DD391F1E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5" y="1474"/>
              <a:ext cx="118" cy="133"/>
            </a:xfrm>
            <a:custGeom>
              <a:avLst/>
              <a:gdLst>
                <a:gd name="T0" fmla="*/ 0 w 108"/>
                <a:gd name="T1" fmla="*/ 147 h 132"/>
                <a:gd name="T2" fmla="*/ 408 w 108"/>
                <a:gd name="T3" fmla="*/ 0 h 1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8" h="132">
                  <a:moveTo>
                    <a:pt x="0" y="132"/>
                  </a:moveTo>
                  <a:lnTo>
                    <a:pt x="108" y="0"/>
                  </a:lnTo>
                </a:path>
              </a:pathLst>
            </a:custGeom>
            <a:noFill/>
            <a:ln w="38100" cap="rnd">
              <a:solidFill>
                <a:srgbClr val="FC1B0A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4" name="Freeform 27">
              <a:extLst>
                <a:ext uri="{FF2B5EF4-FFF2-40B4-BE49-F238E27FC236}">
                  <a16:creationId xmlns:a16="http://schemas.microsoft.com/office/drawing/2014/main" id="{08A329FB-224D-4FD4-865F-DF61AA6D9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1926"/>
              <a:ext cx="124" cy="123"/>
            </a:xfrm>
            <a:custGeom>
              <a:avLst/>
              <a:gdLst>
                <a:gd name="T0" fmla="*/ 402 w 114"/>
                <a:gd name="T1" fmla="*/ 0 h 120"/>
                <a:gd name="T2" fmla="*/ 0 w 114"/>
                <a:gd name="T3" fmla="*/ 173 h 1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4" h="120">
                  <a:moveTo>
                    <a:pt x="114" y="0"/>
                  </a:moveTo>
                  <a:lnTo>
                    <a:pt x="0" y="120"/>
                  </a:lnTo>
                </a:path>
              </a:pathLst>
            </a:custGeom>
            <a:noFill/>
            <a:ln w="38100" cap="rnd">
              <a:solidFill>
                <a:srgbClr val="FC1B0A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7135" name="Object 57">
              <a:extLst>
                <a:ext uri="{FF2B5EF4-FFF2-40B4-BE49-F238E27FC236}">
                  <a16:creationId xmlns:a16="http://schemas.microsoft.com/office/drawing/2014/main" id="{F14161FF-D101-C9F9-8357-2FD6F41356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81" y="2197"/>
            <a:ext cx="42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12200" imgH="243000" progId="Equation.3">
                    <p:embed/>
                  </p:oleObj>
                </mc:Choice>
                <mc:Fallback>
                  <p:oleObj name="Equation" r:id="rId14" imgW="412200" imgH="243000" progId="Equation.3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1" y="2197"/>
                          <a:ext cx="422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C6100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6" name="Oval 64">
              <a:extLst>
                <a:ext uri="{FF2B5EF4-FFF2-40B4-BE49-F238E27FC236}">
                  <a16:creationId xmlns:a16="http://schemas.microsoft.com/office/drawing/2014/main" id="{868B7A2F-7287-185C-C8DB-C42CFDCA05D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60000">
              <a:off x="2079" y="1163"/>
              <a:ext cx="406" cy="1145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35246" name="Group 78">
            <a:extLst>
              <a:ext uri="{FF2B5EF4-FFF2-40B4-BE49-F238E27FC236}">
                <a16:creationId xmlns:a16="http://schemas.microsoft.com/office/drawing/2014/main" id="{8F3089DE-CAAE-EECA-13C6-B9132C3E922C}"/>
              </a:ext>
            </a:extLst>
          </p:cNvPr>
          <p:cNvGrpSpPr>
            <a:grpSpLocks/>
          </p:cNvGrpSpPr>
          <p:nvPr/>
        </p:nvGrpSpPr>
        <p:grpSpPr bwMode="auto">
          <a:xfrm>
            <a:off x="6624638" y="1495425"/>
            <a:ext cx="1333500" cy="2116138"/>
            <a:chOff x="4173" y="1170"/>
            <a:chExt cx="840" cy="1333"/>
          </a:xfrm>
        </p:grpSpPr>
        <p:grpSp>
          <p:nvGrpSpPr>
            <p:cNvPr id="47124" name="Group 21">
              <a:extLst>
                <a:ext uri="{FF2B5EF4-FFF2-40B4-BE49-F238E27FC236}">
                  <a16:creationId xmlns:a16="http://schemas.microsoft.com/office/drawing/2014/main" id="{17F4A717-6095-35BA-4D7C-3126CBF7BE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3" y="1254"/>
              <a:ext cx="840" cy="976"/>
              <a:chOff x="480" y="1392"/>
              <a:chExt cx="768" cy="960"/>
            </a:xfrm>
          </p:grpSpPr>
          <p:sp>
            <p:nvSpPr>
              <p:cNvPr id="47129" name="Rectangle 22">
                <a:extLst>
                  <a:ext uri="{FF2B5EF4-FFF2-40B4-BE49-F238E27FC236}">
                    <a16:creationId xmlns:a16="http://schemas.microsoft.com/office/drawing/2014/main" id="{7BD17E2F-CECE-E5C8-E486-D693BE6EEB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392"/>
                <a:ext cx="768" cy="960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130" name="Line 23">
                <a:extLst>
                  <a:ext uri="{FF2B5EF4-FFF2-40B4-BE49-F238E27FC236}">
                    <a16:creationId xmlns:a16="http://schemas.microsoft.com/office/drawing/2014/main" id="{B29FCA03-C1CF-7057-9CAF-4017A86605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1392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1" name="Line 24">
                <a:extLst>
                  <a:ext uri="{FF2B5EF4-FFF2-40B4-BE49-F238E27FC236}">
                    <a16:creationId xmlns:a16="http://schemas.microsoft.com/office/drawing/2014/main" id="{76362864-A28C-183E-DE2C-39A241D9AC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872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25" name="Freeform 30">
              <a:extLst>
                <a:ext uri="{FF2B5EF4-FFF2-40B4-BE49-F238E27FC236}">
                  <a16:creationId xmlns:a16="http://schemas.microsoft.com/office/drawing/2014/main" id="{45036581-AE9E-10B6-9671-6314ABF3B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" y="1748"/>
              <a:ext cx="105" cy="153"/>
            </a:xfrm>
            <a:custGeom>
              <a:avLst/>
              <a:gdLst>
                <a:gd name="T0" fmla="*/ 368 w 96"/>
                <a:gd name="T1" fmla="*/ 201 h 150"/>
                <a:gd name="T2" fmla="*/ 0 w 96"/>
                <a:gd name="T3" fmla="*/ 0 h 15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6" h="150">
                  <a:moveTo>
                    <a:pt x="96" y="150"/>
                  </a:moveTo>
                  <a:lnTo>
                    <a:pt x="0" y="0"/>
                  </a:lnTo>
                </a:path>
              </a:pathLst>
            </a:custGeom>
            <a:noFill/>
            <a:ln w="38100" cap="rnd">
              <a:solidFill>
                <a:srgbClr val="FC1B0A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6" name="Freeform 31">
              <a:extLst>
                <a:ext uri="{FF2B5EF4-FFF2-40B4-BE49-F238E27FC236}">
                  <a16:creationId xmlns:a16="http://schemas.microsoft.com/office/drawing/2014/main" id="{137F970E-E3C6-6179-C288-C90EEBEBF9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1619"/>
              <a:ext cx="99" cy="121"/>
            </a:xfrm>
            <a:custGeom>
              <a:avLst/>
              <a:gdLst>
                <a:gd name="T0" fmla="*/ 0 w 90"/>
                <a:gd name="T1" fmla="*/ 0 h 120"/>
                <a:gd name="T2" fmla="*/ 376 w 90"/>
                <a:gd name="T3" fmla="*/ 135 h 1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0" h="120">
                  <a:moveTo>
                    <a:pt x="0" y="0"/>
                  </a:moveTo>
                  <a:lnTo>
                    <a:pt x="90" y="120"/>
                  </a:lnTo>
                </a:path>
              </a:pathLst>
            </a:custGeom>
            <a:noFill/>
            <a:ln w="38100" cap="rnd">
              <a:solidFill>
                <a:srgbClr val="FC1B0A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7127" name="Object 59">
              <a:extLst>
                <a:ext uri="{FF2B5EF4-FFF2-40B4-BE49-F238E27FC236}">
                  <a16:creationId xmlns:a16="http://schemas.microsoft.com/office/drawing/2014/main" id="{CD25012D-0387-6977-A811-B03D1DA08F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17" y="2197"/>
            <a:ext cx="536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06240" imgH="243000" progId="Equation.3">
                    <p:embed/>
                  </p:oleObj>
                </mc:Choice>
                <mc:Fallback>
                  <p:oleObj name="Equation" r:id="rId16" imgW="606240" imgH="243000" progId="Equation.3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7" y="2197"/>
                          <a:ext cx="536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C6100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8" name="Oval 65">
              <a:extLst>
                <a:ext uri="{FF2B5EF4-FFF2-40B4-BE49-F238E27FC236}">
                  <a16:creationId xmlns:a16="http://schemas.microsoft.com/office/drawing/2014/main" id="{91C980E1-032B-D9A4-B599-5770AA84EF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440000" flipH="1">
              <a:off x="4396" y="1170"/>
              <a:ext cx="405" cy="1145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35245" name="Group 77">
            <a:extLst>
              <a:ext uri="{FF2B5EF4-FFF2-40B4-BE49-F238E27FC236}">
                <a16:creationId xmlns:a16="http://schemas.microsoft.com/office/drawing/2014/main" id="{08AFFE5B-8DC5-9147-1D1E-765D5FFF7976}"/>
              </a:ext>
            </a:extLst>
          </p:cNvPr>
          <p:cNvGrpSpPr>
            <a:grpSpLocks/>
          </p:cNvGrpSpPr>
          <p:nvPr/>
        </p:nvGrpSpPr>
        <p:grpSpPr bwMode="auto">
          <a:xfrm>
            <a:off x="2952750" y="3660775"/>
            <a:ext cx="1333500" cy="2143125"/>
            <a:chOff x="1860" y="2534"/>
            <a:chExt cx="840" cy="1350"/>
          </a:xfrm>
        </p:grpSpPr>
        <p:grpSp>
          <p:nvGrpSpPr>
            <p:cNvPr id="47116" name="Group 36">
              <a:extLst>
                <a:ext uri="{FF2B5EF4-FFF2-40B4-BE49-F238E27FC236}">
                  <a16:creationId xmlns:a16="http://schemas.microsoft.com/office/drawing/2014/main" id="{8C52D29E-27EB-91D0-37CB-E303239FEA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0" y="2605"/>
              <a:ext cx="840" cy="975"/>
              <a:chOff x="480" y="1392"/>
              <a:chExt cx="768" cy="960"/>
            </a:xfrm>
          </p:grpSpPr>
          <p:sp>
            <p:nvSpPr>
              <p:cNvPr id="47121" name="Rectangle 37">
                <a:extLst>
                  <a:ext uri="{FF2B5EF4-FFF2-40B4-BE49-F238E27FC236}">
                    <a16:creationId xmlns:a16="http://schemas.microsoft.com/office/drawing/2014/main" id="{DE1B78D9-449C-8A45-658A-C7FC995F4F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392"/>
                <a:ext cx="768" cy="960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122" name="Line 38">
                <a:extLst>
                  <a:ext uri="{FF2B5EF4-FFF2-40B4-BE49-F238E27FC236}">
                    <a16:creationId xmlns:a16="http://schemas.microsoft.com/office/drawing/2014/main" id="{9F7B0AA4-8955-ADBD-5ECB-5A3F7B2A1D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1392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3" name="Line 39">
                <a:extLst>
                  <a:ext uri="{FF2B5EF4-FFF2-40B4-BE49-F238E27FC236}">
                    <a16:creationId xmlns:a16="http://schemas.microsoft.com/office/drawing/2014/main" id="{97E12521-E9C7-0E0D-2159-BC5A1700C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872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17" name="Freeform 54">
              <a:extLst>
                <a:ext uri="{FF2B5EF4-FFF2-40B4-BE49-F238E27FC236}">
                  <a16:creationId xmlns:a16="http://schemas.microsoft.com/office/drawing/2014/main" id="{2A5EA87A-8C99-B3BB-B0F8-A1B5F19E2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6" y="3291"/>
              <a:ext cx="124" cy="110"/>
            </a:xfrm>
            <a:custGeom>
              <a:avLst/>
              <a:gdLst>
                <a:gd name="T0" fmla="*/ 0 w 114"/>
                <a:gd name="T1" fmla="*/ 0 h 108"/>
                <a:gd name="T2" fmla="*/ 402 w 114"/>
                <a:gd name="T3" fmla="*/ 139 h 10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4" h="108">
                  <a:moveTo>
                    <a:pt x="0" y="0"/>
                  </a:moveTo>
                  <a:lnTo>
                    <a:pt x="114" y="108"/>
                  </a:lnTo>
                </a:path>
              </a:pathLst>
            </a:custGeom>
            <a:noFill/>
            <a:ln w="38100" cap="rnd">
              <a:solidFill>
                <a:srgbClr val="FC1B0A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8" name="Freeform 55">
              <a:extLst>
                <a:ext uri="{FF2B5EF4-FFF2-40B4-BE49-F238E27FC236}">
                  <a16:creationId xmlns:a16="http://schemas.microsoft.com/office/drawing/2014/main" id="{25A9D995-5374-C40F-2349-C4683FBB9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1" y="2824"/>
              <a:ext cx="125" cy="134"/>
            </a:xfrm>
            <a:custGeom>
              <a:avLst/>
              <a:gdLst>
                <a:gd name="T0" fmla="*/ 452 w 114"/>
                <a:gd name="T1" fmla="*/ 162 h 132"/>
                <a:gd name="T2" fmla="*/ 0 w 114"/>
                <a:gd name="T3" fmla="*/ 0 h 1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4" h="132">
                  <a:moveTo>
                    <a:pt x="114" y="132"/>
                  </a:moveTo>
                  <a:lnTo>
                    <a:pt x="0" y="0"/>
                  </a:lnTo>
                </a:path>
              </a:pathLst>
            </a:custGeom>
            <a:noFill/>
            <a:ln w="38100" cap="rnd">
              <a:solidFill>
                <a:srgbClr val="FC1B0A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7119" name="Object 61">
              <a:extLst>
                <a:ext uri="{FF2B5EF4-FFF2-40B4-BE49-F238E27FC236}">
                  <a16:creationId xmlns:a16="http://schemas.microsoft.com/office/drawing/2014/main" id="{113E087F-E8DF-CF1E-21D3-63A2DE2269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98" y="3578"/>
            <a:ext cx="536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37956" imgH="95250" progId="Equation.3">
                    <p:embed/>
                  </p:oleObj>
                </mc:Choice>
                <mc:Fallback>
                  <p:oleObj name="Equation" r:id="rId18" imgW="237956" imgH="95250" progId="Equation.3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8" y="3578"/>
                          <a:ext cx="536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C6100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0" name="Oval 66">
              <a:extLst>
                <a:ext uri="{FF2B5EF4-FFF2-40B4-BE49-F238E27FC236}">
                  <a16:creationId xmlns:a16="http://schemas.microsoft.com/office/drawing/2014/main" id="{A2DC38AB-F58C-6A71-8583-8A01D47910A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440000" flipH="1">
              <a:off x="2083" y="2534"/>
              <a:ext cx="405" cy="1145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35249" name="Text Box 81">
            <a:extLst>
              <a:ext uri="{FF2B5EF4-FFF2-40B4-BE49-F238E27FC236}">
                <a16:creationId xmlns:a16="http://schemas.microsoft.com/office/drawing/2014/main" id="{8E2DA6C0-BDDD-7A70-CB10-B3DBC358C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3413" y="5897563"/>
            <a:ext cx="1327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/>
              <a:t>图 </a:t>
            </a:r>
            <a:r>
              <a:rPr lang="en-US" altLang="zh-CN"/>
              <a:t>7—12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5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5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4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6" name="Text Box 4">
            <a:extLst>
              <a:ext uri="{FF2B5EF4-FFF2-40B4-BE49-F238E27FC236}">
                <a16:creationId xmlns:a16="http://schemas.microsoft.com/office/drawing/2014/main" id="{2652B999-F0D2-ECBF-9E91-FEE0B04ED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73075"/>
            <a:ext cx="67691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600">
                <a:solidFill>
                  <a:srgbClr val="000080"/>
                </a:solidFill>
                <a:latin typeface="华文中宋" panose="02010600040101010101" pitchFamily="2" charset="-122"/>
              </a:rPr>
              <a:t>二、垂直方向不同频率简谐振动的合成</a:t>
            </a:r>
          </a:p>
        </p:txBody>
      </p:sp>
      <p:sp>
        <p:nvSpPr>
          <p:cNvPr id="136197" name="Text Box 5">
            <a:extLst>
              <a:ext uri="{FF2B5EF4-FFF2-40B4-BE49-F238E27FC236}">
                <a16:creationId xmlns:a16="http://schemas.microsoft.com/office/drawing/2014/main" id="{EE0B564E-6176-6750-FD08-518D82668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095375"/>
            <a:ext cx="487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1.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两分振动频率相差很小</a:t>
            </a:r>
          </a:p>
        </p:txBody>
      </p:sp>
      <p:sp>
        <p:nvSpPr>
          <p:cNvPr id="136198" name="Text Box 6">
            <a:extLst>
              <a:ext uri="{FF2B5EF4-FFF2-40B4-BE49-F238E27FC236}">
                <a16:creationId xmlns:a16="http://schemas.microsoft.com/office/drawing/2014/main" id="{FC755700-12B6-5E5F-9771-E474A1B75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2205038"/>
            <a:ext cx="7345363" cy="109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sz="2300">
                <a:solidFill>
                  <a:srgbClr val="000066"/>
                </a:solidFill>
              </a:rPr>
              <a:t>可看作两频率相等而</a:t>
            </a:r>
            <a:r>
              <a:rPr lang="zh-CN" altLang="en-US">
                <a:solidFill>
                  <a:srgbClr val="000080"/>
                </a:solidFill>
              </a:rPr>
              <a:t> </a:t>
            </a:r>
            <a:r>
              <a:rPr lang="zh-CN" altLang="en-US" sz="3000" i="1">
                <a:sym typeface="Symbol" panose="05050102010706020507" pitchFamily="18" charset="2"/>
              </a:rPr>
              <a:t></a:t>
            </a:r>
            <a:r>
              <a:rPr lang="en-US" altLang="zh-CN" sz="3000" baseline="-25000"/>
              <a:t>2</a:t>
            </a:r>
            <a:r>
              <a:rPr lang="en-US" altLang="zh-CN" sz="3000"/>
              <a:t>―</a:t>
            </a:r>
            <a:r>
              <a:rPr lang="en-US" altLang="zh-CN" sz="3000" i="1">
                <a:sym typeface="Symbol" panose="05050102010706020507" pitchFamily="18" charset="2"/>
              </a:rPr>
              <a:t></a:t>
            </a:r>
            <a:r>
              <a:rPr lang="en-US" altLang="zh-CN" sz="3000" baseline="-25000"/>
              <a:t>1</a:t>
            </a:r>
            <a:r>
              <a:rPr lang="en-US" altLang="zh-CN" sz="3000" baseline="-25000">
                <a:solidFill>
                  <a:srgbClr val="000080"/>
                </a:solidFill>
              </a:rPr>
              <a:t> </a:t>
            </a:r>
            <a:r>
              <a:rPr lang="en-US" altLang="zh-CN" sz="2600" baseline="-25000">
                <a:solidFill>
                  <a:srgbClr val="000080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随</a:t>
            </a:r>
            <a:r>
              <a:rPr lang="zh-CN" altLang="en-US" sz="3200" i="1"/>
              <a:t>ｔ</a:t>
            </a:r>
            <a:r>
              <a:rPr lang="zh-CN" altLang="en-US" sz="2300">
                <a:solidFill>
                  <a:srgbClr val="000066"/>
                </a:solidFill>
              </a:rPr>
              <a:t>缓慢变化，</a:t>
            </a: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300">
                <a:solidFill>
                  <a:srgbClr val="000066"/>
                </a:solidFill>
              </a:rPr>
              <a:t>合运动轨迹将按图依次循环地缓慢变化。</a:t>
            </a:r>
          </a:p>
        </p:txBody>
      </p:sp>
      <p:grpSp>
        <p:nvGrpSpPr>
          <p:cNvPr id="136232" name="Group 40">
            <a:extLst>
              <a:ext uri="{FF2B5EF4-FFF2-40B4-BE49-F238E27FC236}">
                <a16:creationId xmlns:a16="http://schemas.microsoft.com/office/drawing/2014/main" id="{2D402977-2916-3A7A-C26A-D4AF6550B1E8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3549650"/>
            <a:ext cx="7632700" cy="2327275"/>
            <a:chOff x="431" y="2418"/>
            <a:chExt cx="4808" cy="1466"/>
          </a:xfrm>
        </p:grpSpPr>
        <p:sp>
          <p:nvSpPr>
            <p:cNvPr id="48135" name="Line 8">
              <a:extLst>
                <a:ext uri="{FF2B5EF4-FFF2-40B4-BE49-F238E27FC236}">
                  <a16:creationId xmlns:a16="http://schemas.microsoft.com/office/drawing/2014/main" id="{E7AA4AA3-B73F-7B7C-4742-E1080D0D415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31" y="2475"/>
              <a:ext cx="495" cy="667"/>
            </a:xfrm>
            <a:prstGeom prst="line">
              <a:avLst/>
            </a:prstGeom>
            <a:noFill/>
            <a:ln w="38100" cap="rnd">
              <a:solidFill>
                <a:srgbClr val="FC1B0A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8136" name="Group 9">
              <a:extLst>
                <a:ext uri="{FF2B5EF4-FFF2-40B4-BE49-F238E27FC236}">
                  <a16:creationId xmlns:a16="http://schemas.microsoft.com/office/drawing/2014/main" id="{5E85D0C0-2E47-4775-C113-49A579A0C4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11" y="2418"/>
              <a:ext cx="252" cy="782"/>
              <a:chOff x="768" y="3072"/>
              <a:chExt cx="351" cy="1008"/>
            </a:xfrm>
          </p:grpSpPr>
          <p:sp>
            <p:nvSpPr>
              <p:cNvPr id="48161" name="Oval 10">
                <a:extLst>
                  <a:ext uri="{FF2B5EF4-FFF2-40B4-BE49-F238E27FC236}">
                    <a16:creationId xmlns:a16="http://schemas.microsoft.com/office/drawing/2014/main" id="{0BBC2878-C0B7-38E3-A24F-CA5869AA58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2208786">
                <a:off x="768" y="3072"/>
                <a:ext cx="351" cy="1008"/>
              </a:xfrm>
              <a:prstGeom prst="ellipse">
                <a:avLst/>
              </a:prstGeom>
              <a:noFill/>
              <a:ln w="38100" cap="rnd">
                <a:solidFill>
                  <a:srgbClr val="FC1B0A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8162" name="Freeform 11">
                <a:extLst>
                  <a:ext uri="{FF2B5EF4-FFF2-40B4-BE49-F238E27FC236}">
                    <a16:creationId xmlns:a16="http://schemas.microsoft.com/office/drawing/2014/main" id="{EE77E29D-6474-5EF1-1B2A-1AFC9C0EF1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0" y="3333"/>
                <a:ext cx="99" cy="119"/>
              </a:xfrm>
              <a:custGeom>
                <a:avLst/>
                <a:gdLst>
                  <a:gd name="T0" fmla="*/ 0 w 108"/>
                  <a:gd name="T1" fmla="*/ 27 h 132"/>
                  <a:gd name="T2" fmla="*/ 30 w 108"/>
                  <a:gd name="T3" fmla="*/ 0 h 13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8" h="132">
                    <a:moveTo>
                      <a:pt x="0" y="132"/>
                    </a:moveTo>
                    <a:lnTo>
                      <a:pt x="108" y="0"/>
                    </a:lnTo>
                  </a:path>
                </a:pathLst>
              </a:custGeom>
              <a:noFill/>
              <a:ln w="38100" cap="rnd" cmpd="sng">
                <a:solidFill>
                  <a:srgbClr val="FC1B0A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63" name="Freeform 12">
                <a:extLst>
                  <a:ext uri="{FF2B5EF4-FFF2-40B4-BE49-F238E27FC236}">
                    <a16:creationId xmlns:a16="http://schemas.microsoft.com/office/drawing/2014/main" id="{E0A31BAA-34FC-298A-6749-E9594854C2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34" y="3734"/>
                <a:ext cx="104" cy="109"/>
              </a:xfrm>
              <a:custGeom>
                <a:avLst/>
                <a:gdLst>
                  <a:gd name="T0" fmla="*/ 29 w 114"/>
                  <a:gd name="T1" fmla="*/ 0 h 120"/>
                  <a:gd name="T2" fmla="*/ 0 w 114"/>
                  <a:gd name="T3" fmla="*/ 28 h 1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4" h="120">
                    <a:moveTo>
                      <a:pt x="114" y="0"/>
                    </a:moveTo>
                    <a:lnTo>
                      <a:pt x="0" y="120"/>
                    </a:lnTo>
                  </a:path>
                </a:pathLst>
              </a:custGeom>
              <a:noFill/>
              <a:ln w="38100" cap="rnd" cmpd="sng">
                <a:solidFill>
                  <a:srgbClr val="FC1B0A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37" name="Group 13">
              <a:extLst>
                <a:ext uri="{FF2B5EF4-FFF2-40B4-BE49-F238E27FC236}">
                  <a16:creationId xmlns:a16="http://schemas.microsoft.com/office/drawing/2014/main" id="{47F76DE6-5A2F-3A74-968C-7E433922D9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655" y="2473"/>
              <a:ext cx="507" cy="672"/>
              <a:chOff x="1488" y="3168"/>
              <a:chExt cx="708" cy="867"/>
            </a:xfrm>
          </p:grpSpPr>
          <p:sp>
            <p:nvSpPr>
              <p:cNvPr id="48158" name="Oval 14">
                <a:extLst>
                  <a:ext uri="{FF2B5EF4-FFF2-40B4-BE49-F238E27FC236}">
                    <a16:creationId xmlns:a16="http://schemas.microsoft.com/office/drawing/2014/main" id="{75058B14-08B0-4FB6-09EB-A6E5AD60D5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488" y="3168"/>
                <a:ext cx="702" cy="867"/>
              </a:xfrm>
              <a:prstGeom prst="ellipse">
                <a:avLst/>
              </a:prstGeom>
              <a:noFill/>
              <a:ln w="38100" cap="rnd">
                <a:solidFill>
                  <a:srgbClr val="FC1B0A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8159" name="Freeform 15">
                <a:extLst>
                  <a:ext uri="{FF2B5EF4-FFF2-40B4-BE49-F238E27FC236}">
                    <a16:creationId xmlns:a16="http://schemas.microsoft.com/office/drawing/2014/main" id="{44C8C1C3-5FDC-4277-EFC7-3D527CC85A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68" y="3444"/>
                <a:ext cx="28" cy="141"/>
              </a:xfrm>
              <a:custGeom>
                <a:avLst/>
                <a:gdLst>
                  <a:gd name="T0" fmla="*/ 0 w 30"/>
                  <a:gd name="T1" fmla="*/ 0 h 156"/>
                  <a:gd name="T2" fmla="*/ 11 w 30"/>
                  <a:gd name="T3" fmla="*/ 34 h 15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0" h="156">
                    <a:moveTo>
                      <a:pt x="0" y="0"/>
                    </a:moveTo>
                    <a:lnTo>
                      <a:pt x="30" y="156"/>
                    </a:lnTo>
                  </a:path>
                </a:pathLst>
              </a:custGeom>
              <a:noFill/>
              <a:ln w="38100" cap="rnd">
                <a:solidFill>
                  <a:srgbClr val="FC1B0A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60" name="Freeform 16">
                <a:extLst>
                  <a:ext uri="{FF2B5EF4-FFF2-40B4-BE49-F238E27FC236}">
                    <a16:creationId xmlns:a16="http://schemas.microsoft.com/office/drawing/2014/main" id="{47A41808-5DE8-D891-5D60-98E5252391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488" y="3672"/>
                <a:ext cx="49" cy="147"/>
              </a:xfrm>
              <a:custGeom>
                <a:avLst/>
                <a:gdLst>
                  <a:gd name="T0" fmla="*/ 13 w 54"/>
                  <a:gd name="T1" fmla="*/ 38 h 162"/>
                  <a:gd name="T2" fmla="*/ 0 w 54"/>
                  <a:gd name="T3" fmla="*/ 0 h 16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4" h="162">
                    <a:moveTo>
                      <a:pt x="54" y="162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rnd">
                <a:solidFill>
                  <a:srgbClr val="FC1B0A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38" name="Group 17">
              <a:extLst>
                <a:ext uri="{FF2B5EF4-FFF2-40B4-BE49-F238E27FC236}">
                  <a16:creationId xmlns:a16="http://schemas.microsoft.com/office/drawing/2014/main" id="{1D8C656A-338B-0940-E5F9-AC35458E4C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423" y="2418"/>
              <a:ext cx="296" cy="782"/>
              <a:chOff x="2666" y="3072"/>
              <a:chExt cx="412" cy="1008"/>
            </a:xfrm>
          </p:grpSpPr>
          <p:sp>
            <p:nvSpPr>
              <p:cNvPr id="48155" name="Oval 18">
                <a:extLst>
                  <a:ext uri="{FF2B5EF4-FFF2-40B4-BE49-F238E27FC236}">
                    <a16:creationId xmlns:a16="http://schemas.microsoft.com/office/drawing/2014/main" id="{4019B02D-0826-9EDB-34F8-0FBD35B42E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19391214" flipH="1">
                <a:off x="2688" y="3072"/>
                <a:ext cx="351" cy="1008"/>
              </a:xfrm>
              <a:prstGeom prst="ellipse">
                <a:avLst/>
              </a:prstGeom>
              <a:noFill/>
              <a:ln w="38100" cap="rnd">
                <a:solidFill>
                  <a:srgbClr val="FC1B0A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8156" name="Freeform 19">
                <a:extLst>
                  <a:ext uri="{FF2B5EF4-FFF2-40B4-BE49-F238E27FC236}">
                    <a16:creationId xmlns:a16="http://schemas.microsoft.com/office/drawing/2014/main" id="{C87B7B31-25E9-D16D-B964-38C31A0495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666" y="3576"/>
                <a:ext cx="88" cy="136"/>
              </a:xfrm>
              <a:custGeom>
                <a:avLst/>
                <a:gdLst>
                  <a:gd name="T0" fmla="*/ 26 w 96"/>
                  <a:gd name="T1" fmla="*/ 34 h 150"/>
                  <a:gd name="T2" fmla="*/ 0 w 96"/>
                  <a:gd name="T3" fmla="*/ 0 h 15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6" h="150">
                    <a:moveTo>
                      <a:pt x="96" y="15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rnd" cmpd="sng">
                <a:solidFill>
                  <a:srgbClr val="FC1B0A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57" name="Freeform 20">
                <a:extLst>
                  <a:ext uri="{FF2B5EF4-FFF2-40B4-BE49-F238E27FC236}">
                    <a16:creationId xmlns:a16="http://schemas.microsoft.com/office/drawing/2014/main" id="{7C240FD3-9804-4B4F-A1E5-3682F2DC6F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95" y="3468"/>
                <a:ext cx="83" cy="108"/>
              </a:xfrm>
              <a:custGeom>
                <a:avLst/>
                <a:gdLst>
                  <a:gd name="T0" fmla="*/ 0 w 90"/>
                  <a:gd name="T1" fmla="*/ 0 h 120"/>
                  <a:gd name="T2" fmla="*/ 27 w 90"/>
                  <a:gd name="T3" fmla="*/ 24 h 1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0" h="120">
                    <a:moveTo>
                      <a:pt x="0" y="0"/>
                    </a:moveTo>
                    <a:lnTo>
                      <a:pt x="90" y="120"/>
                    </a:lnTo>
                  </a:path>
                </a:pathLst>
              </a:custGeom>
              <a:noFill/>
              <a:ln w="38100" cap="rnd" cmpd="sng">
                <a:solidFill>
                  <a:srgbClr val="FC1B0A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139" name="Line 21">
              <a:extLst>
                <a:ext uri="{FF2B5EF4-FFF2-40B4-BE49-F238E27FC236}">
                  <a16:creationId xmlns:a16="http://schemas.microsoft.com/office/drawing/2014/main" id="{64BF425D-0178-870D-7ED7-8837E4DC70C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951" y="2475"/>
              <a:ext cx="495" cy="668"/>
            </a:xfrm>
            <a:prstGeom prst="line">
              <a:avLst/>
            </a:prstGeom>
            <a:noFill/>
            <a:ln w="38100" cap="rnd">
              <a:solidFill>
                <a:srgbClr val="FC1B0A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8140" name="Group 22">
              <a:extLst>
                <a:ext uri="{FF2B5EF4-FFF2-40B4-BE49-F238E27FC236}">
                  <a16:creationId xmlns:a16="http://schemas.microsoft.com/office/drawing/2014/main" id="{8B13CBD2-0CEF-0BA6-6610-586254D953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956" y="2418"/>
              <a:ext cx="283" cy="782"/>
              <a:chOff x="6854" y="2112"/>
              <a:chExt cx="395" cy="1008"/>
            </a:xfrm>
          </p:grpSpPr>
          <p:sp>
            <p:nvSpPr>
              <p:cNvPr id="48152" name="Oval 23">
                <a:extLst>
                  <a:ext uri="{FF2B5EF4-FFF2-40B4-BE49-F238E27FC236}">
                    <a16:creationId xmlns:a16="http://schemas.microsoft.com/office/drawing/2014/main" id="{61DB7353-9500-042B-0E2B-D122BF8579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2208786">
                <a:off x="6865" y="2112"/>
                <a:ext cx="351" cy="1008"/>
              </a:xfrm>
              <a:prstGeom prst="ellipse">
                <a:avLst/>
              </a:prstGeom>
              <a:noFill/>
              <a:ln w="38100" cap="rnd">
                <a:solidFill>
                  <a:srgbClr val="FC1B0A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8153" name="Freeform 24">
                <a:extLst>
                  <a:ext uri="{FF2B5EF4-FFF2-40B4-BE49-F238E27FC236}">
                    <a16:creationId xmlns:a16="http://schemas.microsoft.com/office/drawing/2014/main" id="{BB7028CE-7E04-9596-1871-6E21271E82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54" y="2475"/>
                <a:ext cx="88" cy="130"/>
              </a:xfrm>
              <a:custGeom>
                <a:avLst/>
                <a:gdLst>
                  <a:gd name="T0" fmla="*/ 26 w 96"/>
                  <a:gd name="T1" fmla="*/ 0 h 144"/>
                  <a:gd name="T2" fmla="*/ 0 w 96"/>
                  <a:gd name="T3" fmla="*/ 31 h 14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6" h="144">
                    <a:moveTo>
                      <a:pt x="96" y="0"/>
                    </a:moveTo>
                    <a:lnTo>
                      <a:pt x="0" y="144"/>
                    </a:lnTo>
                  </a:path>
                </a:pathLst>
              </a:custGeom>
              <a:noFill/>
              <a:ln w="38100" cap="rnd">
                <a:solidFill>
                  <a:srgbClr val="FC1B0A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54" name="Freeform 25">
                <a:extLst>
                  <a:ext uri="{FF2B5EF4-FFF2-40B4-BE49-F238E27FC236}">
                    <a16:creationId xmlns:a16="http://schemas.microsoft.com/office/drawing/2014/main" id="{92A02F6E-FC48-0F19-2555-6133EFC15D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162" y="2621"/>
                <a:ext cx="87" cy="125"/>
              </a:xfrm>
              <a:custGeom>
                <a:avLst/>
                <a:gdLst>
                  <a:gd name="T0" fmla="*/ 0 w 96"/>
                  <a:gd name="T1" fmla="*/ 31 h 138"/>
                  <a:gd name="T2" fmla="*/ 22 w 96"/>
                  <a:gd name="T3" fmla="*/ 0 h 13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6" h="138">
                    <a:moveTo>
                      <a:pt x="0" y="138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rnd">
                <a:solidFill>
                  <a:srgbClr val="FC1B0A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41" name="Group 26">
              <a:extLst>
                <a:ext uri="{FF2B5EF4-FFF2-40B4-BE49-F238E27FC236}">
                  <a16:creationId xmlns:a16="http://schemas.microsoft.com/office/drawing/2014/main" id="{7681FA05-468D-BB49-BF46-4F2F36A6280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20" y="2473"/>
              <a:ext cx="504" cy="672"/>
              <a:chOff x="5058" y="3168"/>
              <a:chExt cx="702" cy="867"/>
            </a:xfrm>
          </p:grpSpPr>
          <p:sp>
            <p:nvSpPr>
              <p:cNvPr id="48149" name="Oval 27">
                <a:extLst>
                  <a:ext uri="{FF2B5EF4-FFF2-40B4-BE49-F238E27FC236}">
                    <a16:creationId xmlns:a16="http://schemas.microsoft.com/office/drawing/2014/main" id="{5FA8BD5A-6A39-E0D6-43BE-F07267A6EC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058" y="3168"/>
                <a:ext cx="702" cy="867"/>
              </a:xfrm>
              <a:prstGeom prst="ellipse">
                <a:avLst/>
              </a:prstGeom>
              <a:noFill/>
              <a:ln w="38100" cap="rnd">
                <a:solidFill>
                  <a:srgbClr val="FC1B0A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8150" name="Freeform 28">
                <a:extLst>
                  <a:ext uri="{FF2B5EF4-FFF2-40B4-BE49-F238E27FC236}">
                    <a16:creationId xmlns:a16="http://schemas.microsoft.com/office/drawing/2014/main" id="{531F5CC0-6E0A-C16D-97ED-D148D347F0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667" y="3309"/>
                <a:ext cx="60" cy="124"/>
              </a:xfrm>
              <a:custGeom>
                <a:avLst/>
                <a:gdLst>
                  <a:gd name="T0" fmla="*/ 15 w 66"/>
                  <a:gd name="T1" fmla="*/ 28 h 138"/>
                  <a:gd name="T2" fmla="*/ 0 w 66"/>
                  <a:gd name="T3" fmla="*/ 0 h 13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6" h="138">
                    <a:moveTo>
                      <a:pt x="66" y="13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rnd">
                <a:solidFill>
                  <a:srgbClr val="FC1B0A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51" name="Freeform 29">
                <a:extLst>
                  <a:ext uri="{FF2B5EF4-FFF2-40B4-BE49-F238E27FC236}">
                    <a16:creationId xmlns:a16="http://schemas.microsoft.com/office/drawing/2014/main" id="{B6CE6C61-5296-6346-CE81-B601BD1C5A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096" y="3791"/>
                <a:ext cx="71" cy="119"/>
              </a:xfrm>
              <a:custGeom>
                <a:avLst/>
                <a:gdLst>
                  <a:gd name="T0" fmla="*/ 0 w 78"/>
                  <a:gd name="T1" fmla="*/ 0 h 132"/>
                  <a:gd name="T2" fmla="*/ 19 w 78"/>
                  <a:gd name="T3" fmla="*/ 27 h 13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8" h="132">
                    <a:moveTo>
                      <a:pt x="0" y="0"/>
                    </a:moveTo>
                    <a:lnTo>
                      <a:pt x="78" y="132"/>
                    </a:lnTo>
                  </a:path>
                </a:pathLst>
              </a:custGeom>
              <a:noFill/>
              <a:ln w="38100" cap="rnd">
                <a:solidFill>
                  <a:srgbClr val="FC1B0A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42" name="Group 30">
              <a:extLst>
                <a:ext uri="{FF2B5EF4-FFF2-40B4-BE49-F238E27FC236}">
                  <a16:creationId xmlns:a16="http://schemas.microsoft.com/office/drawing/2014/main" id="{6CF33D1A-6D6C-1334-3D17-337DECD528E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651" y="2418"/>
              <a:ext cx="253" cy="782"/>
              <a:chOff x="4933" y="2123"/>
              <a:chExt cx="352" cy="1008"/>
            </a:xfrm>
          </p:grpSpPr>
          <p:sp>
            <p:nvSpPr>
              <p:cNvPr id="48146" name="Oval 31">
                <a:extLst>
                  <a:ext uri="{FF2B5EF4-FFF2-40B4-BE49-F238E27FC236}">
                    <a16:creationId xmlns:a16="http://schemas.microsoft.com/office/drawing/2014/main" id="{9C308972-A05E-7B2A-1DB2-78541A70EF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19391214" flipH="1">
                <a:off x="4933" y="2123"/>
                <a:ext cx="352" cy="1008"/>
              </a:xfrm>
              <a:prstGeom prst="ellipse">
                <a:avLst/>
              </a:prstGeom>
              <a:noFill/>
              <a:ln w="38100" cap="rnd">
                <a:solidFill>
                  <a:srgbClr val="FC1B0A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8147" name="Freeform 32">
                <a:extLst>
                  <a:ext uri="{FF2B5EF4-FFF2-40B4-BE49-F238E27FC236}">
                    <a16:creationId xmlns:a16="http://schemas.microsoft.com/office/drawing/2014/main" id="{56B491BF-760C-4B00-68D2-3793A9A5D9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016" y="2789"/>
                <a:ext cx="104" cy="98"/>
              </a:xfrm>
              <a:custGeom>
                <a:avLst/>
                <a:gdLst>
                  <a:gd name="T0" fmla="*/ 0 w 114"/>
                  <a:gd name="T1" fmla="*/ 0 h 108"/>
                  <a:gd name="T2" fmla="*/ 29 w 114"/>
                  <a:gd name="T3" fmla="*/ 25 h 10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4" h="108">
                    <a:moveTo>
                      <a:pt x="0" y="0"/>
                    </a:moveTo>
                    <a:lnTo>
                      <a:pt x="114" y="108"/>
                    </a:lnTo>
                  </a:path>
                </a:pathLst>
              </a:custGeom>
              <a:noFill/>
              <a:ln w="38100" cap="rnd" cmpd="sng">
                <a:solidFill>
                  <a:srgbClr val="FC1B0A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48" name="Freeform 33">
                <a:extLst>
                  <a:ext uri="{FF2B5EF4-FFF2-40B4-BE49-F238E27FC236}">
                    <a16:creationId xmlns:a16="http://schemas.microsoft.com/office/drawing/2014/main" id="{4FC836A0-2052-CB39-7981-A26B5965EC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120" y="2383"/>
                <a:ext cx="104" cy="119"/>
              </a:xfrm>
              <a:custGeom>
                <a:avLst/>
                <a:gdLst>
                  <a:gd name="T0" fmla="*/ 29 w 114"/>
                  <a:gd name="T1" fmla="*/ 27 h 132"/>
                  <a:gd name="T2" fmla="*/ 0 w 114"/>
                  <a:gd name="T3" fmla="*/ 0 h 13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4" h="132">
                    <a:moveTo>
                      <a:pt x="114" y="132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rnd" cmpd="sng">
                <a:solidFill>
                  <a:srgbClr val="FC1B0A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43" name="Group 39">
              <a:extLst>
                <a:ext uri="{FF2B5EF4-FFF2-40B4-BE49-F238E27FC236}">
                  <a16:creationId xmlns:a16="http://schemas.microsoft.com/office/drawing/2014/main" id="{7537C19E-A1A0-065F-B118-A23DC805ED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8" y="3519"/>
              <a:ext cx="2360" cy="365"/>
              <a:chOff x="1428" y="3519"/>
              <a:chExt cx="2360" cy="365"/>
            </a:xfrm>
          </p:grpSpPr>
          <p:sp>
            <p:nvSpPr>
              <p:cNvPr id="48144" name="Line 34">
                <a:extLst>
                  <a:ext uri="{FF2B5EF4-FFF2-40B4-BE49-F238E27FC236}">
                    <a16:creationId xmlns:a16="http://schemas.microsoft.com/office/drawing/2014/main" id="{6CCDD30E-2B5C-C9C8-95B6-B4C79B6CC4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28" y="3657"/>
                <a:ext cx="1951" cy="0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45" name="Rectangle 35">
                <a:extLst>
                  <a:ext uri="{FF2B5EF4-FFF2-40B4-BE49-F238E27FC236}">
                    <a16:creationId xmlns:a16="http://schemas.microsoft.com/office/drawing/2014/main" id="{65B63520-8FB5-628D-27B8-1F605210BD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4" y="3519"/>
                <a:ext cx="45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3200" i="1">
                    <a:solidFill>
                      <a:srgbClr val="008000"/>
                    </a:solidFill>
                  </a:rPr>
                  <a:t>ｔ</a:t>
                </a:r>
                <a:r>
                  <a:rPr lang="zh-CN" altLang="en-US" sz="3200" i="1">
                    <a:solidFill>
                      <a:srgbClr val="008000"/>
                    </a:solidFill>
                    <a:latin typeface="华文中宋" panose="02010600040101010101" pitchFamily="2" charset="-122"/>
                  </a:rPr>
                  <a:t> </a:t>
                </a:r>
              </a:p>
            </p:txBody>
          </p:sp>
        </p:grpSp>
      </p:grpSp>
      <p:graphicFrame>
        <p:nvGraphicFramePr>
          <p:cNvPr id="136228" name="Object 36">
            <a:extLst>
              <a:ext uri="{FF2B5EF4-FFF2-40B4-BE49-F238E27FC236}">
                <a16:creationId xmlns:a16="http://schemas.microsoft.com/office/drawing/2014/main" id="{B84C97CF-FF58-7172-1966-0A5788684F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51000" y="1628775"/>
          <a:ext cx="457676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461400" imgH="874800" progId="Equation.3">
                  <p:embed/>
                </p:oleObj>
              </mc:Choice>
              <mc:Fallback>
                <p:oleObj name="公式" r:id="rId2" imgW="12461400" imgH="8748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1628775"/>
                        <a:ext cx="457676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13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3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3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0"/>
                                        <p:tgtEl>
                                          <p:spTgt spid="136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6" grpId="0"/>
      <p:bldP spid="136197" grpId="0"/>
      <p:bldP spid="13619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0" name="Text Box 4">
            <a:extLst>
              <a:ext uri="{FF2B5EF4-FFF2-40B4-BE49-F238E27FC236}">
                <a16:creationId xmlns:a16="http://schemas.microsoft.com/office/drawing/2014/main" id="{4CEB805D-FFC4-6500-B905-C99E3C437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300663"/>
            <a:ext cx="8280400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100">
                <a:latin typeface="华文中宋" panose="02010600040101010101" pitchFamily="2" charset="-122"/>
              </a:rPr>
              <a:t>★</a:t>
            </a:r>
            <a:r>
              <a:rPr lang="en-US" altLang="zh-CN" sz="2300">
                <a:solidFill>
                  <a:srgbClr val="000080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测量谐运动的频率和相互垂直的两个简谐振动的相位差。</a:t>
            </a:r>
          </a:p>
        </p:txBody>
      </p:sp>
      <p:sp>
        <p:nvSpPr>
          <p:cNvPr id="137259" name="Text Box 43">
            <a:extLst>
              <a:ext uri="{FF2B5EF4-FFF2-40B4-BE49-F238E27FC236}">
                <a16:creationId xmlns:a16="http://schemas.microsoft.com/office/drawing/2014/main" id="{6B842DC3-3E42-46EC-8A4E-581307B59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3" y="623888"/>
            <a:ext cx="802640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300">
                <a:solidFill>
                  <a:srgbClr val="000080"/>
                </a:solidFill>
                <a:latin typeface="华文中宋" panose="02010600040101010101" pitchFamily="2" charset="-122"/>
              </a:rPr>
              <a:t>     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合振动轨道一般不是封闭曲线，但当频率有简单</a:t>
            </a:r>
            <a:r>
              <a:rPr lang="zh-CN" altLang="en-US" sz="2300">
                <a:latin typeface="华文中宋" panose="02010600040101010101" pitchFamily="2" charset="-122"/>
              </a:rPr>
              <a:t>整数比</a:t>
            </a:r>
            <a:r>
              <a:rPr lang="zh-CN" altLang="en-US" sz="2300">
                <a:solidFill>
                  <a:srgbClr val="000080"/>
                </a:solidFill>
                <a:latin typeface="华文中宋" panose="02010600040101010101" pitchFamily="2" charset="-122"/>
              </a:rPr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关系时，是稳定的封闭曲线，称为</a:t>
            </a:r>
            <a:r>
              <a:rPr lang="zh-CN" altLang="en-US" sz="2300">
                <a:solidFill>
                  <a:srgbClr val="000080"/>
                </a:solidFill>
                <a:latin typeface="华文中宋" panose="02010600040101010101" pitchFamily="2" charset="-122"/>
              </a:rPr>
              <a:t>“</a:t>
            </a:r>
            <a:r>
              <a:rPr lang="zh-CN" altLang="en-US" sz="2300">
                <a:latin typeface="华文中宋" panose="02010600040101010101" pitchFamily="2" charset="-122"/>
              </a:rPr>
              <a:t>李萨如图形 </a:t>
            </a:r>
            <a:r>
              <a:rPr lang="zh-CN" altLang="en-US" sz="2300">
                <a:solidFill>
                  <a:srgbClr val="000084"/>
                </a:solidFill>
                <a:latin typeface="华文中宋" panose="02010600040101010101" pitchFamily="2" charset="-122"/>
              </a:rPr>
              <a:t>”。</a:t>
            </a:r>
          </a:p>
        </p:txBody>
      </p:sp>
      <p:sp>
        <p:nvSpPr>
          <p:cNvPr id="137260" name="Text Box 44">
            <a:hlinkClick r:id="rId2" action="ppaction://hlinkfile"/>
            <a:extLst>
              <a:ext uri="{FF2B5EF4-FFF2-40B4-BE49-F238E27FC236}">
                <a16:creationId xmlns:a16="http://schemas.microsoft.com/office/drawing/2014/main" id="{99EC3C81-6C8A-6E8A-B6FE-C91FE7962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60350"/>
            <a:ext cx="4968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2.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两振动的频率相差很大</a:t>
            </a:r>
          </a:p>
        </p:txBody>
      </p:sp>
      <p:grpSp>
        <p:nvGrpSpPr>
          <p:cNvPr id="137277" name="Group 61">
            <a:extLst>
              <a:ext uri="{FF2B5EF4-FFF2-40B4-BE49-F238E27FC236}">
                <a16:creationId xmlns:a16="http://schemas.microsoft.com/office/drawing/2014/main" id="{DF60BADF-5B00-2FA6-881F-7C84F33F4C6A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484313"/>
            <a:ext cx="2736850" cy="3689350"/>
            <a:chOff x="385" y="935"/>
            <a:chExt cx="1724" cy="2324"/>
          </a:xfrm>
        </p:grpSpPr>
        <p:sp>
          <p:nvSpPr>
            <p:cNvPr id="49179" name="Freeform 18">
              <a:extLst>
                <a:ext uri="{FF2B5EF4-FFF2-40B4-BE49-F238E27FC236}">
                  <a16:creationId xmlns:a16="http://schemas.microsoft.com/office/drawing/2014/main" id="{BF16E93B-1E41-4B17-36CE-B1BCC0C3D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" y="1468"/>
              <a:ext cx="1144" cy="1334"/>
            </a:xfrm>
            <a:custGeom>
              <a:avLst/>
              <a:gdLst>
                <a:gd name="T0" fmla="*/ 85 w 1312"/>
                <a:gd name="T1" fmla="*/ 1 h 1690"/>
                <a:gd name="T2" fmla="*/ 155 w 1312"/>
                <a:gd name="T3" fmla="*/ 9 h 1690"/>
                <a:gd name="T4" fmla="*/ 14 w 1312"/>
                <a:gd name="T5" fmla="*/ 40 h 1690"/>
                <a:gd name="T6" fmla="*/ 86 w 1312"/>
                <a:gd name="T7" fmla="*/ 49 h 1690"/>
                <a:gd name="T8" fmla="*/ 156 w 1312"/>
                <a:gd name="T9" fmla="*/ 40 h 1690"/>
                <a:gd name="T10" fmla="*/ 12 w 1312"/>
                <a:gd name="T11" fmla="*/ 8 h 1690"/>
                <a:gd name="T12" fmla="*/ 85 w 1312"/>
                <a:gd name="T13" fmla="*/ 1 h 16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12" h="1690">
                  <a:moveTo>
                    <a:pt x="657" y="1"/>
                  </a:moveTo>
                  <a:cubicBezTo>
                    <a:pt x="843" y="2"/>
                    <a:pt x="1301" y="81"/>
                    <a:pt x="1209" y="313"/>
                  </a:cubicBezTo>
                  <a:cubicBezTo>
                    <a:pt x="1117" y="545"/>
                    <a:pt x="194" y="1164"/>
                    <a:pt x="105" y="1393"/>
                  </a:cubicBezTo>
                  <a:cubicBezTo>
                    <a:pt x="16" y="1622"/>
                    <a:pt x="490" y="1690"/>
                    <a:pt x="675" y="1687"/>
                  </a:cubicBezTo>
                  <a:cubicBezTo>
                    <a:pt x="860" y="1684"/>
                    <a:pt x="1312" y="1605"/>
                    <a:pt x="1215" y="1375"/>
                  </a:cubicBezTo>
                  <a:cubicBezTo>
                    <a:pt x="1118" y="1145"/>
                    <a:pt x="186" y="536"/>
                    <a:pt x="93" y="307"/>
                  </a:cubicBezTo>
                  <a:cubicBezTo>
                    <a:pt x="0" y="78"/>
                    <a:pt x="471" y="0"/>
                    <a:pt x="657" y="1"/>
                  </a:cubicBezTo>
                  <a:close/>
                </a:path>
              </a:pathLst>
            </a:custGeom>
            <a:noFill/>
            <a:ln w="317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0" name="Rectangle 19">
              <a:extLst>
                <a:ext uri="{FF2B5EF4-FFF2-40B4-BE49-F238E27FC236}">
                  <a16:creationId xmlns:a16="http://schemas.microsoft.com/office/drawing/2014/main" id="{4141ABDA-490E-FF53-9BCF-4EC0C8F50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" y="1450"/>
              <a:ext cx="1007" cy="1376"/>
            </a:xfrm>
            <a:prstGeom prst="rect">
              <a:avLst/>
            </a:prstGeom>
            <a:noFill/>
            <a:ln w="19050">
              <a:solidFill>
                <a:srgbClr val="0066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691" tIns="12691" rIns="12691" bIns="12691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181" name="Rectangle 20">
              <a:extLst>
                <a:ext uri="{FF2B5EF4-FFF2-40B4-BE49-F238E27FC236}">
                  <a16:creationId xmlns:a16="http://schemas.microsoft.com/office/drawing/2014/main" id="{EE8C183A-CC71-87DF-0266-80EDAF458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" y="1842"/>
              <a:ext cx="401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691" tIns="12691" rIns="12691" bIns="12691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rgbClr val="000092"/>
                  </a:solidFill>
                </a:rPr>
                <a:t>A</a:t>
              </a:r>
              <a:r>
                <a:rPr lang="en-US" altLang="zh-CN" sz="2800" baseline="-25000">
                  <a:solidFill>
                    <a:srgbClr val="000092"/>
                  </a:solidFill>
                </a:rPr>
                <a:t>2</a:t>
              </a:r>
              <a:endParaRPr lang="en-US" altLang="zh-CN" sz="2800" b="0">
                <a:solidFill>
                  <a:srgbClr val="000092"/>
                </a:solidFill>
              </a:endParaRPr>
            </a:p>
          </p:txBody>
        </p:sp>
        <p:sp>
          <p:nvSpPr>
            <p:cNvPr id="49182" name="Rectangle 21">
              <a:extLst>
                <a:ext uri="{FF2B5EF4-FFF2-40B4-BE49-F238E27FC236}">
                  <a16:creationId xmlns:a16="http://schemas.microsoft.com/office/drawing/2014/main" id="{09667E27-D662-690A-C158-E4B5652F1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" y="2105"/>
              <a:ext cx="193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691" tIns="12691" rIns="12691" bIns="12691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chemeClr val="tx2"/>
                  </a:solidFill>
                </a:rPr>
                <a:t>x</a:t>
              </a:r>
              <a:endParaRPr lang="en-US" altLang="zh-CN" sz="2800" b="0">
                <a:solidFill>
                  <a:schemeClr val="tx2"/>
                </a:solidFill>
              </a:endParaRPr>
            </a:p>
          </p:txBody>
        </p:sp>
        <p:sp>
          <p:nvSpPr>
            <p:cNvPr id="49183" name="Rectangle 22">
              <a:extLst>
                <a:ext uri="{FF2B5EF4-FFF2-40B4-BE49-F238E27FC236}">
                  <a16:creationId xmlns:a16="http://schemas.microsoft.com/office/drawing/2014/main" id="{BF0ED592-42CB-6AD3-FC75-381FD0E0D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1162"/>
              <a:ext cx="44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691" tIns="12691" rIns="12691" bIns="12691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rgbClr val="000092"/>
                  </a:solidFill>
                </a:rPr>
                <a:t>A</a:t>
              </a:r>
              <a:r>
                <a:rPr lang="en-US" altLang="zh-CN" sz="2800" baseline="-25000">
                  <a:solidFill>
                    <a:srgbClr val="000092"/>
                  </a:solidFill>
                </a:rPr>
                <a:t>1</a:t>
              </a:r>
              <a:endParaRPr lang="en-US" altLang="zh-CN" sz="2800" b="0">
                <a:solidFill>
                  <a:srgbClr val="000092"/>
                </a:solidFill>
              </a:endParaRPr>
            </a:p>
          </p:txBody>
        </p:sp>
        <p:sp>
          <p:nvSpPr>
            <p:cNvPr id="49184" name="Line 23">
              <a:extLst>
                <a:ext uri="{FF2B5EF4-FFF2-40B4-BE49-F238E27FC236}">
                  <a16:creationId xmlns:a16="http://schemas.microsoft.com/office/drawing/2014/main" id="{A9AD3273-8674-885B-D570-2D2150D59C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4" y="1070"/>
              <a:ext cx="1" cy="190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 type="triangle" w="sm" len="lg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691" tIns="12691" rIns="12691" bIns="12691"/>
            <a:lstStyle/>
            <a:p>
              <a:endParaRPr lang="zh-CN" altLang="en-US"/>
            </a:p>
          </p:txBody>
        </p:sp>
        <p:sp>
          <p:nvSpPr>
            <p:cNvPr id="49185" name="Rectangle 24">
              <a:extLst>
                <a:ext uri="{FF2B5EF4-FFF2-40B4-BE49-F238E27FC236}">
                  <a16:creationId xmlns:a16="http://schemas.microsoft.com/office/drawing/2014/main" id="{E5880A11-7374-61E7-75FA-4EFCB071B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935"/>
              <a:ext cx="210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691" tIns="12691" rIns="12691" bIns="12691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chemeClr val="tx2"/>
                  </a:solidFill>
                </a:rPr>
                <a:t>y</a:t>
              </a:r>
              <a:endParaRPr lang="en-US" altLang="zh-CN" sz="2800" b="0">
                <a:solidFill>
                  <a:schemeClr val="tx2"/>
                </a:solidFill>
              </a:endParaRPr>
            </a:p>
          </p:txBody>
        </p:sp>
        <p:graphicFrame>
          <p:nvGraphicFramePr>
            <p:cNvPr id="49186" name="Object 41">
              <a:extLst>
                <a:ext uri="{FF2B5EF4-FFF2-40B4-BE49-F238E27FC236}">
                  <a16:creationId xmlns:a16="http://schemas.microsoft.com/office/drawing/2014/main" id="{0581A723-6604-501C-A8CB-FBA4B74663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2" y="2976"/>
            <a:ext cx="1043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4969800" imgH="923400" progId="Equation.3">
                    <p:embed/>
                  </p:oleObj>
                </mc:Choice>
                <mc:Fallback>
                  <p:oleObj name="公式" r:id="rId3" imgW="4969800" imgH="92340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" y="2976"/>
                          <a:ext cx="1043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87" name="Line 47">
              <a:extLst>
                <a:ext uri="{FF2B5EF4-FFF2-40B4-BE49-F238E27FC236}">
                  <a16:creationId xmlns:a16="http://schemas.microsoft.com/office/drawing/2014/main" id="{1EEB7DE3-94A1-7B33-E4DB-5212F9F619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2159"/>
              <a:ext cx="15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7278" name="Group 62">
            <a:extLst>
              <a:ext uri="{FF2B5EF4-FFF2-40B4-BE49-F238E27FC236}">
                <a16:creationId xmlns:a16="http://schemas.microsoft.com/office/drawing/2014/main" id="{DD404252-BC48-F4C3-2CD3-FCAE96C079AB}"/>
              </a:ext>
            </a:extLst>
          </p:cNvPr>
          <p:cNvGrpSpPr>
            <a:grpSpLocks/>
          </p:cNvGrpSpPr>
          <p:nvPr/>
        </p:nvGrpSpPr>
        <p:grpSpPr bwMode="auto">
          <a:xfrm>
            <a:off x="3273425" y="1484313"/>
            <a:ext cx="2898775" cy="3673475"/>
            <a:chOff x="2062" y="935"/>
            <a:chExt cx="1826" cy="2314"/>
          </a:xfrm>
        </p:grpSpPr>
        <p:sp>
          <p:nvSpPr>
            <p:cNvPr id="49170" name="Rectangle 7">
              <a:extLst>
                <a:ext uri="{FF2B5EF4-FFF2-40B4-BE49-F238E27FC236}">
                  <a16:creationId xmlns:a16="http://schemas.microsoft.com/office/drawing/2014/main" id="{76810BF4-F55F-37AF-CF31-52309037A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1450"/>
              <a:ext cx="1007" cy="1376"/>
            </a:xfrm>
            <a:prstGeom prst="rect">
              <a:avLst/>
            </a:prstGeom>
            <a:noFill/>
            <a:ln w="19050">
              <a:solidFill>
                <a:srgbClr val="0066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691" tIns="12691" rIns="12691" bIns="12691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171" name="Rectangle 8">
              <a:extLst>
                <a:ext uri="{FF2B5EF4-FFF2-40B4-BE49-F238E27FC236}">
                  <a16:creationId xmlns:a16="http://schemas.microsoft.com/office/drawing/2014/main" id="{FC86EC96-91F1-FF99-C82A-389BF707E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5" y="1842"/>
              <a:ext cx="361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691" tIns="12691" rIns="12691" bIns="12691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rgbClr val="000092"/>
                  </a:solidFill>
                </a:rPr>
                <a:t>A</a:t>
              </a:r>
              <a:r>
                <a:rPr lang="en-US" altLang="zh-CN" sz="2800" baseline="-25000">
                  <a:solidFill>
                    <a:srgbClr val="000092"/>
                  </a:solidFill>
                </a:rPr>
                <a:t>2</a:t>
              </a:r>
              <a:endParaRPr lang="en-US" altLang="zh-CN" sz="2800" b="0">
                <a:solidFill>
                  <a:srgbClr val="000092"/>
                </a:solidFill>
              </a:endParaRPr>
            </a:p>
          </p:txBody>
        </p:sp>
        <p:sp>
          <p:nvSpPr>
            <p:cNvPr id="49172" name="Rectangle 10">
              <a:extLst>
                <a:ext uri="{FF2B5EF4-FFF2-40B4-BE49-F238E27FC236}">
                  <a16:creationId xmlns:a16="http://schemas.microsoft.com/office/drawing/2014/main" id="{0CE8B399-8D94-8042-8928-0C25C56F2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1169"/>
              <a:ext cx="33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691" tIns="12691" rIns="12691" bIns="12691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rgbClr val="000092"/>
                  </a:solidFill>
                </a:rPr>
                <a:t>A</a:t>
              </a:r>
              <a:r>
                <a:rPr lang="en-US" altLang="zh-CN" sz="2800" baseline="-25000">
                  <a:solidFill>
                    <a:srgbClr val="000092"/>
                  </a:solidFill>
                </a:rPr>
                <a:t>1</a:t>
              </a:r>
              <a:endParaRPr lang="en-US" altLang="zh-CN" sz="2800" b="0">
                <a:solidFill>
                  <a:srgbClr val="000092"/>
                </a:solidFill>
              </a:endParaRPr>
            </a:p>
          </p:txBody>
        </p:sp>
        <p:sp>
          <p:nvSpPr>
            <p:cNvPr id="49173" name="Line 11">
              <a:extLst>
                <a:ext uri="{FF2B5EF4-FFF2-40B4-BE49-F238E27FC236}">
                  <a16:creationId xmlns:a16="http://schemas.microsoft.com/office/drawing/2014/main" id="{C1DB8BF5-20EB-152F-DB1D-EF61FFB3AC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1071"/>
              <a:ext cx="13" cy="186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 type="triangle" w="sm" len="lg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691" tIns="12691" rIns="12691" bIns="12691"/>
            <a:lstStyle/>
            <a:p>
              <a:endParaRPr lang="zh-CN" altLang="en-US"/>
            </a:p>
          </p:txBody>
        </p:sp>
        <p:sp>
          <p:nvSpPr>
            <p:cNvPr id="49174" name="Rectangle 12">
              <a:extLst>
                <a:ext uri="{FF2B5EF4-FFF2-40B4-BE49-F238E27FC236}">
                  <a16:creationId xmlns:a16="http://schemas.microsoft.com/office/drawing/2014/main" id="{7E835E8D-B292-BBA2-5236-FF4CD1ED1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935"/>
              <a:ext cx="211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691" tIns="12691" rIns="12691" bIns="12691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chemeClr val="tx2"/>
                  </a:solidFill>
                </a:rPr>
                <a:t>y</a:t>
              </a:r>
              <a:endParaRPr lang="en-US" altLang="zh-CN" sz="2800" b="0">
                <a:solidFill>
                  <a:schemeClr val="tx2"/>
                </a:solidFill>
              </a:endParaRPr>
            </a:p>
          </p:txBody>
        </p:sp>
        <p:sp>
          <p:nvSpPr>
            <p:cNvPr id="49175" name="Freeform 17">
              <a:extLst>
                <a:ext uri="{FF2B5EF4-FFF2-40B4-BE49-F238E27FC236}">
                  <a16:creationId xmlns:a16="http://schemas.microsoft.com/office/drawing/2014/main" id="{9C8C4248-C670-B748-FD1C-345CC648B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3" y="1448"/>
              <a:ext cx="1159" cy="1371"/>
            </a:xfrm>
            <a:custGeom>
              <a:avLst/>
              <a:gdLst>
                <a:gd name="T0" fmla="*/ 8 w 1436"/>
                <a:gd name="T1" fmla="*/ 2 h 1711"/>
                <a:gd name="T2" fmla="*/ 6 w 1436"/>
                <a:gd name="T3" fmla="*/ 16 h 1711"/>
                <a:gd name="T4" fmla="*/ 50 w 1436"/>
                <a:gd name="T5" fmla="*/ 45 h 1711"/>
                <a:gd name="T6" fmla="*/ 48 w 1436"/>
                <a:gd name="T7" fmla="*/ 61 h 1711"/>
                <a:gd name="T8" fmla="*/ 17 w 1436"/>
                <a:gd name="T9" fmla="*/ 53 h 1711"/>
                <a:gd name="T10" fmla="*/ 3 w 1436"/>
                <a:gd name="T11" fmla="*/ 31 h 1711"/>
                <a:gd name="T12" fmla="*/ 19 w 1436"/>
                <a:gd name="T13" fmla="*/ 8 h 1711"/>
                <a:gd name="T14" fmla="*/ 48 w 1436"/>
                <a:gd name="T15" fmla="*/ 2 h 1711"/>
                <a:gd name="T16" fmla="*/ 51 w 1436"/>
                <a:gd name="T17" fmla="*/ 16 h 1711"/>
                <a:gd name="T18" fmla="*/ 8 w 1436"/>
                <a:gd name="T19" fmla="*/ 46 h 1711"/>
                <a:gd name="T20" fmla="*/ 10 w 1436"/>
                <a:gd name="T21" fmla="*/ 60 h 1711"/>
                <a:gd name="T22" fmla="*/ 42 w 1436"/>
                <a:gd name="T23" fmla="*/ 53 h 1711"/>
                <a:gd name="T24" fmla="*/ 54 w 1436"/>
                <a:gd name="T25" fmla="*/ 30 h 1711"/>
                <a:gd name="T26" fmla="*/ 45 w 1436"/>
                <a:gd name="T27" fmla="*/ 12 h 1711"/>
                <a:gd name="T28" fmla="*/ 29 w 1436"/>
                <a:gd name="T29" fmla="*/ 3 h 1711"/>
                <a:gd name="T30" fmla="*/ 8 w 1436"/>
                <a:gd name="T31" fmla="*/ 2 h 17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436" h="1711">
                  <a:moveTo>
                    <a:pt x="214" y="62"/>
                  </a:moveTo>
                  <a:cubicBezTo>
                    <a:pt x="126" y="124"/>
                    <a:pt x="0" y="255"/>
                    <a:pt x="172" y="452"/>
                  </a:cubicBezTo>
                  <a:cubicBezTo>
                    <a:pt x="344" y="649"/>
                    <a:pt x="1075" y="1040"/>
                    <a:pt x="1246" y="1244"/>
                  </a:cubicBezTo>
                  <a:cubicBezTo>
                    <a:pt x="1417" y="1448"/>
                    <a:pt x="1334" y="1641"/>
                    <a:pt x="1198" y="1676"/>
                  </a:cubicBezTo>
                  <a:cubicBezTo>
                    <a:pt x="1062" y="1711"/>
                    <a:pt x="617" y="1589"/>
                    <a:pt x="430" y="1454"/>
                  </a:cubicBezTo>
                  <a:cubicBezTo>
                    <a:pt x="243" y="1319"/>
                    <a:pt x="71" y="1070"/>
                    <a:pt x="76" y="866"/>
                  </a:cubicBezTo>
                  <a:cubicBezTo>
                    <a:pt x="81" y="662"/>
                    <a:pt x="276" y="368"/>
                    <a:pt x="460" y="230"/>
                  </a:cubicBezTo>
                  <a:cubicBezTo>
                    <a:pt x="644" y="92"/>
                    <a:pt x="1045" y="1"/>
                    <a:pt x="1180" y="38"/>
                  </a:cubicBezTo>
                  <a:cubicBezTo>
                    <a:pt x="1315" y="75"/>
                    <a:pt x="1436" y="248"/>
                    <a:pt x="1270" y="452"/>
                  </a:cubicBezTo>
                  <a:cubicBezTo>
                    <a:pt x="1104" y="656"/>
                    <a:pt x="353" y="1060"/>
                    <a:pt x="184" y="1262"/>
                  </a:cubicBezTo>
                  <a:cubicBezTo>
                    <a:pt x="15" y="1464"/>
                    <a:pt x="113" y="1633"/>
                    <a:pt x="256" y="1664"/>
                  </a:cubicBezTo>
                  <a:cubicBezTo>
                    <a:pt x="399" y="1695"/>
                    <a:pt x="862" y="1585"/>
                    <a:pt x="1042" y="1448"/>
                  </a:cubicBezTo>
                  <a:cubicBezTo>
                    <a:pt x="1222" y="1311"/>
                    <a:pt x="1324" y="1027"/>
                    <a:pt x="1336" y="842"/>
                  </a:cubicBezTo>
                  <a:cubicBezTo>
                    <a:pt x="1348" y="657"/>
                    <a:pt x="1220" y="465"/>
                    <a:pt x="1114" y="338"/>
                  </a:cubicBezTo>
                  <a:cubicBezTo>
                    <a:pt x="1008" y="211"/>
                    <a:pt x="850" y="126"/>
                    <a:pt x="700" y="80"/>
                  </a:cubicBezTo>
                  <a:cubicBezTo>
                    <a:pt x="550" y="34"/>
                    <a:pt x="302" y="0"/>
                    <a:pt x="214" y="62"/>
                  </a:cubicBezTo>
                  <a:close/>
                </a:path>
              </a:pathLst>
            </a:custGeom>
            <a:noFill/>
            <a:ln w="317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9176" name="Object 45">
              <a:extLst>
                <a:ext uri="{FF2B5EF4-FFF2-40B4-BE49-F238E27FC236}">
                  <a16:creationId xmlns:a16="http://schemas.microsoft.com/office/drawing/2014/main" id="{C23A0322-784E-D584-6563-FDCED56A891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45" y="2968"/>
            <a:ext cx="1089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5042880" imgH="923400" progId="Equation.3">
                    <p:embed/>
                  </p:oleObj>
                </mc:Choice>
                <mc:Fallback>
                  <p:oleObj name="公式" r:id="rId5" imgW="5042880" imgH="9234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5" y="2968"/>
                          <a:ext cx="1089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77" name="Line 48">
              <a:extLst>
                <a:ext uri="{FF2B5EF4-FFF2-40B4-BE49-F238E27FC236}">
                  <a16:creationId xmlns:a16="http://schemas.microsoft.com/office/drawing/2014/main" id="{770036E7-74C4-C03B-6D1D-628F221FEF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2" y="2159"/>
              <a:ext cx="16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8" name="Rectangle 9">
              <a:extLst>
                <a:ext uri="{FF2B5EF4-FFF2-40B4-BE49-F238E27FC236}">
                  <a16:creationId xmlns:a16="http://schemas.microsoft.com/office/drawing/2014/main" id="{09312246-8D4E-DC1B-76BA-1A60270A7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105"/>
              <a:ext cx="19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691" tIns="12691" rIns="12691" bIns="12691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chemeClr val="tx2"/>
                  </a:solidFill>
                </a:rPr>
                <a:t>x</a:t>
              </a:r>
              <a:endParaRPr lang="en-US" altLang="zh-CN" sz="2800" b="0">
                <a:solidFill>
                  <a:schemeClr val="tx2"/>
                </a:solidFill>
              </a:endParaRPr>
            </a:p>
          </p:txBody>
        </p:sp>
      </p:grpSp>
      <p:grpSp>
        <p:nvGrpSpPr>
          <p:cNvPr id="137279" name="Group 63">
            <a:extLst>
              <a:ext uri="{FF2B5EF4-FFF2-40B4-BE49-F238E27FC236}">
                <a16:creationId xmlns:a16="http://schemas.microsoft.com/office/drawing/2014/main" id="{70DBC685-AC7D-F11A-BD68-1D75B19345AA}"/>
              </a:ext>
            </a:extLst>
          </p:cNvPr>
          <p:cNvGrpSpPr>
            <a:grpSpLocks/>
          </p:cNvGrpSpPr>
          <p:nvPr/>
        </p:nvGrpSpPr>
        <p:grpSpPr bwMode="auto">
          <a:xfrm>
            <a:off x="6283325" y="1484313"/>
            <a:ext cx="2609850" cy="3683000"/>
            <a:chOff x="3958" y="935"/>
            <a:chExt cx="1644" cy="2320"/>
          </a:xfrm>
        </p:grpSpPr>
        <p:sp>
          <p:nvSpPr>
            <p:cNvPr id="49161" name="Freeform 29">
              <a:extLst>
                <a:ext uri="{FF2B5EF4-FFF2-40B4-BE49-F238E27FC236}">
                  <a16:creationId xmlns:a16="http://schemas.microsoft.com/office/drawing/2014/main" id="{B9B337DD-7FAD-6350-E828-48E1FDBA65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1448"/>
              <a:ext cx="1168" cy="1429"/>
            </a:xfrm>
            <a:custGeom>
              <a:avLst/>
              <a:gdLst>
                <a:gd name="T0" fmla="*/ 86 w 1337"/>
                <a:gd name="T1" fmla="*/ 2 h 1807"/>
                <a:gd name="T2" fmla="*/ 45 w 1337"/>
                <a:gd name="T3" fmla="*/ 4 h 1807"/>
                <a:gd name="T4" fmla="*/ 14 w 1337"/>
                <a:gd name="T5" fmla="*/ 16 h 1807"/>
                <a:gd name="T6" fmla="*/ 45 w 1337"/>
                <a:gd name="T7" fmla="*/ 34 h 1807"/>
                <a:gd name="T8" fmla="*/ 139 w 1337"/>
                <a:gd name="T9" fmla="*/ 50 h 1807"/>
                <a:gd name="T10" fmla="*/ 156 w 1337"/>
                <a:gd name="T11" fmla="*/ 43 h 1807"/>
                <a:gd name="T12" fmla="*/ 20 w 1337"/>
                <a:gd name="T13" fmla="*/ 9 h 1807"/>
                <a:gd name="T14" fmla="*/ 39 w 1337"/>
                <a:gd name="T15" fmla="*/ 2 h 1807"/>
                <a:gd name="T16" fmla="*/ 139 w 1337"/>
                <a:gd name="T17" fmla="*/ 21 h 1807"/>
                <a:gd name="T18" fmla="*/ 160 w 1337"/>
                <a:gd name="T19" fmla="*/ 41 h 1807"/>
                <a:gd name="T20" fmla="*/ 91 w 1337"/>
                <a:gd name="T21" fmla="*/ 51 h 1807"/>
                <a:gd name="T22" fmla="*/ 18 w 1337"/>
                <a:gd name="T23" fmla="*/ 43 h 1807"/>
                <a:gd name="T24" fmla="*/ 36 w 1337"/>
                <a:gd name="T25" fmla="*/ 20 h 1807"/>
                <a:gd name="T26" fmla="*/ 103 w 1337"/>
                <a:gd name="T27" fmla="*/ 6 h 1807"/>
                <a:gd name="T28" fmla="*/ 149 w 1337"/>
                <a:gd name="T29" fmla="*/ 2 h 1807"/>
                <a:gd name="T30" fmla="*/ 153 w 1337"/>
                <a:gd name="T31" fmla="*/ 9 h 1807"/>
                <a:gd name="T32" fmla="*/ 17 w 1337"/>
                <a:gd name="T33" fmla="*/ 47 h 1807"/>
                <a:gd name="T34" fmla="*/ 52 w 1337"/>
                <a:gd name="T35" fmla="*/ 49 h 1807"/>
                <a:gd name="T36" fmla="*/ 139 w 1337"/>
                <a:gd name="T37" fmla="*/ 32 h 1807"/>
                <a:gd name="T38" fmla="*/ 161 w 1337"/>
                <a:gd name="T39" fmla="*/ 13 h 1807"/>
                <a:gd name="T40" fmla="*/ 127 w 1337"/>
                <a:gd name="T41" fmla="*/ 4 h 1807"/>
                <a:gd name="T42" fmla="*/ 86 w 1337"/>
                <a:gd name="T43" fmla="*/ 2 h 180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337" h="1807">
                  <a:moveTo>
                    <a:pt x="648" y="40"/>
                  </a:moveTo>
                  <a:cubicBezTo>
                    <a:pt x="541" y="42"/>
                    <a:pt x="420" y="56"/>
                    <a:pt x="330" y="136"/>
                  </a:cubicBezTo>
                  <a:cubicBezTo>
                    <a:pt x="240" y="216"/>
                    <a:pt x="107" y="347"/>
                    <a:pt x="108" y="520"/>
                  </a:cubicBezTo>
                  <a:cubicBezTo>
                    <a:pt x="109" y="693"/>
                    <a:pt x="179" y="978"/>
                    <a:pt x="336" y="1174"/>
                  </a:cubicBezTo>
                  <a:cubicBezTo>
                    <a:pt x="493" y="1370"/>
                    <a:pt x="908" y="1642"/>
                    <a:pt x="1050" y="1696"/>
                  </a:cubicBezTo>
                  <a:cubicBezTo>
                    <a:pt x="1192" y="1750"/>
                    <a:pt x="1337" y="1728"/>
                    <a:pt x="1188" y="1498"/>
                  </a:cubicBezTo>
                  <a:cubicBezTo>
                    <a:pt x="1039" y="1268"/>
                    <a:pt x="305" y="555"/>
                    <a:pt x="156" y="316"/>
                  </a:cubicBezTo>
                  <a:cubicBezTo>
                    <a:pt x="7" y="77"/>
                    <a:pt x="145" y="0"/>
                    <a:pt x="294" y="64"/>
                  </a:cubicBezTo>
                  <a:cubicBezTo>
                    <a:pt x="443" y="128"/>
                    <a:pt x="896" y="478"/>
                    <a:pt x="1050" y="700"/>
                  </a:cubicBezTo>
                  <a:cubicBezTo>
                    <a:pt x="1204" y="922"/>
                    <a:pt x="1278" y="1224"/>
                    <a:pt x="1218" y="1396"/>
                  </a:cubicBezTo>
                  <a:cubicBezTo>
                    <a:pt x="1158" y="1568"/>
                    <a:pt x="870" y="1725"/>
                    <a:pt x="690" y="1732"/>
                  </a:cubicBezTo>
                  <a:cubicBezTo>
                    <a:pt x="510" y="1739"/>
                    <a:pt x="207" y="1611"/>
                    <a:pt x="138" y="1438"/>
                  </a:cubicBezTo>
                  <a:cubicBezTo>
                    <a:pt x="69" y="1265"/>
                    <a:pt x="170" y="898"/>
                    <a:pt x="276" y="694"/>
                  </a:cubicBezTo>
                  <a:cubicBezTo>
                    <a:pt x="382" y="490"/>
                    <a:pt x="632" y="323"/>
                    <a:pt x="774" y="214"/>
                  </a:cubicBezTo>
                  <a:cubicBezTo>
                    <a:pt x="916" y="105"/>
                    <a:pt x="1064" y="23"/>
                    <a:pt x="1128" y="40"/>
                  </a:cubicBezTo>
                  <a:cubicBezTo>
                    <a:pt x="1192" y="57"/>
                    <a:pt x="1325" y="59"/>
                    <a:pt x="1158" y="316"/>
                  </a:cubicBezTo>
                  <a:cubicBezTo>
                    <a:pt x="991" y="573"/>
                    <a:pt x="252" y="1357"/>
                    <a:pt x="126" y="1582"/>
                  </a:cubicBezTo>
                  <a:cubicBezTo>
                    <a:pt x="0" y="1807"/>
                    <a:pt x="248" y="1747"/>
                    <a:pt x="402" y="1666"/>
                  </a:cubicBezTo>
                  <a:cubicBezTo>
                    <a:pt x="556" y="1585"/>
                    <a:pt x="913" y="1298"/>
                    <a:pt x="1050" y="1096"/>
                  </a:cubicBezTo>
                  <a:cubicBezTo>
                    <a:pt x="1187" y="894"/>
                    <a:pt x="1239" y="616"/>
                    <a:pt x="1224" y="454"/>
                  </a:cubicBezTo>
                  <a:cubicBezTo>
                    <a:pt x="1209" y="292"/>
                    <a:pt x="1056" y="193"/>
                    <a:pt x="960" y="124"/>
                  </a:cubicBezTo>
                  <a:cubicBezTo>
                    <a:pt x="864" y="55"/>
                    <a:pt x="713" y="57"/>
                    <a:pt x="648" y="40"/>
                  </a:cubicBezTo>
                  <a:close/>
                </a:path>
              </a:pathLst>
            </a:custGeom>
            <a:noFill/>
            <a:ln w="317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2" name="Rectangle 30">
              <a:extLst>
                <a:ext uri="{FF2B5EF4-FFF2-40B4-BE49-F238E27FC236}">
                  <a16:creationId xmlns:a16="http://schemas.microsoft.com/office/drawing/2014/main" id="{52DA0434-E8F0-D1CF-EC6D-4F098C6A2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7" y="1458"/>
              <a:ext cx="1008" cy="1376"/>
            </a:xfrm>
            <a:prstGeom prst="rect">
              <a:avLst/>
            </a:prstGeom>
            <a:noFill/>
            <a:ln w="19050">
              <a:solidFill>
                <a:srgbClr val="0066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691" tIns="12691" rIns="12691" bIns="12691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163" name="Rectangle 31">
              <a:extLst>
                <a:ext uri="{FF2B5EF4-FFF2-40B4-BE49-F238E27FC236}">
                  <a16:creationId xmlns:a16="http://schemas.microsoft.com/office/drawing/2014/main" id="{A35D8537-E63C-34FD-B87A-9BB5F2476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3" y="1842"/>
              <a:ext cx="357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691" tIns="12691" rIns="12691" bIns="12691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rgbClr val="000092"/>
                  </a:solidFill>
                </a:rPr>
                <a:t>A</a:t>
              </a:r>
              <a:r>
                <a:rPr lang="en-US" altLang="zh-CN" sz="2800" baseline="-25000">
                  <a:solidFill>
                    <a:srgbClr val="000092"/>
                  </a:solidFill>
                </a:rPr>
                <a:t>2</a:t>
              </a:r>
              <a:endParaRPr lang="en-US" altLang="zh-CN" sz="2800" b="0">
                <a:solidFill>
                  <a:srgbClr val="000092"/>
                </a:solidFill>
              </a:endParaRPr>
            </a:p>
          </p:txBody>
        </p:sp>
        <p:sp>
          <p:nvSpPr>
            <p:cNvPr id="49164" name="Rectangle 32">
              <a:extLst>
                <a:ext uri="{FF2B5EF4-FFF2-40B4-BE49-F238E27FC236}">
                  <a16:creationId xmlns:a16="http://schemas.microsoft.com/office/drawing/2014/main" id="{B69DCA23-9A75-C040-9112-51D2FE0C2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" y="2110"/>
              <a:ext cx="193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691" tIns="12691" rIns="12691" bIns="12691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chemeClr val="tx2"/>
                  </a:solidFill>
                </a:rPr>
                <a:t>x</a:t>
              </a:r>
              <a:endParaRPr lang="en-US" altLang="zh-CN" sz="2800" b="0">
                <a:solidFill>
                  <a:schemeClr val="tx2"/>
                </a:solidFill>
              </a:endParaRPr>
            </a:p>
          </p:txBody>
        </p:sp>
        <p:sp>
          <p:nvSpPr>
            <p:cNvPr id="49165" name="Rectangle 33">
              <a:extLst>
                <a:ext uri="{FF2B5EF4-FFF2-40B4-BE49-F238E27FC236}">
                  <a16:creationId xmlns:a16="http://schemas.microsoft.com/office/drawing/2014/main" id="{1575A2C1-882C-298B-5E9C-9BC408BC5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" y="1162"/>
              <a:ext cx="37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691" tIns="12691" rIns="12691" bIns="12691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rgbClr val="000092"/>
                  </a:solidFill>
                </a:rPr>
                <a:t>A</a:t>
              </a:r>
              <a:r>
                <a:rPr lang="en-US" altLang="zh-CN" sz="2800" baseline="-25000">
                  <a:solidFill>
                    <a:srgbClr val="000092"/>
                  </a:solidFill>
                </a:rPr>
                <a:t>1</a:t>
              </a:r>
              <a:endParaRPr lang="en-US" altLang="zh-CN" sz="2800" b="0">
                <a:solidFill>
                  <a:srgbClr val="000092"/>
                </a:solidFill>
              </a:endParaRPr>
            </a:p>
          </p:txBody>
        </p:sp>
        <p:sp>
          <p:nvSpPr>
            <p:cNvPr id="49166" name="Line 34">
              <a:extLst>
                <a:ext uri="{FF2B5EF4-FFF2-40B4-BE49-F238E27FC236}">
                  <a16:creationId xmlns:a16="http://schemas.microsoft.com/office/drawing/2014/main" id="{60E2C61D-D4EE-8047-879A-05A5F745B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3" y="1071"/>
              <a:ext cx="16" cy="186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 type="triangle" w="sm" len="lg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691" tIns="12691" rIns="12691" bIns="12691"/>
            <a:lstStyle/>
            <a:p>
              <a:endParaRPr lang="zh-CN" altLang="en-US"/>
            </a:p>
          </p:txBody>
        </p:sp>
        <p:sp>
          <p:nvSpPr>
            <p:cNvPr id="49167" name="Rectangle 35">
              <a:extLst>
                <a:ext uri="{FF2B5EF4-FFF2-40B4-BE49-F238E27FC236}">
                  <a16:creationId xmlns:a16="http://schemas.microsoft.com/office/drawing/2014/main" id="{6F00C27B-FF01-683D-8D50-07E551710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2" y="935"/>
              <a:ext cx="211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691" tIns="12691" rIns="12691" bIns="12691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 i="1">
                  <a:solidFill>
                    <a:schemeClr val="tx2"/>
                  </a:solidFill>
                </a:rPr>
                <a:t>y</a:t>
              </a:r>
              <a:endParaRPr lang="en-US" altLang="zh-CN" sz="2800" b="0">
                <a:solidFill>
                  <a:schemeClr val="tx2"/>
                </a:solidFill>
              </a:endParaRPr>
            </a:p>
          </p:txBody>
        </p:sp>
        <p:graphicFrame>
          <p:nvGraphicFramePr>
            <p:cNvPr id="49168" name="Object 46">
              <a:extLst>
                <a:ext uri="{FF2B5EF4-FFF2-40B4-BE49-F238E27FC236}">
                  <a16:creationId xmlns:a16="http://schemas.microsoft.com/office/drawing/2014/main" id="{7C1CED41-8386-360F-B4C4-6BCA8A60CC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60" y="2976"/>
            <a:ext cx="104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5042880" imgH="923400" progId="Equation.3">
                    <p:embed/>
                  </p:oleObj>
                </mc:Choice>
                <mc:Fallback>
                  <p:oleObj name="公式" r:id="rId7" imgW="5042880" imgH="92340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0" y="2976"/>
                          <a:ext cx="104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9" name="Line 50">
              <a:extLst>
                <a:ext uri="{FF2B5EF4-FFF2-40B4-BE49-F238E27FC236}">
                  <a16:creationId xmlns:a16="http://schemas.microsoft.com/office/drawing/2014/main" id="{1F0F28A6-25C9-4095-12E9-FFACEC96E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8" y="2159"/>
              <a:ext cx="15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7280" name="Text Box 64">
            <a:extLst>
              <a:ext uri="{FF2B5EF4-FFF2-40B4-BE49-F238E27FC236}">
                <a16:creationId xmlns:a16="http://schemas.microsoft.com/office/drawing/2014/main" id="{36C97D2B-489C-0785-6EC3-4B81540FF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5908675"/>
            <a:ext cx="1327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/>
              <a:t>图 </a:t>
            </a:r>
            <a:r>
              <a:rPr lang="en-US" altLang="zh-CN"/>
              <a:t>7—13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37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7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7" dur="2000"/>
                                        <p:tgtEl>
                                          <p:spTgt spid="137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2" dur="2000"/>
                                        <p:tgtEl>
                                          <p:spTgt spid="137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2000"/>
                                        <p:tgtEl>
                                          <p:spTgt spid="137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0"/>
                                        <p:tgtEl>
                                          <p:spTgt spid="1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7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0" grpId="0"/>
      <p:bldP spid="137259" grpId="0"/>
      <p:bldP spid="137260" grpId="0"/>
      <p:bldP spid="13728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62" name="Text Box 6">
            <a:extLst>
              <a:ext uri="{FF2B5EF4-FFF2-40B4-BE49-F238E27FC236}">
                <a16:creationId xmlns:a16="http://schemas.microsoft.com/office/drawing/2014/main" id="{B9C559E0-8B7C-1C83-33AE-AD3B88109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4350" y="2349500"/>
            <a:ext cx="3992563" cy="145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300">
                <a:solidFill>
                  <a:srgbClr val="000066"/>
                </a:solidFill>
                <a:latin typeface="Lucida Sans Unicode" panose="020B0602030504020204" pitchFamily="34" charset="0"/>
              </a:rPr>
              <a:t>系统受到摩擦力的作用，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300">
                <a:solidFill>
                  <a:srgbClr val="000066"/>
                </a:solidFill>
                <a:latin typeface="Lucida Sans Unicode" panose="020B0602030504020204" pitchFamily="34" charset="0"/>
              </a:rPr>
              <a:t>克服阻力作功，系统的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300">
                <a:solidFill>
                  <a:srgbClr val="000066"/>
                </a:solidFill>
                <a:latin typeface="Lucida Sans Unicode" panose="020B0602030504020204" pitchFamily="34" charset="0"/>
              </a:rPr>
              <a:t>振动能量转化为热能。</a:t>
            </a:r>
          </a:p>
        </p:txBody>
      </p:sp>
      <p:sp>
        <p:nvSpPr>
          <p:cNvPr id="173063" name="Text Box 7">
            <a:extLst>
              <a:ext uri="{FF2B5EF4-FFF2-40B4-BE49-F238E27FC236}">
                <a16:creationId xmlns:a16="http://schemas.microsoft.com/office/drawing/2014/main" id="{E7663C1D-5BC8-E6B3-C02A-A3916D3FD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0" y="3789363"/>
            <a:ext cx="3854450" cy="145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300">
                <a:solidFill>
                  <a:srgbClr val="000066"/>
                </a:solidFill>
                <a:latin typeface="Lucida Sans Unicode" panose="020B0602030504020204" pitchFamily="34" charset="0"/>
              </a:rPr>
              <a:t>振动以波的形式向外传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300">
                <a:solidFill>
                  <a:srgbClr val="000066"/>
                </a:solidFill>
                <a:latin typeface="Lucida Sans Unicode" panose="020B0602030504020204" pitchFamily="34" charset="0"/>
              </a:rPr>
              <a:t>播，使振动能量向周围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300">
                <a:solidFill>
                  <a:srgbClr val="000066"/>
                </a:solidFill>
                <a:latin typeface="Lucida Sans Unicode" panose="020B0602030504020204" pitchFamily="34" charset="0"/>
              </a:rPr>
              <a:t>幅射出去。</a:t>
            </a:r>
          </a:p>
        </p:txBody>
      </p:sp>
      <p:sp>
        <p:nvSpPr>
          <p:cNvPr id="173064" name="Rectangle 8">
            <a:extLst>
              <a:ext uri="{FF2B5EF4-FFF2-40B4-BE49-F238E27FC236}">
                <a16:creationId xmlns:a16="http://schemas.microsoft.com/office/drawing/2014/main" id="{A2189789-BD60-85AC-69A4-F241E7124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196975"/>
            <a:ext cx="33845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66"/>
                </a:solidFill>
                <a:latin typeface="华文中宋" panose="02010600040101010101" pitchFamily="2" charset="-122"/>
              </a:rPr>
              <a:t>一、阻尼振动                    </a:t>
            </a:r>
          </a:p>
        </p:txBody>
      </p:sp>
      <p:sp>
        <p:nvSpPr>
          <p:cNvPr id="173065" name="Rectangle 9">
            <a:extLst>
              <a:ext uri="{FF2B5EF4-FFF2-40B4-BE49-F238E27FC236}">
                <a16:creationId xmlns:a16="http://schemas.microsoft.com/office/drawing/2014/main" id="{FBABE35D-64DD-C819-71FA-85D7945A1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773238"/>
            <a:ext cx="741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阻尼振动 </a:t>
            </a:r>
            <a:r>
              <a:rPr lang="en-US" altLang="zh-CN" sz="2800">
                <a:solidFill>
                  <a:srgbClr val="000066"/>
                </a:solidFill>
                <a:latin typeface="华文中宋" panose="02010600040101010101" pitchFamily="2" charset="-122"/>
              </a:rPr>
              <a:t>—</a:t>
            </a:r>
            <a:r>
              <a:rPr lang="en-US" altLang="zh-CN" sz="2800">
                <a:solidFill>
                  <a:srgbClr val="000080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>
                <a:solidFill>
                  <a:srgbClr val="800000"/>
                </a:solidFill>
                <a:latin typeface="华文中宋" panose="02010600040101010101" pitchFamily="2" charset="-122"/>
              </a:rPr>
              <a:t>振幅</a:t>
            </a:r>
            <a:r>
              <a:rPr lang="en-US" altLang="zh-CN">
                <a:solidFill>
                  <a:srgbClr val="800000"/>
                </a:solidFill>
              </a:rPr>
              <a:t>(</a:t>
            </a:r>
            <a:r>
              <a:rPr lang="zh-CN" altLang="en-US">
                <a:solidFill>
                  <a:srgbClr val="800000"/>
                </a:solidFill>
                <a:latin typeface="华文中宋" panose="02010600040101010101" pitchFamily="2" charset="-122"/>
              </a:rPr>
              <a:t>或能量</a:t>
            </a:r>
            <a:r>
              <a:rPr lang="en-US" altLang="zh-CN">
                <a:solidFill>
                  <a:srgbClr val="800000"/>
                </a:solidFill>
              </a:rPr>
              <a:t>)</a:t>
            </a:r>
            <a:r>
              <a:rPr lang="zh-CN" altLang="en-US">
                <a:solidFill>
                  <a:srgbClr val="800000"/>
                </a:solidFill>
                <a:latin typeface="华文中宋" panose="02010600040101010101" pitchFamily="2" charset="-122"/>
              </a:rPr>
              <a:t>随时间减小的振动</a:t>
            </a:r>
            <a:r>
              <a:rPr lang="zh-CN" altLang="en-US">
                <a:solidFill>
                  <a:srgbClr val="000080"/>
                </a:solidFill>
                <a:latin typeface="华文中宋" panose="02010600040101010101" pitchFamily="2" charset="-122"/>
              </a:rPr>
              <a:t>。</a:t>
            </a:r>
          </a:p>
        </p:txBody>
      </p:sp>
      <p:sp>
        <p:nvSpPr>
          <p:cNvPr id="173066" name="Rectangle 10">
            <a:extLst>
              <a:ext uri="{FF2B5EF4-FFF2-40B4-BE49-F238E27FC236}">
                <a16:creationId xmlns:a16="http://schemas.microsoft.com/office/drawing/2014/main" id="{8F981C82-CD60-E195-D869-6AECC2690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333375"/>
            <a:ext cx="7920038" cy="5715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/>
          <a:p>
            <a:pPr eaLnBrk="1" hangingPunct="1">
              <a:defRPr/>
            </a:pPr>
            <a:r>
              <a:rPr lang="en-US" altLang="zh-CN" sz="34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§7</a:t>
            </a:r>
            <a:r>
              <a:rPr lang="zh-CN" altLang="en-US" sz="34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－</a:t>
            </a:r>
            <a:r>
              <a:rPr lang="en-US" altLang="zh-CN" sz="34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3</a:t>
            </a:r>
            <a:r>
              <a:rPr lang="en-US" altLang="zh-CN" sz="34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34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阻尼振动 受迫振动 共振 </a:t>
            </a:r>
          </a:p>
        </p:txBody>
      </p:sp>
      <p:sp>
        <p:nvSpPr>
          <p:cNvPr id="173067" name="Rectangle 11">
            <a:extLst>
              <a:ext uri="{FF2B5EF4-FFF2-40B4-BE49-F238E27FC236}">
                <a16:creationId xmlns:a16="http://schemas.microsoft.com/office/drawing/2014/main" id="{811DA937-5CAE-1C86-C1CE-CFA805260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00" y="2436813"/>
            <a:ext cx="25193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/>
              <a:t>摩擦阻尼：</a:t>
            </a:r>
          </a:p>
        </p:txBody>
      </p:sp>
      <p:sp>
        <p:nvSpPr>
          <p:cNvPr id="173068" name="Rectangle 12">
            <a:extLst>
              <a:ext uri="{FF2B5EF4-FFF2-40B4-BE49-F238E27FC236}">
                <a16:creationId xmlns:a16="http://schemas.microsoft.com/office/drawing/2014/main" id="{42BB6201-837A-26FE-612A-8FC22E9D3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00" y="3871913"/>
            <a:ext cx="2663825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/>
              <a:t>辐射阻尼：</a:t>
            </a:r>
          </a:p>
        </p:txBody>
      </p:sp>
      <p:grpSp>
        <p:nvGrpSpPr>
          <p:cNvPr id="173071" name="Group 15">
            <a:extLst>
              <a:ext uri="{FF2B5EF4-FFF2-40B4-BE49-F238E27FC236}">
                <a16:creationId xmlns:a16="http://schemas.microsoft.com/office/drawing/2014/main" id="{C032C6D8-400E-8BDC-AFFD-38396A296AE8}"/>
              </a:ext>
            </a:extLst>
          </p:cNvPr>
          <p:cNvGrpSpPr>
            <a:grpSpLocks/>
          </p:cNvGrpSpPr>
          <p:nvPr/>
        </p:nvGrpSpPr>
        <p:grpSpPr bwMode="auto">
          <a:xfrm>
            <a:off x="925513" y="2740025"/>
            <a:ext cx="2012950" cy="1511300"/>
            <a:chOff x="583" y="2115"/>
            <a:chExt cx="1268" cy="952"/>
          </a:xfrm>
        </p:grpSpPr>
        <p:sp>
          <p:nvSpPr>
            <p:cNvPr id="50186" name="AutoShape 5">
              <a:extLst>
                <a:ext uri="{FF2B5EF4-FFF2-40B4-BE49-F238E27FC236}">
                  <a16:creationId xmlns:a16="http://schemas.microsoft.com/office/drawing/2014/main" id="{A2BBD815-4B81-5D27-9324-47A2FAAE0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" y="2115"/>
              <a:ext cx="136" cy="952"/>
            </a:xfrm>
            <a:prstGeom prst="leftBrace">
              <a:avLst>
                <a:gd name="adj1" fmla="val 58333"/>
                <a:gd name="adj2" fmla="val 50000"/>
              </a:avLst>
            </a:prstGeom>
            <a:noFill/>
            <a:ln w="34925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0187" name="Text Box 14">
              <a:extLst>
                <a:ext uri="{FF2B5EF4-FFF2-40B4-BE49-F238E27FC236}">
                  <a16:creationId xmlns:a16="http://schemas.microsoft.com/office/drawing/2014/main" id="{3F03BFFA-EFDB-6271-24D1-B866DBD08E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" y="2440"/>
              <a:ext cx="1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000066"/>
                  </a:solidFill>
                </a:rPr>
                <a:t>阻尼振动        </a:t>
              </a:r>
            </a:p>
          </p:txBody>
        </p: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17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17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0"/>
                                        <p:tgtEl>
                                          <p:spTgt spid="17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7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7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7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3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2" grpId="0"/>
      <p:bldP spid="173063" grpId="0"/>
      <p:bldP spid="173064" grpId="0"/>
      <p:bldP spid="173065" grpId="0"/>
      <p:bldP spid="173066" grpId="0" autoUpdateAnimBg="0"/>
      <p:bldP spid="173067" grpId="0"/>
      <p:bldP spid="17306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294" name="Object 6">
            <a:extLst>
              <a:ext uri="{FF2B5EF4-FFF2-40B4-BE49-F238E27FC236}">
                <a16:creationId xmlns:a16="http://schemas.microsoft.com/office/drawing/2014/main" id="{962440AE-0543-F3E7-317C-1BE78E4CDC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3357563"/>
          <a:ext cx="3816350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897400" imgH="2235600" progId="Equation.3">
                  <p:embed/>
                </p:oleObj>
              </mc:Choice>
              <mc:Fallback>
                <p:oleObj name="公式" r:id="rId2" imgW="8897400" imgH="2235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357563"/>
                        <a:ext cx="3816350" cy="104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5" name="Object 7">
            <a:extLst>
              <a:ext uri="{FF2B5EF4-FFF2-40B4-BE49-F238E27FC236}">
                <a16:creationId xmlns:a16="http://schemas.microsoft.com/office/drawing/2014/main" id="{E493CB86-336E-DF51-BD68-3586DD4AFE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1268413"/>
          <a:ext cx="28797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297200" imgH="1846800" progId="Equation.3">
                  <p:embed/>
                </p:oleObj>
              </mc:Choice>
              <mc:Fallback>
                <p:oleObj name="公式" r:id="rId4" imgW="7297200" imgH="1846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268413"/>
                        <a:ext cx="28797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6" name="Object 8">
            <a:extLst>
              <a:ext uri="{FF2B5EF4-FFF2-40B4-BE49-F238E27FC236}">
                <a16:creationId xmlns:a16="http://schemas.microsoft.com/office/drawing/2014/main" id="{E3C8BB20-1F64-4F8D-0BEA-8A812B7FAE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2168525"/>
          <a:ext cx="3600450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370280" imgH="2235600" progId="Equation.3">
                  <p:embed/>
                </p:oleObj>
              </mc:Choice>
              <mc:Fallback>
                <p:oleObj name="公式" r:id="rId6" imgW="7370280" imgH="2235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168525"/>
                        <a:ext cx="3600450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8" name="Rectangle 10">
            <a:extLst>
              <a:ext uri="{FF2B5EF4-FFF2-40B4-BE49-F238E27FC236}">
                <a16:creationId xmlns:a16="http://schemas.microsoft.com/office/drawing/2014/main" id="{5289BA61-C325-8CDB-78B3-711870961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84238"/>
            <a:ext cx="4146550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有粘滞阻力时弹簧振子：        </a:t>
            </a:r>
          </a:p>
        </p:txBody>
      </p:sp>
      <p:sp>
        <p:nvSpPr>
          <p:cNvPr id="140299" name="Rectangle 11">
            <a:extLst>
              <a:ext uri="{FF2B5EF4-FFF2-40B4-BE49-F238E27FC236}">
                <a16:creationId xmlns:a16="http://schemas.microsoft.com/office/drawing/2014/main" id="{8D1EFA67-748B-7080-84BF-3F618717B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656013"/>
            <a:ext cx="2697162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运动微分方程：     </a:t>
            </a:r>
          </a:p>
        </p:txBody>
      </p:sp>
      <p:sp>
        <p:nvSpPr>
          <p:cNvPr id="140300" name="Rectangle 12">
            <a:extLst>
              <a:ext uri="{FF2B5EF4-FFF2-40B4-BE49-F238E27FC236}">
                <a16:creationId xmlns:a16="http://schemas.microsoft.com/office/drawing/2014/main" id="{D9E7CA76-D5FB-BB69-1AC9-945C0E30E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3" y="1484313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阻力：   </a:t>
            </a:r>
          </a:p>
        </p:txBody>
      </p:sp>
      <p:sp>
        <p:nvSpPr>
          <p:cNvPr id="140301" name="Rectangle 13">
            <a:extLst>
              <a:ext uri="{FF2B5EF4-FFF2-40B4-BE49-F238E27FC236}">
                <a16:creationId xmlns:a16="http://schemas.microsoft.com/office/drawing/2014/main" id="{90D0DC96-B9D5-FD76-F825-621CCC5F5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503488"/>
            <a:ext cx="2405062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动力学方程：     </a:t>
            </a:r>
          </a:p>
        </p:txBody>
      </p:sp>
      <p:sp>
        <p:nvSpPr>
          <p:cNvPr id="140302" name="Rectangle 14">
            <a:extLst>
              <a:ext uri="{FF2B5EF4-FFF2-40B4-BE49-F238E27FC236}">
                <a16:creationId xmlns:a16="http://schemas.microsoft.com/office/drawing/2014/main" id="{157394C9-43BC-138D-C925-94E72F75E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33375"/>
            <a:ext cx="4727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</a:rPr>
              <a:t>1.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阻尼振动运动微分方程       </a:t>
            </a:r>
          </a:p>
        </p:txBody>
      </p:sp>
      <p:sp>
        <p:nvSpPr>
          <p:cNvPr id="140326" name="Text Box 38">
            <a:extLst>
              <a:ext uri="{FF2B5EF4-FFF2-40B4-BE49-F238E27FC236}">
                <a16:creationId xmlns:a16="http://schemas.microsoft.com/office/drawing/2014/main" id="{CDED67F5-AB0F-0425-3A1C-FF82C0789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9213" y="2420938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8000"/>
                </a:solidFill>
                <a:ea typeface="新宋体" panose="02010609030101010101" pitchFamily="49" charset="-122"/>
              </a:rPr>
              <a:t>(7-36)   </a:t>
            </a:r>
          </a:p>
        </p:txBody>
      </p:sp>
      <p:sp>
        <p:nvSpPr>
          <p:cNvPr id="140327" name="Text Box 39">
            <a:extLst>
              <a:ext uri="{FF2B5EF4-FFF2-40B4-BE49-F238E27FC236}">
                <a16:creationId xmlns:a16="http://schemas.microsoft.com/office/drawing/2014/main" id="{89E5D89F-4E17-FA91-516F-155831F16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9213" y="36195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8000"/>
                </a:solidFill>
                <a:ea typeface="新宋体" panose="02010609030101010101" pitchFamily="49" charset="-122"/>
              </a:rPr>
              <a:t>(7-37)   </a:t>
            </a:r>
          </a:p>
        </p:txBody>
      </p:sp>
      <p:graphicFrame>
        <p:nvGraphicFramePr>
          <p:cNvPr id="140328" name="Object 40">
            <a:extLst>
              <a:ext uri="{FF2B5EF4-FFF2-40B4-BE49-F238E27FC236}">
                <a16:creationId xmlns:a16="http://schemas.microsoft.com/office/drawing/2014/main" id="{21BC1385-F3CA-728D-B06A-A34CA18605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1863" y="4724400"/>
          <a:ext cx="21272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042880" imgH="923400" progId="Equation.3">
                  <p:embed/>
                </p:oleObj>
              </mc:Choice>
              <mc:Fallback>
                <p:oleObj name="公式" r:id="rId8" imgW="5042880" imgH="9234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863" y="4724400"/>
                        <a:ext cx="212725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29" name="Rectangle 41">
            <a:extLst>
              <a:ext uri="{FF2B5EF4-FFF2-40B4-BE49-F238E27FC236}">
                <a16:creationId xmlns:a16="http://schemas.microsoft.com/office/drawing/2014/main" id="{722BC4A9-4433-98C5-F6BB-FCF045861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013" y="4724400"/>
            <a:ext cx="5761037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称</a:t>
            </a:r>
            <a:r>
              <a:rPr lang="zh-CN" altLang="en-US" sz="2300">
                <a:latin typeface="华文中宋" panose="02010600040101010101" pitchFamily="2" charset="-122"/>
              </a:rPr>
              <a:t>固有角频率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，由系统本身性质决定； </a:t>
            </a:r>
          </a:p>
        </p:txBody>
      </p:sp>
      <p:graphicFrame>
        <p:nvGraphicFramePr>
          <p:cNvPr id="140330" name="Object 42">
            <a:extLst>
              <a:ext uri="{FF2B5EF4-FFF2-40B4-BE49-F238E27FC236}">
                <a16:creationId xmlns:a16="http://schemas.microsoft.com/office/drawing/2014/main" id="{4990E804-D144-D169-8514-87A1676BE3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5359400"/>
          <a:ext cx="18732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291200" imgH="802080" progId="Equation.3">
                  <p:embed/>
                </p:oleObj>
              </mc:Choice>
              <mc:Fallback>
                <p:oleObj name="公式" r:id="rId10" imgW="4291200" imgH="80208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359400"/>
                        <a:ext cx="18732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0340" name="Group 52">
            <a:extLst>
              <a:ext uri="{FF2B5EF4-FFF2-40B4-BE49-F238E27FC236}">
                <a16:creationId xmlns:a16="http://schemas.microsoft.com/office/drawing/2014/main" id="{17244453-992B-636E-0EBD-752E6531AC26}"/>
              </a:ext>
            </a:extLst>
          </p:cNvPr>
          <p:cNvGrpSpPr>
            <a:grpSpLocks/>
          </p:cNvGrpSpPr>
          <p:nvPr/>
        </p:nvGrpSpPr>
        <p:grpSpPr bwMode="auto">
          <a:xfrm>
            <a:off x="3260725" y="5300663"/>
            <a:ext cx="5584825" cy="442912"/>
            <a:chOff x="1927" y="3578"/>
            <a:chExt cx="3518" cy="279"/>
          </a:xfrm>
        </p:grpSpPr>
        <p:sp>
          <p:nvSpPr>
            <p:cNvPr id="51237" name="Rectangle 46">
              <a:extLst>
                <a:ext uri="{FF2B5EF4-FFF2-40B4-BE49-F238E27FC236}">
                  <a16:creationId xmlns:a16="http://schemas.microsoft.com/office/drawing/2014/main" id="{EF5643D0-324F-FD4B-9C95-79642A6C1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3578"/>
              <a:ext cx="3518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称</a:t>
              </a:r>
              <a:r>
                <a:rPr lang="zh-CN" altLang="en-US" sz="2300">
                  <a:latin typeface="华文中宋" panose="02010600040101010101" pitchFamily="2" charset="-122"/>
                </a:rPr>
                <a:t>阻尼因子</a:t>
              </a:r>
              <a:r>
                <a:rPr lang="zh-CN" altLang="en-US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，由阻力系数      决定。        </a:t>
              </a:r>
            </a:p>
          </p:txBody>
        </p:sp>
        <p:graphicFrame>
          <p:nvGraphicFramePr>
            <p:cNvPr id="51238" name="Object 47">
              <a:extLst>
                <a:ext uri="{FF2B5EF4-FFF2-40B4-BE49-F238E27FC236}">
                  <a16:creationId xmlns:a16="http://schemas.microsoft.com/office/drawing/2014/main" id="{78025E34-10DA-1C49-D1D8-089C902CC7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66" y="3625"/>
            <a:ext cx="219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15000" imgH="486000" progId="Equation.3">
                    <p:embed/>
                  </p:oleObj>
                </mc:Choice>
                <mc:Fallback>
                  <p:oleObj name="公式" r:id="rId12" imgW="315000" imgH="48600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6" y="3625"/>
                          <a:ext cx="219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0343" name="Group 55">
            <a:extLst>
              <a:ext uri="{FF2B5EF4-FFF2-40B4-BE49-F238E27FC236}">
                <a16:creationId xmlns:a16="http://schemas.microsoft.com/office/drawing/2014/main" id="{1F99C896-0653-7189-CCC5-56875A50AEC6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622300"/>
            <a:ext cx="3600450" cy="1454150"/>
            <a:chOff x="3288" y="392"/>
            <a:chExt cx="2268" cy="916"/>
          </a:xfrm>
        </p:grpSpPr>
        <p:sp>
          <p:nvSpPr>
            <p:cNvPr id="51218" name="Line 18">
              <a:extLst>
                <a:ext uri="{FF2B5EF4-FFF2-40B4-BE49-F238E27FC236}">
                  <a16:creationId xmlns:a16="http://schemas.microsoft.com/office/drawing/2014/main" id="{57E3F21E-2404-E4C5-8D15-E224154EC4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981"/>
              <a:ext cx="1298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9" name="Text Box 19">
              <a:extLst>
                <a:ext uri="{FF2B5EF4-FFF2-40B4-BE49-F238E27FC236}">
                  <a16:creationId xmlns:a16="http://schemas.microsoft.com/office/drawing/2014/main" id="{27D1D48F-E881-00A8-A2DC-8E6E987973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5" y="1020"/>
              <a:ext cx="2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51220" name="Text Box 20">
              <a:extLst>
                <a:ext uri="{FF2B5EF4-FFF2-40B4-BE49-F238E27FC236}">
                  <a16:creationId xmlns:a16="http://schemas.microsoft.com/office/drawing/2014/main" id="{4EF181C4-89B6-53EA-EC1A-E2D3FEBF7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1" y="990"/>
              <a:ext cx="317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600" i="1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51221" name="Line 21">
              <a:extLst>
                <a:ext uri="{FF2B5EF4-FFF2-40B4-BE49-F238E27FC236}">
                  <a16:creationId xmlns:a16="http://schemas.microsoft.com/office/drawing/2014/main" id="{0FA1B9A3-E5CF-9C5E-CCE8-8718946DA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1" y="844"/>
              <a:ext cx="24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2" name="Freeform 23">
              <a:extLst>
                <a:ext uri="{FF2B5EF4-FFF2-40B4-BE49-F238E27FC236}">
                  <a16:creationId xmlns:a16="http://schemas.microsoft.com/office/drawing/2014/main" id="{A62227F9-EBFA-B964-CE98-47FA17AD0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736"/>
              <a:ext cx="717" cy="245"/>
            </a:xfrm>
            <a:custGeom>
              <a:avLst/>
              <a:gdLst>
                <a:gd name="T0" fmla="*/ 0 w 1057"/>
                <a:gd name="T1" fmla="*/ 18 h 285"/>
                <a:gd name="T2" fmla="*/ 1 w 1057"/>
                <a:gd name="T3" fmla="*/ 3 h 285"/>
                <a:gd name="T4" fmla="*/ 1 w 1057"/>
                <a:gd name="T5" fmla="*/ 28 h 285"/>
                <a:gd name="T6" fmla="*/ 1 w 1057"/>
                <a:gd name="T7" fmla="*/ 3 h 285"/>
                <a:gd name="T8" fmla="*/ 1 w 1057"/>
                <a:gd name="T9" fmla="*/ 28 h 285"/>
                <a:gd name="T10" fmla="*/ 1 w 1057"/>
                <a:gd name="T11" fmla="*/ 3 h 285"/>
                <a:gd name="T12" fmla="*/ 1 w 1057"/>
                <a:gd name="T13" fmla="*/ 28 h 285"/>
                <a:gd name="T14" fmla="*/ 2 w 1057"/>
                <a:gd name="T15" fmla="*/ 3 h 285"/>
                <a:gd name="T16" fmla="*/ 2 w 1057"/>
                <a:gd name="T17" fmla="*/ 28 h 285"/>
                <a:gd name="T18" fmla="*/ 2 w 1057"/>
                <a:gd name="T19" fmla="*/ 3 h 285"/>
                <a:gd name="T20" fmla="*/ 3 w 1057"/>
                <a:gd name="T21" fmla="*/ 28 h 285"/>
                <a:gd name="T22" fmla="*/ 3 w 1057"/>
                <a:gd name="T23" fmla="*/ 13 h 28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57" h="285">
                  <a:moveTo>
                    <a:pt x="0" y="177"/>
                  </a:moveTo>
                  <a:cubicBezTo>
                    <a:pt x="14" y="151"/>
                    <a:pt x="53" y="0"/>
                    <a:pt x="82" y="15"/>
                  </a:cubicBezTo>
                  <a:cubicBezTo>
                    <a:pt x="111" y="30"/>
                    <a:pt x="140" y="267"/>
                    <a:pt x="174" y="267"/>
                  </a:cubicBezTo>
                  <a:cubicBezTo>
                    <a:pt x="208" y="267"/>
                    <a:pt x="250" y="16"/>
                    <a:pt x="285" y="15"/>
                  </a:cubicBezTo>
                  <a:cubicBezTo>
                    <a:pt x="320" y="14"/>
                    <a:pt x="350" y="261"/>
                    <a:pt x="384" y="261"/>
                  </a:cubicBezTo>
                  <a:cubicBezTo>
                    <a:pt x="418" y="261"/>
                    <a:pt x="453" y="15"/>
                    <a:pt x="488" y="15"/>
                  </a:cubicBezTo>
                  <a:cubicBezTo>
                    <a:pt x="523" y="15"/>
                    <a:pt x="560" y="261"/>
                    <a:pt x="594" y="261"/>
                  </a:cubicBezTo>
                  <a:cubicBezTo>
                    <a:pt x="628" y="261"/>
                    <a:pt x="658" y="14"/>
                    <a:pt x="691" y="15"/>
                  </a:cubicBezTo>
                  <a:cubicBezTo>
                    <a:pt x="724" y="16"/>
                    <a:pt x="758" y="267"/>
                    <a:pt x="792" y="267"/>
                  </a:cubicBezTo>
                  <a:cubicBezTo>
                    <a:pt x="826" y="267"/>
                    <a:pt x="864" y="15"/>
                    <a:pt x="895" y="15"/>
                  </a:cubicBezTo>
                  <a:cubicBezTo>
                    <a:pt x="926" y="15"/>
                    <a:pt x="949" y="249"/>
                    <a:pt x="976" y="267"/>
                  </a:cubicBezTo>
                  <a:cubicBezTo>
                    <a:pt x="1003" y="285"/>
                    <a:pt x="1043" y="147"/>
                    <a:pt x="1057" y="123"/>
                  </a:cubicBezTo>
                </a:path>
              </a:pathLst>
            </a:custGeom>
            <a:noFill/>
            <a:ln w="38100">
              <a:solidFill>
                <a:srgbClr val="A75DF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3" name="Line 24">
              <a:extLst>
                <a:ext uri="{FF2B5EF4-FFF2-40B4-BE49-F238E27FC236}">
                  <a16:creationId xmlns:a16="http://schemas.microsoft.com/office/drawing/2014/main" id="{94EA97A4-898F-6283-0C1C-813935660C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1059"/>
              <a:ext cx="2069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4" name="Line 25">
              <a:extLst>
                <a:ext uri="{FF2B5EF4-FFF2-40B4-BE49-F238E27FC236}">
                  <a16:creationId xmlns:a16="http://schemas.microsoft.com/office/drawing/2014/main" id="{292594E5-B63F-4A1D-1278-DA314D0DC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92"/>
              <a:ext cx="0" cy="658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5" name="Text Box 26">
              <a:extLst>
                <a:ext uri="{FF2B5EF4-FFF2-40B4-BE49-F238E27FC236}">
                  <a16:creationId xmlns:a16="http://schemas.microsoft.com/office/drawing/2014/main" id="{9D925670-FEEA-B637-9A7F-646A8D049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6" y="392"/>
              <a:ext cx="3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>
                  <a:solidFill>
                    <a:srgbClr val="9727D5"/>
                  </a:solidFill>
                </a:rPr>
                <a:t>k</a:t>
              </a:r>
            </a:p>
          </p:txBody>
        </p:sp>
        <p:sp>
          <p:nvSpPr>
            <p:cNvPr id="51226" name="Line 28">
              <a:extLst>
                <a:ext uri="{FF2B5EF4-FFF2-40B4-BE49-F238E27FC236}">
                  <a16:creationId xmlns:a16="http://schemas.microsoft.com/office/drawing/2014/main" id="{DE9D45FE-B311-728E-5DF2-7E5F0C314A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2" y="414"/>
              <a:ext cx="0" cy="24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7" name="Line 29">
              <a:extLst>
                <a:ext uri="{FF2B5EF4-FFF2-40B4-BE49-F238E27FC236}">
                  <a16:creationId xmlns:a16="http://schemas.microsoft.com/office/drawing/2014/main" id="{5DD5FF2F-9B9C-43A0-AE6D-7024C11E90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1" y="414"/>
              <a:ext cx="0" cy="24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8" name="Line 30">
              <a:extLst>
                <a:ext uri="{FF2B5EF4-FFF2-40B4-BE49-F238E27FC236}">
                  <a16:creationId xmlns:a16="http://schemas.microsoft.com/office/drawing/2014/main" id="{D82F651D-FA76-A06D-87BF-E620B9BD3E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4" y="515"/>
              <a:ext cx="24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9" name="Line 31">
              <a:extLst>
                <a:ext uri="{FF2B5EF4-FFF2-40B4-BE49-F238E27FC236}">
                  <a16:creationId xmlns:a16="http://schemas.microsoft.com/office/drawing/2014/main" id="{7D84EF98-9854-C28C-24E3-8DDB119790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18" y="515"/>
              <a:ext cx="24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30" name="Text Box 32">
              <a:extLst>
                <a:ext uri="{FF2B5EF4-FFF2-40B4-BE49-F238E27FC236}">
                  <a16:creationId xmlns:a16="http://schemas.microsoft.com/office/drawing/2014/main" id="{B1612484-385A-93C9-A0C0-BCF15D9A59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3" y="518"/>
              <a:ext cx="3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/>
                <a:t>f</a:t>
              </a:r>
              <a:r>
                <a:rPr lang="en-US" altLang="zh-CN" sz="500" i="1"/>
                <a:t> </a:t>
              </a:r>
              <a:r>
                <a:rPr lang="en-US" altLang="zh-CN" sz="3000" baseline="-25000"/>
                <a:t>r</a:t>
              </a:r>
            </a:p>
          </p:txBody>
        </p:sp>
        <p:sp>
          <p:nvSpPr>
            <p:cNvPr id="140321" name="Oval 33">
              <a:extLst>
                <a:ext uri="{FF2B5EF4-FFF2-40B4-BE49-F238E27FC236}">
                  <a16:creationId xmlns:a16="http://schemas.microsoft.com/office/drawing/2014/main" id="{96B22827-C405-7EAC-C4B0-DE1B51CB8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674"/>
              <a:ext cx="365" cy="371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1232" name="Text Box 34">
              <a:extLst>
                <a:ext uri="{FF2B5EF4-FFF2-40B4-BE49-F238E27FC236}">
                  <a16:creationId xmlns:a16="http://schemas.microsoft.com/office/drawing/2014/main" id="{9A06131E-081B-E779-3B4D-0E112B75EE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3" y="673"/>
              <a:ext cx="31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600" i="1">
                  <a:solidFill>
                    <a:srgbClr val="000080"/>
                  </a:solidFill>
                </a:rPr>
                <a:t>m</a:t>
              </a:r>
            </a:p>
          </p:txBody>
        </p:sp>
        <p:sp>
          <p:nvSpPr>
            <p:cNvPr id="51233" name="Oval 35">
              <a:extLst>
                <a:ext uri="{FF2B5EF4-FFF2-40B4-BE49-F238E27FC236}">
                  <a16:creationId xmlns:a16="http://schemas.microsoft.com/office/drawing/2014/main" id="{67560104-02B2-16CD-58E7-1EF47EDED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674"/>
              <a:ext cx="364" cy="371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234" name="Text Box 36">
              <a:extLst>
                <a:ext uri="{FF2B5EF4-FFF2-40B4-BE49-F238E27FC236}">
                  <a16:creationId xmlns:a16="http://schemas.microsoft.com/office/drawing/2014/main" id="{B6815AD8-9DC4-F88B-89D9-1FEF3434D3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3" y="731"/>
              <a:ext cx="36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600" i="1">
                  <a:solidFill>
                    <a:srgbClr val="000080"/>
                  </a:solidFill>
                </a:rPr>
                <a:t>m</a:t>
              </a:r>
            </a:p>
          </p:txBody>
        </p:sp>
        <p:graphicFrame>
          <p:nvGraphicFramePr>
            <p:cNvPr id="51235" name="Object 49">
              <a:extLst>
                <a:ext uri="{FF2B5EF4-FFF2-40B4-BE49-F238E27FC236}">
                  <a16:creationId xmlns:a16="http://schemas.microsoft.com/office/drawing/2014/main" id="{BE1B35D1-0A2C-CD3D-E961-B521DECA8C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7" y="572"/>
            <a:ext cx="49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697040" imgH="510480" progId="Equation.3">
                    <p:embed/>
                  </p:oleObj>
                </mc:Choice>
                <mc:Fallback>
                  <p:oleObj name="公式" r:id="rId14" imgW="1697040" imgH="510480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572"/>
                          <a:ext cx="496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36" name="Line 50">
              <a:extLst>
                <a:ext uri="{FF2B5EF4-FFF2-40B4-BE49-F238E27FC236}">
                  <a16:creationId xmlns:a16="http://schemas.microsoft.com/office/drawing/2014/main" id="{A1312DED-05B4-45B1-7F98-D5597F766E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" y="845"/>
              <a:ext cx="18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0341" name="Text Box 53">
            <a:extLst>
              <a:ext uri="{FF2B5EF4-FFF2-40B4-BE49-F238E27FC236}">
                <a16:creationId xmlns:a16="http://schemas.microsoft.com/office/drawing/2014/main" id="{171B7C91-5D06-136D-BD68-3FCD161F5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292600"/>
            <a:ext cx="1717675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</a:rPr>
              <a:t>其中：        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4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4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0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4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4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4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4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4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0"/>
                                        <p:tgtEl>
                                          <p:spTgt spid="14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0"/>
                                        <p:tgtEl>
                                          <p:spTgt spid="14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4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4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14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0"/>
                                        <p:tgtEl>
                                          <p:spTgt spid="140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140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0"/>
                                        <p:tgtEl>
                                          <p:spTgt spid="14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8" grpId="0"/>
      <p:bldP spid="140299" grpId="0"/>
      <p:bldP spid="140300" grpId="0"/>
      <p:bldP spid="140301" grpId="0"/>
      <p:bldP spid="140302" grpId="0"/>
      <p:bldP spid="140326" grpId="0"/>
      <p:bldP spid="140327" grpId="0"/>
      <p:bldP spid="140329" grpId="0"/>
      <p:bldP spid="14034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23" name="Rectangle 11">
            <a:extLst>
              <a:ext uri="{FF2B5EF4-FFF2-40B4-BE49-F238E27FC236}">
                <a16:creationId xmlns:a16="http://schemas.microsoft.com/office/drawing/2014/main" id="{43102D59-9ADC-3927-11E6-6488FD000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3" y="944563"/>
            <a:ext cx="3703637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方程</a:t>
            </a:r>
            <a:r>
              <a:rPr lang="zh-CN" altLang="en-US" sz="2300">
                <a:solidFill>
                  <a:srgbClr val="000080"/>
                </a:solidFill>
                <a:latin typeface="华文中宋" panose="02010600040101010101" pitchFamily="2" charset="-122"/>
              </a:rPr>
              <a:t> </a:t>
            </a:r>
            <a:r>
              <a:rPr lang="en-US" altLang="zh-CN" sz="2300">
                <a:solidFill>
                  <a:srgbClr val="006600"/>
                </a:solidFill>
              </a:rPr>
              <a:t>(7-37)</a:t>
            </a:r>
            <a:r>
              <a:rPr lang="en-US" altLang="zh-CN" sz="2300">
                <a:solidFill>
                  <a:srgbClr val="000080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的解为</a:t>
            </a:r>
            <a:r>
              <a:rPr lang="zh-CN" altLang="en-US" sz="2300">
                <a:solidFill>
                  <a:srgbClr val="000080"/>
                </a:solidFill>
                <a:latin typeface="华文中宋" panose="02010600040101010101" pitchFamily="2" charset="-122"/>
              </a:rPr>
              <a:t>：</a:t>
            </a:r>
          </a:p>
        </p:txBody>
      </p:sp>
      <p:graphicFrame>
        <p:nvGraphicFramePr>
          <p:cNvPr id="141324" name="Object 12">
            <a:extLst>
              <a:ext uri="{FF2B5EF4-FFF2-40B4-BE49-F238E27FC236}">
                <a16:creationId xmlns:a16="http://schemas.microsoft.com/office/drawing/2014/main" id="{5264A5E2-2BE5-263B-8E78-C05120A8C0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836613"/>
          <a:ext cx="395922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503640" imgH="1069200" progId="Equation.3">
                  <p:embed/>
                </p:oleObj>
              </mc:Choice>
              <mc:Fallback>
                <p:oleObj name="公式" r:id="rId2" imgW="9503640" imgH="1069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836613"/>
                        <a:ext cx="3959225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7" name="Object 15">
            <a:extLst>
              <a:ext uri="{FF2B5EF4-FFF2-40B4-BE49-F238E27FC236}">
                <a16:creationId xmlns:a16="http://schemas.microsoft.com/office/drawing/2014/main" id="{846A6D62-5598-E247-F638-E1AC082CA0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55763" y="1482725"/>
          <a:ext cx="2411412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527440" imgH="1166400" progId="Equation.3">
                  <p:embed/>
                </p:oleObj>
              </mc:Choice>
              <mc:Fallback>
                <p:oleObj name="公式" r:id="rId4" imgW="5527440" imgH="1166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1482725"/>
                        <a:ext cx="2411412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28" name="Rectangle 16">
            <a:extLst>
              <a:ext uri="{FF2B5EF4-FFF2-40B4-BE49-F238E27FC236}">
                <a16:creationId xmlns:a16="http://schemas.microsoft.com/office/drawing/2014/main" id="{9CE0F645-3EF7-55CB-A033-FACCF0543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566863"/>
            <a:ext cx="4038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800">
                <a:latin typeface="华文中宋" panose="02010600040101010101" pitchFamily="2" charset="-122"/>
              </a:rPr>
              <a:t>—</a:t>
            </a:r>
            <a:r>
              <a:rPr lang="en-US" altLang="zh-CN" sz="1500"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latin typeface="华文中宋" panose="02010600040101010101" pitchFamily="2" charset="-122"/>
              </a:rPr>
              <a:t>阻尼振动角频率</a:t>
            </a:r>
          </a:p>
        </p:txBody>
      </p:sp>
      <p:grpSp>
        <p:nvGrpSpPr>
          <p:cNvPr id="141358" name="Group 46">
            <a:extLst>
              <a:ext uri="{FF2B5EF4-FFF2-40B4-BE49-F238E27FC236}">
                <a16:creationId xmlns:a16="http://schemas.microsoft.com/office/drawing/2014/main" id="{FFB05CDD-47D5-DAF7-1340-8F71F5857833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260350"/>
            <a:ext cx="4344988" cy="604838"/>
            <a:chOff x="204" y="189"/>
            <a:chExt cx="2737" cy="381"/>
          </a:xfrm>
        </p:grpSpPr>
        <p:sp>
          <p:nvSpPr>
            <p:cNvPr id="52254" name="Rectangle 14">
              <a:extLst>
                <a:ext uri="{FF2B5EF4-FFF2-40B4-BE49-F238E27FC236}">
                  <a16:creationId xmlns:a16="http://schemas.microsoft.com/office/drawing/2014/main" id="{08117460-008E-6405-BB90-08AA43274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256"/>
              <a:ext cx="27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000066"/>
                  </a:solidFill>
                  <a:latin typeface="华文中宋" panose="02010600040101010101" pitchFamily="2" charset="-122"/>
                </a:rPr>
                <a:t>2. </a:t>
              </a:r>
              <a:r>
                <a:rPr lang="zh-CN" altLang="en-US">
                  <a:solidFill>
                    <a:srgbClr val="000066"/>
                  </a:solidFill>
                  <a:latin typeface="华文中宋" panose="02010600040101010101" pitchFamily="2" charset="-122"/>
                </a:rPr>
                <a:t>弱阻尼 </a:t>
              </a:r>
              <a:r>
                <a:rPr lang="en-US" altLang="zh-CN">
                  <a:solidFill>
                    <a:srgbClr val="000066"/>
                  </a:solidFill>
                </a:rPr>
                <a:t>(</a:t>
              </a:r>
              <a:r>
                <a:rPr lang="en-US" altLang="zh-CN">
                  <a:solidFill>
                    <a:srgbClr val="000066"/>
                  </a:solidFill>
                  <a:latin typeface="华文中宋" panose="02010600040101010101" pitchFamily="2" charset="-122"/>
                </a:rPr>
                <a:t>             </a:t>
              </a:r>
              <a:r>
                <a:rPr lang="en-US" altLang="zh-CN">
                  <a:solidFill>
                    <a:srgbClr val="000066"/>
                  </a:solidFill>
                </a:rPr>
                <a:t>)</a:t>
              </a:r>
              <a:r>
                <a:rPr lang="en-US" altLang="zh-CN">
                  <a:solidFill>
                    <a:srgbClr val="000066"/>
                  </a:solidFill>
                  <a:latin typeface="华文中宋" panose="02010600040101010101" pitchFamily="2" charset="-122"/>
                </a:rPr>
                <a:t>             </a:t>
              </a:r>
            </a:p>
          </p:txBody>
        </p:sp>
        <p:graphicFrame>
          <p:nvGraphicFramePr>
            <p:cNvPr id="52255" name="Object 21">
              <a:extLst>
                <a:ext uri="{FF2B5EF4-FFF2-40B4-BE49-F238E27FC236}">
                  <a16:creationId xmlns:a16="http://schemas.microsoft.com/office/drawing/2014/main" id="{E4D369E7-784E-29E1-729A-EE2496BFBB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66" y="189"/>
            <a:ext cx="846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933640" imgH="1166400" progId="Equation.3">
                    <p:embed/>
                  </p:oleObj>
                </mc:Choice>
                <mc:Fallback>
                  <p:oleObj name="公式" r:id="rId6" imgW="2933640" imgH="11664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6" y="189"/>
                          <a:ext cx="846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1334" name="Text Box 22">
            <a:extLst>
              <a:ext uri="{FF2B5EF4-FFF2-40B4-BE49-F238E27FC236}">
                <a16:creationId xmlns:a16="http://schemas.microsoft.com/office/drawing/2014/main" id="{1F6CECF2-E008-2DE8-1D42-3F47F9A44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941388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6600"/>
                </a:solidFill>
                <a:ea typeface="新宋体" panose="02010609030101010101" pitchFamily="49" charset="-122"/>
              </a:rPr>
              <a:t>(7-38)   </a:t>
            </a:r>
          </a:p>
        </p:txBody>
      </p:sp>
      <p:sp>
        <p:nvSpPr>
          <p:cNvPr id="141335" name="Text Box 23">
            <a:extLst>
              <a:ext uri="{FF2B5EF4-FFF2-40B4-BE49-F238E27FC236}">
                <a16:creationId xmlns:a16="http://schemas.microsoft.com/office/drawing/2014/main" id="{476E6BC8-6B43-88DA-8873-CBA5ADFAB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643063"/>
            <a:ext cx="1571625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</a:rPr>
              <a:t>其中：       </a:t>
            </a:r>
          </a:p>
        </p:txBody>
      </p:sp>
      <p:sp>
        <p:nvSpPr>
          <p:cNvPr id="141336" name="Text Box 24">
            <a:extLst>
              <a:ext uri="{FF2B5EF4-FFF2-40B4-BE49-F238E27FC236}">
                <a16:creationId xmlns:a16="http://schemas.microsoft.com/office/drawing/2014/main" id="{813F6D49-38E2-4DF7-E45A-9BE4FE93A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158115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6600"/>
                </a:solidFill>
                <a:ea typeface="新宋体" panose="02010609030101010101" pitchFamily="49" charset="-122"/>
              </a:rPr>
              <a:t>(7-39)   </a:t>
            </a:r>
          </a:p>
        </p:txBody>
      </p:sp>
      <p:graphicFrame>
        <p:nvGraphicFramePr>
          <p:cNvPr id="141337" name="Object 25">
            <a:extLst>
              <a:ext uri="{FF2B5EF4-FFF2-40B4-BE49-F238E27FC236}">
                <a16:creationId xmlns:a16="http://schemas.microsoft.com/office/drawing/2014/main" id="{875D1AFF-6598-5363-CD1B-31226E95AC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9563" y="2205038"/>
          <a:ext cx="3424237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976160" imgH="2357280" progId="Equation.3">
                  <p:embed/>
                </p:oleObj>
              </mc:Choice>
              <mc:Fallback>
                <p:oleObj name="公式" r:id="rId8" imgW="7976160" imgH="23572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9563" y="2205038"/>
                        <a:ext cx="3424237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38" name="Rectangle 26">
            <a:extLst>
              <a:ext uri="{FF2B5EF4-FFF2-40B4-BE49-F238E27FC236}">
                <a16:creationId xmlns:a16="http://schemas.microsoft.com/office/drawing/2014/main" id="{21A737A4-EB0B-0454-5649-6ED05E17B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2405063"/>
            <a:ext cx="32400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800">
                <a:latin typeface="华文中宋" panose="02010600040101010101" pitchFamily="2" charset="-122"/>
              </a:rPr>
              <a:t>—</a:t>
            </a:r>
            <a:r>
              <a:rPr lang="en-US" altLang="zh-CN" sz="1500"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latin typeface="华文中宋" panose="02010600040101010101" pitchFamily="2" charset="-122"/>
              </a:rPr>
              <a:t>阻尼振动周期</a:t>
            </a:r>
          </a:p>
        </p:txBody>
      </p:sp>
      <p:sp>
        <p:nvSpPr>
          <p:cNvPr id="141340" name="Text Box 28">
            <a:extLst>
              <a:ext uri="{FF2B5EF4-FFF2-40B4-BE49-F238E27FC236}">
                <a16:creationId xmlns:a16="http://schemas.microsoft.com/office/drawing/2014/main" id="{FBB7E3A7-68DC-AAD5-7A7F-B2A6981E6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2420938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6600"/>
                </a:solidFill>
                <a:ea typeface="新宋体" panose="02010609030101010101" pitchFamily="49" charset="-122"/>
              </a:rPr>
              <a:t>(7-40)   </a:t>
            </a:r>
          </a:p>
        </p:txBody>
      </p:sp>
      <p:sp>
        <p:nvSpPr>
          <p:cNvPr id="141341" name="Rectangle 29">
            <a:extLst>
              <a:ext uri="{FF2B5EF4-FFF2-40B4-BE49-F238E27FC236}">
                <a16:creationId xmlns:a16="http://schemas.microsoft.com/office/drawing/2014/main" id="{C4D34811-25B1-B89D-A47B-A11A44B0F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" y="3440113"/>
            <a:ext cx="2498725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弱阻尼曲线：      </a:t>
            </a:r>
          </a:p>
        </p:txBody>
      </p:sp>
      <p:grpSp>
        <p:nvGrpSpPr>
          <p:cNvPr id="141359" name="Group 47">
            <a:extLst>
              <a:ext uri="{FF2B5EF4-FFF2-40B4-BE49-F238E27FC236}">
                <a16:creationId xmlns:a16="http://schemas.microsoft.com/office/drawing/2014/main" id="{CA86F621-BE9B-A000-641B-53EF32F4F447}"/>
              </a:ext>
            </a:extLst>
          </p:cNvPr>
          <p:cNvGrpSpPr>
            <a:grpSpLocks/>
          </p:cNvGrpSpPr>
          <p:nvPr/>
        </p:nvGrpSpPr>
        <p:grpSpPr bwMode="auto">
          <a:xfrm>
            <a:off x="4860925" y="3141663"/>
            <a:ext cx="4032250" cy="2736850"/>
            <a:chOff x="2971" y="2205"/>
            <a:chExt cx="2540" cy="1724"/>
          </a:xfrm>
        </p:grpSpPr>
        <p:sp>
          <p:nvSpPr>
            <p:cNvPr id="52240" name="Line 30">
              <a:extLst>
                <a:ext uri="{FF2B5EF4-FFF2-40B4-BE49-F238E27FC236}">
                  <a16:creationId xmlns:a16="http://schemas.microsoft.com/office/drawing/2014/main" id="{15986C88-BFCA-3E21-5B1B-B864691845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6" y="3166"/>
              <a:ext cx="2351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1" name="Line 31">
              <a:extLst>
                <a:ext uri="{FF2B5EF4-FFF2-40B4-BE49-F238E27FC236}">
                  <a16:creationId xmlns:a16="http://schemas.microsoft.com/office/drawing/2014/main" id="{7413773A-4051-B105-88ED-0E86F692DF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9" y="2340"/>
              <a:ext cx="0" cy="1529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2" name="Freeform 32">
              <a:extLst>
                <a:ext uri="{FF2B5EF4-FFF2-40B4-BE49-F238E27FC236}">
                  <a16:creationId xmlns:a16="http://schemas.microsoft.com/office/drawing/2014/main" id="{B9B0B2EB-F5FB-11A6-BD40-1ABADC1F0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3216"/>
              <a:ext cx="1884" cy="566"/>
            </a:xfrm>
            <a:custGeom>
              <a:avLst/>
              <a:gdLst>
                <a:gd name="T0" fmla="*/ 0 w 1808"/>
                <a:gd name="T1" fmla="*/ 69 h 658"/>
                <a:gd name="T2" fmla="*/ 1383 w 1808"/>
                <a:gd name="T3" fmla="*/ 28 h 658"/>
                <a:gd name="T4" fmla="*/ 2420 w 1808"/>
                <a:gd name="T5" fmla="*/ 8 h 658"/>
                <a:gd name="T6" fmla="*/ 3354 w 1808"/>
                <a:gd name="T7" fmla="*/ 0 h 6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08" h="658">
                  <a:moveTo>
                    <a:pt x="0" y="658"/>
                  </a:moveTo>
                  <a:cubicBezTo>
                    <a:pt x="124" y="593"/>
                    <a:pt x="529" y="363"/>
                    <a:pt x="746" y="266"/>
                  </a:cubicBezTo>
                  <a:cubicBezTo>
                    <a:pt x="963" y="169"/>
                    <a:pt x="1128" y="117"/>
                    <a:pt x="1305" y="73"/>
                  </a:cubicBezTo>
                  <a:cubicBezTo>
                    <a:pt x="1482" y="29"/>
                    <a:pt x="1703" y="15"/>
                    <a:pt x="1808" y="0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3" name="Freeform 33">
              <a:extLst>
                <a:ext uri="{FF2B5EF4-FFF2-40B4-BE49-F238E27FC236}">
                  <a16:creationId xmlns:a16="http://schemas.microsoft.com/office/drawing/2014/main" id="{6F54F952-23DA-2705-965E-33D0D5D37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6" y="2517"/>
              <a:ext cx="1989" cy="1151"/>
            </a:xfrm>
            <a:custGeom>
              <a:avLst/>
              <a:gdLst>
                <a:gd name="T0" fmla="*/ 0 w 1908"/>
                <a:gd name="T1" fmla="*/ 79 h 1338"/>
                <a:gd name="T2" fmla="*/ 254 w 1908"/>
                <a:gd name="T3" fmla="*/ 9 h 1338"/>
                <a:gd name="T4" fmla="*/ 590 w 1908"/>
                <a:gd name="T5" fmla="*/ 135 h 1338"/>
                <a:gd name="T6" fmla="*/ 1059 w 1908"/>
                <a:gd name="T7" fmla="*/ 34 h 1338"/>
                <a:gd name="T8" fmla="*/ 1397 w 1908"/>
                <a:gd name="T9" fmla="*/ 112 h 1338"/>
                <a:gd name="T10" fmla="*/ 1846 w 1908"/>
                <a:gd name="T11" fmla="*/ 55 h 1338"/>
                <a:gd name="T12" fmla="*/ 2117 w 1908"/>
                <a:gd name="T13" fmla="*/ 98 h 1338"/>
                <a:gd name="T14" fmla="*/ 2397 w 1908"/>
                <a:gd name="T15" fmla="*/ 65 h 1338"/>
                <a:gd name="T16" fmla="*/ 2656 w 1908"/>
                <a:gd name="T17" fmla="*/ 89 h 1338"/>
                <a:gd name="T18" fmla="*/ 2902 w 1908"/>
                <a:gd name="T19" fmla="*/ 71 h 1338"/>
                <a:gd name="T20" fmla="*/ 3090 w 1908"/>
                <a:gd name="T21" fmla="*/ 85 h 1338"/>
                <a:gd name="T22" fmla="*/ 3284 w 1908"/>
                <a:gd name="T23" fmla="*/ 74 h 1338"/>
                <a:gd name="T24" fmla="*/ 3448 w 1908"/>
                <a:gd name="T25" fmla="*/ 83 h 1338"/>
                <a:gd name="T26" fmla="*/ 3560 w 1908"/>
                <a:gd name="T27" fmla="*/ 79 h 133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908" h="1338">
                  <a:moveTo>
                    <a:pt x="0" y="755"/>
                  </a:moveTo>
                  <a:cubicBezTo>
                    <a:pt x="23" y="644"/>
                    <a:pt x="83" y="0"/>
                    <a:pt x="136" y="91"/>
                  </a:cubicBezTo>
                  <a:cubicBezTo>
                    <a:pt x="189" y="182"/>
                    <a:pt x="244" y="1260"/>
                    <a:pt x="316" y="1299"/>
                  </a:cubicBezTo>
                  <a:cubicBezTo>
                    <a:pt x="388" y="1338"/>
                    <a:pt x="496" y="366"/>
                    <a:pt x="568" y="327"/>
                  </a:cubicBezTo>
                  <a:cubicBezTo>
                    <a:pt x="640" y="288"/>
                    <a:pt x="678" y="1030"/>
                    <a:pt x="748" y="1063"/>
                  </a:cubicBezTo>
                  <a:cubicBezTo>
                    <a:pt x="818" y="1096"/>
                    <a:pt x="923" y="549"/>
                    <a:pt x="988" y="527"/>
                  </a:cubicBezTo>
                  <a:cubicBezTo>
                    <a:pt x="1053" y="505"/>
                    <a:pt x="1087" y="916"/>
                    <a:pt x="1136" y="931"/>
                  </a:cubicBezTo>
                  <a:cubicBezTo>
                    <a:pt x="1185" y="946"/>
                    <a:pt x="1236" y="633"/>
                    <a:pt x="1284" y="619"/>
                  </a:cubicBezTo>
                  <a:cubicBezTo>
                    <a:pt x="1332" y="605"/>
                    <a:pt x="1379" y="836"/>
                    <a:pt x="1424" y="847"/>
                  </a:cubicBezTo>
                  <a:cubicBezTo>
                    <a:pt x="1469" y="858"/>
                    <a:pt x="1517" y="688"/>
                    <a:pt x="1556" y="683"/>
                  </a:cubicBezTo>
                  <a:cubicBezTo>
                    <a:pt x="1595" y="678"/>
                    <a:pt x="1622" y="812"/>
                    <a:pt x="1656" y="815"/>
                  </a:cubicBezTo>
                  <a:cubicBezTo>
                    <a:pt x="1690" y="818"/>
                    <a:pt x="1728" y="708"/>
                    <a:pt x="1760" y="703"/>
                  </a:cubicBezTo>
                  <a:cubicBezTo>
                    <a:pt x="1792" y="698"/>
                    <a:pt x="1823" y="778"/>
                    <a:pt x="1848" y="787"/>
                  </a:cubicBezTo>
                  <a:cubicBezTo>
                    <a:pt x="1873" y="796"/>
                    <a:pt x="1896" y="762"/>
                    <a:pt x="1908" y="755"/>
                  </a:cubicBezTo>
                </a:path>
              </a:pathLst>
            </a:custGeom>
            <a:noFill/>
            <a:ln w="38100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4" name="Freeform 34">
              <a:extLst>
                <a:ext uri="{FF2B5EF4-FFF2-40B4-BE49-F238E27FC236}">
                  <a16:creationId xmlns:a16="http://schemas.microsoft.com/office/drawing/2014/main" id="{FF35B581-01C4-7D5A-D4CF-255E5E3D729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46" y="2541"/>
              <a:ext cx="1884" cy="567"/>
            </a:xfrm>
            <a:custGeom>
              <a:avLst/>
              <a:gdLst>
                <a:gd name="T0" fmla="*/ 0 w 1808"/>
                <a:gd name="T1" fmla="*/ 71 h 658"/>
                <a:gd name="T2" fmla="*/ 1383 w 1808"/>
                <a:gd name="T3" fmla="*/ 29 h 658"/>
                <a:gd name="T4" fmla="*/ 2420 w 1808"/>
                <a:gd name="T5" fmla="*/ 8 h 658"/>
                <a:gd name="T6" fmla="*/ 3354 w 1808"/>
                <a:gd name="T7" fmla="*/ 0 h 6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08" h="658">
                  <a:moveTo>
                    <a:pt x="0" y="658"/>
                  </a:moveTo>
                  <a:cubicBezTo>
                    <a:pt x="124" y="593"/>
                    <a:pt x="529" y="363"/>
                    <a:pt x="746" y="266"/>
                  </a:cubicBezTo>
                  <a:cubicBezTo>
                    <a:pt x="963" y="169"/>
                    <a:pt x="1128" y="117"/>
                    <a:pt x="1305" y="73"/>
                  </a:cubicBezTo>
                  <a:cubicBezTo>
                    <a:pt x="1482" y="29"/>
                    <a:pt x="1703" y="15"/>
                    <a:pt x="1808" y="0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5" name="Rectangle 35">
              <a:extLst>
                <a:ext uri="{FF2B5EF4-FFF2-40B4-BE49-F238E27FC236}">
                  <a16:creationId xmlns:a16="http://schemas.microsoft.com/office/drawing/2014/main" id="{5C459C27-0B1A-F858-6126-79F97DD7B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5" y="220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52246" name="Rectangle 36">
              <a:extLst>
                <a:ext uri="{FF2B5EF4-FFF2-40B4-BE49-F238E27FC236}">
                  <a16:creationId xmlns:a16="http://schemas.microsoft.com/office/drawing/2014/main" id="{D6672836-9F14-1ED4-2E69-1BA1D6612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" y="3151"/>
              <a:ext cx="1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52247" name="Rectangle 37">
              <a:extLst>
                <a:ext uri="{FF2B5EF4-FFF2-40B4-BE49-F238E27FC236}">
                  <a16:creationId xmlns:a16="http://schemas.microsoft.com/office/drawing/2014/main" id="{6FEDB959-1AC0-590E-2CEE-C98506BB4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3130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1"/>
                  </a:solidFill>
                </a:rPr>
                <a:t>O</a:t>
              </a:r>
            </a:p>
          </p:txBody>
        </p:sp>
        <p:graphicFrame>
          <p:nvGraphicFramePr>
            <p:cNvPr id="52248" name="Object 38">
              <a:extLst>
                <a:ext uri="{FF2B5EF4-FFF2-40B4-BE49-F238E27FC236}">
                  <a16:creationId xmlns:a16="http://schemas.microsoft.com/office/drawing/2014/main" id="{EEE8D772-D5BB-B359-A6FD-0F1E0EB8A8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87" y="2370"/>
            <a:ext cx="1724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8048880" imgH="1069200" progId="Equation.3">
                    <p:embed/>
                  </p:oleObj>
                </mc:Choice>
                <mc:Fallback>
                  <p:oleObj name="公式" r:id="rId10" imgW="8048880" imgH="106920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2370"/>
                          <a:ext cx="1724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49" name="Object 39">
              <a:extLst>
                <a:ext uri="{FF2B5EF4-FFF2-40B4-BE49-F238E27FC236}">
                  <a16:creationId xmlns:a16="http://schemas.microsoft.com/office/drawing/2014/main" id="{41C19D70-D530-65C6-F99F-81AA451916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78" y="3600"/>
            <a:ext cx="681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224520" imgH="1069200" progId="Equation.3">
                    <p:embed/>
                  </p:oleObj>
                </mc:Choice>
                <mc:Fallback>
                  <p:oleObj name="公式" r:id="rId12" imgW="3224520" imgH="106920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3600"/>
                          <a:ext cx="681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50" name="Line 40">
              <a:extLst>
                <a:ext uri="{FF2B5EF4-FFF2-40B4-BE49-F238E27FC236}">
                  <a16:creationId xmlns:a16="http://schemas.microsoft.com/office/drawing/2014/main" id="{1724F9B5-257E-3341-67AD-722F176886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6" y="2505"/>
              <a:ext cx="350" cy="331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1" name="Freeform 41">
              <a:extLst>
                <a:ext uri="{FF2B5EF4-FFF2-40B4-BE49-F238E27FC236}">
                  <a16:creationId xmlns:a16="http://schemas.microsoft.com/office/drawing/2014/main" id="{4B248713-9A65-C2EF-87D5-2AC0B9B217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2733"/>
              <a:ext cx="216" cy="182"/>
            </a:xfrm>
            <a:custGeom>
              <a:avLst/>
              <a:gdLst>
                <a:gd name="T0" fmla="*/ 0 w 208"/>
                <a:gd name="T1" fmla="*/ 21 h 212"/>
                <a:gd name="T2" fmla="*/ 367 w 208"/>
                <a:gd name="T3" fmla="*/ 0 h 2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8" h="212">
                  <a:moveTo>
                    <a:pt x="0" y="212"/>
                  </a:moveTo>
                  <a:lnTo>
                    <a:pt x="208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2" name="Line 42">
              <a:extLst>
                <a:ext uri="{FF2B5EF4-FFF2-40B4-BE49-F238E27FC236}">
                  <a16:creationId xmlns:a16="http://schemas.microsoft.com/office/drawing/2014/main" id="{81BE99D0-0C00-4978-3448-9950AAC9E3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9" y="2704"/>
              <a:ext cx="291" cy="2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3" name="Line 43">
              <a:extLst>
                <a:ext uri="{FF2B5EF4-FFF2-40B4-BE49-F238E27FC236}">
                  <a16:creationId xmlns:a16="http://schemas.microsoft.com/office/drawing/2014/main" id="{DC76D22C-4EDC-D9D7-283F-2656D00E7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2" y="3572"/>
              <a:ext cx="164" cy="15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1357" name="Rectangle 45">
            <a:extLst>
              <a:ext uri="{FF2B5EF4-FFF2-40B4-BE49-F238E27FC236}">
                <a16:creationId xmlns:a16="http://schemas.microsoft.com/office/drawing/2014/main" id="{C96AA324-6EF9-7D90-1B7D-B8DDC1738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" y="3987800"/>
            <a:ext cx="4530725" cy="1601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buClr>
                <a:srgbClr val="FF3300"/>
              </a:buClr>
              <a:buFont typeface="Wingdings" panose="05000000000000000000" pitchFamily="2" charset="2"/>
              <a:buChar char="v"/>
            </a:pPr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振幅随时间</a:t>
            </a:r>
            <a:r>
              <a:rPr lang="zh-CN" altLang="en-US" sz="1200">
                <a:latin typeface="华文中宋" panose="02010600040101010101" pitchFamily="2" charset="-122"/>
              </a:rPr>
              <a:t> </a:t>
            </a:r>
            <a:r>
              <a:rPr lang="en-US" altLang="zh-CN" sz="3000" i="1"/>
              <a:t>t</a:t>
            </a:r>
            <a:r>
              <a:rPr lang="en-US" altLang="zh-CN" sz="1200">
                <a:solidFill>
                  <a:srgbClr val="000066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作指数衰减；</a:t>
            </a:r>
          </a:p>
          <a:p>
            <a:pPr>
              <a:buClr>
                <a:srgbClr val="FF3300"/>
              </a:buClr>
              <a:buFont typeface="Wingdings" panose="05000000000000000000" pitchFamily="2" charset="2"/>
              <a:buChar char="v"/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 近似为简谐振动；</a:t>
            </a:r>
          </a:p>
          <a:p>
            <a:pPr>
              <a:buClr>
                <a:srgbClr val="FF3300"/>
              </a:buClr>
              <a:buFont typeface="Wingdings" panose="05000000000000000000" pitchFamily="2" charset="2"/>
              <a:buChar char="v"/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 阻尼振动周期比系统的</a:t>
            </a:r>
          </a:p>
          <a:p>
            <a:pPr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    固有周期长。              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1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4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4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4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4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4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14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4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0"/>
                                        <p:tgtEl>
                                          <p:spTgt spid="14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4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41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41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0"/>
                                        <p:tgtEl>
                                          <p:spTgt spid="141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3000"/>
                                        <p:tgtEl>
                                          <p:spTgt spid="141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23" grpId="0"/>
      <p:bldP spid="141328" grpId="0"/>
      <p:bldP spid="141334" grpId="0"/>
      <p:bldP spid="141335" grpId="0"/>
      <p:bldP spid="141336" grpId="0"/>
      <p:bldP spid="141338" grpId="0"/>
      <p:bldP spid="141340" grpId="0"/>
      <p:bldP spid="141341" grpId="0"/>
      <p:bldP spid="14135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4" name="Rectangle 4">
            <a:extLst>
              <a:ext uri="{FF2B5EF4-FFF2-40B4-BE49-F238E27FC236}">
                <a16:creationId xmlns:a16="http://schemas.microsoft.com/office/drawing/2014/main" id="{ACAD0587-CF33-B344-FB1A-06E0FCDCB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15925"/>
            <a:ext cx="4387850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3.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临界阻尼和过阻尼                </a:t>
            </a:r>
          </a:p>
        </p:txBody>
      </p:sp>
      <p:sp>
        <p:nvSpPr>
          <p:cNvPr id="143369" name="Rectangle 9">
            <a:extLst>
              <a:ext uri="{FF2B5EF4-FFF2-40B4-BE49-F238E27FC236}">
                <a16:creationId xmlns:a16="http://schemas.microsoft.com/office/drawing/2014/main" id="{431B603B-CC33-2E93-16DC-50BAD71B1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276475"/>
            <a:ext cx="4392612" cy="124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193675" indent="-193675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>
              <a:lnSpc>
                <a:spcPct val="110000"/>
              </a:lnSpc>
            </a:pPr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      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临界阻尼是物体不作</a:t>
            </a:r>
          </a:p>
          <a:p>
            <a:pPr eaLnBrk="1">
              <a:lnSpc>
                <a:spcPct val="110000"/>
              </a:lnSpc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往复运动的极限，从周期</a:t>
            </a:r>
          </a:p>
          <a:p>
            <a:pPr eaLnBrk="1">
              <a:lnSpc>
                <a:spcPct val="110000"/>
              </a:lnSpc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振动变为非周期振动。</a:t>
            </a:r>
          </a:p>
        </p:txBody>
      </p:sp>
      <p:sp>
        <p:nvSpPr>
          <p:cNvPr id="143370" name="Rectangle 10">
            <a:extLst>
              <a:ext uri="{FF2B5EF4-FFF2-40B4-BE49-F238E27FC236}">
                <a16:creationId xmlns:a16="http://schemas.microsoft.com/office/drawing/2014/main" id="{70938F2D-D86C-C810-380B-82C21A61F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" y="4508500"/>
            <a:ext cx="7731125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     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振动从开始最大位移缓慢回到平衡位置，不再做</a:t>
            </a:r>
          </a:p>
          <a:p>
            <a:pPr algn="just">
              <a:lnSpc>
                <a:spcPct val="110000"/>
              </a:lnSpc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往复运动，非周期运动。</a:t>
            </a:r>
          </a:p>
        </p:txBody>
      </p:sp>
      <p:grpSp>
        <p:nvGrpSpPr>
          <p:cNvPr id="143398" name="Group 38">
            <a:extLst>
              <a:ext uri="{FF2B5EF4-FFF2-40B4-BE49-F238E27FC236}">
                <a16:creationId xmlns:a16="http://schemas.microsoft.com/office/drawing/2014/main" id="{C996E8F6-0E73-1810-2F7B-3977F8525F28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1112838"/>
            <a:ext cx="3800475" cy="473075"/>
            <a:chOff x="521" y="692"/>
            <a:chExt cx="2491" cy="315"/>
          </a:xfrm>
        </p:grpSpPr>
        <p:sp>
          <p:nvSpPr>
            <p:cNvPr id="53278" name="Rectangle 6">
              <a:extLst>
                <a:ext uri="{FF2B5EF4-FFF2-40B4-BE49-F238E27FC236}">
                  <a16:creationId xmlns:a16="http://schemas.microsoft.com/office/drawing/2014/main" id="{6A6B46DC-432D-7FFD-D732-A532D0051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693"/>
              <a:ext cx="1692" cy="2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：弱阻尼；          </a:t>
              </a:r>
            </a:p>
          </p:txBody>
        </p:sp>
        <p:graphicFrame>
          <p:nvGraphicFramePr>
            <p:cNvPr id="53279" name="Object 27">
              <a:extLst>
                <a:ext uri="{FF2B5EF4-FFF2-40B4-BE49-F238E27FC236}">
                  <a16:creationId xmlns:a16="http://schemas.microsoft.com/office/drawing/2014/main" id="{837C7B59-113B-7AA8-A3B5-8FEE341301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1" y="692"/>
            <a:ext cx="862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642400" imgH="802080" progId="Equation.3">
                    <p:embed/>
                  </p:oleObj>
                </mc:Choice>
                <mc:Fallback>
                  <p:oleObj name="公式" r:id="rId2" imgW="2642400" imgH="80208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692"/>
                          <a:ext cx="862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399" name="Group 39">
            <a:extLst>
              <a:ext uri="{FF2B5EF4-FFF2-40B4-BE49-F238E27FC236}">
                <a16:creationId xmlns:a16="http://schemas.microsoft.com/office/drawing/2014/main" id="{526B2B12-C63A-E473-5FFF-12FFB1AFA16B}"/>
              </a:ext>
            </a:extLst>
          </p:cNvPr>
          <p:cNvGrpSpPr>
            <a:grpSpLocks/>
          </p:cNvGrpSpPr>
          <p:nvPr/>
        </p:nvGrpSpPr>
        <p:grpSpPr bwMode="auto">
          <a:xfrm>
            <a:off x="798513" y="1760538"/>
            <a:ext cx="3844925" cy="492125"/>
            <a:chOff x="503" y="1116"/>
            <a:chExt cx="2490" cy="314"/>
          </a:xfrm>
        </p:grpSpPr>
        <p:graphicFrame>
          <p:nvGraphicFramePr>
            <p:cNvPr id="53276" name="Object 5">
              <a:extLst>
                <a:ext uri="{FF2B5EF4-FFF2-40B4-BE49-F238E27FC236}">
                  <a16:creationId xmlns:a16="http://schemas.microsoft.com/office/drawing/2014/main" id="{67387874-2749-1646-2774-229953FF6C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3" y="1116"/>
            <a:ext cx="880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691000" imgH="802080" progId="Equation.3">
                    <p:embed/>
                  </p:oleObj>
                </mc:Choice>
                <mc:Fallback>
                  <p:oleObj name="公式" r:id="rId4" imgW="2691000" imgH="80208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" y="1116"/>
                          <a:ext cx="880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7" name="Rectangle 29">
              <a:extLst>
                <a:ext uri="{FF2B5EF4-FFF2-40B4-BE49-F238E27FC236}">
                  <a16:creationId xmlns:a16="http://schemas.microsoft.com/office/drawing/2014/main" id="{EBBD9AFA-6F9F-2373-6A12-3A2CCF2F9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3" y="1124"/>
              <a:ext cx="1680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sz="2300">
                  <a:solidFill>
                    <a:srgbClr val="000066"/>
                  </a:solidFill>
                </a:rPr>
                <a:t>：临界阻尼；          </a:t>
              </a:r>
            </a:p>
          </p:txBody>
        </p:sp>
      </p:grpSp>
      <p:grpSp>
        <p:nvGrpSpPr>
          <p:cNvPr id="143400" name="Group 40">
            <a:extLst>
              <a:ext uri="{FF2B5EF4-FFF2-40B4-BE49-F238E27FC236}">
                <a16:creationId xmlns:a16="http://schemas.microsoft.com/office/drawing/2014/main" id="{1CA880CF-FC2B-4101-127F-551C40B64BE7}"/>
              </a:ext>
            </a:extLst>
          </p:cNvPr>
          <p:cNvGrpSpPr>
            <a:grpSpLocks/>
          </p:cNvGrpSpPr>
          <p:nvPr/>
        </p:nvGrpSpPr>
        <p:grpSpPr bwMode="auto">
          <a:xfrm>
            <a:off x="808038" y="3933825"/>
            <a:ext cx="3692525" cy="501650"/>
            <a:chOff x="509" y="2609"/>
            <a:chExt cx="2354" cy="316"/>
          </a:xfrm>
        </p:grpSpPr>
        <p:graphicFrame>
          <p:nvGraphicFramePr>
            <p:cNvPr id="53274" name="Object 28">
              <a:extLst>
                <a:ext uri="{FF2B5EF4-FFF2-40B4-BE49-F238E27FC236}">
                  <a16:creationId xmlns:a16="http://schemas.microsoft.com/office/drawing/2014/main" id="{D4D5B85D-84E5-F009-558C-592CC0352A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9" y="2621"/>
            <a:ext cx="829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642400" imgH="802080" progId="Equation.3">
                    <p:embed/>
                  </p:oleObj>
                </mc:Choice>
                <mc:Fallback>
                  <p:oleObj name="公式" r:id="rId6" imgW="2642400" imgH="80208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" y="2621"/>
                          <a:ext cx="829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5" name="Rectangle 30">
              <a:extLst>
                <a:ext uri="{FF2B5EF4-FFF2-40B4-BE49-F238E27FC236}">
                  <a16:creationId xmlns:a16="http://schemas.microsoft.com/office/drawing/2014/main" id="{77567ECE-9E38-5076-DF3A-A0947CC6C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5" y="2609"/>
              <a:ext cx="1588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sz="2300">
                  <a:solidFill>
                    <a:srgbClr val="000080"/>
                  </a:solidFill>
                </a:rPr>
                <a:t>：过阻尼；            </a:t>
              </a:r>
            </a:p>
          </p:txBody>
        </p:sp>
      </p:grpSp>
      <p:grpSp>
        <p:nvGrpSpPr>
          <p:cNvPr id="143406" name="Group 46">
            <a:extLst>
              <a:ext uri="{FF2B5EF4-FFF2-40B4-BE49-F238E27FC236}">
                <a16:creationId xmlns:a16="http://schemas.microsoft.com/office/drawing/2014/main" id="{1EB12FC5-CBFA-BE77-9FED-CDB98C8935AD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1766888"/>
            <a:ext cx="3379788" cy="1243012"/>
            <a:chOff x="3198" y="1121"/>
            <a:chExt cx="2129" cy="783"/>
          </a:xfrm>
        </p:grpSpPr>
        <p:sp>
          <p:nvSpPr>
            <p:cNvPr id="53271" name="Freeform 21">
              <a:extLst>
                <a:ext uri="{FF2B5EF4-FFF2-40B4-BE49-F238E27FC236}">
                  <a16:creationId xmlns:a16="http://schemas.microsoft.com/office/drawing/2014/main" id="{C9FA7164-6CCA-94D0-6D40-6809CB930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" y="1121"/>
              <a:ext cx="883" cy="783"/>
            </a:xfrm>
            <a:custGeom>
              <a:avLst/>
              <a:gdLst>
                <a:gd name="T0" fmla="*/ 0 w 848"/>
                <a:gd name="T1" fmla="*/ 0 h 725"/>
                <a:gd name="T2" fmla="*/ 409 w 848"/>
                <a:gd name="T3" fmla="*/ 540 h 725"/>
                <a:gd name="T4" fmla="*/ 1017 w 848"/>
                <a:gd name="T5" fmla="*/ 2016 h 725"/>
                <a:gd name="T6" fmla="*/ 1554 w 848"/>
                <a:gd name="T7" fmla="*/ 2246 h 7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48" h="725">
                  <a:moveTo>
                    <a:pt x="0" y="0"/>
                  </a:moveTo>
                  <a:cubicBezTo>
                    <a:pt x="37" y="28"/>
                    <a:pt x="131" y="64"/>
                    <a:pt x="223" y="170"/>
                  </a:cubicBezTo>
                  <a:cubicBezTo>
                    <a:pt x="315" y="276"/>
                    <a:pt x="450" y="545"/>
                    <a:pt x="554" y="635"/>
                  </a:cubicBezTo>
                  <a:cubicBezTo>
                    <a:pt x="658" y="725"/>
                    <a:pt x="787" y="694"/>
                    <a:pt x="848" y="709"/>
                  </a:cubicBezTo>
                </a:path>
              </a:pathLst>
            </a:custGeom>
            <a:noFill/>
            <a:ln w="3175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2" name="Line 22">
              <a:extLst>
                <a:ext uri="{FF2B5EF4-FFF2-40B4-BE49-F238E27FC236}">
                  <a16:creationId xmlns:a16="http://schemas.microsoft.com/office/drawing/2014/main" id="{986DB909-AA00-90C7-9B37-9FC1665844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1" y="1389"/>
              <a:ext cx="363" cy="272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3" name="Rectangle 25">
              <a:extLst>
                <a:ext uri="{FF2B5EF4-FFF2-40B4-BE49-F238E27FC236}">
                  <a16:creationId xmlns:a16="http://schemas.microsoft.com/office/drawing/2014/main" id="{9B7AA90E-DF65-0936-1BED-427529AA1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9" y="1247"/>
              <a:ext cx="1358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300">
                  <a:solidFill>
                    <a:srgbClr val="007000"/>
                  </a:solidFill>
                </a:rPr>
                <a:t>临界阻尼           </a:t>
              </a:r>
            </a:p>
          </p:txBody>
        </p:sp>
      </p:grpSp>
      <p:grpSp>
        <p:nvGrpSpPr>
          <p:cNvPr id="143405" name="Group 45">
            <a:extLst>
              <a:ext uri="{FF2B5EF4-FFF2-40B4-BE49-F238E27FC236}">
                <a16:creationId xmlns:a16="http://schemas.microsoft.com/office/drawing/2014/main" id="{44C18E0F-CF79-C971-6BBC-ABBF2B080370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1552575"/>
            <a:ext cx="2989263" cy="1358900"/>
            <a:chOff x="3198" y="972"/>
            <a:chExt cx="1883" cy="856"/>
          </a:xfrm>
        </p:grpSpPr>
        <p:sp>
          <p:nvSpPr>
            <p:cNvPr id="53268" name="Rectangle 24">
              <a:extLst>
                <a:ext uri="{FF2B5EF4-FFF2-40B4-BE49-F238E27FC236}">
                  <a16:creationId xmlns:a16="http://schemas.microsoft.com/office/drawing/2014/main" id="{4DD8858D-AB4F-1884-1941-17AA1F123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9" y="972"/>
              <a:ext cx="1036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300">
                  <a:solidFill>
                    <a:schemeClr val="accent2"/>
                  </a:solidFill>
                </a:rPr>
                <a:t>过阻尼        </a:t>
              </a:r>
            </a:p>
          </p:txBody>
        </p:sp>
        <p:sp>
          <p:nvSpPr>
            <p:cNvPr id="53269" name="Freeform 14">
              <a:extLst>
                <a:ext uri="{FF2B5EF4-FFF2-40B4-BE49-F238E27FC236}">
                  <a16:creationId xmlns:a16="http://schemas.microsoft.com/office/drawing/2014/main" id="{A8F911DF-81AC-A111-D211-A010A52D1D2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198" y="1117"/>
              <a:ext cx="1883" cy="711"/>
            </a:xfrm>
            <a:custGeom>
              <a:avLst/>
              <a:gdLst>
                <a:gd name="T0" fmla="*/ 0 w 1808"/>
                <a:gd name="T1" fmla="*/ 2101 h 658"/>
                <a:gd name="T2" fmla="*/ 1371 w 1808"/>
                <a:gd name="T3" fmla="*/ 847 h 658"/>
                <a:gd name="T4" fmla="*/ 2401 w 1808"/>
                <a:gd name="T5" fmla="*/ 233 h 658"/>
                <a:gd name="T6" fmla="*/ 3326 w 1808"/>
                <a:gd name="T7" fmla="*/ 0 h 6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08" h="658">
                  <a:moveTo>
                    <a:pt x="0" y="658"/>
                  </a:moveTo>
                  <a:cubicBezTo>
                    <a:pt x="124" y="593"/>
                    <a:pt x="529" y="363"/>
                    <a:pt x="746" y="266"/>
                  </a:cubicBezTo>
                  <a:cubicBezTo>
                    <a:pt x="963" y="169"/>
                    <a:pt x="1128" y="117"/>
                    <a:pt x="1305" y="73"/>
                  </a:cubicBezTo>
                  <a:cubicBezTo>
                    <a:pt x="1482" y="29"/>
                    <a:pt x="1703" y="15"/>
                    <a:pt x="1808" y="0"/>
                  </a:cubicBezTo>
                </a:path>
              </a:pathLst>
            </a:custGeom>
            <a:noFill/>
            <a:ln w="317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0" name="Line 31">
              <a:extLst>
                <a:ext uri="{FF2B5EF4-FFF2-40B4-BE49-F238E27FC236}">
                  <a16:creationId xmlns:a16="http://schemas.microsoft.com/office/drawing/2014/main" id="{3B747919-78B3-A9CD-C24F-B144711136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1" y="1117"/>
              <a:ext cx="318" cy="22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401" name="Group 41">
            <a:extLst>
              <a:ext uri="{FF2B5EF4-FFF2-40B4-BE49-F238E27FC236}">
                <a16:creationId xmlns:a16="http://schemas.microsoft.com/office/drawing/2014/main" id="{48C7D710-965F-1B37-7CD9-DFD64CFBB989}"/>
              </a:ext>
            </a:extLst>
          </p:cNvPr>
          <p:cNvGrpSpPr>
            <a:grpSpLocks/>
          </p:cNvGrpSpPr>
          <p:nvPr/>
        </p:nvGrpSpPr>
        <p:grpSpPr bwMode="auto">
          <a:xfrm>
            <a:off x="4714875" y="1052513"/>
            <a:ext cx="4130675" cy="2919412"/>
            <a:chOff x="2970" y="671"/>
            <a:chExt cx="2602" cy="1839"/>
          </a:xfrm>
        </p:grpSpPr>
        <p:sp>
          <p:nvSpPr>
            <p:cNvPr id="53259" name="Line 12">
              <a:extLst>
                <a:ext uri="{FF2B5EF4-FFF2-40B4-BE49-F238E27FC236}">
                  <a16:creationId xmlns:a16="http://schemas.microsoft.com/office/drawing/2014/main" id="{D3259A59-A4AA-CBC9-DB46-C96FE13B6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0" y="1881"/>
              <a:ext cx="23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0" name="Line 13">
              <a:extLst>
                <a:ext uri="{FF2B5EF4-FFF2-40B4-BE49-F238E27FC236}">
                  <a16:creationId xmlns:a16="http://schemas.microsoft.com/office/drawing/2014/main" id="{5E39AC6E-DECC-49BE-42EC-540E4C9E8D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0" y="844"/>
              <a:ext cx="0" cy="1637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1" name="Freeform 15">
              <a:extLst>
                <a:ext uri="{FF2B5EF4-FFF2-40B4-BE49-F238E27FC236}">
                  <a16:creationId xmlns:a16="http://schemas.microsoft.com/office/drawing/2014/main" id="{FC87AF02-A38C-16B0-BD1D-EDD549834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5" y="1066"/>
              <a:ext cx="1988" cy="1444"/>
            </a:xfrm>
            <a:custGeom>
              <a:avLst/>
              <a:gdLst>
                <a:gd name="T0" fmla="*/ 0 w 1908"/>
                <a:gd name="T1" fmla="*/ 2370 h 1338"/>
                <a:gd name="T2" fmla="*/ 252 w 1908"/>
                <a:gd name="T3" fmla="*/ 284 h 1338"/>
                <a:gd name="T4" fmla="*/ 586 w 1908"/>
                <a:gd name="T5" fmla="*/ 4081 h 1338"/>
                <a:gd name="T6" fmla="*/ 1051 w 1908"/>
                <a:gd name="T7" fmla="*/ 1027 h 1338"/>
                <a:gd name="T8" fmla="*/ 1383 w 1908"/>
                <a:gd name="T9" fmla="*/ 3335 h 1338"/>
                <a:gd name="T10" fmla="*/ 1830 w 1908"/>
                <a:gd name="T11" fmla="*/ 1657 h 1338"/>
                <a:gd name="T12" fmla="*/ 2106 w 1908"/>
                <a:gd name="T13" fmla="*/ 2925 h 1338"/>
                <a:gd name="T14" fmla="*/ 2378 w 1908"/>
                <a:gd name="T15" fmla="*/ 1946 h 1338"/>
                <a:gd name="T16" fmla="*/ 2637 w 1908"/>
                <a:gd name="T17" fmla="*/ 2655 h 1338"/>
                <a:gd name="T18" fmla="*/ 2880 w 1908"/>
                <a:gd name="T19" fmla="*/ 2140 h 1338"/>
                <a:gd name="T20" fmla="*/ 3063 w 1908"/>
                <a:gd name="T21" fmla="*/ 2558 h 1338"/>
                <a:gd name="T22" fmla="*/ 3258 w 1908"/>
                <a:gd name="T23" fmla="*/ 2209 h 1338"/>
                <a:gd name="T24" fmla="*/ 3422 w 1908"/>
                <a:gd name="T25" fmla="*/ 2469 h 1338"/>
                <a:gd name="T26" fmla="*/ 3532 w 1908"/>
                <a:gd name="T27" fmla="*/ 2370 h 133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908" h="1338">
                  <a:moveTo>
                    <a:pt x="0" y="755"/>
                  </a:moveTo>
                  <a:cubicBezTo>
                    <a:pt x="23" y="644"/>
                    <a:pt x="83" y="0"/>
                    <a:pt x="136" y="91"/>
                  </a:cubicBezTo>
                  <a:cubicBezTo>
                    <a:pt x="189" y="182"/>
                    <a:pt x="244" y="1260"/>
                    <a:pt x="316" y="1299"/>
                  </a:cubicBezTo>
                  <a:cubicBezTo>
                    <a:pt x="388" y="1338"/>
                    <a:pt x="496" y="366"/>
                    <a:pt x="568" y="327"/>
                  </a:cubicBezTo>
                  <a:cubicBezTo>
                    <a:pt x="640" y="288"/>
                    <a:pt x="678" y="1030"/>
                    <a:pt x="748" y="1063"/>
                  </a:cubicBezTo>
                  <a:cubicBezTo>
                    <a:pt x="818" y="1096"/>
                    <a:pt x="923" y="549"/>
                    <a:pt x="988" y="527"/>
                  </a:cubicBezTo>
                  <a:cubicBezTo>
                    <a:pt x="1053" y="505"/>
                    <a:pt x="1087" y="916"/>
                    <a:pt x="1136" y="931"/>
                  </a:cubicBezTo>
                  <a:cubicBezTo>
                    <a:pt x="1185" y="946"/>
                    <a:pt x="1236" y="633"/>
                    <a:pt x="1284" y="619"/>
                  </a:cubicBezTo>
                  <a:cubicBezTo>
                    <a:pt x="1332" y="605"/>
                    <a:pt x="1379" y="836"/>
                    <a:pt x="1424" y="847"/>
                  </a:cubicBezTo>
                  <a:cubicBezTo>
                    <a:pt x="1469" y="858"/>
                    <a:pt x="1517" y="688"/>
                    <a:pt x="1556" y="683"/>
                  </a:cubicBezTo>
                  <a:cubicBezTo>
                    <a:pt x="1595" y="678"/>
                    <a:pt x="1622" y="812"/>
                    <a:pt x="1656" y="815"/>
                  </a:cubicBezTo>
                  <a:cubicBezTo>
                    <a:pt x="1690" y="818"/>
                    <a:pt x="1728" y="708"/>
                    <a:pt x="1760" y="703"/>
                  </a:cubicBezTo>
                  <a:cubicBezTo>
                    <a:pt x="1792" y="698"/>
                    <a:pt x="1823" y="778"/>
                    <a:pt x="1848" y="787"/>
                  </a:cubicBezTo>
                  <a:cubicBezTo>
                    <a:pt x="1873" y="796"/>
                    <a:pt x="1896" y="762"/>
                    <a:pt x="1908" y="755"/>
                  </a:cubicBezTo>
                </a:path>
              </a:pathLst>
            </a:custGeom>
            <a:noFill/>
            <a:ln w="38100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2" name="Rectangle 16">
              <a:extLst>
                <a:ext uri="{FF2B5EF4-FFF2-40B4-BE49-F238E27FC236}">
                  <a16:creationId xmlns:a16="http://schemas.microsoft.com/office/drawing/2014/main" id="{7EB098B6-E52F-62D5-EFDF-C182F368F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0" y="671"/>
              <a:ext cx="208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300" i="1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53263" name="Rectangle 17">
              <a:extLst>
                <a:ext uri="{FF2B5EF4-FFF2-40B4-BE49-F238E27FC236}">
                  <a16:creationId xmlns:a16="http://schemas.microsoft.com/office/drawing/2014/main" id="{DA10F128-8FCC-3849-4339-07983F1E6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" y="1850"/>
              <a:ext cx="213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300" i="1">
                  <a:solidFill>
                    <a:schemeClr val="tx1"/>
                  </a:solidFill>
                </a:rPr>
                <a:t>t </a:t>
              </a:r>
              <a:endParaRPr lang="en-US" altLang="zh-CN" sz="2300" i="1">
                <a:solidFill>
                  <a:schemeClr val="tx1"/>
                </a:solidFill>
              </a:endParaRPr>
            </a:p>
          </p:txBody>
        </p:sp>
        <p:sp>
          <p:nvSpPr>
            <p:cNvPr id="53264" name="Rectangle 18">
              <a:extLst>
                <a:ext uri="{FF2B5EF4-FFF2-40B4-BE49-F238E27FC236}">
                  <a16:creationId xmlns:a16="http://schemas.microsoft.com/office/drawing/2014/main" id="{42055437-C3F7-B9EF-C807-77E7C966F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5" y="1843"/>
              <a:ext cx="249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300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53265" name="Line 19">
              <a:extLst>
                <a:ext uri="{FF2B5EF4-FFF2-40B4-BE49-F238E27FC236}">
                  <a16:creationId xmlns:a16="http://schemas.microsoft.com/office/drawing/2014/main" id="{3F30034A-7E23-2A7F-ECDB-D526609F04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8" y="935"/>
              <a:ext cx="681" cy="5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6" name="Rectangle 23">
              <a:extLst>
                <a:ext uri="{FF2B5EF4-FFF2-40B4-BE49-F238E27FC236}">
                  <a16:creationId xmlns:a16="http://schemas.microsoft.com/office/drawing/2014/main" id="{7811BEAE-2F36-75FA-EC53-16E7F5A24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" y="748"/>
              <a:ext cx="1036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300"/>
                <a:t>弱阻尼        </a:t>
              </a:r>
            </a:p>
          </p:txBody>
        </p:sp>
        <p:sp>
          <p:nvSpPr>
            <p:cNvPr id="53267" name="Rectangle 32">
              <a:extLst>
                <a:ext uri="{FF2B5EF4-FFF2-40B4-BE49-F238E27FC236}">
                  <a16:creationId xmlns:a16="http://schemas.microsoft.com/office/drawing/2014/main" id="{23164EB5-8E5B-6466-6296-FA7CB0FED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1116"/>
              <a:ext cx="181" cy="772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chemeClr val="bg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43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43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43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4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0"/>
                                        <p:tgtEl>
                                          <p:spTgt spid="143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43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143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0"/>
                                        <p:tgtEl>
                                          <p:spTgt spid="143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4" grpId="0"/>
      <p:bldP spid="143369" grpId="0"/>
      <p:bldP spid="14337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8" name="Rectangle 4">
            <a:extLst>
              <a:ext uri="{FF2B5EF4-FFF2-40B4-BE49-F238E27FC236}">
                <a16:creationId xmlns:a16="http://schemas.microsoft.com/office/drawing/2014/main" id="{DFB1352D-8411-6BE1-E1FB-C46860FEE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3" y="725488"/>
            <a:ext cx="78279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800">
                <a:solidFill>
                  <a:srgbClr val="800000"/>
                </a:solidFill>
                <a:latin typeface="华文中宋" panose="02010600040101010101" pitchFamily="2" charset="-122"/>
              </a:rPr>
              <a:t>—</a:t>
            </a:r>
            <a:r>
              <a:rPr lang="en-US" altLang="zh-CN" sz="1500">
                <a:solidFill>
                  <a:srgbClr val="800000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>
                <a:solidFill>
                  <a:srgbClr val="800000"/>
                </a:solidFill>
                <a:latin typeface="华文中宋" panose="02010600040101010101" pitchFamily="2" charset="-122"/>
              </a:rPr>
              <a:t>系统在周期性外力持续作用下所发生的振动。</a:t>
            </a:r>
          </a:p>
        </p:txBody>
      </p:sp>
      <p:graphicFrame>
        <p:nvGraphicFramePr>
          <p:cNvPr id="144389" name="Object 5">
            <a:extLst>
              <a:ext uri="{FF2B5EF4-FFF2-40B4-BE49-F238E27FC236}">
                <a16:creationId xmlns:a16="http://schemas.microsoft.com/office/drawing/2014/main" id="{D938B17F-D443-0FB6-9519-83E4427628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6525" y="3386138"/>
          <a:ext cx="4894263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297520" imgH="2114280" progId="Equation.3">
                  <p:embed/>
                </p:oleObj>
              </mc:Choice>
              <mc:Fallback>
                <p:oleObj name="公式" r:id="rId2" imgW="11297520" imgH="21142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525" y="3386138"/>
                        <a:ext cx="4894263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90" name="Text Box 6">
            <a:extLst>
              <a:ext uri="{FF2B5EF4-FFF2-40B4-BE49-F238E27FC236}">
                <a16:creationId xmlns:a16="http://schemas.microsoft.com/office/drawing/2014/main" id="{34650115-DE4E-AF8E-1569-D72016687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60350"/>
            <a:ext cx="33178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600">
                <a:solidFill>
                  <a:srgbClr val="000066"/>
                </a:solidFill>
                <a:latin typeface="华文中宋" panose="02010600040101010101" pitchFamily="2" charset="-122"/>
              </a:rPr>
              <a:t>二、受迫振动</a:t>
            </a:r>
          </a:p>
        </p:txBody>
      </p:sp>
      <p:graphicFrame>
        <p:nvGraphicFramePr>
          <p:cNvPr id="144391" name="Object 7">
            <a:extLst>
              <a:ext uri="{FF2B5EF4-FFF2-40B4-BE49-F238E27FC236}">
                <a16:creationId xmlns:a16="http://schemas.microsoft.com/office/drawing/2014/main" id="{C3E3D642-4706-6344-B5B3-9D80D84C52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8588" y="2312988"/>
          <a:ext cx="4757737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952000" imgH="2114280" progId="Equation.3">
                  <p:embed/>
                </p:oleObj>
              </mc:Choice>
              <mc:Fallback>
                <p:oleObj name="公式" r:id="rId4" imgW="11952000" imgH="21142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8588" y="2312988"/>
                        <a:ext cx="4757737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4413" name="Group 29">
            <a:extLst>
              <a:ext uri="{FF2B5EF4-FFF2-40B4-BE49-F238E27FC236}">
                <a16:creationId xmlns:a16="http://schemas.microsoft.com/office/drawing/2014/main" id="{534684AC-91A7-F9DB-E464-A0A46A93D5FA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1327150"/>
            <a:ext cx="2592388" cy="442913"/>
            <a:chOff x="3742" y="882"/>
            <a:chExt cx="1633" cy="279"/>
          </a:xfrm>
        </p:grpSpPr>
        <p:sp>
          <p:nvSpPr>
            <p:cNvPr id="54290" name="Rectangle 9">
              <a:extLst>
                <a:ext uri="{FF2B5EF4-FFF2-40B4-BE49-F238E27FC236}">
                  <a16:creationId xmlns:a16="http://schemas.microsoft.com/office/drawing/2014/main" id="{469D996C-8A81-9B39-5E43-4B08D4C3E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882"/>
              <a:ext cx="1494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驱动力</a:t>
              </a:r>
              <a:r>
                <a:rPr lang="en-US" altLang="zh-CN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:             </a:t>
              </a:r>
            </a:p>
          </p:txBody>
        </p:sp>
        <p:graphicFrame>
          <p:nvGraphicFramePr>
            <p:cNvPr id="54291" name="Object 12">
              <a:extLst>
                <a:ext uri="{FF2B5EF4-FFF2-40B4-BE49-F238E27FC236}">
                  <a16:creationId xmlns:a16="http://schemas.microsoft.com/office/drawing/2014/main" id="{08FE271B-2B2B-32FE-8B4C-CB33400CD4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02" y="913"/>
            <a:ext cx="873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3709440" imgH="486000" progId="Equation.3">
                    <p:embed/>
                  </p:oleObj>
                </mc:Choice>
                <mc:Fallback>
                  <p:oleObj name="公式" r:id="rId6" imgW="3709440" imgH="4860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2" y="913"/>
                          <a:ext cx="873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4411" name="Group 27">
            <a:extLst>
              <a:ext uri="{FF2B5EF4-FFF2-40B4-BE49-F238E27FC236}">
                <a16:creationId xmlns:a16="http://schemas.microsoft.com/office/drawing/2014/main" id="{138E9699-423D-3FC8-367D-20F940EF6728}"/>
              </a:ext>
            </a:extLst>
          </p:cNvPr>
          <p:cNvGrpSpPr>
            <a:grpSpLocks/>
          </p:cNvGrpSpPr>
          <p:nvPr/>
        </p:nvGrpSpPr>
        <p:grpSpPr bwMode="auto">
          <a:xfrm>
            <a:off x="3513138" y="1300163"/>
            <a:ext cx="2130425" cy="492125"/>
            <a:chOff x="2472" y="898"/>
            <a:chExt cx="1342" cy="310"/>
          </a:xfrm>
        </p:grpSpPr>
        <p:sp>
          <p:nvSpPr>
            <p:cNvPr id="54288" name="Rectangle 10">
              <a:extLst>
                <a:ext uri="{FF2B5EF4-FFF2-40B4-BE49-F238E27FC236}">
                  <a16:creationId xmlns:a16="http://schemas.microsoft.com/office/drawing/2014/main" id="{E0A6D279-6E51-739B-667A-C09F30A34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898"/>
              <a:ext cx="1140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阻尼力</a:t>
              </a:r>
              <a:r>
                <a:rPr lang="en-US" altLang="zh-CN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:       </a:t>
              </a:r>
            </a:p>
          </p:txBody>
        </p:sp>
        <p:graphicFrame>
          <p:nvGraphicFramePr>
            <p:cNvPr id="54289" name="Object 13">
              <a:extLst>
                <a:ext uri="{FF2B5EF4-FFF2-40B4-BE49-F238E27FC236}">
                  <a16:creationId xmlns:a16="http://schemas.microsoft.com/office/drawing/2014/main" id="{277C5BAD-6E91-6790-41F7-9B29B0BE60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9" y="959"/>
            <a:ext cx="545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012400" imgH="486000" progId="Equation.3">
                    <p:embed/>
                  </p:oleObj>
                </mc:Choice>
                <mc:Fallback>
                  <p:oleObj name="公式" r:id="rId8" imgW="2012400" imgH="4860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9" y="959"/>
                          <a:ext cx="545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4414" name="Group 30">
            <a:extLst>
              <a:ext uri="{FF2B5EF4-FFF2-40B4-BE49-F238E27FC236}">
                <a16:creationId xmlns:a16="http://schemas.microsoft.com/office/drawing/2014/main" id="{9B28A614-C60A-9C08-7687-3043A477C68F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1296988"/>
            <a:ext cx="2187575" cy="471487"/>
            <a:chOff x="567" y="863"/>
            <a:chExt cx="1378" cy="297"/>
          </a:xfrm>
        </p:grpSpPr>
        <p:sp>
          <p:nvSpPr>
            <p:cNvPr id="54286" name="Rectangle 11">
              <a:extLst>
                <a:ext uri="{FF2B5EF4-FFF2-40B4-BE49-F238E27FC236}">
                  <a16:creationId xmlns:a16="http://schemas.microsoft.com/office/drawing/2014/main" id="{5A82D57B-240B-7F06-3030-15AF80724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881"/>
              <a:ext cx="1376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弹性力</a:t>
              </a:r>
              <a:r>
                <a:rPr lang="en-US" altLang="zh-CN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:           </a:t>
              </a:r>
            </a:p>
          </p:txBody>
        </p:sp>
        <p:graphicFrame>
          <p:nvGraphicFramePr>
            <p:cNvPr id="54287" name="Object 14">
              <a:extLst>
                <a:ext uri="{FF2B5EF4-FFF2-40B4-BE49-F238E27FC236}">
                  <a16:creationId xmlns:a16="http://schemas.microsoft.com/office/drawing/2014/main" id="{9CA94AB0-A6A8-C514-E41D-87E6BD4811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53" y="863"/>
            <a:ext cx="592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351520" imgH="656280" progId="Equation.3">
                    <p:embed/>
                  </p:oleObj>
                </mc:Choice>
                <mc:Fallback>
                  <p:oleObj name="公式" r:id="rId10" imgW="2351520" imgH="65628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3" y="863"/>
                          <a:ext cx="592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4399" name="Rectangle 15">
            <a:extLst>
              <a:ext uri="{FF2B5EF4-FFF2-40B4-BE49-F238E27FC236}">
                <a16:creationId xmlns:a16="http://schemas.microsoft.com/office/drawing/2014/main" id="{47B09FE4-F6B3-184E-227C-79CAB16B9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488" y="1844675"/>
            <a:ext cx="4532312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受迫振动的运动微分方程：         </a:t>
            </a:r>
          </a:p>
        </p:txBody>
      </p:sp>
      <p:sp>
        <p:nvSpPr>
          <p:cNvPr id="144401" name="Text Box 17">
            <a:extLst>
              <a:ext uri="{FF2B5EF4-FFF2-40B4-BE49-F238E27FC236}">
                <a16:creationId xmlns:a16="http://schemas.microsoft.com/office/drawing/2014/main" id="{7393DC34-FA93-5E4F-AEC2-7EB92BD25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3684588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6600"/>
                </a:solidFill>
                <a:ea typeface="新宋体" panose="02010609030101010101" pitchFamily="49" charset="-122"/>
              </a:rPr>
              <a:t>(7-41)   </a:t>
            </a:r>
          </a:p>
        </p:txBody>
      </p:sp>
      <p:sp>
        <p:nvSpPr>
          <p:cNvPr id="144402" name="Rectangle 18">
            <a:extLst>
              <a:ext uri="{FF2B5EF4-FFF2-40B4-BE49-F238E27FC236}">
                <a16:creationId xmlns:a16="http://schemas.microsoft.com/office/drawing/2014/main" id="{63D4A2BF-CE43-4FBE-C830-B77A5C55A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497388"/>
            <a:ext cx="3352800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微分方程的解为            </a:t>
            </a:r>
          </a:p>
        </p:txBody>
      </p:sp>
      <p:graphicFrame>
        <p:nvGraphicFramePr>
          <p:cNvPr id="144403" name="Object 19">
            <a:extLst>
              <a:ext uri="{FF2B5EF4-FFF2-40B4-BE49-F238E27FC236}">
                <a16:creationId xmlns:a16="http://schemas.microsoft.com/office/drawing/2014/main" id="{22669B41-EA9F-D748-A4DD-8DA60A759A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0300" y="4929188"/>
          <a:ext cx="74739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0073960" imgH="1117800" progId="Equation.3">
                  <p:embed/>
                </p:oleObj>
              </mc:Choice>
              <mc:Fallback>
                <p:oleObj name="公式" r:id="rId12" imgW="20073960" imgH="11178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300" y="4929188"/>
                        <a:ext cx="747395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408" name="Text Box 24">
            <a:extLst>
              <a:ext uri="{FF2B5EF4-FFF2-40B4-BE49-F238E27FC236}">
                <a16:creationId xmlns:a16="http://schemas.microsoft.com/office/drawing/2014/main" id="{708AAFE5-EF0C-F0FB-E2C1-EA23DE0DF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7313" y="5589588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6600"/>
                </a:solidFill>
                <a:ea typeface="新宋体" panose="02010609030101010101" pitchFamily="49" charset="-122"/>
              </a:rPr>
              <a:t>(7-42)  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44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44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144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144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44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44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0"/>
                                        <p:tgtEl>
                                          <p:spTgt spid="144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44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8" grpId="0"/>
      <p:bldP spid="144390" grpId="0"/>
      <p:bldP spid="144399" grpId="0"/>
      <p:bldP spid="144401" grpId="0"/>
      <p:bldP spid="144402" grpId="0"/>
      <p:bldP spid="14440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527" name="Group 119">
            <a:extLst>
              <a:ext uri="{FF2B5EF4-FFF2-40B4-BE49-F238E27FC236}">
                <a16:creationId xmlns:a16="http://schemas.microsoft.com/office/drawing/2014/main" id="{17CD4D3C-558C-6A47-39F8-A7F1964BC298}"/>
              </a:ext>
            </a:extLst>
          </p:cNvPr>
          <p:cNvGrpSpPr>
            <a:grpSpLocks/>
          </p:cNvGrpSpPr>
          <p:nvPr/>
        </p:nvGrpSpPr>
        <p:grpSpPr bwMode="auto">
          <a:xfrm>
            <a:off x="5437188" y="2641600"/>
            <a:ext cx="3455987" cy="2266950"/>
            <a:chOff x="3334" y="2024"/>
            <a:chExt cx="2177" cy="1428"/>
          </a:xfrm>
        </p:grpSpPr>
        <p:sp>
          <p:nvSpPr>
            <p:cNvPr id="55378" name="Line 11">
              <a:extLst>
                <a:ext uri="{FF2B5EF4-FFF2-40B4-BE49-F238E27FC236}">
                  <a16:creationId xmlns:a16="http://schemas.microsoft.com/office/drawing/2014/main" id="{AB413F25-AAD0-C2EC-94BF-3403ABD2D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7" y="2949"/>
              <a:ext cx="2022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79" name="Line 12">
              <a:extLst>
                <a:ext uri="{FF2B5EF4-FFF2-40B4-BE49-F238E27FC236}">
                  <a16:creationId xmlns:a16="http://schemas.microsoft.com/office/drawing/2014/main" id="{8CB5EAB9-121E-CA79-6A58-E83B04F9F9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7" y="2233"/>
              <a:ext cx="0" cy="1219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80" name="Freeform 13">
              <a:extLst>
                <a:ext uri="{FF2B5EF4-FFF2-40B4-BE49-F238E27FC236}">
                  <a16:creationId xmlns:a16="http://schemas.microsoft.com/office/drawing/2014/main" id="{75EBD8CA-1BB5-029B-E23D-E1E53FEE4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" y="2560"/>
              <a:ext cx="1680" cy="377"/>
            </a:xfrm>
            <a:custGeom>
              <a:avLst/>
              <a:gdLst>
                <a:gd name="T0" fmla="*/ 0 w 1876"/>
                <a:gd name="T1" fmla="*/ 3 h 536"/>
                <a:gd name="T2" fmla="*/ 23 w 1876"/>
                <a:gd name="T3" fmla="*/ 1 h 536"/>
                <a:gd name="T4" fmla="*/ 104 w 1876"/>
                <a:gd name="T5" fmla="*/ 1 h 536"/>
                <a:gd name="T6" fmla="*/ 358 w 1876"/>
                <a:gd name="T7" fmla="*/ 1 h 5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76" h="536">
                  <a:moveTo>
                    <a:pt x="0" y="536"/>
                  </a:moveTo>
                  <a:cubicBezTo>
                    <a:pt x="20" y="479"/>
                    <a:pt x="29" y="280"/>
                    <a:pt x="120" y="196"/>
                  </a:cubicBezTo>
                  <a:cubicBezTo>
                    <a:pt x="211" y="112"/>
                    <a:pt x="251" y="64"/>
                    <a:pt x="544" y="32"/>
                  </a:cubicBezTo>
                  <a:cubicBezTo>
                    <a:pt x="837" y="0"/>
                    <a:pt x="1599" y="10"/>
                    <a:pt x="1876" y="4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81" name="Freeform 14">
              <a:extLst>
                <a:ext uri="{FF2B5EF4-FFF2-40B4-BE49-F238E27FC236}">
                  <a16:creationId xmlns:a16="http://schemas.microsoft.com/office/drawing/2014/main" id="{C3B22C1B-D849-0FBC-1A9E-89F07957A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2565"/>
              <a:ext cx="1663" cy="814"/>
            </a:xfrm>
            <a:custGeom>
              <a:avLst/>
              <a:gdLst>
                <a:gd name="T0" fmla="*/ 0 w 1856"/>
                <a:gd name="T1" fmla="*/ 3 h 1154"/>
                <a:gd name="T2" fmla="*/ 30 w 1856"/>
                <a:gd name="T3" fmla="*/ 1 h 1154"/>
                <a:gd name="T4" fmla="*/ 58 w 1856"/>
                <a:gd name="T5" fmla="*/ 6 h 1154"/>
                <a:gd name="T6" fmla="*/ 98 w 1856"/>
                <a:gd name="T7" fmla="*/ 1 h 1154"/>
                <a:gd name="T8" fmla="*/ 127 w 1856"/>
                <a:gd name="T9" fmla="*/ 6 h 1154"/>
                <a:gd name="T10" fmla="*/ 169 w 1856"/>
                <a:gd name="T11" fmla="*/ 1 h 1154"/>
                <a:gd name="T12" fmla="*/ 197 w 1856"/>
                <a:gd name="T13" fmla="*/ 6 h 1154"/>
                <a:gd name="T14" fmla="*/ 239 w 1856"/>
                <a:gd name="T15" fmla="*/ 1 h 1154"/>
                <a:gd name="T16" fmla="*/ 266 w 1856"/>
                <a:gd name="T17" fmla="*/ 6 h 1154"/>
                <a:gd name="T18" fmla="*/ 309 w 1856"/>
                <a:gd name="T19" fmla="*/ 1 h 1154"/>
                <a:gd name="T20" fmla="*/ 338 w 1856"/>
                <a:gd name="T21" fmla="*/ 6 h 1154"/>
                <a:gd name="T22" fmla="*/ 358 w 1856"/>
                <a:gd name="T23" fmla="*/ 3 h 115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856" h="1154">
                  <a:moveTo>
                    <a:pt x="0" y="538"/>
                  </a:moveTo>
                  <a:cubicBezTo>
                    <a:pt x="25" y="481"/>
                    <a:pt x="101" y="122"/>
                    <a:pt x="152" y="197"/>
                  </a:cubicBezTo>
                  <a:cubicBezTo>
                    <a:pt x="203" y="272"/>
                    <a:pt x="248" y="1018"/>
                    <a:pt x="308" y="989"/>
                  </a:cubicBezTo>
                  <a:cubicBezTo>
                    <a:pt x="368" y="960"/>
                    <a:pt x="454" y="16"/>
                    <a:pt x="512" y="25"/>
                  </a:cubicBezTo>
                  <a:cubicBezTo>
                    <a:pt x="570" y="34"/>
                    <a:pt x="595" y="1043"/>
                    <a:pt x="656" y="1041"/>
                  </a:cubicBezTo>
                  <a:cubicBezTo>
                    <a:pt x="717" y="1039"/>
                    <a:pt x="818" y="10"/>
                    <a:pt x="880" y="13"/>
                  </a:cubicBezTo>
                  <a:cubicBezTo>
                    <a:pt x="942" y="16"/>
                    <a:pt x="967" y="1062"/>
                    <a:pt x="1028" y="1061"/>
                  </a:cubicBezTo>
                  <a:cubicBezTo>
                    <a:pt x="1089" y="1060"/>
                    <a:pt x="1186" y="5"/>
                    <a:pt x="1244" y="5"/>
                  </a:cubicBezTo>
                  <a:cubicBezTo>
                    <a:pt x="1302" y="5"/>
                    <a:pt x="1316" y="1062"/>
                    <a:pt x="1376" y="1061"/>
                  </a:cubicBezTo>
                  <a:cubicBezTo>
                    <a:pt x="1436" y="1060"/>
                    <a:pt x="1540" y="0"/>
                    <a:pt x="1604" y="1"/>
                  </a:cubicBezTo>
                  <a:cubicBezTo>
                    <a:pt x="1668" y="2"/>
                    <a:pt x="1718" y="976"/>
                    <a:pt x="1760" y="1065"/>
                  </a:cubicBezTo>
                  <a:cubicBezTo>
                    <a:pt x="1802" y="1154"/>
                    <a:pt x="1836" y="647"/>
                    <a:pt x="1856" y="537"/>
                  </a:cubicBezTo>
                </a:path>
              </a:pathLst>
            </a:custGeom>
            <a:noFill/>
            <a:ln w="38100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82" name="Rectangle 15">
              <a:extLst>
                <a:ext uri="{FF2B5EF4-FFF2-40B4-BE49-F238E27FC236}">
                  <a16:creationId xmlns:a16="http://schemas.microsoft.com/office/drawing/2014/main" id="{6CF0338A-E90E-1E63-23A5-CD29CA721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3" y="202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55383" name="Rectangle 16">
              <a:extLst>
                <a:ext uri="{FF2B5EF4-FFF2-40B4-BE49-F238E27FC236}">
                  <a16:creationId xmlns:a16="http://schemas.microsoft.com/office/drawing/2014/main" id="{1FCC5937-4891-59A0-88D8-ABF293C73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3" y="2930"/>
              <a:ext cx="1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55384" name="Rectangle 17">
              <a:extLst>
                <a:ext uri="{FF2B5EF4-FFF2-40B4-BE49-F238E27FC236}">
                  <a16:creationId xmlns:a16="http://schemas.microsoft.com/office/drawing/2014/main" id="{BB201913-FCEC-01F7-6CEA-C420DEC35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2886"/>
              <a:ext cx="260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500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55385" name="Freeform 18">
              <a:extLst>
                <a:ext uri="{FF2B5EF4-FFF2-40B4-BE49-F238E27FC236}">
                  <a16:creationId xmlns:a16="http://schemas.microsoft.com/office/drawing/2014/main" id="{D149427E-44CA-24B1-64F5-6D0E020F661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567" y="2945"/>
              <a:ext cx="1680" cy="394"/>
            </a:xfrm>
            <a:custGeom>
              <a:avLst/>
              <a:gdLst>
                <a:gd name="T0" fmla="*/ 0 w 1876"/>
                <a:gd name="T1" fmla="*/ 5 h 536"/>
                <a:gd name="T2" fmla="*/ 23 w 1876"/>
                <a:gd name="T3" fmla="*/ 2 h 536"/>
                <a:gd name="T4" fmla="*/ 104 w 1876"/>
                <a:gd name="T5" fmla="*/ 1 h 536"/>
                <a:gd name="T6" fmla="*/ 358 w 1876"/>
                <a:gd name="T7" fmla="*/ 1 h 5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76" h="536">
                  <a:moveTo>
                    <a:pt x="0" y="536"/>
                  </a:moveTo>
                  <a:cubicBezTo>
                    <a:pt x="20" y="479"/>
                    <a:pt x="29" y="280"/>
                    <a:pt x="120" y="196"/>
                  </a:cubicBezTo>
                  <a:cubicBezTo>
                    <a:pt x="211" y="112"/>
                    <a:pt x="251" y="64"/>
                    <a:pt x="544" y="32"/>
                  </a:cubicBezTo>
                  <a:cubicBezTo>
                    <a:pt x="837" y="0"/>
                    <a:pt x="1599" y="10"/>
                    <a:pt x="1876" y="4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45428" name="Object 20">
            <a:extLst>
              <a:ext uri="{FF2B5EF4-FFF2-40B4-BE49-F238E27FC236}">
                <a16:creationId xmlns:a16="http://schemas.microsoft.com/office/drawing/2014/main" id="{6282589F-3920-A8F1-334F-2325E0099F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4713" y="4117975"/>
          <a:ext cx="427355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030760" imgH="2284200" progId="Equation.3">
                  <p:embed/>
                </p:oleObj>
              </mc:Choice>
              <mc:Fallback>
                <p:oleObj name="公式" r:id="rId2" imgW="11030760" imgH="2284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4117975"/>
                        <a:ext cx="4273550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30" name="Object 22">
            <a:extLst>
              <a:ext uri="{FF2B5EF4-FFF2-40B4-BE49-F238E27FC236}">
                <a16:creationId xmlns:a16="http://schemas.microsoft.com/office/drawing/2014/main" id="{2B94B9F5-A44C-3FA2-B9C7-205FB4FD07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2928938"/>
          <a:ext cx="28082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885360" imgH="704880" progId="Equation.3">
                  <p:embed/>
                </p:oleObj>
              </mc:Choice>
              <mc:Fallback>
                <p:oleObj name="公式" r:id="rId4" imgW="6885360" imgH="7048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928938"/>
                        <a:ext cx="28082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31" name="Rectangle 23">
            <a:extLst>
              <a:ext uri="{FF2B5EF4-FFF2-40B4-BE49-F238E27FC236}">
                <a16:creationId xmlns:a16="http://schemas.microsoft.com/office/drawing/2014/main" id="{45784361-37D4-6355-BD5F-B6F5AF781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3490913"/>
            <a:ext cx="2955925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其振幅为：              </a:t>
            </a:r>
          </a:p>
        </p:txBody>
      </p:sp>
      <p:graphicFrame>
        <p:nvGraphicFramePr>
          <p:cNvPr id="145432" name="Object 24">
            <a:extLst>
              <a:ext uri="{FF2B5EF4-FFF2-40B4-BE49-F238E27FC236}">
                <a16:creationId xmlns:a16="http://schemas.microsoft.com/office/drawing/2014/main" id="{C2094F6D-286E-954D-7AEC-A673965297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00063"/>
          <a:ext cx="74898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073960" imgH="1117800" progId="Equation.3">
                  <p:embed/>
                </p:oleObj>
              </mc:Choice>
              <mc:Fallback>
                <p:oleObj name="公式" r:id="rId6" imgW="20073960" imgH="11178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00063"/>
                        <a:ext cx="748982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5435" name="Group 27">
            <a:extLst>
              <a:ext uri="{FF2B5EF4-FFF2-40B4-BE49-F238E27FC236}">
                <a16:creationId xmlns:a16="http://schemas.microsoft.com/office/drawing/2014/main" id="{37E8B09A-FB93-1C9A-6AF7-9F2E3D7B9682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1403350" y="1201738"/>
            <a:ext cx="4268788" cy="73025"/>
            <a:chOff x="906" y="554"/>
            <a:chExt cx="3898" cy="286"/>
          </a:xfrm>
        </p:grpSpPr>
        <p:sp>
          <p:nvSpPr>
            <p:cNvPr id="55336" name="AutoShape 28">
              <a:extLst>
                <a:ext uri="{FF2B5EF4-FFF2-40B4-BE49-F238E27FC236}">
                  <a16:creationId xmlns:a16="http://schemas.microsoft.com/office/drawing/2014/main" id="{1BE5FF38-A3B2-22B5-7B97-5D1BE8C13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" y="563"/>
              <a:ext cx="88" cy="14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37" name="AutoShape 29">
              <a:extLst>
                <a:ext uri="{FF2B5EF4-FFF2-40B4-BE49-F238E27FC236}">
                  <a16:creationId xmlns:a16="http://schemas.microsoft.com/office/drawing/2014/main" id="{F59303CA-E5FD-BFE8-3596-21FF65680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" y="702"/>
              <a:ext cx="93" cy="13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38" name="AutoShape 30">
              <a:extLst>
                <a:ext uri="{FF2B5EF4-FFF2-40B4-BE49-F238E27FC236}">
                  <a16:creationId xmlns:a16="http://schemas.microsoft.com/office/drawing/2014/main" id="{4E59306E-3265-FBAA-E06F-C09B6BC20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" y="566"/>
              <a:ext cx="87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39" name="AutoShape 31">
              <a:extLst>
                <a:ext uri="{FF2B5EF4-FFF2-40B4-BE49-F238E27FC236}">
                  <a16:creationId xmlns:a16="http://schemas.microsoft.com/office/drawing/2014/main" id="{20CAD554-68F8-9315-2193-8012A8207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" y="701"/>
              <a:ext cx="93" cy="1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40" name="AutoShape 32">
              <a:extLst>
                <a:ext uri="{FF2B5EF4-FFF2-40B4-BE49-F238E27FC236}">
                  <a16:creationId xmlns:a16="http://schemas.microsoft.com/office/drawing/2014/main" id="{3F1C785A-CF9D-D110-5D9C-AA6B72764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8" y="560"/>
              <a:ext cx="88" cy="14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41" name="AutoShape 33">
              <a:extLst>
                <a:ext uri="{FF2B5EF4-FFF2-40B4-BE49-F238E27FC236}">
                  <a16:creationId xmlns:a16="http://schemas.microsoft.com/office/drawing/2014/main" id="{F411626F-F351-4904-DF66-EAA84525B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5" y="698"/>
              <a:ext cx="93" cy="13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42" name="AutoShape 34">
              <a:extLst>
                <a:ext uri="{FF2B5EF4-FFF2-40B4-BE49-F238E27FC236}">
                  <a16:creationId xmlns:a16="http://schemas.microsoft.com/office/drawing/2014/main" id="{29C06174-982A-4B66-D537-0D1F8A1AE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" y="563"/>
              <a:ext cx="88" cy="14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43" name="AutoShape 35">
              <a:extLst>
                <a:ext uri="{FF2B5EF4-FFF2-40B4-BE49-F238E27FC236}">
                  <a16:creationId xmlns:a16="http://schemas.microsoft.com/office/drawing/2014/main" id="{A51F66D6-C853-79B4-571E-2426B53E4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697"/>
              <a:ext cx="93" cy="1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44" name="AutoShape 36">
              <a:extLst>
                <a:ext uri="{FF2B5EF4-FFF2-40B4-BE49-F238E27FC236}">
                  <a16:creationId xmlns:a16="http://schemas.microsoft.com/office/drawing/2014/main" id="{B658FC36-7469-C581-85A2-804A784A5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559"/>
              <a:ext cx="87" cy="14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45" name="AutoShape 37">
              <a:extLst>
                <a:ext uri="{FF2B5EF4-FFF2-40B4-BE49-F238E27FC236}">
                  <a16:creationId xmlns:a16="http://schemas.microsoft.com/office/drawing/2014/main" id="{95821C37-D49D-9D8B-A35E-1E6C089C5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696"/>
              <a:ext cx="93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46" name="AutoShape 38">
              <a:extLst>
                <a:ext uri="{FF2B5EF4-FFF2-40B4-BE49-F238E27FC236}">
                  <a16:creationId xmlns:a16="http://schemas.microsoft.com/office/drawing/2014/main" id="{11165100-AF01-04D3-37AE-9E750402C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6" y="563"/>
              <a:ext cx="87" cy="14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47" name="AutoShape 39">
              <a:extLst>
                <a:ext uri="{FF2B5EF4-FFF2-40B4-BE49-F238E27FC236}">
                  <a16:creationId xmlns:a16="http://schemas.microsoft.com/office/drawing/2014/main" id="{AEE3E7C4-57D5-854C-0AF5-2EC7D3DDD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2" y="698"/>
              <a:ext cx="94" cy="1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48" name="AutoShape 40">
              <a:extLst>
                <a:ext uri="{FF2B5EF4-FFF2-40B4-BE49-F238E27FC236}">
                  <a16:creationId xmlns:a16="http://schemas.microsoft.com/office/drawing/2014/main" id="{C2C32846-6B47-74AF-CD10-DE1C289ED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4" y="561"/>
              <a:ext cx="88" cy="14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49" name="AutoShape 41">
              <a:extLst>
                <a:ext uri="{FF2B5EF4-FFF2-40B4-BE49-F238E27FC236}">
                  <a16:creationId xmlns:a16="http://schemas.microsoft.com/office/drawing/2014/main" id="{4594543A-5794-0011-C202-BD0506DDD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" y="691"/>
              <a:ext cx="93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50" name="AutoShape 42">
              <a:extLst>
                <a:ext uri="{FF2B5EF4-FFF2-40B4-BE49-F238E27FC236}">
                  <a16:creationId xmlns:a16="http://schemas.microsoft.com/office/drawing/2014/main" id="{8FA4BDD8-0E8D-B875-403D-619787D8B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563"/>
              <a:ext cx="87" cy="14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51" name="AutoShape 43">
              <a:extLst>
                <a:ext uri="{FF2B5EF4-FFF2-40B4-BE49-F238E27FC236}">
                  <a16:creationId xmlns:a16="http://schemas.microsoft.com/office/drawing/2014/main" id="{CFC132F3-E173-DDE9-BE18-CB46069D0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" y="697"/>
              <a:ext cx="93" cy="1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52" name="AutoShape 44">
              <a:extLst>
                <a:ext uri="{FF2B5EF4-FFF2-40B4-BE49-F238E27FC236}">
                  <a16:creationId xmlns:a16="http://schemas.microsoft.com/office/drawing/2014/main" id="{CB4A6BB8-4D6C-8C98-778E-3A82D4829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" y="554"/>
              <a:ext cx="88" cy="14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53" name="AutoShape 45">
              <a:extLst>
                <a:ext uri="{FF2B5EF4-FFF2-40B4-BE49-F238E27FC236}">
                  <a16:creationId xmlns:a16="http://schemas.microsoft.com/office/drawing/2014/main" id="{55DCBC58-D0AA-E9FF-BBA0-59E994156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" y="692"/>
              <a:ext cx="93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54" name="AutoShape 46">
              <a:extLst>
                <a:ext uri="{FF2B5EF4-FFF2-40B4-BE49-F238E27FC236}">
                  <a16:creationId xmlns:a16="http://schemas.microsoft.com/office/drawing/2014/main" id="{CA5D44F4-C9B2-4838-120C-22E9101F5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565"/>
              <a:ext cx="87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55" name="AutoShape 47">
              <a:extLst>
                <a:ext uri="{FF2B5EF4-FFF2-40B4-BE49-F238E27FC236}">
                  <a16:creationId xmlns:a16="http://schemas.microsoft.com/office/drawing/2014/main" id="{44644174-0167-81AC-E47E-486E9046C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3" y="691"/>
              <a:ext cx="93" cy="1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56" name="AutoShape 48">
              <a:extLst>
                <a:ext uri="{FF2B5EF4-FFF2-40B4-BE49-F238E27FC236}">
                  <a16:creationId xmlns:a16="http://schemas.microsoft.com/office/drawing/2014/main" id="{35674315-9147-E831-15F8-E3D9361EA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5" y="558"/>
              <a:ext cx="88" cy="14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57" name="AutoShape 49">
              <a:extLst>
                <a:ext uri="{FF2B5EF4-FFF2-40B4-BE49-F238E27FC236}">
                  <a16:creationId xmlns:a16="http://schemas.microsoft.com/office/drawing/2014/main" id="{270DE0D1-38C6-6EBA-6B18-23FFFC4F8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689"/>
              <a:ext cx="93" cy="13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58" name="AutoShape 50">
              <a:extLst>
                <a:ext uri="{FF2B5EF4-FFF2-40B4-BE49-F238E27FC236}">
                  <a16:creationId xmlns:a16="http://schemas.microsoft.com/office/drawing/2014/main" id="{3928E22E-B864-27AB-EE74-546FF6F88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561"/>
              <a:ext cx="87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59" name="AutoShape 51">
              <a:extLst>
                <a:ext uri="{FF2B5EF4-FFF2-40B4-BE49-F238E27FC236}">
                  <a16:creationId xmlns:a16="http://schemas.microsoft.com/office/drawing/2014/main" id="{C58E4672-3FA3-F9DE-35FE-DE76FD3DC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688"/>
              <a:ext cx="94" cy="1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60" name="AutoShape 52">
              <a:extLst>
                <a:ext uri="{FF2B5EF4-FFF2-40B4-BE49-F238E27FC236}">
                  <a16:creationId xmlns:a16="http://schemas.microsoft.com/office/drawing/2014/main" id="{DBA053C0-AE9E-9205-797F-39029F35C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8" y="554"/>
              <a:ext cx="87" cy="14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61" name="AutoShape 53">
              <a:extLst>
                <a:ext uri="{FF2B5EF4-FFF2-40B4-BE49-F238E27FC236}">
                  <a16:creationId xmlns:a16="http://schemas.microsoft.com/office/drawing/2014/main" id="{DCDA0E8F-E0CC-1638-B7EC-8923F0A58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" y="692"/>
              <a:ext cx="93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62" name="AutoShape 54">
              <a:extLst>
                <a:ext uri="{FF2B5EF4-FFF2-40B4-BE49-F238E27FC236}">
                  <a16:creationId xmlns:a16="http://schemas.microsoft.com/office/drawing/2014/main" id="{4528A923-2A26-B9C4-41E3-2A1CADF40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1" y="565"/>
              <a:ext cx="88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63" name="AutoShape 55">
              <a:extLst>
                <a:ext uri="{FF2B5EF4-FFF2-40B4-BE49-F238E27FC236}">
                  <a16:creationId xmlns:a16="http://schemas.microsoft.com/office/drawing/2014/main" id="{B54A2171-53D3-852F-4339-16E0A4A87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" y="691"/>
              <a:ext cx="93" cy="1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64" name="AutoShape 56">
              <a:extLst>
                <a:ext uri="{FF2B5EF4-FFF2-40B4-BE49-F238E27FC236}">
                  <a16:creationId xmlns:a16="http://schemas.microsoft.com/office/drawing/2014/main" id="{4C4C6A47-22E6-D0CD-D15C-75D95A40F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558"/>
              <a:ext cx="88" cy="14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65" name="AutoShape 57">
              <a:extLst>
                <a:ext uri="{FF2B5EF4-FFF2-40B4-BE49-F238E27FC236}">
                  <a16:creationId xmlns:a16="http://schemas.microsoft.com/office/drawing/2014/main" id="{E6BDC311-5624-2A8D-291A-EDE2B1E62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689"/>
              <a:ext cx="93" cy="13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66" name="AutoShape 58">
              <a:extLst>
                <a:ext uri="{FF2B5EF4-FFF2-40B4-BE49-F238E27FC236}">
                  <a16:creationId xmlns:a16="http://schemas.microsoft.com/office/drawing/2014/main" id="{AF33E342-8564-40E5-4A69-C46D411FC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3" y="561"/>
              <a:ext cx="87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67" name="AutoShape 59">
              <a:extLst>
                <a:ext uri="{FF2B5EF4-FFF2-40B4-BE49-F238E27FC236}">
                  <a16:creationId xmlns:a16="http://schemas.microsoft.com/office/drawing/2014/main" id="{481198FD-8465-10A2-696A-6CC488698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9" y="688"/>
              <a:ext cx="93" cy="1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68" name="AutoShape 60">
              <a:extLst>
                <a:ext uri="{FF2B5EF4-FFF2-40B4-BE49-F238E27FC236}">
                  <a16:creationId xmlns:a16="http://schemas.microsoft.com/office/drawing/2014/main" id="{D65548F9-A522-8D72-C946-F65FD3C9F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565"/>
              <a:ext cx="96" cy="13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4"/>
                  </a:moveTo>
                  <a:lnTo>
                    <a:pt x="247" y="18544"/>
                  </a:lnTo>
                  <a:lnTo>
                    <a:pt x="494" y="17844"/>
                  </a:lnTo>
                  <a:lnTo>
                    <a:pt x="617" y="17251"/>
                  </a:lnTo>
                  <a:lnTo>
                    <a:pt x="864" y="16712"/>
                  </a:lnTo>
                  <a:lnTo>
                    <a:pt x="1111" y="16065"/>
                  </a:lnTo>
                  <a:lnTo>
                    <a:pt x="1358" y="15472"/>
                  </a:lnTo>
                  <a:lnTo>
                    <a:pt x="1605" y="14933"/>
                  </a:lnTo>
                  <a:lnTo>
                    <a:pt x="1728" y="14286"/>
                  </a:lnTo>
                  <a:lnTo>
                    <a:pt x="1852" y="13693"/>
                  </a:lnTo>
                  <a:lnTo>
                    <a:pt x="2222" y="13154"/>
                  </a:lnTo>
                  <a:lnTo>
                    <a:pt x="2593" y="12615"/>
                  </a:lnTo>
                  <a:lnTo>
                    <a:pt x="2593" y="12022"/>
                  </a:lnTo>
                  <a:lnTo>
                    <a:pt x="2963" y="11429"/>
                  </a:lnTo>
                  <a:lnTo>
                    <a:pt x="3086" y="10889"/>
                  </a:lnTo>
                  <a:lnTo>
                    <a:pt x="3333" y="10350"/>
                  </a:lnTo>
                  <a:lnTo>
                    <a:pt x="3580" y="9757"/>
                  </a:lnTo>
                  <a:lnTo>
                    <a:pt x="3704" y="9326"/>
                  </a:lnTo>
                  <a:lnTo>
                    <a:pt x="4074" y="8733"/>
                  </a:lnTo>
                  <a:lnTo>
                    <a:pt x="4198" y="8194"/>
                  </a:lnTo>
                  <a:lnTo>
                    <a:pt x="4444" y="7763"/>
                  </a:lnTo>
                  <a:lnTo>
                    <a:pt x="4691" y="7224"/>
                  </a:lnTo>
                  <a:lnTo>
                    <a:pt x="4815" y="6846"/>
                  </a:lnTo>
                  <a:lnTo>
                    <a:pt x="5062" y="6361"/>
                  </a:lnTo>
                  <a:lnTo>
                    <a:pt x="5309" y="5876"/>
                  </a:lnTo>
                  <a:lnTo>
                    <a:pt x="5556" y="5499"/>
                  </a:lnTo>
                  <a:lnTo>
                    <a:pt x="5802" y="5067"/>
                  </a:lnTo>
                  <a:lnTo>
                    <a:pt x="5802" y="4528"/>
                  </a:lnTo>
                  <a:lnTo>
                    <a:pt x="6296" y="4151"/>
                  </a:lnTo>
                  <a:lnTo>
                    <a:pt x="6420" y="3720"/>
                  </a:lnTo>
                  <a:lnTo>
                    <a:pt x="6667" y="3396"/>
                  </a:lnTo>
                  <a:lnTo>
                    <a:pt x="6914" y="3019"/>
                  </a:lnTo>
                  <a:lnTo>
                    <a:pt x="7037" y="2749"/>
                  </a:lnTo>
                  <a:lnTo>
                    <a:pt x="7284" y="2426"/>
                  </a:lnTo>
                  <a:lnTo>
                    <a:pt x="7531" y="2102"/>
                  </a:lnTo>
                  <a:lnTo>
                    <a:pt x="7778" y="1833"/>
                  </a:lnTo>
                  <a:lnTo>
                    <a:pt x="7901" y="1563"/>
                  </a:lnTo>
                  <a:lnTo>
                    <a:pt x="8148" y="1240"/>
                  </a:lnTo>
                  <a:lnTo>
                    <a:pt x="8395" y="1024"/>
                  </a:lnTo>
                  <a:lnTo>
                    <a:pt x="8519" y="863"/>
                  </a:lnTo>
                  <a:lnTo>
                    <a:pt x="8765" y="647"/>
                  </a:lnTo>
                  <a:lnTo>
                    <a:pt x="8889" y="539"/>
                  </a:lnTo>
                  <a:lnTo>
                    <a:pt x="9136" y="377"/>
                  </a:lnTo>
                  <a:lnTo>
                    <a:pt x="9383" y="270"/>
                  </a:lnTo>
                  <a:lnTo>
                    <a:pt x="9506" y="108"/>
                  </a:lnTo>
                  <a:lnTo>
                    <a:pt x="9877" y="108"/>
                  </a:lnTo>
                  <a:lnTo>
                    <a:pt x="10000" y="54"/>
                  </a:lnTo>
                  <a:lnTo>
                    <a:pt x="10247" y="0"/>
                  </a:lnTo>
                  <a:lnTo>
                    <a:pt x="10617" y="54"/>
                  </a:lnTo>
                  <a:lnTo>
                    <a:pt x="10741" y="54"/>
                  </a:lnTo>
                  <a:lnTo>
                    <a:pt x="10864" y="108"/>
                  </a:lnTo>
                  <a:lnTo>
                    <a:pt x="11111" y="216"/>
                  </a:lnTo>
                  <a:lnTo>
                    <a:pt x="11358" y="323"/>
                  </a:lnTo>
                  <a:lnTo>
                    <a:pt x="11481" y="539"/>
                  </a:lnTo>
                  <a:lnTo>
                    <a:pt x="11852" y="755"/>
                  </a:lnTo>
                  <a:lnTo>
                    <a:pt x="12099" y="1024"/>
                  </a:lnTo>
                  <a:lnTo>
                    <a:pt x="12222" y="1240"/>
                  </a:lnTo>
                  <a:lnTo>
                    <a:pt x="12346" y="1563"/>
                  </a:lnTo>
                  <a:lnTo>
                    <a:pt x="12716" y="1887"/>
                  </a:lnTo>
                  <a:lnTo>
                    <a:pt x="12963" y="2264"/>
                  </a:lnTo>
                  <a:lnTo>
                    <a:pt x="13086" y="2749"/>
                  </a:lnTo>
                  <a:lnTo>
                    <a:pt x="13333" y="3127"/>
                  </a:lnTo>
                  <a:lnTo>
                    <a:pt x="13580" y="3504"/>
                  </a:lnTo>
                  <a:lnTo>
                    <a:pt x="13704" y="3989"/>
                  </a:lnTo>
                  <a:lnTo>
                    <a:pt x="14198" y="4367"/>
                  </a:lnTo>
                  <a:lnTo>
                    <a:pt x="14321" y="4960"/>
                  </a:lnTo>
                  <a:lnTo>
                    <a:pt x="14444" y="5499"/>
                  </a:lnTo>
                  <a:lnTo>
                    <a:pt x="14815" y="5984"/>
                  </a:lnTo>
                  <a:lnTo>
                    <a:pt x="15062" y="6523"/>
                  </a:lnTo>
                  <a:lnTo>
                    <a:pt x="15185" y="7008"/>
                  </a:lnTo>
                  <a:lnTo>
                    <a:pt x="15309" y="7601"/>
                  </a:lnTo>
                  <a:lnTo>
                    <a:pt x="15679" y="8194"/>
                  </a:lnTo>
                  <a:lnTo>
                    <a:pt x="15926" y="8787"/>
                  </a:lnTo>
                  <a:lnTo>
                    <a:pt x="16173" y="9326"/>
                  </a:lnTo>
                  <a:lnTo>
                    <a:pt x="16296" y="9919"/>
                  </a:lnTo>
                  <a:lnTo>
                    <a:pt x="16543" y="10458"/>
                  </a:lnTo>
                  <a:lnTo>
                    <a:pt x="16667" y="10997"/>
                  </a:lnTo>
                  <a:lnTo>
                    <a:pt x="16914" y="11590"/>
                  </a:lnTo>
                  <a:lnTo>
                    <a:pt x="17160" y="12183"/>
                  </a:lnTo>
                  <a:lnTo>
                    <a:pt x="17407" y="12776"/>
                  </a:lnTo>
                  <a:lnTo>
                    <a:pt x="17407" y="13261"/>
                  </a:lnTo>
                  <a:lnTo>
                    <a:pt x="17654" y="13854"/>
                  </a:lnTo>
                  <a:lnTo>
                    <a:pt x="17901" y="14340"/>
                  </a:lnTo>
                  <a:lnTo>
                    <a:pt x="18148" y="14933"/>
                  </a:lnTo>
                  <a:lnTo>
                    <a:pt x="18395" y="15472"/>
                  </a:lnTo>
                  <a:lnTo>
                    <a:pt x="18395" y="15903"/>
                  </a:lnTo>
                  <a:lnTo>
                    <a:pt x="18642" y="16442"/>
                  </a:lnTo>
                  <a:lnTo>
                    <a:pt x="18889" y="16873"/>
                  </a:lnTo>
                  <a:lnTo>
                    <a:pt x="19012" y="17305"/>
                  </a:lnTo>
                  <a:lnTo>
                    <a:pt x="19136" y="17736"/>
                  </a:lnTo>
                  <a:lnTo>
                    <a:pt x="19259" y="18113"/>
                  </a:lnTo>
                  <a:lnTo>
                    <a:pt x="19506" y="18544"/>
                  </a:lnTo>
                  <a:lnTo>
                    <a:pt x="19506" y="18976"/>
                  </a:lnTo>
                  <a:lnTo>
                    <a:pt x="19630" y="19191"/>
                  </a:lnTo>
                  <a:lnTo>
                    <a:pt x="19753" y="19461"/>
                  </a:lnTo>
                  <a:lnTo>
                    <a:pt x="19877" y="19730"/>
                  </a:lnTo>
                  <a:lnTo>
                    <a:pt x="19877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69" name="AutoShape 61">
              <a:extLst>
                <a:ext uri="{FF2B5EF4-FFF2-40B4-BE49-F238E27FC236}">
                  <a16:creationId xmlns:a16="http://schemas.microsoft.com/office/drawing/2014/main" id="{2570C6EF-4400-FC60-F8DD-BC5140F8D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8" y="690"/>
              <a:ext cx="103" cy="1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1" y="616"/>
                  </a:lnTo>
                  <a:lnTo>
                    <a:pt x="347" y="1232"/>
                  </a:lnTo>
                  <a:lnTo>
                    <a:pt x="462" y="1905"/>
                  </a:lnTo>
                  <a:lnTo>
                    <a:pt x="809" y="2521"/>
                  </a:lnTo>
                  <a:lnTo>
                    <a:pt x="925" y="3137"/>
                  </a:lnTo>
                  <a:lnTo>
                    <a:pt x="1156" y="3697"/>
                  </a:lnTo>
                  <a:lnTo>
                    <a:pt x="1387" y="4314"/>
                  </a:lnTo>
                  <a:lnTo>
                    <a:pt x="1503" y="4986"/>
                  </a:lnTo>
                  <a:lnTo>
                    <a:pt x="1734" y="5602"/>
                  </a:lnTo>
                  <a:lnTo>
                    <a:pt x="2081" y="6162"/>
                  </a:lnTo>
                  <a:lnTo>
                    <a:pt x="2197" y="6779"/>
                  </a:lnTo>
                  <a:lnTo>
                    <a:pt x="2543" y="7283"/>
                  </a:lnTo>
                  <a:lnTo>
                    <a:pt x="2543" y="7899"/>
                  </a:lnTo>
                  <a:lnTo>
                    <a:pt x="2775" y="8515"/>
                  </a:lnTo>
                  <a:lnTo>
                    <a:pt x="3006" y="9020"/>
                  </a:lnTo>
                  <a:lnTo>
                    <a:pt x="3237" y="9636"/>
                  </a:lnTo>
                  <a:lnTo>
                    <a:pt x="3353" y="10140"/>
                  </a:lnTo>
                  <a:lnTo>
                    <a:pt x="3468" y="10644"/>
                  </a:lnTo>
                  <a:lnTo>
                    <a:pt x="3815" y="11204"/>
                  </a:lnTo>
                  <a:lnTo>
                    <a:pt x="3931" y="11765"/>
                  </a:lnTo>
                  <a:lnTo>
                    <a:pt x="4162" y="12213"/>
                  </a:lnTo>
                  <a:lnTo>
                    <a:pt x="4393" y="12773"/>
                  </a:lnTo>
                  <a:lnTo>
                    <a:pt x="4509" y="13165"/>
                  </a:lnTo>
                  <a:lnTo>
                    <a:pt x="4624" y="13669"/>
                  </a:lnTo>
                  <a:lnTo>
                    <a:pt x="4971" y="14118"/>
                  </a:lnTo>
                  <a:lnTo>
                    <a:pt x="5202" y="14510"/>
                  </a:lnTo>
                  <a:lnTo>
                    <a:pt x="5434" y="15014"/>
                  </a:lnTo>
                  <a:lnTo>
                    <a:pt x="5549" y="15462"/>
                  </a:lnTo>
                  <a:lnTo>
                    <a:pt x="5665" y="15854"/>
                  </a:lnTo>
                  <a:lnTo>
                    <a:pt x="6127" y="16190"/>
                  </a:lnTo>
                  <a:lnTo>
                    <a:pt x="6243" y="16639"/>
                  </a:lnTo>
                  <a:lnTo>
                    <a:pt x="6474" y="16919"/>
                  </a:lnTo>
                  <a:lnTo>
                    <a:pt x="6590" y="17255"/>
                  </a:lnTo>
                  <a:lnTo>
                    <a:pt x="6705" y="17591"/>
                  </a:lnTo>
                  <a:lnTo>
                    <a:pt x="6936" y="17927"/>
                  </a:lnTo>
                  <a:lnTo>
                    <a:pt x="7283" y="18095"/>
                  </a:lnTo>
                  <a:lnTo>
                    <a:pt x="7514" y="18487"/>
                  </a:lnTo>
                  <a:lnTo>
                    <a:pt x="7514" y="18711"/>
                  </a:lnTo>
                  <a:lnTo>
                    <a:pt x="7861" y="18992"/>
                  </a:lnTo>
                  <a:lnTo>
                    <a:pt x="7977" y="19160"/>
                  </a:lnTo>
                  <a:lnTo>
                    <a:pt x="8208" y="19328"/>
                  </a:lnTo>
                  <a:lnTo>
                    <a:pt x="8439" y="19440"/>
                  </a:lnTo>
                  <a:lnTo>
                    <a:pt x="8555" y="19664"/>
                  </a:lnTo>
                  <a:lnTo>
                    <a:pt x="8902" y="19720"/>
                  </a:lnTo>
                  <a:lnTo>
                    <a:pt x="9017" y="19888"/>
                  </a:lnTo>
                  <a:lnTo>
                    <a:pt x="9249" y="19888"/>
                  </a:lnTo>
                  <a:lnTo>
                    <a:pt x="9480" y="19944"/>
                  </a:lnTo>
                  <a:lnTo>
                    <a:pt x="9595" y="19944"/>
                  </a:lnTo>
                  <a:lnTo>
                    <a:pt x="9827" y="19944"/>
                  </a:lnTo>
                  <a:lnTo>
                    <a:pt x="10173" y="19888"/>
                  </a:lnTo>
                  <a:lnTo>
                    <a:pt x="10405" y="19888"/>
                  </a:lnTo>
                  <a:lnTo>
                    <a:pt x="10520" y="19664"/>
                  </a:lnTo>
                  <a:lnTo>
                    <a:pt x="10751" y="19496"/>
                  </a:lnTo>
                  <a:lnTo>
                    <a:pt x="11098" y="19328"/>
                  </a:lnTo>
                  <a:lnTo>
                    <a:pt x="11329" y="19104"/>
                  </a:lnTo>
                  <a:lnTo>
                    <a:pt x="11445" y="18936"/>
                  </a:lnTo>
                  <a:lnTo>
                    <a:pt x="11792" y="18543"/>
                  </a:lnTo>
                  <a:lnTo>
                    <a:pt x="11908" y="18263"/>
                  </a:lnTo>
                  <a:lnTo>
                    <a:pt x="12139" y="17871"/>
                  </a:lnTo>
                  <a:lnTo>
                    <a:pt x="12486" y="17479"/>
                  </a:lnTo>
                  <a:lnTo>
                    <a:pt x="12601" y="17087"/>
                  </a:lnTo>
                  <a:lnTo>
                    <a:pt x="12832" y="16751"/>
                  </a:lnTo>
                  <a:lnTo>
                    <a:pt x="13295" y="16303"/>
                  </a:lnTo>
                  <a:lnTo>
                    <a:pt x="13410" y="15798"/>
                  </a:lnTo>
                  <a:lnTo>
                    <a:pt x="13642" y="15350"/>
                  </a:lnTo>
                  <a:lnTo>
                    <a:pt x="13873" y="14846"/>
                  </a:lnTo>
                  <a:lnTo>
                    <a:pt x="14220" y="14342"/>
                  </a:lnTo>
                  <a:lnTo>
                    <a:pt x="14451" y="13838"/>
                  </a:lnTo>
                  <a:lnTo>
                    <a:pt x="14682" y="13277"/>
                  </a:lnTo>
                  <a:lnTo>
                    <a:pt x="14913" y="12829"/>
                  </a:lnTo>
                  <a:lnTo>
                    <a:pt x="15260" y="12213"/>
                  </a:lnTo>
                  <a:lnTo>
                    <a:pt x="15491" y="11709"/>
                  </a:lnTo>
                  <a:lnTo>
                    <a:pt x="15607" y="11036"/>
                  </a:lnTo>
                  <a:lnTo>
                    <a:pt x="15954" y="10588"/>
                  </a:lnTo>
                  <a:lnTo>
                    <a:pt x="16069" y="10028"/>
                  </a:lnTo>
                  <a:lnTo>
                    <a:pt x="16416" y="9412"/>
                  </a:lnTo>
                  <a:lnTo>
                    <a:pt x="16532" y="8964"/>
                  </a:lnTo>
                  <a:lnTo>
                    <a:pt x="16763" y="8403"/>
                  </a:lnTo>
                  <a:lnTo>
                    <a:pt x="16994" y="7787"/>
                  </a:lnTo>
                  <a:lnTo>
                    <a:pt x="17225" y="7227"/>
                  </a:lnTo>
                  <a:lnTo>
                    <a:pt x="17457" y="6835"/>
                  </a:lnTo>
                  <a:lnTo>
                    <a:pt x="17572" y="6218"/>
                  </a:lnTo>
                  <a:lnTo>
                    <a:pt x="17803" y="5714"/>
                  </a:lnTo>
                  <a:lnTo>
                    <a:pt x="18266" y="5210"/>
                  </a:lnTo>
                  <a:lnTo>
                    <a:pt x="18266" y="4762"/>
                  </a:lnTo>
                  <a:lnTo>
                    <a:pt x="18497" y="4314"/>
                  </a:lnTo>
                  <a:lnTo>
                    <a:pt x="18728" y="3866"/>
                  </a:lnTo>
                  <a:lnTo>
                    <a:pt x="18960" y="3361"/>
                  </a:lnTo>
                  <a:lnTo>
                    <a:pt x="19075" y="3025"/>
                  </a:lnTo>
                  <a:lnTo>
                    <a:pt x="19191" y="2689"/>
                  </a:lnTo>
                  <a:lnTo>
                    <a:pt x="19306" y="2241"/>
                  </a:lnTo>
                  <a:lnTo>
                    <a:pt x="19538" y="1905"/>
                  </a:lnTo>
                  <a:lnTo>
                    <a:pt x="19538" y="1625"/>
                  </a:lnTo>
                  <a:lnTo>
                    <a:pt x="19653" y="1289"/>
                  </a:lnTo>
                  <a:lnTo>
                    <a:pt x="19769" y="1008"/>
                  </a:lnTo>
                  <a:lnTo>
                    <a:pt x="19884" y="84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70" name="AutoShape 62">
              <a:extLst>
                <a:ext uri="{FF2B5EF4-FFF2-40B4-BE49-F238E27FC236}">
                  <a16:creationId xmlns:a16="http://schemas.microsoft.com/office/drawing/2014/main" id="{7E4BD41F-5D6A-7B27-D73B-61DFC5AF2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" y="568"/>
              <a:ext cx="96" cy="1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111"/>
                  </a:moveTo>
                  <a:lnTo>
                    <a:pt x="247" y="18500"/>
                  </a:lnTo>
                  <a:lnTo>
                    <a:pt x="494" y="17889"/>
                  </a:lnTo>
                  <a:lnTo>
                    <a:pt x="617" y="17278"/>
                  </a:lnTo>
                  <a:lnTo>
                    <a:pt x="864" y="16722"/>
                  </a:lnTo>
                  <a:lnTo>
                    <a:pt x="1111" y="16111"/>
                  </a:lnTo>
                  <a:lnTo>
                    <a:pt x="1358" y="15500"/>
                  </a:lnTo>
                  <a:lnTo>
                    <a:pt x="1605" y="14889"/>
                  </a:lnTo>
                  <a:lnTo>
                    <a:pt x="1728" y="14333"/>
                  </a:lnTo>
                  <a:lnTo>
                    <a:pt x="1852" y="13667"/>
                  </a:lnTo>
                  <a:lnTo>
                    <a:pt x="2222" y="13111"/>
                  </a:lnTo>
                  <a:lnTo>
                    <a:pt x="2593" y="12611"/>
                  </a:lnTo>
                  <a:lnTo>
                    <a:pt x="2593" y="12056"/>
                  </a:lnTo>
                  <a:lnTo>
                    <a:pt x="2963" y="11389"/>
                  </a:lnTo>
                  <a:lnTo>
                    <a:pt x="3086" y="10889"/>
                  </a:lnTo>
                  <a:lnTo>
                    <a:pt x="3333" y="10389"/>
                  </a:lnTo>
                  <a:lnTo>
                    <a:pt x="3580" y="9778"/>
                  </a:lnTo>
                  <a:lnTo>
                    <a:pt x="3704" y="9333"/>
                  </a:lnTo>
                  <a:lnTo>
                    <a:pt x="4074" y="8833"/>
                  </a:lnTo>
                  <a:lnTo>
                    <a:pt x="4198" y="8222"/>
                  </a:lnTo>
                  <a:lnTo>
                    <a:pt x="4444" y="7722"/>
                  </a:lnTo>
                  <a:lnTo>
                    <a:pt x="4691" y="7222"/>
                  </a:lnTo>
                  <a:lnTo>
                    <a:pt x="4815" y="6833"/>
                  </a:lnTo>
                  <a:lnTo>
                    <a:pt x="5062" y="6333"/>
                  </a:lnTo>
                  <a:lnTo>
                    <a:pt x="5309" y="5889"/>
                  </a:lnTo>
                  <a:lnTo>
                    <a:pt x="5556" y="5444"/>
                  </a:lnTo>
                  <a:lnTo>
                    <a:pt x="5802" y="5056"/>
                  </a:lnTo>
                  <a:lnTo>
                    <a:pt x="5802" y="4556"/>
                  </a:lnTo>
                  <a:lnTo>
                    <a:pt x="6296" y="4167"/>
                  </a:lnTo>
                  <a:lnTo>
                    <a:pt x="6420" y="3778"/>
                  </a:lnTo>
                  <a:lnTo>
                    <a:pt x="6667" y="3389"/>
                  </a:lnTo>
                  <a:lnTo>
                    <a:pt x="6914" y="3056"/>
                  </a:lnTo>
                  <a:lnTo>
                    <a:pt x="7037" y="2722"/>
                  </a:lnTo>
                  <a:lnTo>
                    <a:pt x="7284" y="2444"/>
                  </a:lnTo>
                  <a:lnTo>
                    <a:pt x="7531" y="2111"/>
                  </a:lnTo>
                  <a:lnTo>
                    <a:pt x="7778" y="1889"/>
                  </a:lnTo>
                  <a:lnTo>
                    <a:pt x="7901" y="1556"/>
                  </a:lnTo>
                  <a:lnTo>
                    <a:pt x="8148" y="1278"/>
                  </a:lnTo>
                  <a:lnTo>
                    <a:pt x="8395" y="1056"/>
                  </a:lnTo>
                  <a:lnTo>
                    <a:pt x="8519" y="833"/>
                  </a:lnTo>
                  <a:lnTo>
                    <a:pt x="8765" y="667"/>
                  </a:lnTo>
                  <a:lnTo>
                    <a:pt x="8889" y="500"/>
                  </a:lnTo>
                  <a:lnTo>
                    <a:pt x="9136" y="389"/>
                  </a:lnTo>
                  <a:lnTo>
                    <a:pt x="9383" y="278"/>
                  </a:lnTo>
                  <a:lnTo>
                    <a:pt x="9506" y="111"/>
                  </a:lnTo>
                  <a:lnTo>
                    <a:pt x="9877" y="111"/>
                  </a:lnTo>
                  <a:lnTo>
                    <a:pt x="10000" y="56"/>
                  </a:lnTo>
                  <a:lnTo>
                    <a:pt x="10247" y="0"/>
                  </a:lnTo>
                  <a:lnTo>
                    <a:pt x="10617" y="56"/>
                  </a:lnTo>
                  <a:lnTo>
                    <a:pt x="10741" y="56"/>
                  </a:lnTo>
                  <a:lnTo>
                    <a:pt x="10864" y="111"/>
                  </a:lnTo>
                  <a:lnTo>
                    <a:pt x="11111" y="222"/>
                  </a:lnTo>
                  <a:lnTo>
                    <a:pt x="11358" y="333"/>
                  </a:lnTo>
                  <a:lnTo>
                    <a:pt x="11481" y="556"/>
                  </a:lnTo>
                  <a:lnTo>
                    <a:pt x="11852" y="722"/>
                  </a:lnTo>
                  <a:lnTo>
                    <a:pt x="12099" y="1000"/>
                  </a:lnTo>
                  <a:lnTo>
                    <a:pt x="12222" y="1278"/>
                  </a:lnTo>
                  <a:lnTo>
                    <a:pt x="12346" y="1556"/>
                  </a:lnTo>
                  <a:lnTo>
                    <a:pt x="12716" y="1889"/>
                  </a:lnTo>
                  <a:lnTo>
                    <a:pt x="12963" y="2278"/>
                  </a:lnTo>
                  <a:lnTo>
                    <a:pt x="13086" y="2722"/>
                  </a:lnTo>
                  <a:lnTo>
                    <a:pt x="13333" y="3111"/>
                  </a:lnTo>
                  <a:lnTo>
                    <a:pt x="13580" y="3500"/>
                  </a:lnTo>
                  <a:lnTo>
                    <a:pt x="13704" y="4000"/>
                  </a:lnTo>
                  <a:lnTo>
                    <a:pt x="14198" y="4444"/>
                  </a:lnTo>
                  <a:lnTo>
                    <a:pt x="14321" y="4944"/>
                  </a:lnTo>
                  <a:lnTo>
                    <a:pt x="14444" y="5500"/>
                  </a:lnTo>
                  <a:lnTo>
                    <a:pt x="14815" y="6000"/>
                  </a:lnTo>
                  <a:lnTo>
                    <a:pt x="15062" y="6556"/>
                  </a:lnTo>
                  <a:lnTo>
                    <a:pt x="15185" y="7000"/>
                  </a:lnTo>
                  <a:lnTo>
                    <a:pt x="15309" y="7611"/>
                  </a:lnTo>
                  <a:lnTo>
                    <a:pt x="15679" y="8167"/>
                  </a:lnTo>
                  <a:lnTo>
                    <a:pt x="15926" y="8833"/>
                  </a:lnTo>
                  <a:lnTo>
                    <a:pt x="16173" y="9333"/>
                  </a:lnTo>
                  <a:lnTo>
                    <a:pt x="16296" y="9889"/>
                  </a:lnTo>
                  <a:lnTo>
                    <a:pt x="16543" y="10444"/>
                  </a:lnTo>
                  <a:lnTo>
                    <a:pt x="16667" y="11000"/>
                  </a:lnTo>
                  <a:lnTo>
                    <a:pt x="16914" y="11611"/>
                  </a:lnTo>
                  <a:lnTo>
                    <a:pt x="17160" y="12167"/>
                  </a:lnTo>
                  <a:lnTo>
                    <a:pt x="17407" y="12778"/>
                  </a:lnTo>
                  <a:lnTo>
                    <a:pt x="17407" y="13278"/>
                  </a:lnTo>
                  <a:lnTo>
                    <a:pt x="17654" y="13833"/>
                  </a:lnTo>
                  <a:lnTo>
                    <a:pt x="17901" y="14389"/>
                  </a:lnTo>
                  <a:lnTo>
                    <a:pt x="18148" y="14944"/>
                  </a:lnTo>
                  <a:lnTo>
                    <a:pt x="18395" y="15444"/>
                  </a:lnTo>
                  <a:lnTo>
                    <a:pt x="18395" y="15944"/>
                  </a:lnTo>
                  <a:lnTo>
                    <a:pt x="18642" y="16444"/>
                  </a:lnTo>
                  <a:lnTo>
                    <a:pt x="18889" y="16889"/>
                  </a:lnTo>
                  <a:lnTo>
                    <a:pt x="19012" y="17278"/>
                  </a:lnTo>
                  <a:lnTo>
                    <a:pt x="19136" y="17722"/>
                  </a:lnTo>
                  <a:lnTo>
                    <a:pt x="19259" y="18111"/>
                  </a:lnTo>
                  <a:lnTo>
                    <a:pt x="19506" y="18500"/>
                  </a:lnTo>
                  <a:lnTo>
                    <a:pt x="19506" y="18944"/>
                  </a:lnTo>
                  <a:lnTo>
                    <a:pt x="19630" y="19222"/>
                  </a:lnTo>
                  <a:lnTo>
                    <a:pt x="19753" y="19500"/>
                  </a:lnTo>
                  <a:lnTo>
                    <a:pt x="19877" y="19722"/>
                  </a:lnTo>
                  <a:lnTo>
                    <a:pt x="19877" y="19944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71" name="AutoShape 63">
              <a:extLst>
                <a:ext uri="{FF2B5EF4-FFF2-40B4-BE49-F238E27FC236}">
                  <a16:creationId xmlns:a16="http://schemas.microsoft.com/office/drawing/2014/main" id="{07430B15-DA13-FC07-28EA-3419A6424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" y="689"/>
              <a:ext cx="103" cy="13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1" y="634"/>
                  </a:lnTo>
                  <a:lnTo>
                    <a:pt x="347" y="1268"/>
                  </a:lnTo>
                  <a:lnTo>
                    <a:pt x="462" y="1960"/>
                  </a:lnTo>
                  <a:lnTo>
                    <a:pt x="809" y="2536"/>
                  </a:lnTo>
                  <a:lnTo>
                    <a:pt x="925" y="3170"/>
                  </a:lnTo>
                  <a:lnTo>
                    <a:pt x="1156" y="3689"/>
                  </a:lnTo>
                  <a:lnTo>
                    <a:pt x="1387" y="4380"/>
                  </a:lnTo>
                  <a:lnTo>
                    <a:pt x="1503" y="4957"/>
                  </a:lnTo>
                  <a:lnTo>
                    <a:pt x="1734" y="5591"/>
                  </a:lnTo>
                  <a:lnTo>
                    <a:pt x="2081" y="6167"/>
                  </a:lnTo>
                  <a:lnTo>
                    <a:pt x="2197" y="6801"/>
                  </a:lnTo>
                  <a:lnTo>
                    <a:pt x="2543" y="7262"/>
                  </a:lnTo>
                  <a:lnTo>
                    <a:pt x="2543" y="7839"/>
                  </a:lnTo>
                  <a:lnTo>
                    <a:pt x="2775" y="8473"/>
                  </a:lnTo>
                  <a:lnTo>
                    <a:pt x="3006" y="8991"/>
                  </a:lnTo>
                  <a:lnTo>
                    <a:pt x="3237" y="9625"/>
                  </a:lnTo>
                  <a:lnTo>
                    <a:pt x="3353" y="10144"/>
                  </a:lnTo>
                  <a:lnTo>
                    <a:pt x="3468" y="10663"/>
                  </a:lnTo>
                  <a:lnTo>
                    <a:pt x="3815" y="11182"/>
                  </a:lnTo>
                  <a:lnTo>
                    <a:pt x="3931" y="11758"/>
                  </a:lnTo>
                  <a:lnTo>
                    <a:pt x="4162" y="12219"/>
                  </a:lnTo>
                  <a:lnTo>
                    <a:pt x="4393" y="12738"/>
                  </a:lnTo>
                  <a:lnTo>
                    <a:pt x="4509" y="13199"/>
                  </a:lnTo>
                  <a:lnTo>
                    <a:pt x="4624" y="13660"/>
                  </a:lnTo>
                  <a:lnTo>
                    <a:pt x="4971" y="14121"/>
                  </a:lnTo>
                  <a:lnTo>
                    <a:pt x="5202" y="14582"/>
                  </a:lnTo>
                  <a:lnTo>
                    <a:pt x="5434" y="15043"/>
                  </a:lnTo>
                  <a:lnTo>
                    <a:pt x="5549" y="15389"/>
                  </a:lnTo>
                  <a:lnTo>
                    <a:pt x="5665" y="15850"/>
                  </a:lnTo>
                  <a:lnTo>
                    <a:pt x="6127" y="16254"/>
                  </a:lnTo>
                  <a:lnTo>
                    <a:pt x="6243" y="16599"/>
                  </a:lnTo>
                  <a:lnTo>
                    <a:pt x="6474" y="17003"/>
                  </a:lnTo>
                  <a:lnTo>
                    <a:pt x="6590" y="17233"/>
                  </a:lnTo>
                  <a:lnTo>
                    <a:pt x="6705" y="17579"/>
                  </a:lnTo>
                  <a:lnTo>
                    <a:pt x="6936" y="17925"/>
                  </a:lnTo>
                  <a:lnTo>
                    <a:pt x="7283" y="18156"/>
                  </a:lnTo>
                  <a:lnTo>
                    <a:pt x="7514" y="18444"/>
                  </a:lnTo>
                  <a:lnTo>
                    <a:pt x="7514" y="18732"/>
                  </a:lnTo>
                  <a:lnTo>
                    <a:pt x="7861" y="18963"/>
                  </a:lnTo>
                  <a:lnTo>
                    <a:pt x="7977" y="19193"/>
                  </a:lnTo>
                  <a:lnTo>
                    <a:pt x="8208" y="19308"/>
                  </a:lnTo>
                  <a:lnTo>
                    <a:pt x="8439" y="19481"/>
                  </a:lnTo>
                  <a:lnTo>
                    <a:pt x="8555" y="19654"/>
                  </a:lnTo>
                  <a:lnTo>
                    <a:pt x="8902" y="19712"/>
                  </a:lnTo>
                  <a:lnTo>
                    <a:pt x="9017" y="19885"/>
                  </a:lnTo>
                  <a:lnTo>
                    <a:pt x="9249" y="19885"/>
                  </a:lnTo>
                  <a:lnTo>
                    <a:pt x="9480" y="19942"/>
                  </a:lnTo>
                  <a:lnTo>
                    <a:pt x="9595" y="19942"/>
                  </a:lnTo>
                  <a:lnTo>
                    <a:pt x="9827" y="19942"/>
                  </a:lnTo>
                  <a:lnTo>
                    <a:pt x="10173" y="19885"/>
                  </a:lnTo>
                  <a:lnTo>
                    <a:pt x="10405" y="19885"/>
                  </a:lnTo>
                  <a:lnTo>
                    <a:pt x="10520" y="19712"/>
                  </a:lnTo>
                  <a:lnTo>
                    <a:pt x="10751" y="19481"/>
                  </a:lnTo>
                  <a:lnTo>
                    <a:pt x="11098" y="19308"/>
                  </a:lnTo>
                  <a:lnTo>
                    <a:pt x="11329" y="19135"/>
                  </a:lnTo>
                  <a:lnTo>
                    <a:pt x="11445" y="18905"/>
                  </a:lnTo>
                  <a:lnTo>
                    <a:pt x="11792" y="18559"/>
                  </a:lnTo>
                  <a:lnTo>
                    <a:pt x="11908" y="18213"/>
                  </a:lnTo>
                  <a:lnTo>
                    <a:pt x="12139" y="17925"/>
                  </a:lnTo>
                  <a:lnTo>
                    <a:pt x="12486" y="17522"/>
                  </a:lnTo>
                  <a:lnTo>
                    <a:pt x="12601" y="17118"/>
                  </a:lnTo>
                  <a:lnTo>
                    <a:pt x="12832" y="16715"/>
                  </a:lnTo>
                  <a:lnTo>
                    <a:pt x="13295" y="16311"/>
                  </a:lnTo>
                  <a:lnTo>
                    <a:pt x="13410" y="15850"/>
                  </a:lnTo>
                  <a:lnTo>
                    <a:pt x="13642" y="15331"/>
                  </a:lnTo>
                  <a:lnTo>
                    <a:pt x="13873" y="14870"/>
                  </a:lnTo>
                  <a:lnTo>
                    <a:pt x="14220" y="14352"/>
                  </a:lnTo>
                  <a:lnTo>
                    <a:pt x="14451" y="13833"/>
                  </a:lnTo>
                  <a:lnTo>
                    <a:pt x="14682" y="13314"/>
                  </a:lnTo>
                  <a:lnTo>
                    <a:pt x="14913" y="12738"/>
                  </a:lnTo>
                  <a:lnTo>
                    <a:pt x="15260" y="12219"/>
                  </a:lnTo>
                  <a:lnTo>
                    <a:pt x="15491" y="11585"/>
                  </a:lnTo>
                  <a:lnTo>
                    <a:pt x="15607" y="11066"/>
                  </a:lnTo>
                  <a:lnTo>
                    <a:pt x="15954" y="10548"/>
                  </a:lnTo>
                  <a:lnTo>
                    <a:pt x="16069" y="10029"/>
                  </a:lnTo>
                  <a:lnTo>
                    <a:pt x="16416" y="9452"/>
                  </a:lnTo>
                  <a:lnTo>
                    <a:pt x="16532" y="8934"/>
                  </a:lnTo>
                  <a:lnTo>
                    <a:pt x="16763" y="8473"/>
                  </a:lnTo>
                  <a:lnTo>
                    <a:pt x="16994" y="7781"/>
                  </a:lnTo>
                  <a:lnTo>
                    <a:pt x="17225" y="7262"/>
                  </a:lnTo>
                  <a:lnTo>
                    <a:pt x="17457" y="6801"/>
                  </a:lnTo>
                  <a:lnTo>
                    <a:pt x="17572" y="6225"/>
                  </a:lnTo>
                  <a:lnTo>
                    <a:pt x="17803" y="5764"/>
                  </a:lnTo>
                  <a:lnTo>
                    <a:pt x="18266" y="5187"/>
                  </a:lnTo>
                  <a:lnTo>
                    <a:pt x="18266" y="4726"/>
                  </a:lnTo>
                  <a:lnTo>
                    <a:pt x="18497" y="4265"/>
                  </a:lnTo>
                  <a:lnTo>
                    <a:pt x="18728" y="3862"/>
                  </a:lnTo>
                  <a:lnTo>
                    <a:pt x="18960" y="3401"/>
                  </a:lnTo>
                  <a:lnTo>
                    <a:pt x="19075" y="2997"/>
                  </a:lnTo>
                  <a:lnTo>
                    <a:pt x="19191" y="2594"/>
                  </a:lnTo>
                  <a:lnTo>
                    <a:pt x="19306" y="2248"/>
                  </a:lnTo>
                  <a:lnTo>
                    <a:pt x="19538" y="1960"/>
                  </a:lnTo>
                  <a:lnTo>
                    <a:pt x="19538" y="1556"/>
                  </a:lnTo>
                  <a:lnTo>
                    <a:pt x="19653" y="1326"/>
                  </a:lnTo>
                  <a:lnTo>
                    <a:pt x="19769" y="1037"/>
                  </a:lnTo>
                  <a:lnTo>
                    <a:pt x="19884" y="807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72" name="AutoShape 64">
              <a:extLst>
                <a:ext uri="{FF2B5EF4-FFF2-40B4-BE49-F238E27FC236}">
                  <a16:creationId xmlns:a16="http://schemas.microsoft.com/office/drawing/2014/main" id="{96E8F46C-6A0B-143F-AFE5-3A75F95EC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2" y="561"/>
              <a:ext cx="96" cy="13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4"/>
                  </a:moveTo>
                  <a:lnTo>
                    <a:pt x="247" y="18544"/>
                  </a:lnTo>
                  <a:lnTo>
                    <a:pt x="494" y="17844"/>
                  </a:lnTo>
                  <a:lnTo>
                    <a:pt x="617" y="17251"/>
                  </a:lnTo>
                  <a:lnTo>
                    <a:pt x="864" y="16712"/>
                  </a:lnTo>
                  <a:lnTo>
                    <a:pt x="1111" y="16065"/>
                  </a:lnTo>
                  <a:lnTo>
                    <a:pt x="1358" y="15472"/>
                  </a:lnTo>
                  <a:lnTo>
                    <a:pt x="1605" y="14933"/>
                  </a:lnTo>
                  <a:lnTo>
                    <a:pt x="1728" y="14286"/>
                  </a:lnTo>
                  <a:lnTo>
                    <a:pt x="1852" y="13693"/>
                  </a:lnTo>
                  <a:lnTo>
                    <a:pt x="2222" y="13154"/>
                  </a:lnTo>
                  <a:lnTo>
                    <a:pt x="2593" y="12615"/>
                  </a:lnTo>
                  <a:lnTo>
                    <a:pt x="2593" y="12022"/>
                  </a:lnTo>
                  <a:lnTo>
                    <a:pt x="2963" y="11429"/>
                  </a:lnTo>
                  <a:lnTo>
                    <a:pt x="3086" y="10889"/>
                  </a:lnTo>
                  <a:lnTo>
                    <a:pt x="3333" y="10350"/>
                  </a:lnTo>
                  <a:lnTo>
                    <a:pt x="3580" y="9757"/>
                  </a:lnTo>
                  <a:lnTo>
                    <a:pt x="3704" y="9326"/>
                  </a:lnTo>
                  <a:lnTo>
                    <a:pt x="4074" y="8733"/>
                  </a:lnTo>
                  <a:lnTo>
                    <a:pt x="4198" y="8194"/>
                  </a:lnTo>
                  <a:lnTo>
                    <a:pt x="4444" y="7763"/>
                  </a:lnTo>
                  <a:lnTo>
                    <a:pt x="4691" y="7224"/>
                  </a:lnTo>
                  <a:lnTo>
                    <a:pt x="4815" y="6846"/>
                  </a:lnTo>
                  <a:lnTo>
                    <a:pt x="5062" y="6361"/>
                  </a:lnTo>
                  <a:lnTo>
                    <a:pt x="5309" y="5876"/>
                  </a:lnTo>
                  <a:lnTo>
                    <a:pt x="5556" y="5499"/>
                  </a:lnTo>
                  <a:lnTo>
                    <a:pt x="5802" y="5067"/>
                  </a:lnTo>
                  <a:lnTo>
                    <a:pt x="5802" y="4528"/>
                  </a:lnTo>
                  <a:lnTo>
                    <a:pt x="6296" y="4151"/>
                  </a:lnTo>
                  <a:lnTo>
                    <a:pt x="6420" y="3720"/>
                  </a:lnTo>
                  <a:lnTo>
                    <a:pt x="6667" y="3396"/>
                  </a:lnTo>
                  <a:lnTo>
                    <a:pt x="6914" y="3019"/>
                  </a:lnTo>
                  <a:lnTo>
                    <a:pt x="7037" y="2749"/>
                  </a:lnTo>
                  <a:lnTo>
                    <a:pt x="7284" y="2426"/>
                  </a:lnTo>
                  <a:lnTo>
                    <a:pt x="7531" y="2102"/>
                  </a:lnTo>
                  <a:lnTo>
                    <a:pt x="7778" y="1833"/>
                  </a:lnTo>
                  <a:lnTo>
                    <a:pt x="7901" y="1563"/>
                  </a:lnTo>
                  <a:lnTo>
                    <a:pt x="8148" y="1240"/>
                  </a:lnTo>
                  <a:lnTo>
                    <a:pt x="8395" y="1024"/>
                  </a:lnTo>
                  <a:lnTo>
                    <a:pt x="8519" y="863"/>
                  </a:lnTo>
                  <a:lnTo>
                    <a:pt x="8765" y="647"/>
                  </a:lnTo>
                  <a:lnTo>
                    <a:pt x="8889" y="539"/>
                  </a:lnTo>
                  <a:lnTo>
                    <a:pt x="9136" y="377"/>
                  </a:lnTo>
                  <a:lnTo>
                    <a:pt x="9383" y="270"/>
                  </a:lnTo>
                  <a:lnTo>
                    <a:pt x="9506" y="108"/>
                  </a:lnTo>
                  <a:lnTo>
                    <a:pt x="9877" y="108"/>
                  </a:lnTo>
                  <a:lnTo>
                    <a:pt x="10000" y="54"/>
                  </a:lnTo>
                  <a:lnTo>
                    <a:pt x="10247" y="0"/>
                  </a:lnTo>
                  <a:lnTo>
                    <a:pt x="10617" y="54"/>
                  </a:lnTo>
                  <a:lnTo>
                    <a:pt x="10741" y="54"/>
                  </a:lnTo>
                  <a:lnTo>
                    <a:pt x="10864" y="108"/>
                  </a:lnTo>
                  <a:lnTo>
                    <a:pt x="11111" y="216"/>
                  </a:lnTo>
                  <a:lnTo>
                    <a:pt x="11358" y="323"/>
                  </a:lnTo>
                  <a:lnTo>
                    <a:pt x="11481" y="539"/>
                  </a:lnTo>
                  <a:lnTo>
                    <a:pt x="11852" y="755"/>
                  </a:lnTo>
                  <a:lnTo>
                    <a:pt x="12099" y="1024"/>
                  </a:lnTo>
                  <a:lnTo>
                    <a:pt x="12222" y="1240"/>
                  </a:lnTo>
                  <a:lnTo>
                    <a:pt x="12346" y="1563"/>
                  </a:lnTo>
                  <a:lnTo>
                    <a:pt x="12716" y="1887"/>
                  </a:lnTo>
                  <a:lnTo>
                    <a:pt x="12963" y="2264"/>
                  </a:lnTo>
                  <a:lnTo>
                    <a:pt x="13086" y="2749"/>
                  </a:lnTo>
                  <a:lnTo>
                    <a:pt x="13333" y="3127"/>
                  </a:lnTo>
                  <a:lnTo>
                    <a:pt x="13580" y="3504"/>
                  </a:lnTo>
                  <a:lnTo>
                    <a:pt x="13704" y="3989"/>
                  </a:lnTo>
                  <a:lnTo>
                    <a:pt x="14198" y="4367"/>
                  </a:lnTo>
                  <a:lnTo>
                    <a:pt x="14321" y="4960"/>
                  </a:lnTo>
                  <a:lnTo>
                    <a:pt x="14444" y="5499"/>
                  </a:lnTo>
                  <a:lnTo>
                    <a:pt x="14815" y="5984"/>
                  </a:lnTo>
                  <a:lnTo>
                    <a:pt x="15062" y="6523"/>
                  </a:lnTo>
                  <a:lnTo>
                    <a:pt x="15185" y="7008"/>
                  </a:lnTo>
                  <a:lnTo>
                    <a:pt x="15309" y="7601"/>
                  </a:lnTo>
                  <a:lnTo>
                    <a:pt x="15679" y="8194"/>
                  </a:lnTo>
                  <a:lnTo>
                    <a:pt x="15926" y="8787"/>
                  </a:lnTo>
                  <a:lnTo>
                    <a:pt x="16173" y="9326"/>
                  </a:lnTo>
                  <a:lnTo>
                    <a:pt x="16296" y="9919"/>
                  </a:lnTo>
                  <a:lnTo>
                    <a:pt x="16543" y="10458"/>
                  </a:lnTo>
                  <a:lnTo>
                    <a:pt x="16667" y="10997"/>
                  </a:lnTo>
                  <a:lnTo>
                    <a:pt x="16914" y="11590"/>
                  </a:lnTo>
                  <a:lnTo>
                    <a:pt x="17160" y="12183"/>
                  </a:lnTo>
                  <a:lnTo>
                    <a:pt x="17407" y="12776"/>
                  </a:lnTo>
                  <a:lnTo>
                    <a:pt x="17407" y="13261"/>
                  </a:lnTo>
                  <a:lnTo>
                    <a:pt x="17654" y="13854"/>
                  </a:lnTo>
                  <a:lnTo>
                    <a:pt x="17901" y="14340"/>
                  </a:lnTo>
                  <a:lnTo>
                    <a:pt x="18148" y="14933"/>
                  </a:lnTo>
                  <a:lnTo>
                    <a:pt x="18395" y="15472"/>
                  </a:lnTo>
                  <a:lnTo>
                    <a:pt x="18395" y="15903"/>
                  </a:lnTo>
                  <a:lnTo>
                    <a:pt x="18642" y="16442"/>
                  </a:lnTo>
                  <a:lnTo>
                    <a:pt x="18889" y="16873"/>
                  </a:lnTo>
                  <a:lnTo>
                    <a:pt x="19012" y="17305"/>
                  </a:lnTo>
                  <a:lnTo>
                    <a:pt x="19136" y="17736"/>
                  </a:lnTo>
                  <a:lnTo>
                    <a:pt x="19259" y="18113"/>
                  </a:lnTo>
                  <a:lnTo>
                    <a:pt x="19506" y="18544"/>
                  </a:lnTo>
                  <a:lnTo>
                    <a:pt x="19506" y="18976"/>
                  </a:lnTo>
                  <a:lnTo>
                    <a:pt x="19630" y="19191"/>
                  </a:lnTo>
                  <a:lnTo>
                    <a:pt x="19753" y="19461"/>
                  </a:lnTo>
                  <a:lnTo>
                    <a:pt x="19877" y="19730"/>
                  </a:lnTo>
                  <a:lnTo>
                    <a:pt x="19877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73" name="AutoShape 65">
              <a:extLst>
                <a:ext uri="{FF2B5EF4-FFF2-40B4-BE49-F238E27FC236}">
                  <a16:creationId xmlns:a16="http://schemas.microsoft.com/office/drawing/2014/main" id="{2007A962-6E30-70BA-BB70-AC2BBDC9E7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686"/>
              <a:ext cx="103" cy="1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1" y="616"/>
                  </a:lnTo>
                  <a:lnTo>
                    <a:pt x="347" y="1232"/>
                  </a:lnTo>
                  <a:lnTo>
                    <a:pt x="462" y="1905"/>
                  </a:lnTo>
                  <a:lnTo>
                    <a:pt x="809" y="2521"/>
                  </a:lnTo>
                  <a:lnTo>
                    <a:pt x="925" y="3137"/>
                  </a:lnTo>
                  <a:lnTo>
                    <a:pt x="1156" y="3697"/>
                  </a:lnTo>
                  <a:lnTo>
                    <a:pt x="1387" y="4314"/>
                  </a:lnTo>
                  <a:lnTo>
                    <a:pt x="1503" y="4986"/>
                  </a:lnTo>
                  <a:lnTo>
                    <a:pt x="1734" y="5602"/>
                  </a:lnTo>
                  <a:lnTo>
                    <a:pt x="2081" y="6162"/>
                  </a:lnTo>
                  <a:lnTo>
                    <a:pt x="2197" y="6779"/>
                  </a:lnTo>
                  <a:lnTo>
                    <a:pt x="2543" y="7283"/>
                  </a:lnTo>
                  <a:lnTo>
                    <a:pt x="2543" y="7899"/>
                  </a:lnTo>
                  <a:lnTo>
                    <a:pt x="2775" y="8515"/>
                  </a:lnTo>
                  <a:lnTo>
                    <a:pt x="3006" y="9020"/>
                  </a:lnTo>
                  <a:lnTo>
                    <a:pt x="3237" y="9636"/>
                  </a:lnTo>
                  <a:lnTo>
                    <a:pt x="3353" y="10140"/>
                  </a:lnTo>
                  <a:lnTo>
                    <a:pt x="3468" y="10644"/>
                  </a:lnTo>
                  <a:lnTo>
                    <a:pt x="3815" y="11204"/>
                  </a:lnTo>
                  <a:lnTo>
                    <a:pt x="3931" y="11765"/>
                  </a:lnTo>
                  <a:lnTo>
                    <a:pt x="4162" y="12213"/>
                  </a:lnTo>
                  <a:lnTo>
                    <a:pt x="4393" y="12773"/>
                  </a:lnTo>
                  <a:lnTo>
                    <a:pt x="4509" y="13165"/>
                  </a:lnTo>
                  <a:lnTo>
                    <a:pt x="4624" y="13669"/>
                  </a:lnTo>
                  <a:lnTo>
                    <a:pt x="4971" y="14118"/>
                  </a:lnTo>
                  <a:lnTo>
                    <a:pt x="5202" y="14510"/>
                  </a:lnTo>
                  <a:lnTo>
                    <a:pt x="5434" y="15014"/>
                  </a:lnTo>
                  <a:lnTo>
                    <a:pt x="5549" y="15462"/>
                  </a:lnTo>
                  <a:lnTo>
                    <a:pt x="5665" y="15854"/>
                  </a:lnTo>
                  <a:lnTo>
                    <a:pt x="6127" y="16190"/>
                  </a:lnTo>
                  <a:lnTo>
                    <a:pt x="6243" y="16639"/>
                  </a:lnTo>
                  <a:lnTo>
                    <a:pt x="6474" y="16919"/>
                  </a:lnTo>
                  <a:lnTo>
                    <a:pt x="6590" y="17255"/>
                  </a:lnTo>
                  <a:lnTo>
                    <a:pt x="6705" y="17591"/>
                  </a:lnTo>
                  <a:lnTo>
                    <a:pt x="6936" y="17927"/>
                  </a:lnTo>
                  <a:lnTo>
                    <a:pt x="7283" y="18095"/>
                  </a:lnTo>
                  <a:lnTo>
                    <a:pt x="7514" y="18487"/>
                  </a:lnTo>
                  <a:lnTo>
                    <a:pt x="7514" y="18711"/>
                  </a:lnTo>
                  <a:lnTo>
                    <a:pt x="7861" y="18992"/>
                  </a:lnTo>
                  <a:lnTo>
                    <a:pt x="7977" y="19160"/>
                  </a:lnTo>
                  <a:lnTo>
                    <a:pt x="8208" y="19328"/>
                  </a:lnTo>
                  <a:lnTo>
                    <a:pt x="8439" y="19440"/>
                  </a:lnTo>
                  <a:lnTo>
                    <a:pt x="8555" y="19664"/>
                  </a:lnTo>
                  <a:lnTo>
                    <a:pt x="8902" y="19720"/>
                  </a:lnTo>
                  <a:lnTo>
                    <a:pt x="9017" y="19888"/>
                  </a:lnTo>
                  <a:lnTo>
                    <a:pt x="9249" y="19888"/>
                  </a:lnTo>
                  <a:lnTo>
                    <a:pt x="9480" y="19944"/>
                  </a:lnTo>
                  <a:lnTo>
                    <a:pt x="9595" y="19944"/>
                  </a:lnTo>
                  <a:lnTo>
                    <a:pt x="9827" y="19944"/>
                  </a:lnTo>
                  <a:lnTo>
                    <a:pt x="10173" y="19888"/>
                  </a:lnTo>
                  <a:lnTo>
                    <a:pt x="10405" y="19888"/>
                  </a:lnTo>
                  <a:lnTo>
                    <a:pt x="10520" y="19664"/>
                  </a:lnTo>
                  <a:lnTo>
                    <a:pt x="10751" y="19496"/>
                  </a:lnTo>
                  <a:lnTo>
                    <a:pt x="11098" y="19328"/>
                  </a:lnTo>
                  <a:lnTo>
                    <a:pt x="11329" y="19104"/>
                  </a:lnTo>
                  <a:lnTo>
                    <a:pt x="11445" y="18936"/>
                  </a:lnTo>
                  <a:lnTo>
                    <a:pt x="11792" y="18543"/>
                  </a:lnTo>
                  <a:lnTo>
                    <a:pt x="11908" y="18263"/>
                  </a:lnTo>
                  <a:lnTo>
                    <a:pt x="12139" y="17871"/>
                  </a:lnTo>
                  <a:lnTo>
                    <a:pt x="12486" y="17479"/>
                  </a:lnTo>
                  <a:lnTo>
                    <a:pt x="12601" y="17087"/>
                  </a:lnTo>
                  <a:lnTo>
                    <a:pt x="12832" y="16751"/>
                  </a:lnTo>
                  <a:lnTo>
                    <a:pt x="13295" y="16303"/>
                  </a:lnTo>
                  <a:lnTo>
                    <a:pt x="13410" y="15798"/>
                  </a:lnTo>
                  <a:lnTo>
                    <a:pt x="13642" y="15350"/>
                  </a:lnTo>
                  <a:lnTo>
                    <a:pt x="13873" y="14846"/>
                  </a:lnTo>
                  <a:lnTo>
                    <a:pt x="14220" y="14342"/>
                  </a:lnTo>
                  <a:lnTo>
                    <a:pt x="14451" y="13838"/>
                  </a:lnTo>
                  <a:lnTo>
                    <a:pt x="14682" y="13277"/>
                  </a:lnTo>
                  <a:lnTo>
                    <a:pt x="14913" y="12829"/>
                  </a:lnTo>
                  <a:lnTo>
                    <a:pt x="15260" y="12213"/>
                  </a:lnTo>
                  <a:lnTo>
                    <a:pt x="15491" y="11709"/>
                  </a:lnTo>
                  <a:lnTo>
                    <a:pt x="15607" y="11036"/>
                  </a:lnTo>
                  <a:lnTo>
                    <a:pt x="15954" y="10588"/>
                  </a:lnTo>
                  <a:lnTo>
                    <a:pt x="16069" y="10028"/>
                  </a:lnTo>
                  <a:lnTo>
                    <a:pt x="16416" y="9412"/>
                  </a:lnTo>
                  <a:lnTo>
                    <a:pt x="16532" y="8964"/>
                  </a:lnTo>
                  <a:lnTo>
                    <a:pt x="16763" y="8403"/>
                  </a:lnTo>
                  <a:lnTo>
                    <a:pt x="16994" y="7787"/>
                  </a:lnTo>
                  <a:lnTo>
                    <a:pt x="17225" y="7227"/>
                  </a:lnTo>
                  <a:lnTo>
                    <a:pt x="17457" y="6835"/>
                  </a:lnTo>
                  <a:lnTo>
                    <a:pt x="17572" y="6218"/>
                  </a:lnTo>
                  <a:lnTo>
                    <a:pt x="17803" y="5714"/>
                  </a:lnTo>
                  <a:lnTo>
                    <a:pt x="18266" y="5210"/>
                  </a:lnTo>
                  <a:lnTo>
                    <a:pt x="18266" y="4762"/>
                  </a:lnTo>
                  <a:lnTo>
                    <a:pt x="18497" y="4314"/>
                  </a:lnTo>
                  <a:lnTo>
                    <a:pt x="18728" y="3866"/>
                  </a:lnTo>
                  <a:lnTo>
                    <a:pt x="18960" y="3361"/>
                  </a:lnTo>
                  <a:lnTo>
                    <a:pt x="19075" y="3025"/>
                  </a:lnTo>
                  <a:lnTo>
                    <a:pt x="19191" y="2689"/>
                  </a:lnTo>
                  <a:lnTo>
                    <a:pt x="19306" y="2241"/>
                  </a:lnTo>
                  <a:lnTo>
                    <a:pt x="19538" y="1905"/>
                  </a:lnTo>
                  <a:lnTo>
                    <a:pt x="19538" y="1625"/>
                  </a:lnTo>
                  <a:lnTo>
                    <a:pt x="19653" y="1289"/>
                  </a:lnTo>
                  <a:lnTo>
                    <a:pt x="19769" y="1008"/>
                  </a:lnTo>
                  <a:lnTo>
                    <a:pt x="19884" y="84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74" name="AutoShape 66">
              <a:extLst>
                <a:ext uri="{FF2B5EF4-FFF2-40B4-BE49-F238E27FC236}">
                  <a16:creationId xmlns:a16="http://schemas.microsoft.com/office/drawing/2014/main" id="{F23B3322-CC22-02D5-46E7-FBB2A041D7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" y="564"/>
              <a:ext cx="97" cy="1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111"/>
                  </a:moveTo>
                  <a:lnTo>
                    <a:pt x="247" y="18500"/>
                  </a:lnTo>
                  <a:lnTo>
                    <a:pt x="494" y="17889"/>
                  </a:lnTo>
                  <a:lnTo>
                    <a:pt x="617" y="17278"/>
                  </a:lnTo>
                  <a:lnTo>
                    <a:pt x="864" y="16722"/>
                  </a:lnTo>
                  <a:lnTo>
                    <a:pt x="1111" y="16111"/>
                  </a:lnTo>
                  <a:lnTo>
                    <a:pt x="1358" y="15500"/>
                  </a:lnTo>
                  <a:lnTo>
                    <a:pt x="1605" y="14889"/>
                  </a:lnTo>
                  <a:lnTo>
                    <a:pt x="1728" y="14333"/>
                  </a:lnTo>
                  <a:lnTo>
                    <a:pt x="1852" y="13667"/>
                  </a:lnTo>
                  <a:lnTo>
                    <a:pt x="2222" y="13111"/>
                  </a:lnTo>
                  <a:lnTo>
                    <a:pt x="2593" y="12611"/>
                  </a:lnTo>
                  <a:lnTo>
                    <a:pt x="2593" y="12056"/>
                  </a:lnTo>
                  <a:lnTo>
                    <a:pt x="2963" y="11389"/>
                  </a:lnTo>
                  <a:lnTo>
                    <a:pt x="3086" y="10889"/>
                  </a:lnTo>
                  <a:lnTo>
                    <a:pt x="3333" y="10389"/>
                  </a:lnTo>
                  <a:lnTo>
                    <a:pt x="3580" y="9778"/>
                  </a:lnTo>
                  <a:lnTo>
                    <a:pt x="3704" y="9333"/>
                  </a:lnTo>
                  <a:lnTo>
                    <a:pt x="4074" y="8833"/>
                  </a:lnTo>
                  <a:lnTo>
                    <a:pt x="4198" y="8222"/>
                  </a:lnTo>
                  <a:lnTo>
                    <a:pt x="4444" y="7722"/>
                  </a:lnTo>
                  <a:lnTo>
                    <a:pt x="4691" y="7222"/>
                  </a:lnTo>
                  <a:lnTo>
                    <a:pt x="4815" y="6833"/>
                  </a:lnTo>
                  <a:lnTo>
                    <a:pt x="5062" y="6333"/>
                  </a:lnTo>
                  <a:lnTo>
                    <a:pt x="5309" y="5889"/>
                  </a:lnTo>
                  <a:lnTo>
                    <a:pt x="5556" y="5444"/>
                  </a:lnTo>
                  <a:lnTo>
                    <a:pt x="5802" y="5056"/>
                  </a:lnTo>
                  <a:lnTo>
                    <a:pt x="5802" y="4556"/>
                  </a:lnTo>
                  <a:lnTo>
                    <a:pt x="6296" y="4167"/>
                  </a:lnTo>
                  <a:lnTo>
                    <a:pt x="6420" y="3778"/>
                  </a:lnTo>
                  <a:lnTo>
                    <a:pt x="6667" y="3389"/>
                  </a:lnTo>
                  <a:lnTo>
                    <a:pt x="6914" y="3056"/>
                  </a:lnTo>
                  <a:lnTo>
                    <a:pt x="7037" y="2722"/>
                  </a:lnTo>
                  <a:lnTo>
                    <a:pt x="7284" y="2444"/>
                  </a:lnTo>
                  <a:lnTo>
                    <a:pt x="7531" y="2111"/>
                  </a:lnTo>
                  <a:lnTo>
                    <a:pt x="7778" y="1889"/>
                  </a:lnTo>
                  <a:lnTo>
                    <a:pt x="7901" y="1556"/>
                  </a:lnTo>
                  <a:lnTo>
                    <a:pt x="8148" y="1278"/>
                  </a:lnTo>
                  <a:lnTo>
                    <a:pt x="8395" y="1056"/>
                  </a:lnTo>
                  <a:lnTo>
                    <a:pt x="8519" y="833"/>
                  </a:lnTo>
                  <a:lnTo>
                    <a:pt x="8765" y="667"/>
                  </a:lnTo>
                  <a:lnTo>
                    <a:pt x="8889" y="500"/>
                  </a:lnTo>
                  <a:lnTo>
                    <a:pt x="9136" y="389"/>
                  </a:lnTo>
                  <a:lnTo>
                    <a:pt x="9383" y="278"/>
                  </a:lnTo>
                  <a:lnTo>
                    <a:pt x="9506" y="111"/>
                  </a:lnTo>
                  <a:lnTo>
                    <a:pt x="9877" y="111"/>
                  </a:lnTo>
                  <a:lnTo>
                    <a:pt x="10000" y="56"/>
                  </a:lnTo>
                  <a:lnTo>
                    <a:pt x="10247" y="0"/>
                  </a:lnTo>
                  <a:lnTo>
                    <a:pt x="10617" y="56"/>
                  </a:lnTo>
                  <a:lnTo>
                    <a:pt x="10741" y="56"/>
                  </a:lnTo>
                  <a:lnTo>
                    <a:pt x="10864" y="111"/>
                  </a:lnTo>
                  <a:lnTo>
                    <a:pt x="11111" y="222"/>
                  </a:lnTo>
                  <a:lnTo>
                    <a:pt x="11358" y="333"/>
                  </a:lnTo>
                  <a:lnTo>
                    <a:pt x="11481" y="556"/>
                  </a:lnTo>
                  <a:lnTo>
                    <a:pt x="11852" y="722"/>
                  </a:lnTo>
                  <a:lnTo>
                    <a:pt x="12099" y="1000"/>
                  </a:lnTo>
                  <a:lnTo>
                    <a:pt x="12222" y="1278"/>
                  </a:lnTo>
                  <a:lnTo>
                    <a:pt x="12346" y="1556"/>
                  </a:lnTo>
                  <a:lnTo>
                    <a:pt x="12716" y="1889"/>
                  </a:lnTo>
                  <a:lnTo>
                    <a:pt x="12963" y="2278"/>
                  </a:lnTo>
                  <a:lnTo>
                    <a:pt x="13086" y="2722"/>
                  </a:lnTo>
                  <a:lnTo>
                    <a:pt x="13333" y="3111"/>
                  </a:lnTo>
                  <a:lnTo>
                    <a:pt x="13580" y="3500"/>
                  </a:lnTo>
                  <a:lnTo>
                    <a:pt x="13704" y="4000"/>
                  </a:lnTo>
                  <a:lnTo>
                    <a:pt x="14198" y="4444"/>
                  </a:lnTo>
                  <a:lnTo>
                    <a:pt x="14321" y="4944"/>
                  </a:lnTo>
                  <a:lnTo>
                    <a:pt x="14444" y="5500"/>
                  </a:lnTo>
                  <a:lnTo>
                    <a:pt x="14815" y="6000"/>
                  </a:lnTo>
                  <a:lnTo>
                    <a:pt x="15062" y="6556"/>
                  </a:lnTo>
                  <a:lnTo>
                    <a:pt x="15185" y="7000"/>
                  </a:lnTo>
                  <a:lnTo>
                    <a:pt x="15309" y="7611"/>
                  </a:lnTo>
                  <a:lnTo>
                    <a:pt x="15679" y="8167"/>
                  </a:lnTo>
                  <a:lnTo>
                    <a:pt x="15926" y="8833"/>
                  </a:lnTo>
                  <a:lnTo>
                    <a:pt x="16173" y="9333"/>
                  </a:lnTo>
                  <a:lnTo>
                    <a:pt x="16296" y="9889"/>
                  </a:lnTo>
                  <a:lnTo>
                    <a:pt x="16543" y="10444"/>
                  </a:lnTo>
                  <a:lnTo>
                    <a:pt x="16667" y="11000"/>
                  </a:lnTo>
                  <a:lnTo>
                    <a:pt x="16914" y="11611"/>
                  </a:lnTo>
                  <a:lnTo>
                    <a:pt x="17160" y="12167"/>
                  </a:lnTo>
                  <a:lnTo>
                    <a:pt x="17407" y="12778"/>
                  </a:lnTo>
                  <a:lnTo>
                    <a:pt x="17407" y="13278"/>
                  </a:lnTo>
                  <a:lnTo>
                    <a:pt x="17654" y="13833"/>
                  </a:lnTo>
                  <a:lnTo>
                    <a:pt x="17901" y="14389"/>
                  </a:lnTo>
                  <a:lnTo>
                    <a:pt x="18148" y="14944"/>
                  </a:lnTo>
                  <a:lnTo>
                    <a:pt x="18395" y="15444"/>
                  </a:lnTo>
                  <a:lnTo>
                    <a:pt x="18395" y="15944"/>
                  </a:lnTo>
                  <a:lnTo>
                    <a:pt x="18642" y="16444"/>
                  </a:lnTo>
                  <a:lnTo>
                    <a:pt x="18889" y="16889"/>
                  </a:lnTo>
                  <a:lnTo>
                    <a:pt x="19012" y="17278"/>
                  </a:lnTo>
                  <a:lnTo>
                    <a:pt x="19136" y="17722"/>
                  </a:lnTo>
                  <a:lnTo>
                    <a:pt x="19259" y="18111"/>
                  </a:lnTo>
                  <a:lnTo>
                    <a:pt x="19506" y="18500"/>
                  </a:lnTo>
                  <a:lnTo>
                    <a:pt x="19506" y="18944"/>
                  </a:lnTo>
                  <a:lnTo>
                    <a:pt x="19630" y="19222"/>
                  </a:lnTo>
                  <a:lnTo>
                    <a:pt x="19753" y="19500"/>
                  </a:lnTo>
                  <a:lnTo>
                    <a:pt x="19877" y="19722"/>
                  </a:lnTo>
                  <a:lnTo>
                    <a:pt x="19877" y="19944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75" name="AutoShape 67">
              <a:extLst>
                <a:ext uri="{FF2B5EF4-FFF2-40B4-BE49-F238E27FC236}">
                  <a16:creationId xmlns:a16="http://schemas.microsoft.com/office/drawing/2014/main" id="{2EACCDAE-6FBF-50A3-9FC1-899311F6E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" y="686"/>
              <a:ext cx="104" cy="12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1" y="634"/>
                  </a:lnTo>
                  <a:lnTo>
                    <a:pt x="347" y="1268"/>
                  </a:lnTo>
                  <a:lnTo>
                    <a:pt x="462" y="1960"/>
                  </a:lnTo>
                  <a:lnTo>
                    <a:pt x="809" y="2536"/>
                  </a:lnTo>
                  <a:lnTo>
                    <a:pt x="925" y="3170"/>
                  </a:lnTo>
                  <a:lnTo>
                    <a:pt x="1156" y="3689"/>
                  </a:lnTo>
                  <a:lnTo>
                    <a:pt x="1387" y="4380"/>
                  </a:lnTo>
                  <a:lnTo>
                    <a:pt x="1503" y="4957"/>
                  </a:lnTo>
                  <a:lnTo>
                    <a:pt x="1734" y="5591"/>
                  </a:lnTo>
                  <a:lnTo>
                    <a:pt x="2081" y="6167"/>
                  </a:lnTo>
                  <a:lnTo>
                    <a:pt x="2197" y="6801"/>
                  </a:lnTo>
                  <a:lnTo>
                    <a:pt x="2543" y="7262"/>
                  </a:lnTo>
                  <a:lnTo>
                    <a:pt x="2543" y="7839"/>
                  </a:lnTo>
                  <a:lnTo>
                    <a:pt x="2775" y="8473"/>
                  </a:lnTo>
                  <a:lnTo>
                    <a:pt x="3006" y="8991"/>
                  </a:lnTo>
                  <a:lnTo>
                    <a:pt x="3237" y="9625"/>
                  </a:lnTo>
                  <a:lnTo>
                    <a:pt x="3353" y="10144"/>
                  </a:lnTo>
                  <a:lnTo>
                    <a:pt x="3468" y="10663"/>
                  </a:lnTo>
                  <a:lnTo>
                    <a:pt x="3815" y="11182"/>
                  </a:lnTo>
                  <a:lnTo>
                    <a:pt x="3931" y="11758"/>
                  </a:lnTo>
                  <a:lnTo>
                    <a:pt x="4162" y="12219"/>
                  </a:lnTo>
                  <a:lnTo>
                    <a:pt x="4393" y="12738"/>
                  </a:lnTo>
                  <a:lnTo>
                    <a:pt x="4509" y="13199"/>
                  </a:lnTo>
                  <a:lnTo>
                    <a:pt x="4624" y="13660"/>
                  </a:lnTo>
                  <a:lnTo>
                    <a:pt x="4971" y="14121"/>
                  </a:lnTo>
                  <a:lnTo>
                    <a:pt x="5202" y="14582"/>
                  </a:lnTo>
                  <a:lnTo>
                    <a:pt x="5434" y="15043"/>
                  </a:lnTo>
                  <a:lnTo>
                    <a:pt x="5549" y="15389"/>
                  </a:lnTo>
                  <a:lnTo>
                    <a:pt x="5665" y="15850"/>
                  </a:lnTo>
                  <a:lnTo>
                    <a:pt x="6127" y="16254"/>
                  </a:lnTo>
                  <a:lnTo>
                    <a:pt x="6243" y="16599"/>
                  </a:lnTo>
                  <a:lnTo>
                    <a:pt x="6474" y="17003"/>
                  </a:lnTo>
                  <a:lnTo>
                    <a:pt x="6590" y="17233"/>
                  </a:lnTo>
                  <a:lnTo>
                    <a:pt x="6705" y="17579"/>
                  </a:lnTo>
                  <a:lnTo>
                    <a:pt x="6936" y="17925"/>
                  </a:lnTo>
                  <a:lnTo>
                    <a:pt x="7283" y="18156"/>
                  </a:lnTo>
                  <a:lnTo>
                    <a:pt x="7514" y="18444"/>
                  </a:lnTo>
                  <a:lnTo>
                    <a:pt x="7514" y="18732"/>
                  </a:lnTo>
                  <a:lnTo>
                    <a:pt x="7861" y="18963"/>
                  </a:lnTo>
                  <a:lnTo>
                    <a:pt x="7977" y="19193"/>
                  </a:lnTo>
                  <a:lnTo>
                    <a:pt x="8208" y="19308"/>
                  </a:lnTo>
                  <a:lnTo>
                    <a:pt x="8439" y="19481"/>
                  </a:lnTo>
                  <a:lnTo>
                    <a:pt x="8555" y="19654"/>
                  </a:lnTo>
                  <a:lnTo>
                    <a:pt x="8902" y="19712"/>
                  </a:lnTo>
                  <a:lnTo>
                    <a:pt x="9017" y="19885"/>
                  </a:lnTo>
                  <a:lnTo>
                    <a:pt x="9249" y="19885"/>
                  </a:lnTo>
                  <a:lnTo>
                    <a:pt x="9480" y="19942"/>
                  </a:lnTo>
                  <a:lnTo>
                    <a:pt x="9595" y="19942"/>
                  </a:lnTo>
                  <a:lnTo>
                    <a:pt x="9827" y="19942"/>
                  </a:lnTo>
                  <a:lnTo>
                    <a:pt x="10173" y="19885"/>
                  </a:lnTo>
                  <a:lnTo>
                    <a:pt x="10405" y="19885"/>
                  </a:lnTo>
                  <a:lnTo>
                    <a:pt x="10520" y="19712"/>
                  </a:lnTo>
                  <a:lnTo>
                    <a:pt x="10751" y="19481"/>
                  </a:lnTo>
                  <a:lnTo>
                    <a:pt x="11098" y="19308"/>
                  </a:lnTo>
                  <a:lnTo>
                    <a:pt x="11329" y="19135"/>
                  </a:lnTo>
                  <a:lnTo>
                    <a:pt x="11445" y="18905"/>
                  </a:lnTo>
                  <a:lnTo>
                    <a:pt x="11792" y="18559"/>
                  </a:lnTo>
                  <a:lnTo>
                    <a:pt x="11908" y="18213"/>
                  </a:lnTo>
                  <a:lnTo>
                    <a:pt x="12139" y="17925"/>
                  </a:lnTo>
                  <a:lnTo>
                    <a:pt x="12486" y="17522"/>
                  </a:lnTo>
                  <a:lnTo>
                    <a:pt x="12601" y="17118"/>
                  </a:lnTo>
                  <a:lnTo>
                    <a:pt x="12832" y="16715"/>
                  </a:lnTo>
                  <a:lnTo>
                    <a:pt x="13295" y="16311"/>
                  </a:lnTo>
                  <a:lnTo>
                    <a:pt x="13410" y="15850"/>
                  </a:lnTo>
                  <a:lnTo>
                    <a:pt x="13642" y="15331"/>
                  </a:lnTo>
                  <a:lnTo>
                    <a:pt x="13873" y="14870"/>
                  </a:lnTo>
                  <a:lnTo>
                    <a:pt x="14220" y="14352"/>
                  </a:lnTo>
                  <a:lnTo>
                    <a:pt x="14451" y="13833"/>
                  </a:lnTo>
                  <a:lnTo>
                    <a:pt x="14682" y="13314"/>
                  </a:lnTo>
                  <a:lnTo>
                    <a:pt x="14913" y="12738"/>
                  </a:lnTo>
                  <a:lnTo>
                    <a:pt x="15260" y="12219"/>
                  </a:lnTo>
                  <a:lnTo>
                    <a:pt x="15491" y="11585"/>
                  </a:lnTo>
                  <a:lnTo>
                    <a:pt x="15607" y="11066"/>
                  </a:lnTo>
                  <a:lnTo>
                    <a:pt x="15954" y="10548"/>
                  </a:lnTo>
                  <a:lnTo>
                    <a:pt x="16069" y="10029"/>
                  </a:lnTo>
                  <a:lnTo>
                    <a:pt x="16416" y="9452"/>
                  </a:lnTo>
                  <a:lnTo>
                    <a:pt x="16532" y="8934"/>
                  </a:lnTo>
                  <a:lnTo>
                    <a:pt x="16763" y="8473"/>
                  </a:lnTo>
                  <a:lnTo>
                    <a:pt x="16994" y="7781"/>
                  </a:lnTo>
                  <a:lnTo>
                    <a:pt x="17225" y="7262"/>
                  </a:lnTo>
                  <a:lnTo>
                    <a:pt x="17457" y="6801"/>
                  </a:lnTo>
                  <a:lnTo>
                    <a:pt x="17572" y="6225"/>
                  </a:lnTo>
                  <a:lnTo>
                    <a:pt x="17803" y="5764"/>
                  </a:lnTo>
                  <a:lnTo>
                    <a:pt x="18266" y="5187"/>
                  </a:lnTo>
                  <a:lnTo>
                    <a:pt x="18266" y="4726"/>
                  </a:lnTo>
                  <a:lnTo>
                    <a:pt x="18497" y="4265"/>
                  </a:lnTo>
                  <a:lnTo>
                    <a:pt x="18728" y="3862"/>
                  </a:lnTo>
                  <a:lnTo>
                    <a:pt x="18960" y="3401"/>
                  </a:lnTo>
                  <a:lnTo>
                    <a:pt x="19075" y="2997"/>
                  </a:lnTo>
                  <a:lnTo>
                    <a:pt x="19191" y="2594"/>
                  </a:lnTo>
                  <a:lnTo>
                    <a:pt x="19306" y="2248"/>
                  </a:lnTo>
                  <a:lnTo>
                    <a:pt x="19538" y="1960"/>
                  </a:lnTo>
                  <a:lnTo>
                    <a:pt x="19538" y="1556"/>
                  </a:lnTo>
                  <a:lnTo>
                    <a:pt x="19653" y="1326"/>
                  </a:lnTo>
                  <a:lnTo>
                    <a:pt x="19769" y="1037"/>
                  </a:lnTo>
                  <a:lnTo>
                    <a:pt x="19884" y="807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76" name="AutoShape 68">
              <a:extLst>
                <a:ext uri="{FF2B5EF4-FFF2-40B4-BE49-F238E27FC236}">
                  <a16:creationId xmlns:a16="http://schemas.microsoft.com/office/drawing/2014/main" id="{03E38EBD-CC66-A659-3494-2C15981B0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" y="556"/>
              <a:ext cx="97" cy="13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4"/>
                  </a:moveTo>
                  <a:lnTo>
                    <a:pt x="247" y="18544"/>
                  </a:lnTo>
                  <a:lnTo>
                    <a:pt x="494" y="17844"/>
                  </a:lnTo>
                  <a:lnTo>
                    <a:pt x="617" y="17251"/>
                  </a:lnTo>
                  <a:lnTo>
                    <a:pt x="864" y="16712"/>
                  </a:lnTo>
                  <a:lnTo>
                    <a:pt x="1111" y="16065"/>
                  </a:lnTo>
                  <a:lnTo>
                    <a:pt x="1358" y="15472"/>
                  </a:lnTo>
                  <a:lnTo>
                    <a:pt x="1605" y="14933"/>
                  </a:lnTo>
                  <a:lnTo>
                    <a:pt x="1728" y="14286"/>
                  </a:lnTo>
                  <a:lnTo>
                    <a:pt x="1852" y="13693"/>
                  </a:lnTo>
                  <a:lnTo>
                    <a:pt x="2222" y="13154"/>
                  </a:lnTo>
                  <a:lnTo>
                    <a:pt x="2593" y="12615"/>
                  </a:lnTo>
                  <a:lnTo>
                    <a:pt x="2593" y="12022"/>
                  </a:lnTo>
                  <a:lnTo>
                    <a:pt x="2963" y="11429"/>
                  </a:lnTo>
                  <a:lnTo>
                    <a:pt x="3086" y="10889"/>
                  </a:lnTo>
                  <a:lnTo>
                    <a:pt x="3333" y="10350"/>
                  </a:lnTo>
                  <a:lnTo>
                    <a:pt x="3580" y="9757"/>
                  </a:lnTo>
                  <a:lnTo>
                    <a:pt x="3704" y="9326"/>
                  </a:lnTo>
                  <a:lnTo>
                    <a:pt x="4074" y="8733"/>
                  </a:lnTo>
                  <a:lnTo>
                    <a:pt x="4198" y="8194"/>
                  </a:lnTo>
                  <a:lnTo>
                    <a:pt x="4444" y="7763"/>
                  </a:lnTo>
                  <a:lnTo>
                    <a:pt x="4691" y="7224"/>
                  </a:lnTo>
                  <a:lnTo>
                    <a:pt x="4815" y="6846"/>
                  </a:lnTo>
                  <a:lnTo>
                    <a:pt x="5062" y="6361"/>
                  </a:lnTo>
                  <a:lnTo>
                    <a:pt x="5309" y="5876"/>
                  </a:lnTo>
                  <a:lnTo>
                    <a:pt x="5556" y="5499"/>
                  </a:lnTo>
                  <a:lnTo>
                    <a:pt x="5802" y="5067"/>
                  </a:lnTo>
                  <a:lnTo>
                    <a:pt x="5802" y="4528"/>
                  </a:lnTo>
                  <a:lnTo>
                    <a:pt x="6296" y="4151"/>
                  </a:lnTo>
                  <a:lnTo>
                    <a:pt x="6420" y="3720"/>
                  </a:lnTo>
                  <a:lnTo>
                    <a:pt x="6667" y="3396"/>
                  </a:lnTo>
                  <a:lnTo>
                    <a:pt x="6914" y="3019"/>
                  </a:lnTo>
                  <a:lnTo>
                    <a:pt x="7037" y="2749"/>
                  </a:lnTo>
                  <a:lnTo>
                    <a:pt x="7284" y="2426"/>
                  </a:lnTo>
                  <a:lnTo>
                    <a:pt x="7531" y="2102"/>
                  </a:lnTo>
                  <a:lnTo>
                    <a:pt x="7778" y="1833"/>
                  </a:lnTo>
                  <a:lnTo>
                    <a:pt x="7901" y="1563"/>
                  </a:lnTo>
                  <a:lnTo>
                    <a:pt x="8148" y="1240"/>
                  </a:lnTo>
                  <a:lnTo>
                    <a:pt x="8395" y="1024"/>
                  </a:lnTo>
                  <a:lnTo>
                    <a:pt x="8519" y="863"/>
                  </a:lnTo>
                  <a:lnTo>
                    <a:pt x="8765" y="647"/>
                  </a:lnTo>
                  <a:lnTo>
                    <a:pt x="8889" y="539"/>
                  </a:lnTo>
                  <a:lnTo>
                    <a:pt x="9136" y="377"/>
                  </a:lnTo>
                  <a:lnTo>
                    <a:pt x="9383" y="270"/>
                  </a:lnTo>
                  <a:lnTo>
                    <a:pt x="9506" y="108"/>
                  </a:lnTo>
                  <a:lnTo>
                    <a:pt x="9877" y="108"/>
                  </a:lnTo>
                  <a:lnTo>
                    <a:pt x="10000" y="54"/>
                  </a:lnTo>
                  <a:lnTo>
                    <a:pt x="10247" y="0"/>
                  </a:lnTo>
                  <a:lnTo>
                    <a:pt x="10617" y="54"/>
                  </a:lnTo>
                  <a:lnTo>
                    <a:pt x="10741" y="54"/>
                  </a:lnTo>
                  <a:lnTo>
                    <a:pt x="10864" y="108"/>
                  </a:lnTo>
                  <a:lnTo>
                    <a:pt x="11111" y="216"/>
                  </a:lnTo>
                  <a:lnTo>
                    <a:pt x="11358" y="323"/>
                  </a:lnTo>
                  <a:lnTo>
                    <a:pt x="11481" y="539"/>
                  </a:lnTo>
                  <a:lnTo>
                    <a:pt x="11852" y="755"/>
                  </a:lnTo>
                  <a:lnTo>
                    <a:pt x="12099" y="1024"/>
                  </a:lnTo>
                  <a:lnTo>
                    <a:pt x="12222" y="1240"/>
                  </a:lnTo>
                  <a:lnTo>
                    <a:pt x="12346" y="1563"/>
                  </a:lnTo>
                  <a:lnTo>
                    <a:pt x="12716" y="1887"/>
                  </a:lnTo>
                  <a:lnTo>
                    <a:pt x="12963" y="2264"/>
                  </a:lnTo>
                  <a:lnTo>
                    <a:pt x="13086" y="2749"/>
                  </a:lnTo>
                  <a:lnTo>
                    <a:pt x="13333" y="3127"/>
                  </a:lnTo>
                  <a:lnTo>
                    <a:pt x="13580" y="3504"/>
                  </a:lnTo>
                  <a:lnTo>
                    <a:pt x="13704" y="3989"/>
                  </a:lnTo>
                  <a:lnTo>
                    <a:pt x="14198" y="4367"/>
                  </a:lnTo>
                  <a:lnTo>
                    <a:pt x="14321" y="4960"/>
                  </a:lnTo>
                  <a:lnTo>
                    <a:pt x="14444" y="5499"/>
                  </a:lnTo>
                  <a:lnTo>
                    <a:pt x="14815" y="5984"/>
                  </a:lnTo>
                  <a:lnTo>
                    <a:pt x="15062" y="6523"/>
                  </a:lnTo>
                  <a:lnTo>
                    <a:pt x="15185" y="7008"/>
                  </a:lnTo>
                  <a:lnTo>
                    <a:pt x="15309" y="7601"/>
                  </a:lnTo>
                  <a:lnTo>
                    <a:pt x="15679" y="8194"/>
                  </a:lnTo>
                  <a:lnTo>
                    <a:pt x="15926" y="8787"/>
                  </a:lnTo>
                  <a:lnTo>
                    <a:pt x="16173" y="9326"/>
                  </a:lnTo>
                  <a:lnTo>
                    <a:pt x="16296" y="9919"/>
                  </a:lnTo>
                  <a:lnTo>
                    <a:pt x="16543" y="10458"/>
                  </a:lnTo>
                  <a:lnTo>
                    <a:pt x="16667" y="10997"/>
                  </a:lnTo>
                  <a:lnTo>
                    <a:pt x="16914" y="11590"/>
                  </a:lnTo>
                  <a:lnTo>
                    <a:pt x="17160" y="12183"/>
                  </a:lnTo>
                  <a:lnTo>
                    <a:pt x="17407" y="12776"/>
                  </a:lnTo>
                  <a:lnTo>
                    <a:pt x="17407" y="13261"/>
                  </a:lnTo>
                  <a:lnTo>
                    <a:pt x="17654" y="13854"/>
                  </a:lnTo>
                  <a:lnTo>
                    <a:pt x="17901" y="14340"/>
                  </a:lnTo>
                  <a:lnTo>
                    <a:pt x="18148" y="14933"/>
                  </a:lnTo>
                  <a:lnTo>
                    <a:pt x="18395" y="15472"/>
                  </a:lnTo>
                  <a:lnTo>
                    <a:pt x="18395" y="15903"/>
                  </a:lnTo>
                  <a:lnTo>
                    <a:pt x="18642" y="16442"/>
                  </a:lnTo>
                  <a:lnTo>
                    <a:pt x="18889" y="16873"/>
                  </a:lnTo>
                  <a:lnTo>
                    <a:pt x="19012" y="17305"/>
                  </a:lnTo>
                  <a:lnTo>
                    <a:pt x="19136" y="17736"/>
                  </a:lnTo>
                  <a:lnTo>
                    <a:pt x="19259" y="18113"/>
                  </a:lnTo>
                  <a:lnTo>
                    <a:pt x="19506" y="18544"/>
                  </a:lnTo>
                  <a:lnTo>
                    <a:pt x="19506" y="18976"/>
                  </a:lnTo>
                  <a:lnTo>
                    <a:pt x="19630" y="19191"/>
                  </a:lnTo>
                  <a:lnTo>
                    <a:pt x="19753" y="19461"/>
                  </a:lnTo>
                  <a:lnTo>
                    <a:pt x="19877" y="19730"/>
                  </a:lnTo>
                  <a:lnTo>
                    <a:pt x="19877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77" name="AutoShape 69">
              <a:extLst>
                <a:ext uri="{FF2B5EF4-FFF2-40B4-BE49-F238E27FC236}">
                  <a16:creationId xmlns:a16="http://schemas.microsoft.com/office/drawing/2014/main" id="{C372775D-C549-86ED-388C-2EFE8D157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681"/>
              <a:ext cx="102" cy="1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1" y="616"/>
                  </a:lnTo>
                  <a:lnTo>
                    <a:pt x="347" y="1232"/>
                  </a:lnTo>
                  <a:lnTo>
                    <a:pt x="462" y="1905"/>
                  </a:lnTo>
                  <a:lnTo>
                    <a:pt x="809" y="2521"/>
                  </a:lnTo>
                  <a:lnTo>
                    <a:pt x="925" y="3137"/>
                  </a:lnTo>
                  <a:lnTo>
                    <a:pt x="1156" y="3697"/>
                  </a:lnTo>
                  <a:lnTo>
                    <a:pt x="1387" y="4314"/>
                  </a:lnTo>
                  <a:lnTo>
                    <a:pt x="1503" y="4986"/>
                  </a:lnTo>
                  <a:lnTo>
                    <a:pt x="1734" y="5602"/>
                  </a:lnTo>
                  <a:lnTo>
                    <a:pt x="2081" y="6162"/>
                  </a:lnTo>
                  <a:lnTo>
                    <a:pt x="2197" y="6779"/>
                  </a:lnTo>
                  <a:lnTo>
                    <a:pt x="2543" y="7283"/>
                  </a:lnTo>
                  <a:lnTo>
                    <a:pt x="2543" y="7899"/>
                  </a:lnTo>
                  <a:lnTo>
                    <a:pt x="2775" y="8515"/>
                  </a:lnTo>
                  <a:lnTo>
                    <a:pt x="3006" y="9020"/>
                  </a:lnTo>
                  <a:lnTo>
                    <a:pt x="3237" y="9636"/>
                  </a:lnTo>
                  <a:lnTo>
                    <a:pt x="3353" y="10140"/>
                  </a:lnTo>
                  <a:lnTo>
                    <a:pt x="3468" y="10644"/>
                  </a:lnTo>
                  <a:lnTo>
                    <a:pt x="3815" y="11204"/>
                  </a:lnTo>
                  <a:lnTo>
                    <a:pt x="3931" y="11765"/>
                  </a:lnTo>
                  <a:lnTo>
                    <a:pt x="4162" y="12213"/>
                  </a:lnTo>
                  <a:lnTo>
                    <a:pt x="4393" y="12773"/>
                  </a:lnTo>
                  <a:lnTo>
                    <a:pt x="4509" y="13165"/>
                  </a:lnTo>
                  <a:lnTo>
                    <a:pt x="4624" y="13669"/>
                  </a:lnTo>
                  <a:lnTo>
                    <a:pt x="4971" y="14118"/>
                  </a:lnTo>
                  <a:lnTo>
                    <a:pt x="5202" y="14510"/>
                  </a:lnTo>
                  <a:lnTo>
                    <a:pt x="5434" y="15014"/>
                  </a:lnTo>
                  <a:lnTo>
                    <a:pt x="5549" y="15462"/>
                  </a:lnTo>
                  <a:lnTo>
                    <a:pt x="5665" y="15854"/>
                  </a:lnTo>
                  <a:lnTo>
                    <a:pt x="6127" y="16190"/>
                  </a:lnTo>
                  <a:lnTo>
                    <a:pt x="6243" y="16639"/>
                  </a:lnTo>
                  <a:lnTo>
                    <a:pt x="6474" y="16919"/>
                  </a:lnTo>
                  <a:lnTo>
                    <a:pt x="6590" y="17255"/>
                  </a:lnTo>
                  <a:lnTo>
                    <a:pt x="6705" y="17591"/>
                  </a:lnTo>
                  <a:lnTo>
                    <a:pt x="6936" y="17927"/>
                  </a:lnTo>
                  <a:lnTo>
                    <a:pt x="7283" y="18095"/>
                  </a:lnTo>
                  <a:lnTo>
                    <a:pt x="7514" y="18487"/>
                  </a:lnTo>
                  <a:lnTo>
                    <a:pt x="7514" y="18711"/>
                  </a:lnTo>
                  <a:lnTo>
                    <a:pt x="7861" y="18992"/>
                  </a:lnTo>
                  <a:lnTo>
                    <a:pt x="7977" y="19160"/>
                  </a:lnTo>
                  <a:lnTo>
                    <a:pt x="8208" y="19328"/>
                  </a:lnTo>
                  <a:lnTo>
                    <a:pt x="8439" y="19440"/>
                  </a:lnTo>
                  <a:lnTo>
                    <a:pt x="8555" y="19664"/>
                  </a:lnTo>
                  <a:lnTo>
                    <a:pt x="8902" y="19720"/>
                  </a:lnTo>
                  <a:lnTo>
                    <a:pt x="9017" y="19888"/>
                  </a:lnTo>
                  <a:lnTo>
                    <a:pt x="9249" y="19888"/>
                  </a:lnTo>
                  <a:lnTo>
                    <a:pt x="9480" y="19944"/>
                  </a:lnTo>
                  <a:lnTo>
                    <a:pt x="9595" y="19944"/>
                  </a:lnTo>
                  <a:lnTo>
                    <a:pt x="9827" y="19944"/>
                  </a:lnTo>
                  <a:lnTo>
                    <a:pt x="10173" y="19888"/>
                  </a:lnTo>
                  <a:lnTo>
                    <a:pt x="10405" y="19888"/>
                  </a:lnTo>
                  <a:lnTo>
                    <a:pt x="10520" y="19664"/>
                  </a:lnTo>
                  <a:lnTo>
                    <a:pt x="10751" y="19496"/>
                  </a:lnTo>
                  <a:lnTo>
                    <a:pt x="11098" y="19328"/>
                  </a:lnTo>
                  <a:lnTo>
                    <a:pt x="11329" y="19104"/>
                  </a:lnTo>
                  <a:lnTo>
                    <a:pt x="11445" y="18936"/>
                  </a:lnTo>
                  <a:lnTo>
                    <a:pt x="11792" y="18543"/>
                  </a:lnTo>
                  <a:lnTo>
                    <a:pt x="11908" y="18263"/>
                  </a:lnTo>
                  <a:lnTo>
                    <a:pt x="12139" y="17871"/>
                  </a:lnTo>
                  <a:lnTo>
                    <a:pt x="12486" y="17479"/>
                  </a:lnTo>
                  <a:lnTo>
                    <a:pt x="12601" y="17087"/>
                  </a:lnTo>
                  <a:lnTo>
                    <a:pt x="12832" y="16751"/>
                  </a:lnTo>
                  <a:lnTo>
                    <a:pt x="13295" y="16303"/>
                  </a:lnTo>
                  <a:lnTo>
                    <a:pt x="13410" y="15798"/>
                  </a:lnTo>
                  <a:lnTo>
                    <a:pt x="13642" y="15350"/>
                  </a:lnTo>
                  <a:lnTo>
                    <a:pt x="13873" y="14846"/>
                  </a:lnTo>
                  <a:lnTo>
                    <a:pt x="14220" y="14342"/>
                  </a:lnTo>
                  <a:lnTo>
                    <a:pt x="14451" y="13838"/>
                  </a:lnTo>
                  <a:lnTo>
                    <a:pt x="14682" y="13277"/>
                  </a:lnTo>
                  <a:lnTo>
                    <a:pt x="14913" y="12829"/>
                  </a:lnTo>
                  <a:lnTo>
                    <a:pt x="15260" y="12213"/>
                  </a:lnTo>
                  <a:lnTo>
                    <a:pt x="15491" y="11709"/>
                  </a:lnTo>
                  <a:lnTo>
                    <a:pt x="15607" y="11036"/>
                  </a:lnTo>
                  <a:lnTo>
                    <a:pt x="15954" y="10588"/>
                  </a:lnTo>
                  <a:lnTo>
                    <a:pt x="16069" y="10028"/>
                  </a:lnTo>
                  <a:lnTo>
                    <a:pt x="16416" y="9412"/>
                  </a:lnTo>
                  <a:lnTo>
                    <a:pt x="16532" y="8964"/>
                  </a:lnTo>
                  <a:lnTo>
                    <a:pt x="16763" y="8403"/>
                  </a:lnTo>
                  <a:lnTo>
                    <a:pt x="16994" y="7787"/>
                  </a:lnTo>
                  <a:lnTo>
                    <a:pt x="17225" y="7227"/>
                  </a:lnTo>
                  <a:lnTo>
                    <a:pt x="17457" y="6835"/>
                  </a:lnTo>
                  <a:lnTo>
                    <a:pt x="17572" y="6218"/>
                  </a:lnTo>
                  <a:lnTo>
                    <a:pt x="17803" y="5714"/>
                  </a:lnTo>
                  <a:lnTo>
                    <a:pt x="18266" y="5210"/>
                  </a:lnTo>
                  <a:lnTo>
                    <a:pt x="18266" y="4762"/>
                  </a:lnTo>
                  <a:lnTo>
                    <a:pt x="18497" y="4314"/>
                  </a:lnTo>
                  <a:lnTo>
                    <a:pt x="18728" y="3866"/>
                  </a:lnTo>
                  <a:lnTo>
                    <a:pt x="18960" y="3361"/>
                  </a:lnTo>
                  <a:lnTo>
                    <a:pt x="19075" y="3025"/>
                  </a:lnTo>
                  <a:lnTo>
                    <a:pt x="19191" y="2689"/>
                  </a:lnTo>
                  <a:lnTo>
                    <a:pt x="19306" y="2241"/>
                  </a:lnTo>
                  <a:lnTo>
                    <a:pt x="19538" y="1905"/>
                  </a:lnTo>
                  <a:lnTo>
                    <a:pt x="19538" y="1625"/>
                  </a:lnTo>
                  <a:lnTo>
                    <a:pt x="19653" y="1289"/>
                  </a:lnTo>
                  <a:lnTo>
                    <a:pt x="19769" y="1008"/>
                  </a:lnTo>
                  <a:lnTo>
                    <a:pt x="19884" y="84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5530" name="Group 122">
            <a:extLst>
              <a:ext uri="{FF2B5EF4-FFF2-40B4-BE49-F238E27FC236}">
                <a16:creationId xmlns:a16="http://schemas.microsoft.com/office/drawing/2014/main" id="{30CC048F-9E3C-48EC-F1B6-284D18501C7B}"/>
              </a:ext>
            </a:extLst>
          </p:cNvPr>
          <p:cNvGrpSpPr>
            <a:grpSpLocks/>
          </p:cNvGrpSpPr>
          <p:nvPr/>
        </p:nvGrpSpPr>
        <p:grpSpPr bwMode="auto">
          <a:xfrm>
            <a:off x="2741613" y="1273175"/>
            <a:ext cx="2138362" cy="744538"/>
            <a:chOff x="1805" y="754"/>
            <a:chExt cx="1347" cy="469"/>
          </a:xfrm>
        </p:grpSpPr>
        <p:sp>
          <p:nvSpPr>
            <p:cNvPr id="55334" name="Rectangle 7">
              <a:extLst>
                <a:ext uri="{FF2B5EF4-FFF2-40B4-BE49-F238E27FC236}">
                  <a16:creationId xmlns:a16="http://schemas.microsoft.com/office/drawing/2014/main" id="{B1BE76ED-B6FE-63E1-F099-0011B4CFC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5" y="935"/>
              <a:ext cx="13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>
                  <a:latin typeface="华文中宋" panose="02010600040101010101" pitchFamily="2" charset="-122"/>
                </a:rPr>
                <a:t>阻尼振动      </a:t>
              </a:r>
            </a:p>
          </p:txBody>
        </p:sp>
        <p:sp>
          <p:nvSpPr>
            <p:cNvPr id="55335" name="Line 70">
              <a:extLst>
                <a:ext uri="{FF2B5EF4-FFF2-40B4-BE49-F238E27FC236}">
                  <a16:creationId xmlns:a16="http://schemas.microsoft.com/office/drawing/2014/main" id="{FBC8A8EE-4453-AEC9-FA0E-57841845CC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754"/>
              <a:ext cx="0" cy="182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5522" name="Group 114">
            <a:extLst>
              <a:ext uri="{FF2B5EF4-FFF2-40B4-BE49-F238E27FC236}">
                <a16:creationId xmlns:a16="http://schemas.microsoft.com/office/drawing/2014/main" id="{021458F0-5771-7F45-7643-77974F288D97}"/>
              </a:ext>
            </a:extLst>
          </p:cNvPr>
          <p:cNvGrpSpPr>
            <a:grpSpLocks/>
          </p:cNvGrpSpPr>
          <p:nvPr/>
        </p:nvGrpSpPr>
        <p:grpSpPr bwMode="auto">
          <a:xfrm>
            <a:off x="6103938" y="1201738"/>
            <a:ext cx="2116137" cy="71437"/>
            <a:chOff x="2454" y="1525"/>
            <a:chExt cx="1333" cy="45"/>
          </a:xfrm>
        </p:grpSpPr>
        <p:sp>
          <p:nvSpPr>
            <p:cNvPr id="55313" name="AutoShape 93">
              <a:extLst>
                <a:ext uri="{FF2B5EF4-FFF2-40B4-BE49-F238E27FC236}">
                  <a16:creationId xmlns:a16="http://schemas.microsoft.com/office/drawing/2014/main" id="{5EF997FE-AAC4-737B-42DC-265A5C6FB9A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454" y="1526"/>
              <a:ext cx="63" cy="2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4" name="AutoShape 94">
              <a:extLst>
                <a:ext uri="{FF2B5EF4-FFF2-40B4-BE49-F238E27FC236}">
                  <a16:creationId xmlns:a16="http://schemas.microsoft.com/office/drawing/2014/main" id="{7A0B1BCF-CA84-D8AD-B1D6-AC8AA915590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18" y="1547"/>
              <a:ext cx="58" cy="2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5" name="AutoShape 95">
              <a:extLst>
                <a:ext uri="{FF2B5EF4-FFF2-40B4-BE49-F238E27FC236}">
                  <a16:creationId xmlns:a16="http://schemas.microsoft.com/office/drawing/2014/main" id="{3DFB6EB6-BA7A-517D-C435-96FD4AFC63C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76" y="1527"/>
              <a:ext cx="63" cy="2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6" name="AutoShape 96">
              <a:extLst>
                <a:ext uri="{FF2B5EF4-FFF2-40B4-BE49-F238E27FC236}">
                  <a16:creationId xmlns:a16="http://schemas.microsoft.com/office/drawing/2014/main" id="{77A023AF-B520-1F1C-02ED-3E1AE9FBF10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638" y="1547"/>
              <a:ext cx="59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7" name="AutoShape 97">
              <a:extLst>
                <a:ext uri="{FF2B5EF4-FFF2-40B4-BE49-F238E27FC236}">
                  <a16:creationId xmlns:a16="http://schemas.microsoft.com/office/drawing/2014/main" id="{FF8D6C8F-A720-4EE4-F553-266F089A9C0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696" y="1525"/>
              <a:ext cx="62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8" name="AutoShape 98">
              <a:extLst>
                <a:ext uri="{FF2B5EF4-FFF2-40B4-BE49-F238E27FC236}">
                  <a16:creationId xmlns:a16="http://schemas.microsoft.com/office/drawing/2014/main" id="{3ABC6C03-D26B-10C8-A0E7-64AA3C8C5FE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761" y="1546"/>
              <a:ext cx="59" cy="2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9" name="AutoShape 99">
              <a:extLst>
                <a:ext uri="{FF2B5EF4-FFF2-40B4-BE49-F238E27FC236}">
                  <a16:creationId xmlns:a16="http://schemas.microsoft.com/office/drawing/2014/main" id="{C2FC182F-ED57-B21E-A315-49CB9A13280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819" y="1526"/>
              <a:ext cx="62" cy="2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0" name="AutoShape 100">
              <a:extLst>
                <a:ext uri="{FF2B5EF4-FFF2-40B4-BE49-F238E27FC236}">
                  <a16:creationId xmlns:a16="http://schemas.microsoft.com/office/drawing/2014/main" id="{614760F8-C0B9-C797-BA56-DAB6013C6C8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881" y="1546"/>
              <a:ext cx="59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63"/>
                  </a:moveTo>
                  <a:lnTo>
                    <a:pt x="272" y="18490"/>
                  </a:lnTo>
                  <a:lnTo>
                    <a:pt x="544" y="17865"/>
                  </a:lnTo>
                  <a:lnTo>
                    <a:pt x="680" y="17292"/>
                  </a:lnTo>
                  <a:lnTo>
                    <a:pt x="816" y="16667"/>
                  </a:lnTo>
                  <a:lnTo>
                    <a:pt x="1088" y="16042"/>
                  </a:lnTo>
                  <a:lnTo>
                    <a:pt x="1361" y="15469"/>
                  </a:lnTo>
                  <a:lnTo>
                    <a:pt x="1633" y="14896"/>
                  </a:lnTo>
                  <a:lnTo>
                    <a:pt x="1769" y="14271"/>
                  </a:lnTo>
                  <a:lnTo>
                    <a:pt x="1905" y="13698"/>
                  </a:lnTo>
                  <a:lnTo>
                    <a:pt x="2177" y="13177"/>
                  </a:lnTo>
                  <a:lnTo>
                    <a:pt x="2449" y="12552"/>
                  </a:lnTo>
                  <a:lnTo>
                    <a:pt x="2721" y="12031"/>
                  </a:lnTo>
                  <a:lnTo>
                    <a:pt x="2993" y="11458"/>
                  </a:lnTo>
                  <a:lnTo>
                    <a:pt x="2993" y="10885"/>
                  </a:lnTo>
                  <a:lnTo>
                    <a:pt x="3265" y="10313"/>
                  </a:lnTo>
                  <a:lnTo>
                    <a:pt x="3537" y="9792"/>
                  </a:lnTo>
                  <a:lnTo>
                    <a:pt x="3810" y="9271"/>
                  </a:lnTo>
                  <a:lnTo>
                    <a:pt x="4082" y="8750"/>
                  </a:lnTo>
                  <a:lnTo>
                    <a:pt x="4218" y="8229"/>
                  </a:lnTo>
                  <a:lnTo>
                    <a:pt x="4354" y="7708"/>
                  </a:lnTo>
                  <a:lnTo>
                    <a:pt x="4762" y="7292"/>
                  </a:lnTo>
                  <a:lnTo>
                    <a:pt x="4898" y="6771"/>
                  </a:lnTo>
                  <a:lnTo>
                    <a:pt x="5170" y="6354"/>
                  </a:lnTo>
                  <a:lnTo>
                    <a:pt x="5306" y="5885"/>
                  </a:lnTo>
                  <a:lnTo>
                    <a:pt x="5442" y="5469"/>
                  </a:lnTo>
                  <a:lnTo>
                    <a:pt x="5850" y="5000"/>
                  </a:lnTo>
                  <a:lnTo>
                    <a:pt x="5850" y="4531"/>
                  </a:lnTo>
                  <a:lnTo>
                    <a:pt x="6259" y="4167"/>
                  </a:lnTo>
                  <a:lnTo>
                    <a:pt x="6531" y="3802"/>
                  </a:lnTo>
                  <a:lnTo>
                    <a:pt x="6531" y="3438"/>
                  </a:lnTo>
                  <a:lnTo>
                    <a:pt x="6939" y="3073"/>
                  </a:lnTo>
                  <a:lnTo>
                    <a:pt x="7075" y="2708"/>
                  </a:lnTo>
                  <a:lnTo>
                    <a:pt x="7347" y="2448"/>
                  </a:lnTo>
                  <a:lnTo>
                    <a:pt x="7483" y="2083"/>
                  </a:lnTo>
                  <a:lnTo>
                    <a:pt x="7619" y="1823"/>
                  </a:lnTo>
                  <a:lnTo>
                    <a:pt x="7891" y="1563"/>
                  </a:lnTo>
                  <a:lnTo>
                    <a:pt x="8163" y="1302"/>
                  </a:lnTo>
                  <a:lnTo>
                    <a:pt x="8435" y="1042"/>
                  </a:lnTo>
                  <a:lnTo>
                    <a:pt x="8571" y="833"/>
                  </a:lnTo>
                  <a:lnTo>
                    <a:pt x="8844" y="677"/>
                  </a:lnTo>
                  <a:lnTo>
                    <a:pt x="8980" y="521"/>
                  </a:lnTo>
                  <a:lnTo>
                    <a:pt x="9116" y="365"/>
                  </a:lnTo>
                  <a:lnTo>
                    <a:pt x="9524" y="260"/>
                  </a:lnTo>
                  <a:lnTo>
                    <a:pt x="9524" y="104"/>
                  </a:lnTo>
                  <a:lnTo>
                    <a:pt x="9932" y="104"/>
                  </a:lnTo>
                  <a:lnTo>
                    <a:pt x="10068" y="52"/>
                  </a:lnTo>
                  <a:lnTo>
                    <a:pt x="10204" y="0"/>
                  </a:lnTo>
                  <a:lnTo>
                    <a:pt x="10476" y="52"/>
                  </a:lnTo>
                  <a:lnTo>
                    <a:pt x="10748" y="52"/>
                  </a:lnTo>
                  <a:lnTo>
                    <a:pt x="10884" y="104"/>
                  </a:lnTo>
                  <a:lnTo>
                    <a:pt x="11156" y="208"/>
                  </a:lnTo>
                  <a:lnTo>
                    <a:pt x="11293" y="313"/>
                  </a:lnTo>
                  <a:lnTo>
                    <a:pt x="11565" y="521"/>
                  </a:lnTo>
                  <a:lnTo>
                    <a:pt x="11837" y="781"/>
                  </a:lnTo>
                  <a:lnTo>
                    <a:pt x="12109" y="990"/>
                  </a:lnTo>
                  <a:lnTo>
                    <a:pt x="12245" y="1250"/>
                  </a:lnTo>
                  <a:lnTo>
                    <a:pt x="12381" y="1563"/>
                  </a:lnTo>
                  <a:lnTo>
                    <a:pt x="12653" y="1875"/>
                  </a:lnTo>
                  <a:lnTo>
                    <a:pt x="12925" y="2292"/>
                  </a:lnTo>
                  <a:lnTo>
                    <a:pt x="13061" y="2708"/>
                  </a:lnTo>
                  <a:lnTo>
                    <a:pt x="13469" y="3125"/>
                  </a:lnTo>
                  <a:lnTo>
                    <a:pt x="13469" y="3542"/>
                  </a:lnTo>
                  <a:lnTo>
                    <a:pt x="13741" y="4010"/>
                  </a:lnTo>
                  <a:lnTo>
                    <a:pt x="14150" y="4427"/>
                  </a:lnTo>
                  <a:lnTo>
                    <a:pt x="14286" y="4948"/>
                  </a:lnTo>
                  <a:lnTo>
                    <a:pt x="14558" y="5469"/>
                  </a:lnTo>
                  <a:lnTo>
                    <a:pt x="14694" y="5990"/>
                  </a:lnTo>
                  <a:lnTo>
                    <a:pt x="14966" y="6510"/>
                  </a:lnTo>
                  <a:lnTo>
                    <a:pt x="15102" y="7083"/>
                  </a:lnTo>
                  <a:lnTo>
                    <a:pt x="15374" y="7656"/>
                  </a:lnTo>
                  <a:lnTo>
                    <a:pt x="15646" y="8177"/>
                  </a:lnTo>
                  <a:lnTo>
                    <a:pt x="15918" y="8802"/>
                  </a:lnTo>
                  <a:lnTo>
                    <a:pt x="16054" y="9375"/>
                  </a:lnTo>
                  <a:lnTo>
                    <a:pt x="16190" y="9896"/>
                  </a:lnTo>
                  <a:lnTo>
                    <a:pt x="16599" y="10469"/>
                  </a:lnTo>
                  <a:lnTo>
                    <a:pt x="16735" y="10990"/>
                  </a:lnTo>
                  <a:lnTo>
                    <a:pt x="17007" y="11615"/>
                  </a:lnTo>
                  <a:lnTo>
                    <a:pt x="17143" y="12135"/>
                  </a:lnTo>
                  <a:lnTo>
                    <a:pt x="17279" y="12708"/>
                  </a:lnTo>
                  <a:lnTo>
                    <a:pt x="17551" y="13281"/>
                  </a:lnTo>
                  <a:lnTo>
                    <a:pt x="17687" y="13854"/>
                  </a:lnTo>
                  <a:lnTo>
                    <a:pt x="17959" y="14375"/>
                  </a:lnTo>
                  <a:lnTo>
                    <a:pt x="18095" y="14948"/>
                  </a:lnTo>
                  <a:lnTo>
                    <a:pt x="18231" y="15469"/>
                  </a:lnTo>
                  <a:lnTo>
                    <a:pt x="18367" y="15938"/>
                  </a:lnTo>
                  <a:lnTo>
                    <a:pt x="18639" y="16406"/>
                  </a:lnTo>
                  <a:lnTo>
                    <a:pt x="18776" y="16875"/>
                  </a:lnTo>
                  <a:lnTo>
                    <a:pt x="19048" y="17292"/>
                  </a:lnTo>
                  <a:lnTo>
                    <a:pt x="19184" y="17708"/>
                  </a:lnTo>
                  <a:lnTo>
                    <a:pt x="19320" y="18177"/>
                  </a:lnTo>
                  <a:lnTo>
                    <a:pt x="19456" y="18542"/>
                  </a:lnTo>
                  <a:lnTo>
                    <a:pt x="19456" y="18906"/>
                  </a:lnTo>
                  <a:lnTo>
                    <a:pt x="19592" y="19167"/>
                  </a:lnTo>
                  <a:lnTo>
                    <a:pt x="19728" y="19479"/>
                  </a:lnTo>
                  <a:lnTo>
                    <a:pt x="19864" y="19740"/>
                  </a:lnTo>
                  <a:lnTo>
                    <a:pt x="19864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1" name="AutoShape 101">
              <a:extLst>
                <a:ext uri="{FF2B5EF4-FFF2-40B4-BE49-F238E27FC236}">
                  <a16:creationId xmlns:a16="http://schemas.microsoft.com/office/drawing/2014/main" id="{F0CE53C9-9311-DBE1-1FB6-2BCFDE0597B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939" y="1526"/>
              <a:ext cx="62" cy="2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47"/>
                  </a:lnTo>
                  <a:lnTo>
                    <a:pt x="382" y="1240"/>
                  </a:lnTo>
                  <a:lnTo>
                    <a:pt x="510" y="1887"/>
                  </a:lnTo>
                  <a:lnTo>
                    <a:pt x="764" y="2534"/>
                  </a:lnTo>
                  <a:lnTo>
                    <a:pt x="892" y="3127"/>
                  </a:lnTo>
                  <a:lnTo>
                    <a:pt x="1274" y="3720"/>
                  </a:lnTo>
                  <a:lnTo>
                    <a:pt x="1401" y="4367"/>
                  </a:lnTo>
                  <a:lnTo>
                    <a:pt x="1656" y="4960"/>
                  </a:lnTo>
                  <a:lnTo>
                    <a:pt x="1656" y="5553"/>
                  </a:lnTo>
                  <a:lnTo>
                    <a:pt x="2038" y="6146"/>
                  </a:lnTo>
                  <a:lnTo>
                    <a:pt x="2166" y="6739"/>
                  </a:lnTo>
                  <a:lnTo>
                    <a:pt x="2420" y="7278"/>
                  </a:lnTo>
                  <a:lnTo>
                    <a:pt x="2675" y="7925"/>
                  </a:lnTo>
                  <a:lnTo>
                    <a:pt x="2803" y="8464"/>
                  </a:lnTo>
                  <a:lnTo>
                    <a:pt x="2930" y="9003"/>
                  </a:lnTo>
                  <a:lnTo>
                    <a:pt x="3185" y="9596"/>
                  </a:lnTo>
                  <a:lnTo>
                    <a:pt x="3312" y="10135"/>
                  </a:lnTo>
                  <a:lnTo>
                    <a:pt x="3567" y="10674"/>
                  </a:lnTo>
                  <a:lnTo>
                    <a:pt x="3822" y="11213"/>
                  </a:lnTo>
                  <a:lnTo>
                    <a:pt x="3949" y="11698"/>
                  </a:lnTo>
                  <a:lnTo>
                    <a:pt x="4076" y="12237"/>
                  </a:lnTo>
                  <a:lnTo>
                    <a:pt x="4331" y="12722"/>
                  </a:lnTo>
                  <a:lnTo>
                    <a:pt x="4586" y="13154"/>
                  </a:lnTo>
                  <a:lnTo>
                    <a:pt x="4713" y="13693"/>
                  </a:lnTo>
                  <a:lnTo>
                    <a:pt x="4968" y="14124"/>
                  </a:lnTo>
                  <a:lnTo>
                    <a:pt x="5096" y="14555"/>
                  </a:lnTo>
                  <a:lnTo>
                    <a:pt x="5350" y="14987"/>
                  </a:lnTo>
                  <a:lnTo>
                    <a:pt x="5605" y="15472"/>
                  </a:lnTo>
                  <a:lnTo>
                    <a:pt x="5732" y="15849"/>
                  </a:lnTo>
                  <a:lnTo>
                    <a:pt x="6115" y="16226"/>
                  </a:lnTo>
                  <a:lnTo>
                    <a:pt x="6115" y="16604"/>
                  </a:lnTo>
                  <a:lnTo>
                    <a:pt x="6369" y="16981"/>
                  </a:lnTo>
                  <a:lnTo>
                    <a:pt x="6624" y="17251"/>
                  </a:lnTo>
                  <a:lnTo>
                    <a:pt x="6752" y="17628"/>
                  </a:lnTo>
                  <a:lnTo>
                    <a:pt x="7006" y="17898"/>
                  </a:lnTo>
                  <a:lnTo>
                    <a:pt x="7261" y="18167"/>
                  </a:lnTo>
                  <a:lnTo>
                    <a:pt x="7389" y="18491"/>
                  </a:lnTo>
                  <a:lnTo>
                    <a:pt x="7516" y="18760"/>
                  </a:lnTo>
                  <a:lnTo>
                    <a:pt x="7898" y="18976"/>
                  </a:lnTo>
                  <a:lnTo>
                    <a:pt x="8025" y="19137"/>
                  </a:lnTo>
                  <a:lnTo>
                    <a:pt x="8280" y="19353"/>
                  </a:lnTo>
                  <a:lnTo>
                    <a:pt x="8408" y="19461"/>
                  </a:lnTo>
                  <a:lnTo>
                    <a:pt x="8535" y="19677"/>
                  </a:lnTo>
                  <a:lnTo>
                    <a:pt x="8917" y="19730"/>
                  </a:lnTo>
                  <a:lnTo>
                    <a:pt x="9045" y="19892"/>
                  </a:lnTo>
                  <a:lnTo>
                    <a:pt x="9299" y="19892"/>
                  </a:lnTo>
                  <a:lnTo>
                    <a:pt x="9427" y="19946"/>
                  </a:lnTo>
                  <a:lnTo>
                    <a:pt x="9682" y="19946"/>
                  </a:lnTo>
                  <a:lnTo>
                    <a:pt x="9936" y="19946"/>
                  </a:lnTo>
                  <a:lnTo>
                    <a:pt x="10064" y="19892"/>
                  </a:lnTo>
                  <a:lnTo>
                    <a:pt x="10318" y="19892"/>
                  </a:lnTo>
                  <a:lnTo>
                    <a:pt x="10573" y="19677"/>
                  </a:lnTo>
                  <a:lnTo>
                    <a:pt x="10701" y="19515"/>
                  </a:lnTo>
                  <a:lnTo>
                    <a:pt x="10955" y="19353"/>
                  </a:lnTo>
                  <a:lnTo>
                    <a:pt x="11338" y="19137"/>
                  </a:lnTo>
                  <a:lnTo>
                    <a:pt x="11465" y="18868"/>
                  </a:lnTo>
                  <a:lnTo>
                    <a:pt x="11720" y="18544"/>
                  </a:lnTo>
                  <a:lnTo>
                    <a:pt x="11975" y="18275"/>
                  </a:lnTo>
                  <a:lnTo>
                    <a:pt x="12102" y="17844"/>
                  </a:lnTo>
                  <a:lnTo>
                    <a:pt x="12484" y="17466"/>
                  </a:lnTo>
                  <a:lnTo>
                    <a:pt x="12739" y="17197"/>
                  </a:lnTo>
                  <a:lnTo>
                    <a:pt x="12866" y="16765"/>
                  </a:lnTo>
                  <a:lnTo>
                    <a:pt x="13248" y="16280"/>
                  </a:lnTo>
                  <a:lnTo>
                    <a:pt x="13376" y="15849"/>
                  </a:lnTo>
                  <a:lnTo>
                    <a:pt x="13758" y="15364"/>
                  </a:lnTo>
                  <a:lnTo>
                    <a:pt x="13885" y="14879"/>
                  </a:lnTo>
                  <a:lnTo>
                    <a:pt x="14140" y="14340"/>
                  </a:lnTo>
                  <a:lnTo>
                    <a:pt x="14395" y="13801"/>
                  </a:lnTo>
                  <a:lnTo>
                    <a:pt x="14777" y="13315"/>
                  </a:lnTo>
                  <a:lnTo>
                    <a:pt x="14904" y="12776"/>
                  </a:lnTo>
                  <a:lnTo>
                    <a:pt x="15159" y="12237"/>
                  </a:lnTo>
                  <a:lnTo>
                    <a:pt x="15414" y="11644"/>
                  </a:lnTo>
                  <a:lnTo>
                    <a:pt x="15669" y="11105"/>
                  </a:lnTo>
                  <a:lnTo>
                    <a:pt x="15924" y="10566"/>
                  </a:lnTo>
                  <a:lnTo>
                    <a:pt x="16051" y="10027"/>
                  </a:lnTo>
                  <a:lnTo>
                    <a:pt x="16306" y="9488"/>
                  </a:lnTo>
                  <a:lnTo>
                    <a:pt x="16561" y="8895"/>
                  </a:lnTo>
                  <a:lnTo>
                    <a:pt x="16815" y="8356"/>
                  </a:lnTo>
                  <a:lnTo>
                    <a:pt x="17070" y="7763"/>
                  </a:lnTo>
                  <a:lnTo>
                    <a:pt x="17197" y="7278"/>
                  </a:lnTo>
                  <a:lnTo>
                    <a:pt x="17325" y="6792"/>
                  </a:lnTo>
                  <a:lnTo>
                    <a:pt x="17707" y="6253"/>
                  </a:lnTo>
                  <a:lnTo>
                    <a:pt x="17834" y="5714"/>
                  </a:lnTo>
                  <a:lnTo>
                    <a:pt x="18217" y="5229"/>
                  </a:lnTo>
                  <a:lnTo>
                    <a:pt x="18344" y="4744"/>
                  </a:lnTo>
                  <a:lnTo>
                    <a:pt x="18344" y="4313"/>
                  </a:lnTo>
                  <a:lnTo>
                    <a:pt x="18726" y="3881"/>
                  </a:lnTo>
                  <a:lnTo>
                    <a:pt x="18854" y="3396"/>
                  </a:lnTo>
                  <a:lnTo>
                    <a:pt x="19108" y="3019"/>
                  </a:lnTo>
                  <a:lnTo>
                    <a:pt x="19236" y="2588"/>
                  </a:lnTo>
                  <a:lnTo>
                    <a:pt x="19363" y="2210"/>
                  </a:lnTo>
                  <a:lnTo>
                    <a:pt x="19490" y="1887"/>
                  </a:lnTo>
                  <a:lnTo>
                    <a:pt x="19490" y="1671"/>
                  </a:lnTo>
                  <a:lnTo>
                    <a:pt x="19745" y="1348"/>
                  </a:lnTo>
                  <a:lnTo>
                    <a:pt x="19745" y="1024"/>
                  </a:lnTo>
                  <a:lnTo>
                    <a:pt x="19873" y="86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2" name="AutoShape 102">
              <a:extLst>
                <a:ext uri="{FF2B5EF4-FFF2-40B4-BE49-F238E27FC236}">
                  <a16:creationId xmlns:a16="http://schemas.microsoft.com/office/drawing/2014/main" id="{1599FD56-47A3-40AD-1D8C-789ECED407C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003" y="1547"/>
              <a:ext cx="58" cy="2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8"/>
                  </a:moveTo>
                  <a:lnTo>
                    <a:pt x="272" y="18499"/>
                  </a:lnTo>
                  <a:lnTo>
                    <a:pt x="544" y="17909"/>
                  </a:lnTo>
                  <a:lnTo>
                    <a:pt x="680" y="17265"/>
                  </a:lnTo>
                  <a:lnTo>
                    <a:pt x="816" y="16676"/>
                  </a:lnTo>
                  <a:lnTo>
                    <a:pt x="1088" y="16086"/>
                  </a:lnTo>
                  <a:lnTo>
                    <a:pt x="1361" y="15496"/>
                  </a:lnTo>
                  <a:lnTo>
                    <a:pt x="1633" y="14906"/>
                  </a:lnTo>
                  <a:lnTo>
                    <a:pt x="1769" y="14316"/>
                  </a:lnTo>
                  <a:lnTo>
                    <a:pt x="1905" y="13673"/>
                  </a:lnTo>
                  <a:lnTo>
                    <a:pt x="2177" y="13137"/>
                  </a:lnTo>
                  <a:lnTo>
                    <a:pt x="2449" y="12601"/>
                  </a:lnTo>
                  <a:lnTo>
                    <a:pt x="2721" y="12064"/>
                  </a:lnTo>
                  <a:lnTo>
                    <a:pt x="2993" y="11421"/>
                  </a:lnTo>
                  <a:lnTo>
                    <a:pt x="2993" y="10885"/>
                  </a:lnTo>
                  <a:lnTo>
                    <a:pt x="3265" y="10349"/>
                  </a:lnTo>
                  <a:lnTo>
                    <a:pt x="3537" y="9812"/>
                  </a:lnTo>
                  <a:lnTo>
                    <a:pt x="3810" y="9276"/>
                  </a:lnTo>
                  <a:lnTo>
                    <a:pt x="4082" y="8794"/>
                  </a:lnTo>
                  <a:lnTo>
                    <a:pt x="4218" y="8257"/>
                  </a:lnTo>
                  <a:lnTo>
                    <a:pt x="4354" y="7721"/>
                  </a:lnTo>
                  <a:lnTo>
                    <a:pt x="4762" y="7239"/>
                  </a:lnTo>
                  <a:lnTo>
                    <a:pt x="4898" y="6756"/>
                  </a:lnTo>
                  <a:lnTo>
                    <a:pt x="5170" y="6327"/>
                  </a:lnTo>
                  <a:lnTo>
                    <a:pt x="5306" y="5898"/>
                  </a:lnTo>
                  <a:lnTo>
                    <a:pt x="5442" y="5469"/>
                  </a:lnTo>
                  <a:lnTo>
                    <a:pt x="5850" y="4987"/>
                  </a:lnTo>
                  <a:lnTo>
                    <a:pt x="5850" y="4558"/>
                  </a:lnTo>
                  <a:lnTo>
                    <a:pt x="6259" y="4129"/>
                  </a:lnTo>
                  <a:lnTo>
                    <a:pt x="6531" y="3753"/>
                  </a:lnTo>
                  <a:lnTo>
                    <a:pt x="6531" y="3432"/>
                  </a:lnTo>
                  <a:lnTo>
                    <a:pt x="6939" y="3003"/>
                  </a:lnTo>
                  <a:lnTo>
                    <a:pt x="7075" y="2735"/>
                  </a:lnTo>
                  <a:lnTo>
                    <a:pt x="7347" y="2413"/>
                  </a:lnTo>
                  <a:lnTo>
                    <a:pt x="7483" y="2091"/>
                  </a:lnTo>
                  <a:lnTo>
                    <a:pt x="7619" y="1823"/>
                  </a:lnTo>
                  <a:lnTo>
                    <a:pt x="7891" y="1609"/>
                  </a:lnTo>
                  <a:lnTo>
                    <a:pt x="8163" y="1287"/>
                  </a:lnTo>
                  <a:lnTo>
                    <a:pt x="8435" y="1019"/>
                  </a:lnTo>
                  <a:lnTo>
                    <a:pt x="8571" y="858"/>
                  </a:lnTo>
                  <a:lnTo>
                    <a:pt x="8844" y="643"/>
                  </a:lnTo>
                  <a:lnTo>
                    <a:pt x="8980" y="483"/>
                  </a:lnTo>
                  <a:lnTo>
                    <a:pt x="9116" y="375"/>
                  </a:lnTo>
                  <a:lnTo>
                    <a:pt x="9524" y="268"/>
                  </a:lnTo>
                  <a:lnTo>
                    <a:pt x="9524" y="107"/>
                  </a:lnTo>
                  <a:lnTo>
                    <a:pt x="9932" y="107"/>
                  </a:lnTo>
                  <a:lnTo>
                    <a:pt x="10068" y="54"/>
                  </a:lnTo>
                  <a:lnTo>
                    <a:pt x="10204" y="0"/>
                  </a:lnTo>
                  <a:lnTo>
                    <a:pt x="10476" y="54"/>
                  </a:lnTo>
                  <a:lnTo>
                    <a:pt x="10748" y="54"/>
                  </a:lnTo>
                  <a:lnTo>
                    <a:pt x="10884" y="107"/>
                  </a:lnTo>
                  <a:lnTo>
                    <a:pt x="11156" y="214"/>
                  </a:lnTo>
                  <a:lnTo>
                    <a:pt x="11293" y="322"/>
                  </a:lnTo>
                  <a:lnTo>
                    <a:pt x="11565" y="536"/>
                  </a:lnTo>
                  <a:lnTo>
                    <a:pt x="11837" y="751"/>
                  </a:lnTo>
                  <a:lnTo>
                    <a:pt x="12109" y="1019"/>
                  </a:lnTo>
                  <a:lnTo>
                    <a:pt x="12245" y="1233"/>
                  </a:lnTo>
                  <a:lnTo>
                    <a:pt x="12381" y="1609"/>
                  </a:lnTo>
                  <a:lnTo>
                    <a:pt x="12653" y="1877"/>
                  </a:lnTo>
                  <a:lnTo>
                    <a:pt x="12925" y="2306"/>
                  </a:lnTo>
                  <a:lnTo>
                    <a:pt x="13061" y="2735"/>
                  </a:lnTo>
                  <a:lnTo>
                    <a:pt x="13469" y="3110"/>
                  </a:lnTo>
                  <a:lnTo>
                    <a:pt x="13469" y="3539"/>
                  </a:lnTo>
                  <a:lnTo>
                    <a:pt x="13741" y="3968"/>
                  </a:lnTo>
                  <a:lnTo>
                    <a:pt x="14150" y="4450"/>
                  </a:lnTo>
                  <a:lnTo>
                    <a:pt x="14286" y="4987"/>
                  </a:lnTo>
                  <a:lnTo>
                    <a:pt x="14558" y="5469"/>
                  </a:lnTo>
                  <a:lnTo>
                    <a:pt x="14694" y="6005"/>
                  </a:lnTo>
                  <a:lnTo>
                    <a:pt x="14966" y="6542"/>
                  </a:lnTo>
                  <a:lnTo>
                    <a:pt x="15102" y="7024"/>
                  </a:lnTo>
                  <a:lnTo>
                    <a:pt x="15374" y="7614"/>
                  </a:lnTo>
                  <a:lnTo>
                    <a:pt x="15646" y="8150"/>
                  </a:lnTo>
                  <a:lnTo>
                    <a:pt x="15918" y="8794"/>
                  </a:lnTo>
                  <a:lnTo>
                    <a:pt x="16054" y="9330"/>
                  </a:lnTo>
                  <a:lnTo>
                    <a:pt x="16190" y="9866"/>
                  </a:lnTo>
                  <a:lnTo>
                    <a:pt x="16599" y="10456"/>
                  </a:lnTo>
                  <a:lnTo>
                    <a:pt x="16735" y="11046"/>
                  </a:lnTo>
                  <a:lnTo>
                    <a:pt x="17007" y="11635"/>
                  </a:lnTo>
                  <a:lnTo>
                    <a:pt x="17143" y="12172"/>
                  </a:lnTo>
                  <a:lnTo>
                    <a:pt x="17279" y="12761"/>
                  </a:lnTo>
                  <a:lnTo>
                    <a:pt x="17551" y="13298"/>
                  </a:lnTo>
                  <a:lnTo>
                    <a:pt x="17687" y="13834"/>
                  </a:lnTo>
                  <a:lnTo>
                    <a:pt x="17959" y="14370"/>
                  </a:lnTo>
                  <a:lnTo>
                    <a:pt x="18095" y="14960"/>
                  </a:lnTo>
                  <a:lnTo>
                    <a:pt x="18231" y="15442"/>
                  </a:lnTo>
                  <a:lnTo>
                    <a:pt x="18367" y="15871"/>
                  </a:lnTo>
                  <a:lnTo>
                    <a:pt x="18639" y="16461"/>
                  </a:lnTo>
                  <a:lnTo>
                    <a:pt x="18776" y="16836"/>
                  </a:lnTo>
                  <a:lnTo>
                    <a:pt x="19048" y="17265"/>
                  </a:lnTo>
                  <a:lnTo>
                    <a:pt x="19184" y="17748"/>
                  </a:lnTo>
                  <a:lnTo>
                    <a:pt x="19320" y="18177"/>
                  </a:lnTo>
                  <a:lnTo>
                    <a:pt x="19456" y="18552"/>
                  </a:lnTo>
                  <a:lnTo>
                    <a:pt x="19456" y="18874"/>
                  </a:lnTo>
                  <a:lnTo>
                    <a:pt x="19592" y="19196"/>
                  </a:lnTo>
                  <a:lnTo>
                    <a:pt x="19728" y="19517"/>
                  </a:lnTo>
                  <a:lnTo>
                    <a:pt x="19864" y="19732"/>
                  </a:lnTo>
                  <a:lnTo>
                    <a:pt x="19864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3" name="AutoShape 103">
              <a:extLst>
                <a:ext uri="{FF2B5EF4-FFF2-40B4-BE49-F238E27FC236}">
                  <a16:creationId xmlns:a16="http://schemas.microsoft.com/office/drawing/2014/main" id="{CBA88F7A-C9DC-98D6-90A5-8C20FAD6B2D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061" y="1527"/>
              <a:ext cx="62" cy="2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55" y="611"/>
                  </a:lnTo>
                  <a:lnTo>
                    <a:pt x="382" y="1278"/>
                  </a:lnTo>
                  <a:lnTo>
                    <a:pt x="510" y="1889"/>
                  </a:lnTo>
                  <a:lnTo>
                    <a:pt x="764" y="2500"/>
                  </a:lnTo>
                  <a:lnTo>
                    <a:pt x="892" y="3111"/>
                  </a:lnTo>
                  <a:lnTo>
                    <a:pt x="1274" y="3722"/>
                  </a:lnTo>
                  <a:lnTo>
                    <a:pt x="1401" y="4333"/>
                  </a:lnTo>
                  <a:lnTo>
                    <a:pt x="1656" y="4944"/>
                  </a:lnTo>
                  <a:lnTo>
                    <a:pt x="1656" y="5556"/>
                  </a:lnTo>
                  <a:lnTo>
                    <a:pt x="2038" y="6167"/>
                  </a:lnTo>
                  <a:lnTo>
                    <a:pt x="2166" y="6778"/>
                  </a:lnTo>
                  <a:lnTo>
                    <a:pt x="2420" y="7278"/>
                  </a:lnTo>
                  <a:lnTo>
                    <a:pt x="2675" y="7889"/>
                  </a:lnTo>
                  <a:lnTo>
                    <a:pt x="2803" y="8444"/>
                  </a:lnTo>
                  <a:lnTo>
                    <a:pt x="2930" y="9000"/>
                  </a:lnTo>
                  <a:lnTo>
                    <a:pt x="3185" y="9611"/>
                  </a:lnTo>
                  <a:lnTo>
                    <a:pt x="3312" y="10167"/>
                  </a:lnTo>
                  <a:lnTo>
                    <a:pt x="3567" y="10667"/>
                  </a:lnTo>
                  <a:lnTo>
                    <a:pt x="3822" y="11167"/>
                  </a:lnTo>
                  <a:lnTo>
                    <a:pt x="3949" y="11722"/>
                  </a:lnTo>
                  <a:lnTo>
                    <a:pt x="4076" y="12167"/>
                  </a:lnTo>
                  <a:lnTo>
                    <a:pt x="4331" y="12722"/>
                  </a:lnTo>
                  <a:lnTo>
                    <a:pt x="4586" y="13222"/>
                  </a:lnTo>
                  <a:lnTo>
                    <a:pt x="4713" y="13667"/>
                  </a:lnTo>
                  <a:lnTo>
                    <a:pt x="4968" y="14111"/>
                  </a:lnTo>
                  <a:lnTo>
                    <a:pt x="5096" y="14556"/>
                  </a:lnTo>
                  <a:lnTo>
                    <a:pt x="5350" y="15056"/>
                  </a:lnTo>
                  <a:lnTo>
                    <a:pt x="5605" y="15444"/>
                  </a:lnTo>
                  <a:lnTo>
                    <a:pt x="5732" y="15833"/>
                  </a:lnTo>
                  <a:lnTo>
                    <a:pt x="6115" y="16222"/>
                  </a:lnTo>
                  <a:lnTo>
                    <a:pt x="6115" y="16611"/>
                  </a:lnTo>
                  <a:lnTo>
                    <a:pt x="6369" y="16944"/>
                  </a:lnTo>
                  <a:lnTo>
                    <a:pt x="6624" y="17333"/>
                  </a:lnTo>
                  <a:lnTo>
                    <a:pt x="6752" y="17611"/>
                  </a:lnTo>
                  <a:lnTo>
                    <a:pt x="7006" y="17944"/>
                  </a:lnTo>
                  <a:lnTo>
                    <a:pt x="7261" y="18167"/>
                  </a:lnTo>
                  <a:lnTo>
                    <a:pt x="7389" y="18500"/>
                  </a:lnTo>
                  <a:lnTo>
                    <a:pt x="7516" y="18722"/>
                  </a:lnTo>
                  <a:lnTo>
                    <a:pt x="7898" y="18944"/>
                  </a:lnTo>
                  <a:lnTo>
                    <a:pt x="8025" y="19167"/>
                  </a:lnTo>
                  <a:lnTo>
                    <a:pt x="8280" y="19333"/>
                  </a:lnTo>
                  <a:lnTo>
                    <a:pt x="8408" y="19500"/>
                  </a:lnTo>
                  <a:lnTo>
                    <a:pt x="8535" y="19667"/>
                  </a:lnTo>
                  <a:lnTo>
                    <a:pt x="8917" y="19722"/>
                  </a:lnTo>
                  <a:lnTo>
                    <a:pt x="9045" y="19889"/>
                  </a:lnTo>
                  <a:lnTo>
                    <a:pt x="9299" y="19889"/>
                  </a:lnTo>
                  <a:lnTo>
                    <a:pt x="9427" y="19944"/>
                  </a:lnTo>
                  <a:lnTo>
                    <a:pt x="9682" y="19944"/>
                  </a:lnTo>
                  <a:lnTo>
                    <a:pt x="9936" y="19944"/>
                  </a:lnTo>
                  <a:lnTo>
                    <a:pt x="10064" y="19889"/>
                  </a:lnTo>
                  <a:lnTo>
                    <a:pt x="10318" y="19889"/>
                  </a:lnTo>
                  <a:lnTo>
                    <a:pt x="10573" y="19722"/>
                  </a:lnTo>
                  <a:lnTo>
                    <a:pt x="10701" y="19500"/>
                  </a:lnTo>
                  <a:lnTo>
                    <a:pt x="10955" y="19333"/>
                  </a:lnTo>
                  <a:lnTo>
                    <a:pt x="11338" y="19111"/>
                  </a:lnTo>
                  <a:lnTo>
                    <a:pt x="11465" y="18833"/>
                  </a:lnTo>
                  <a:lnTo>
                    <a:pt x="11720" y="18500"/>
                  </a:lnTo>
                  <a:lnTo>
                    <a:pt x="11975" y="18278"/>
                  </a:lnTo>
                  <a:lnTo>
                    <a:pt x="12102" y="17944"/>
                  </a:lnTo>
                  <a:lnTo>
                    <a:pt x="12484" y="17556"/>
                  </a:lnTo>
                  <a:lnTo>
                    <a:pt x="12739" y="17111"/>
                  </a:lnTo>
                  <a:lnTo>
                    <a:pt x="12866" y="16722"/>
                  </a:lnTo>
                  <a:lnTo>
                    <a:pt x="13248" y="16278"/>
                  </a:lnTo>
                  <a:lnTo>
                    <a:pt x="13376" y="15778"/>
                  </a:lnTo>
                  <a:lnTo>
                    <a:pt x="13758" y="15333"/>
                  </a:lnTo>
                  <a:lnTo>
                    <a:pt x="13885" y="14833"/>
                  </a:lnTo>
                  <a:lnTo>
                    <a:pt x="14140" y="14389"/>
                  </a:lnTo>
                  <a:lnTo>
                    <a:pt x="14395" y="13833"/>
                  </a:lnTo>
                  <a:lnTo>
                    <a:pt x="14777" y="13333"/>
                  </a:lnTo>
                  <a:lnTo>
                    <a:pt x="14904" y="12778"/>
                  </a:lnTo>
                  <a:lnTo>
                    <a:pt x="15159" y="12167"/>
                  </a:lnTo>
                  <a:lnTo>
                    <a:pt x="15414" y="11611"/>
                  </a:lnTo>
                  <a:lnTo>
                    <a:pt x="15669" y="11111"/>
                  </a:lnTo>
                  <a:lnTo>
                    <a:pt x="15924" y="10556"/>
                  </a:lnTo>
                  <a:lnTo>
                    <a:pt x="16051" y="10000"/>
                  </a:lnTo>
                  <a:lnTo>
                    <a:pt x="16306" y="9444"/>
                  </a:lnTo>
                  <a:lnTo>
                    <a:pt x="16561" y="8944"/>
                  </a:lnTo>
                  <a:lnTo>
                    <a:pt x="16815" y="8389"/>
                  </a:lnTo>
                  <a:lnTo>
                    <a:pt x="17070" y="7833"/>
                  </a:lnTo>
                  <a:lnTo>
                    <a:pt x="17197" y="7278"/>
                  </a:lnTo>
                  <a:lnTo>
                    <a:pt x="17325" y="6778"/>
                  </a:lnTo>
                  <a:lnTo>
                    <a:pt x="17707" y="6222"/>
                  </a:lnTo>
                  <a:lnTo>
                    <a:pt x="17834" y="5722"/>
                  </a:lnTo>
                  <a:lnTo>
                    <a:pt x="18217" y="5222"/>
                  </a:lnTo>
                  <a:lnTo>
                    <a:pt x="18344" y="4722"/>
                  </a:lnTo>
                  <a:lnTo>
                    <a:pt x="18344" y="4278"/>
                  </a:lnTo>
                  <a:lnTo>
                    <a:pt x="18726" y="3833"/>
                  </a:lnTo>
                  <a:lnTo>
                    <a:pt x="18854" y="3389"/>
                  </a:lnTo>
                  <a:lnTo>
                    <a:pt x="19108" y="3000"/>
                  </a:lnTo>
                  <a:lnTo>
                    <a:pt x="19236" y="2611"/>
                  </a:lnTo>
                  <a:lnTo>
                    <a:pt x="19363" y="2278"/>
                  </a:lnTo>
                  <a:lnTo>
                    <a:pt x="19490" y="1889"/>
                  </a:lnTo>
                  <a:lnTo>
                    <a:pt x="19490" y="1611"/>
                  </a:lnTo>
                  <a:lnTo>
                    <a:pt x="19745" y="1333"/>
                  </a:lnTo>
                  <a:lnTo>
                    <a:pt x="19745" y="1056"/>
                  </a:lnTo>
                  <a:lnTo>
                    <a:pt x="19873" y="83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4" name="AutoShape 104">
              <a:extLst>
                <a:ext uri="{FF2B5EF4-FFF2-40B4-BE49-F238E27FC236}">
                  <a16:creationId xmlns:a16="http://schemas.microsoft.com/office/drawing/2014/main" id="{58E25BC1-52BD-0C95-8544-7757E0C25FF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123" y="1546"/>
              <a:ext cx="64" cy="2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4"/>
                  </a:moveTo>
                  <a:lnTo>
                    <a:pt x="247" y="18544"/>
                  </a:lnTo>
                  <a:lnTo>
                    <a:pt x="494" y="17844"/>
                  </a:lnTo>
                  <a:lnTo>
                    <a:pt x="617" y="17251"/>
                  </a:lnTo>
                  <a:lnTo>
                    <a:pt x="864" y="16712"/>
                  </a:lnTo>
                  <a:lnTo>
                    <a:pt x="1111" y="16065"/>
                  </a:lnTo>
                  <a:lnTo>
                    <a:pt x="1358" y="15472"/>
                  </a:lnTo>
                  <a:lnTo>
                    <a:pt x="1605" y="14933"/>
                  </a:lnTo>
                  <a:lnTo>
                    <a:pt x="1728" y="14286"/>
                  </a:lnTo>
                  <a:lnTo>
                    <a:pt x="1852" y="13693"/>
                  </a:lnTo>
                  <a:lnTo>
                    <a:pt x="2222" y="13154"/>
                  </a:lnTo>
                  <a:lnTo>
                    <a:pt x="2593" y="12615"/>
                  </a:lnTo>
                  <a:lnTo>
                    <a:pt x="2593" y="12022"/>
                  </a:lnTo>
                  <a:lnTo>
                    <a:pt x="2963" y="11429"/>
                  </a:lnTo>
                  <a:lnTo>
                    <a:pt x="3086" y="10889"/>
                  </a:lnTo>
                  <a:lnTo>
                    <a:pt x="3333" y="10350"/>
                  </a:lnTo>
                  <a:lnTo>
                    <a:pt x="3580" y="9757"/>
                  </a:lnTo>
                  <a:lnTo>
                    <a:pt x="3704" y="9326"/>
                  </a:lnTo>
                  <a:lnTo>
                    <a:pt x="4074" y="8733"/>
                  </a:lnTo>
                  <a:lnTo>
                    <a:pt x="4198" y="8194"/>
                  </a:lnTo>
                  <a:lnTo>
                    <a:pt x="4444" y="7763"/>
                  </a:lnTo>
                  <a:lnTo>
                    <a:pt x="4691" y="7224"/>
                  </a:lnTo>
                  <a:lnTo>
                    <a:pt x="4815" y="6846"/>
                  </a:lnTo>
                  <a:lnTo>
                    <a:pt x="5062" y="6361"/>
                  </a:lnTo>
                  <a:lnTo>
                    <a:pt x="5309" y="5876"/>
                  </a:lnTo>
                  <a:lnTo>
                    <a:pt x="5556" y="5499"/>
                  </a:lnTo>
                  <a:lnTo>
                    <a:pt x="5802" y="5067"/>
                  </a:lnTo>
                  <a:lnTo>
                    <a:pt x="5802" y="4528"/>
                  </a:lnTo>
                  <a:lnTo>
                    <a:pt x="6296" y="4151"/>
                  </a:lnTo>
                  <a:lnTo>
                    <a:pt x="6420" y="3720"/>
                  </a:lnTo>
                  <a:lnTo>
                    <a:pt x="6667" y="3396"/>
                  </a:lnTo>
                  <a:lnTo>
                    <a:pt x="6914" y="3019"/>
                  </a:lnTo>
                  <a:lnTo>
                    <a:pt x="7037" y="2749"/>
                  </a:lnTo>
                  <a:lnTo>
                    <a:pt x="7284" y="2426"/>
                  </a:lnTo>
                  <a:lnTo>
                    <a:pt x="7531" y="2102"/>
                  </a:lnTo>
                  <a:lnTo>
                    <a:pt x="7778" y="1833"/>
                  </a:lnTo>
                  <a:lnTo>
                    <a:pt x="7901" y="1563"/>
                  </a:lnTo>
                  <a:lnTo>
                    <a:pt x="8148" y="1240"/>
                  </a:lnTo>
                  <a:lnTo>
                    <a:pt x="8395" y="1024"/>
                  </a:lnTo>
                  <a:lnTo>
                    <a:pt x="8519" y="863"/>
                  </a:lnTo>
                  <a:lnTo>
                    <a:pt x="8765" y="647"/>
                  </a:lnTo>
                  <a:lnTo>
                    <a:pt x="8889" y="539"/>
                  </a:lnTo>
                  <a:lnTo>
                    <a:pt x="9136" y="377"/>
                  </a:lnTo>
                  <a:lnTo>
                    <a:pt x="9383" y="270"/>
                  </a:lnTo>
                  <a:lnTo>
                    <a:pt x="9506" y="108"/>
                  </a:lnTo>
                  <a:lnTo>
                    <a:pt x="9877" y="108"/>
                  </a:lnTo>
                  <a:lnTo>
                    <a:pt x="10000" y="54"/>
                  </a:lnTo>
                  <a:lnTo>
                    <a:pt x="10247" y="0"/>
                  </a:lnTo>
                  <a:lnTo>
                    <a:pt x="10617" y="54"/>
                  </a:lnTo>
                  <a:lnTo>
                    <a:pt x="10741" y="54"/>
                  </a:lnTo>
                  <a:lnTo>
                    <a:pt x="10864" y="108"/>
                  </a:lnTo>
                  <a:lnTo>
                    <a:pt x="11111" y="216"/>
                  </a:lnTo>
                  <a:lnTo>
                    <a:pt x="11358" y="323"/>
                  </a:lnTo>
                  <a:lnTo>
                    <a:pt x="11481" y="539"/>
                  </a:lnTo>
                  <a:lnTo>
                    <a:pt x="11852" y="755"/>
                  </a:lnTo>
                  <a:lnTo>
                    <a:pt x="12099" y="1024"/>
                  </a:lnTo>
                  <a:lnTo>
                    <a:pt x="12222" y="1240"/>
                  </a:lnTo>
                  <a:lnTo>
                    <a:pt x="12346" y="1563"/>
                  </a:lnTo>
                  <a:lnTo>
                    <a:pt x="12716" y="1887"/>
                  </a:lnTo>
                  <a:lnTo>
                    <a:pt x="12963" y="2264"/>
                  </a:lnTo>
                  <a:lnTo>
                    <a:pt x="13086" y="2749"/>
                  </a:lnTo>
                  <a:lnTo>
                    <a:pt x="13333" y="3127"/>
                  </a:lnTo>
                  <a:lnTo>
                    <a:pt x="13580" y="3504"/>
                  </a:lnTo>
                  <a:lnTo>
                    <a:pt x="13704" y="3989"/>
                  </a:lnTo>
                  <a:lnTo>
                    <a:pt x="14198" y="4367"/>
                  </a:lnTo>
                  <a:lnTo>
                    <a:pt x="14321" y="4960"/>
                  </a:lnTo>
                  <a:lnTo>
                    <a:pt x="14444" y="5499"/>
                  </a:lnTo>
                  <a:lnTo>
                    <a:pt x="14815" y="5984"/>
                  </a:lnTo>
                  <a:lnTo>
                    <a:pt x="15062" y="6523"/>
                  </a:lnTo>
                  <a:lnTo>
                    <a:pt x="15185" y="7008"/>
                  </a:lnTo>
                  <a:lnTo>
                    <a:pt x="15309" y="7601"/>
                  </a:lnTo>
                  <a:lnTo>
                    <a:pt x="15679" y="8194"/>
                  </a:lnTo>
                  <a:lnTo>
                    <a:pt x="15926" y="8787"/>
                  </a:lnTo>
                  <a:lnTo>
                    <a:pt x="16173" y="9326"/>
                  </a:lnTo>
                  <a:lnTo>
                    <a:pt x="16296" y="9919"/>
                  </a:lnTo>
                  <a:lnTo>
                    <a:pt x="16543" y="10458"/>
                  </a:lnTo>
                  <a:lnTo>
                    <a:pt x="16667" y="10997"/>
                  </a:lnTo>
                  <a:lnTo>
                    <a:pt x="16914" y="11590"/>
                  </a:lnTo>
                  <a:lnTo>
                    <a:pt x="17160" y="12183"/>
                  </a:lnTo>
                  <a:lnTo>
                    <a:pt x="17407" y="12776"/>
                  </a:lnTo>
                  <a:lnTo>
                    <a:pt x="17407" y="13261"/>
                  </a:lnTo>
                  <a:lnTo>
                    <a:pt x="17654" y="13854"/>
                  </a:lnTo>
                  <a:lnTo>
                    <a:pt x="17901" y="14340"/>
                  </a:lnTo>
                  <a:lnTo>
                    <a:pt x="18148" y="14933"/>
                  </a:lnTo>
                  <a:lnTo>
                    <a:pt x="18395" y="15472"/>
                  </a:lnTo>
                  <a:lnTo>
                    <a:pt x="18395" y="15903"/>
                  </a:lnTo>
                  <a:lnTo>
                    <a:pt x="18642" y="16442"/>
                  </a:lnTo>
                  <a:lnTo>
                    <a:pt x="18889" y="16873"/>
                  </a:lnTo>
                  <a:lnTo>
                    <a:pt x="19012" y="17305"/>
                  </a:lnTo>
                  <a:lnTo>
                    <a:pt x="19136" y="17736"/>
                  </a:lnTo>
                  <a:lnTo>
                    <a:pt x="19259" y="18113"/>
                  </a:lnTo>
                  <a:lnTo>
                    <a:pt x="19506" y="18544"/>
                  </a:lnTo>
                  <a:lnTo>
                    <a:pt x="19506" y="18976"/>
                  </a:lnTo>
                  <a:lnTo>
                    <a:pt x="19630" y="19191"/>
                  </a:lnTo>
                  <a:lnTo>
                    <a:pt x="19753" y="19461"/>
                  </a:lnTo>
                  <a:lnTo>
                    <a:pt x="19877" y="19730"/>
                  </a:lnTo>
                  <a:lnTo>
                    <a:pt x="19877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5" name="AutoShape 105">
              <a:extLst>
                <a:ext uri="{FF2B5EF4-FFF2-40B4-BE49-F238E27FC236}">
                  <a16:creationId xmlns:a16="http://schemas.microsoft.com/office/drawing/2014/main" id="{CB41551F-0EE6-7DC5-1394-70294126CBA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187" y="1527"/>
              <a:ext cx="69" cy="2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1" y="616"/>
                  </a:lnTo>
                  <a:lnTo>
                    <a:pt x="347" y="1232"/>
                  </a:lnTo>
                  <a:lnTo>
                    <a:pt x="462" y="1905"/>
                  </a:lnTo>
                  <a:lnTo>
                    <a:pt x="809" y="2521"/>
                  </a:lnTo>
                  <a:lnTo>
                    <a:pt x="925" y="3137"/>
                  </a:lnTo>
                  <a:lnTo>
                    <a:pt x="1156" y="3697"/>
                  </a:lnTo>
                  <a:lnTo>
                    <a:pt x="1387" y="4314"/>
                  </a:lnTo>
                  <a:lnTo>
                    <a:pt x="1503" y="4986"/>
                  </a:lnTo>
                  <a:lnTo>
                    <a:pt x="1734" y="5602"/>
                  </a:lnTo>
                  <a:lnTo>
                    <a:pt x="2081" y="6162"/>
                  </a:lnTo>
                  <a:lnTo>
                    <a:pt x="2197" y="6779"/>
                  </a:lnTo>
                  <a:lnTo>
                    <a:pt x="2543" y="7283"/>
                  </a:lnTo>
                  <a:lnTo>
                    <a:pt x="2543" y="7899"/>
                  </a:lnTo>
                  <a:lnTo>
                    <a:pt x="2775" y="8515"/>
                  </a:lnTo>
                  <a:lnTo>
                    <a:pt x="3006" y="9020"/>
                  </a:lnTo>
                  <a:lnTo>
                    <a:pt x="3237" y="9636"/>
                  </a:lnTo>
                  <a:lnTo>
                    <a:pt x="3353" y="10140"/>
                  </a:lnTo>
                  <a:lnTo>
                    <a:pt x="3468" y="10644"/>
                  </a:lnTo>
                  <a:lnTo>
                    <a:pt x="3815" y="11204"/>
                  </a:lnTo>
                  <a:lnTo>
                    <a:pt x="3931" y="11765"/>
                  </a:lnTo>
                  <a:lnTo>
                    <a:pt x="4162" y="12213"/>
                  </a:lnTo>
                  <a:lnTo>
                    <a:pt x="4393" y="12773"/>
                  </a:lnTo>
                  <a:lnTo>
                    <a:pt x="4509" y="13165"/>
                  </a:lnTo>
                  <a:lnTo>
                    <a:pt x="4624" y="13669"/>
                  </a:lnTo>
                  <a:lnTo>
                    <a:pt x="4971" y="14118"/>
                  </a:lnTo>
                  <a:lnTo>
                    <a:pt x="5202" y="14510"/>
                  </a:lnTo>
                  <a:lnTo>
                    <a:pt x="5434" y="15014"/>
                  </a:lnTo>
                  <a:lnTo>
                    <a:pt x="5549" y="15462"/>
                  </a:lnTo>
                  <a:lnTo>
                    <a:pt x="5665" y="15854"/>
                  </a:lnTo>
                  <a:lnTo>
                    <a:pt x="6127" y="16190"/>
                  </a:lnTo>
                  <a:lnTo>
                    <a:pt x="6243" y="16639"/>
                  </a:lnTo>
                  <a:lnTo>
                    <a:pt x="6474" y="16919"/>
                  </a:lnTo>
                  <a:lnTo>
                    <a:pt x="6590" y="17255"/>
                  </a:lnTo>
                  <a:lnTo>
                    <a:pt x="6705" y="17591"/>
                  </a:lnTo>
                  <a:lnTo>
                    <a:pt x="6936" y="17927"/>
                  </a:lnTo>
                  <a:lnTo>
                    <a:pt x="7283" y="18095"/>
                  </a:lnTo>
                  <a:lnTo>
                    <a:pt x="7514" y="18487"/>
                  </a:lnTo>
                  <a:lnTo>
                    <a:pt x="7514" y="18711"/>
                  </a:lnTo>
                  <a:lnTo>
                    <a:pt x="7861" y="18992"/>
                  </a:lnTo>
                  <a:lnTo>
                    <a:pt x="7977" y="19160"/>
                  </a:lnTo>
                  <a:lnTo>
                    <a:pt x="8208" y="19328"/>
                  </a:lnTo>
                  <a:lnTo>
                    <a:pt x="8439" y="19440"/>
                  </a:lnTo>
                  <a:lnTo>
                    <a:pt x="8555" y="19664"/>
                  </a:lnTo>
                  <a:lnTo>
                    <a:pt x="8902" y="19720"/>
                  </a:lnTo>
                  <a:lnTo>
                    <a:pt x="9017" y="19888"/>
                  </a:lnTo>
                  <a:lnTo>
                    <a:pt x="9249" y="19888"/>
                  </a:lnTo>
                  <a:lnTo>
                    <a:pt x="9480" y="19944"/>
                  </a:lnTo>
                  <a:lnTo>
                    <a:pt x="9595" y="19944"/>
                  </a:lnTo>
                  <a:lnTo>
                    <a:pt x="9827" y="19944"/>
                  </a:lnTo>
                  <a:lnTo>
                    <a:pt x="10173" y="19888"/>
                  </a:lnTo>
                  <a:lnTo>
                    <a:pt x="10405" y="19888"/>
                  </a:lnTo>
                  <a:lnTo>
                    <a:pt x="10520" y="19664"/>
                  </a:lnTo>
                  <a:lnTo>
                    <a:pt x="10751" y="19496"/>
                  </a:lnTo>
                  <a:lnTo>
                    <a:pt x="11098" y="19328"/>
                  </a:lnTo>
                  <a:lnTo>
                    <a:pt x="11329" y="19104"/>
                  </a:lnTo>
                  <a:lnTo>
                    <a:pt x="11445" y="18936"/>
                  </a:lnTo>
                  <a:lnTo>
                    <a:pt x="11792" y="18543"/>
                  </a:lnTo>
                  <a:lnTo>
                    <a:pt x="11908" y="18263"/>
                  </a:lnTo>
                  <a:lnTo>
                    <a:pt x="12139" y="17871"/>
                  </a:lnTo>
                  <a:lnTo>
                    <a:pt x="12486" y="17479"/>
                  </a:lnTo>
                  <a:lnTo>
                    <a:pt x="12601" y="17087"/>
                  </a:lnTo>
                  <a:lnTo>
                    <a:pt x="12832" y="16751"/>
                  </a:lnTo>
                  <a:lnTo>
                    <a:pt x="13295" y="16303"/>
                  </a:lnTo>
                  <a:lnTo>
                    <a:pt x="13410" y="15798"/>
                  </a:lnTo>
                  <a:lnTo>
                    <a:pt x="13642" y="15350"/>
                  </a:lnTo>
                  <a:lnTo>
                    <a:pt x="13873" y="14846"/>
                  </a:lnTo>
                  <a:lnTo>
                    <a:pt x="14220" y="14342"/>
                  </a:lnTo>
                  <a:lnTo>
                    <a:pt x="14451" y="13838"/>
                  </a:lnTo>
                  <a:lnTo>
                    <a:pt x="14682" y="13277"/>
                  </a:lnTo>
                  <a:lnTo>
                    <a:pt x="14913" y="12829"/>
                  </a:lnTo>
                  <a:lnTo>
                    <a:pt x="15260" y="12213"/>
                  </a:lnTo>
                  <a:lnTo>
                    <a:pt x="15491" y="11709"/>
                  </a:lnTo>
                  <a:lnTo>
                    <a:pt x="15607" y="11036"/>
                  </a:lnTo>
                  <a:lnTo>
                    <a:pt x="15954" y="10588"/>
                  </a:lnTo>
                  <a:lnTo>
                    <a:pt x="16069" y="10028"/>
                  </a:lnTo>
                  <a:lnTo>
                    <a:pt x="16416" y="9412"/>
                  </a:lnTo>
                  <a:lnTo>
                    <a:pt x="16532" y="8964"/>
                  </a:lnTo>
                  <a:lnTo>
                    <a:pt x="16763" y="8403"/>
                  </a:lnTo>
                  <a:lnTo>
                    <a:pt x="16994" y="7787"/>
                  </a:lnTo>
                  <a:lnTo>
                    <a:pt x="17225" y="7227"/>
                  </a:lnTo>
                  <a:lnTo>
                    <a:pt x="17457" y="6835"/>
                  </a:lnTo>
                  <a:lnTo>
                    <a:pt x="17572" y="6218"/>
                  </a:lnTo>
                  <a:lnTo>
                    <a:pt x="17803" y="5714"/>
                  </a:lnTo>
                  <a:lnTo>
                    <a:pt x="18266" y="5210"/>
                  </a:lnTo>
                  <a:lnTo>
                    <a:pt x="18266" y="4762"/>
                  </a:lnTo>
                  <a:lnTo>
                    <a:pt x="18497" y="4314"/>
                  </a:lnTo>
                  <a:lnTo>
                    <a:pt x="18728" y="3866"/>
                  </a:lnTo>
                  <a:lnTo>
                    <a:pt x="18960" y="3361"/>
                  </a:lnTo>
                  <a:lnTo>
                    <a:pt x="19075" y="3025"/>
                  </a:lnTo>
                  <a:lnTo>
                    <a:pt x="19191" y="2689"/>
                  </a:lnTo>
                  <a:lnTo>
                    <a:pt x="19306" y="2241"/>
                  </a:lnTo>
                  <a:lnTo>
                    <a:pt x="19538" y="1905"/>
                  </a:lnTo>
                  <a:lnTo>
                    <a:pt x="19538" y="1625"/>
                  </a:lnTo>
                  <a:lnTo>
                    <a:pt x="19653" y="1289"/>
                  </a:lnTo>
                  <a:lnTo>
                    <a:pt x="19769" y="1008"/>
                  </a:lnTo>
                  <a:lnTo>
                    <a:pt x="19884" y="84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6" name="AutoShape 106">
              <a:extLst>
                <a:ext uri="{FF2B5EF4-FFF2-40B4-BE49-F238E27FC236}">
                  <a16:creationId xmlns:a16="http://schemas.microsoft.com/office/drawing/2014/main" id="{8839D926-87E1-7522-1B5F-C96773F563E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58" y="1546"/>
              <a:ext cx="64" cy="2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111"/>
                  </a:moveTo>
                  <a:lnTo>
                    <a:pt x="247" y="18500"/>
                  </a:lnTo>
                  <a:lnTo>
                    <a:pt x="494" y="17889"/>
                  </a:lnTo>
                  <a:lnTo>
                    <a:pt x="617" y="17278"/>
                  </a:lnTo>
                  <a:lnTo>
                    <a:pt x="864" y="16722"/>
                  </a:lnTo>
                  <a:lnTo>
                    <a:pt x="1111" y="16111"/>
                  </a:lnTo>
                  <a:lnTo>
                    <a:pt x="1358" y="15500"/>
                  </a:lnTo>
                  <a:lnTo>
                    <a:pt x="1605" y="14889"/>
                  </a:lnTo>
                  <a:lnTo>
                    <a:pt x="1728" y="14333"/>
                  </a:lnTo>
                  <a:lnTo>
                    <a:pt x="1852" y="13667"/>
                  </a:lnTo>
                  <a:lnTo>
                    <a:pt x="2222" y="13111"/>
                  </a:lnTo>
                  <a:lnTo>
                    <a:pt x="2593" y="12611"/>
                  </a:lnTo>
                  <a:lnTo>
                    <a:pt x="2593" y="12056"/>
                  </a:lnTo>
                  <a:lnTo>
                    <a:pt x="2963" y="11389"/>
                  </a:lnTo>
                  <a:lnTo>
                    <a:pt x="3086" y="10889"/>
                  </a:lnTo>
                  <a:lnTo>
                    <a:pt x="3333" y="10389"/>
                  </a:lnTo>
                  <a:lnTo>
                    <a:pt x="3580" y="9778"/>
                  </a:lnTo>
                  <a:lnTo>
                    <a:pt x="3704" y="9333"/>
                  </a:lnTo>
                  <a:lnTo>
                    <a:pt x="4074" y="8833"/>
                  </a:lnTo>
                  <a:lnTo>
                    <a:pt x="4198" y="8222"/>
                  </a:lnTo>
                  <a:lnTo>
                    <a:pt x="4444" y="7722"/>
                  </a:lnTo>
                  <a:lnTo>
                    <a:pt x="4691" y="7222"/>
                  </a:lnTo>
                  <a:lnTo>
                    <a:pt x="4815" y="6833"/>
                  </a:lnTo>
                  <a:lnTo>
                    <a:pt x="5062" y="6333"/>
                  </a:lnTo>
                  <a:lnTo>
                    <a:pt x="5309" y="5889"/>
                  </a:lnTo>
                  <a:lnTo>
                    <a:pt x="5556" y="5444"/>
                  </a:lnTo>
                  <a:lnTo>
                    <a:pt x="5802" y="5056"/>
                  </a:lnTo>
                  <a:lnTo>
                    <a:pt x="5802" y="4556"/>
                  </a:lnTo>
                  <a:lnTo>
                    <a:pt x="6296" y="4167"/>
                  </a:lnTo>
                  <a:lnTo>
                    <a:pt x="6420" y="3778"/>
                  </a:lnTo>
                  <a:lnTo>
                    <a:pt x="6667" y="3389"/>
                  </a:lnTo>
                  <a:lnTo>
                    <a:pt x="6914" y="3056"/>
                  </a:lnTo>
                  <a:lnTo>
                    <a:pt x="7037" y="2722"/>
                  </a:lnTo>
                  <a:lnTo>
                    <a:pt x="7284" y="2444"/>
                  </a:lnTo>
                  <a:lnTo>
                    <a:pt x="7531" y="2111"/>
                  </a:lnTo>
                  <a:lnTo>
                    <a:pt x="7778" y="1889"/>
                  </a:lnTo>
                  <a:lnTo>
                    <a:pt x="7901" y="1556"/>
                  </a:lnTo>
                  <a:lnTo>
                    <a:pt x="8148" y="1278"/>
                  </a:lnTo>
                  <a:lnTo>
                    <a:pt x="8395" y="1056"/>
                  </a:lnTo>
                  <a:lnTo>
                    <a:pt x="8519" y="833"/>
                  </a:lnTo>
                  <a:lnTo>
                    <a:pt x="8765" y="667"/>
                  </a:lnTo>
                  <a:lnTo>
                    <a:pt x="8889" y="500"/>
                  </a:lnTo>
                  <a:lnTo>
                    <a:pt x="9136" y="389"/>
                  </a:lnTo>
                  <a:lnTo>
                    <a:pt x="9383" y="278"/>
                  </a:lnTo>
                  <a:lnTo>
                    <a:pt x="9506" y="111"/>
                  </a:lnTo>
                  <a:lnTo>
                    <a:pt x="9877" y="111"/>
                  </a:lnTo>
                  <a:lnTo>
                    <a:pt x="10000" y="56"/>
                  </a:lnTo>
                  <a:lnTo>
                    <a:pt x="10247" y="0"/>
                  </a:lnTo>
                  <a:lnTo>
                    <a:pt x="10617" y="56"/>
                  </a:lnTo>
                  <a:lnTo>
                    <a:pt x="10741" y="56"/>
                  </a:lnTo>
                  <a:lnTo>
                    <a:pt x="10864" y="111"/>
                  </a:lnTo>
                  <a:lnTo>
                    <a:pt x="11111" y="222"/>
                  </a:lnTo>
                  <a:lnTo>
                    <a:pt x="11358" y="333"/>
                  </a:lnTo>
                  <a:lnTo>
                    <a:pt x="11481" y="556"/>
                  </a:lnTo>
                  <a:lnTo>
                    <a:pt x="11852" y="722"/>
                  </a:lnTo>
                  <a:lnTo>
                    <a:pt x="12099" y="1000"/>
                  </a:lnTo>
                  <a:lnTo>
                    <a:pt x="12222" y="1278"/>
                  </a:lnTo>
                  <a:lnTo>
                    <a:pt x="12346" y="1556"/>
                  </a:lnTo>
                  <a:lnTo>
                    <a:pt x="12716" y="1889"/>
                  </a:lnTo>
                  <a:lnTo>
                    <a:pt x="12963" y="2278"/>
                  </a:lnTo>
                  <a:lnTo>
                    <a:pt x="13086" y="2722"/>
                  </a:lnTo>
                  <a:lnTo>
                    <a:pt x="13333" y="3111"/>
                  </a:lnTo>
                  <a:lnTo>
                    <a:pt x="13580" y="3500"/>
                  </a:lnTo>
                  <a:lnTo>
                    <a:pt x="13704" y="4000"/>
                  </a:lnTo>
                  <a:lnTo>
                    <a:pt x="14198" y="4444"/>
                  </a:lnTo>
                  <a:lnTo>
                    <a:pt x="14321" y="4944"/>
                  </a:lnTo>
                  <a:lnTo>
                    <a:pt x="14444" y="5500"/>
                  </a:lnTo>
                  <a:lnTo>
                    <a:pt x="14815" y="6000"/>
                  </a:lnTo>
                  <a:lnTo>
                    <a:pt x="15062" y="6556"/>
                  </a:lnTo>
                  <a:lnTo>
                    <a:pt x="15185" y="7000"/>
                  </a:lnTo>
                  <a:lnTo>
                    <a:pt x="15309" y="7611"/>
                  </a:lnTo>
                  <a:lnTo>
                    <a:pt x="15679" y="8167"/>
                  </a:lnTo>
                  <a:lnTo>
                    <a:pt x="15926" y="8833"/>
                  </a:lnTo>
                  <a:lnTo>
                    <a:pt x="16173" y="9333"/>
                  </a:lnTo>
                  <a:lnTo>
                    <a:pt x="16296" y="9889"/>
                  </a:lnTo>
                  <a:lnTo>
                    <a:pt x="16543" y="10444"/>
                  </a:lnTo>
                  <a:lnTo>
                    <a:pt x="16667" y="11000"/>
                  </a:lnTo>
                  <a:lnTo>
                    <a:pt x="16914" y="11611"/>
                  </a:lnTo>
                  <a:lnTo>
                    <a:pt x="17160" y="12167"/>
                  </a:lnTo>
                  <a:lnTo>
                    <a:pt x="17407" y="12778"/>
                  </a:lnTo>
                  <a:lnTo>
                    <a:pt x="17407" y="13278"/>
                  </a:lnTo>
                  <a:lnTo>
                    <a:pt x="17654" y="13833"/>
                  </a:lnTo>
                  <a:lnTo>
                    <a:pt x="17901" y="14389"/>
                  </a:lnTo>
                  <a:lnTo>
                    <a:pt x="18148" y="14944"/>
                  </a:lnTo>
                  <a:lnTo>
                    <a:pt x="18395" y="15444"/>
                  </a:lnTo>
                  <a:lnTo>
                    <a:pt x="18395" y="15944"/>
                  </a:lnTo>
                  <a:lnTo>
                    <a:pt x="18642" y="16444"/>
                  </a:lnTo>
                  <a:lnTo>
                    <a:pt x="18889" y="16889"/>
                  </a:lnTo>
                  <a:lnTo>
                    <a:pt x="19012" y="17278"/>
                  </a:lnTo>
                  <a:lnTo>
                    <a:pt x="19136" y="17722"/>
                  </a:lnTo>
                  <a:lnTo>
                    <a:pt x="19259" y="18111"/>
                  </a:lnTo>
                  <a:lnTo>
                    <a:pt x="19506" y="18500"/>
                  </a:lnTo>
                  <a:lnTo>
                    <a:pt x="19506" y="18944"/>
                  </a:lnTo>
                  <a:lnTo>
                    <a:pt x="19630" y="19222"/>
                  </a:lnTo>
                  <a:lnTo>
                    <a:pt x="19753" y="19500"/>
                  </a:lnTo>
                  <a:lnTo>
                    <a:pt x="19877" y="19722"/>
                  </a:lnTo>
                  <a:lnTo>
                    <a:pt x="19877" y="19944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7" name="AutoShape 107">
              <a:extLst>
                <a:ext uri="{FF2B5EF4-FFF2-40B4-BE49-F238E27FC236}">
                  <a16:creationId xmlns:a16="http://schemas.microsoft.com/office/drawing/2014/main" id="{4056FACE-8082-A881-3825-AB51B8F9D64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322" y="1527"/>
              <a:ext cx="69" cy="2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1" y="634"/>
                  </a:lnTo>
                  <a:lnTo>
                    <a:pt x="347" y="1268"/>
                  </a:lnTo>
                  <a:lnTo>
                    <a:pt x="462" y="1960"/>
                  </a:lnTo>
                  <a:lnTo>
                    <a:pt x="809" y="2536"/>
                  </a:lnTo>
                  <a:lnTo>
                    <a:pt x="925" y="3170"/>
                  </a:lnTo>
                  <a:lnTo>
                    <a:pt x="1156" y="3689"/>
                  </a:lnTo>
                  <a:lnTo>
                    <a:pt x="1387" y="4380"/>
                  </a:lnTo>
                  <a:lnTo>
                    <a:pt x="1503" y="4957"/>
                  </a:lnTo>
                  <a:lnTo>
                    <a:pt x="1734" y="5591"/>
                  </a:lnTo>
                  <a:lnTo>
                    <a:pt x="2081" y="6167"/>
                  </a:lnTo>
                  <a:lnTo>
                    <a:pt x="2197" y="6801"/>
                  </a:lnTo>
                  <a:lnTo>
                    <a:pt x="2543" y="7262"/>
                  </a:lnTo>
                  <a:lnTo>
                    <a:pt x="2543" y="7839"/>
                  </a:lnTo>
                  <a:lnTo>
                    <a:pt x="2775" y="8473"/>
                  </a:lnTo>
                  <a:lnTo>
                    <a:pt x="3006" y="8991"/>
                  </a:lnTo>
                  <a:lnTo>
                    <a:pt x="3237" y="9625"/>
                  </a:lnTo>
                  <a:lnTo>
                    <a:pt x="3353" y="10144"/>
                  </a:lnTo>
                  <a:lnTo>
                    <a:pt x="3468" y="10663"/>
                  </a:lnTo>
                  <a:lnTo>
                    <a:pt x="3815" y="11182"/>
                  </a:lnTo>
                  <a:lnTo>
                    <a:pt x="3931" y="11758"/>
                  </a:lnTo>
                  <a:lnTo>
                    <a:pt x="4162" y="12219"/>
                  </a:lnTo>
                  <a:lnTo>
                    <a:pt x="4393" y="12738"/>
                  </a:lnTo>
                  <a:lnTo>
                    <a:pt x="4509" y="13199"/>
                  </a:lnTo>
                  <a:lnTo>
                    <a:pt x="4624" y="13660"/>
                  </a:lnTo>
                  <a:lnTo>
                    <a:pt x="4971" y="14121"/>
                  </a:lnTo>
                  <a:lnTo>
                    <a:pt x="5202" y="14582"/>
                  </a:lnTo>
                  <a:lnTo>
                    <a:pt x="5434" y="15043"/>
                  </a:lnTo>
                  <a:lnTo>
                    <a:pt x="5549" y="15389"/>
                  </a:lnTo>
                  <a:lnTo>
                    <a:pt x="5665" y="15850"/>
                  </a:lnTo>
                  <a:lnTo>
                    <a:pt x="6127" y="16254"/>
                  </a:lnTo>
                  <a:lnTo>
                    <a:pt x="6243" y="16599"/>
                  </a:lnTo>
                  <a:lnTo>
                    <a:pt x="6474" y="17003"/>
                  </a:lnTo>
                  <a:lnTo>
                    <a:pt x="6590" y="17233"/>
                  </a:lnTo>
                  <a:lnTo>
                    <a:pt x="6705" y="17579"/>
                  </a:lnTo>
                  <a:lnTo>
                    <a:pt x="6936" y="17925"/>
                  </a:lnTo>
                  <a:lnTo>
                    <a:pt x="7283" y="18156"/>
                  </a:lnTo>
                  <a:lnTo>
                    <a:pt x="7514" y="18444"/>
                  </a:lnTo>
                  <a:lnTo>
                    <a:pt x="7514" y="18732"/>
                  </a:lnTo>
                  <a:lnTo>
                    <a:pt x="7861" y="18963"/>
                  </a:lnTo>
                  <a:lnTo>
                    <a:pt x="7977" y="19193"/>
                  </a:lnTo>
                  <a:lnTo>
                    <a:pt x="8208" y="19308"/>
                  </a:lnTo>
                  <a:lnTo>
                    <a:pt x="8439" y="19481"/>
                  </a:lnTo>
                  <a:lnTo>
                    <a:pt x="8555" y="19654"/>
                  </a:lnTo>
                  <a:lnTo>
                    <a:pt x="8902" y="19712"/>
                  </a:lnTo>
                  <a:lnTo>
                    <a:pt x="9017" y="19885"/>
                  </a:lnTo>
                  <a:lnTo>
                    <a:pt x="9249" y="19885"/>
                  </a:lnTo>
                  <a:lnTo>
                    <a:pt x="9480" y="19942"/>
                  </a:lnTo>
                  <a:lnTo>
                    <a:pt x="9595" y="19942"/>
                  </a:lnTo>
                  <a:lnTo>
                    <a:pt x="9827" y="19942"/>
                  </a:lnTo>
                  <a:lnTo>
                    <a:pt x="10173" y="19885"/>
                  </a:lnTo>
                  <a:lnTo>
                    <a:pt x="10405" y="19885"/>
                  </a:lnTo>
                  <a:lnTo>
                    <a:pt x="10520" y="19712"/>
                  </a:lnTo>
                  <a:lnTo>
                    <a:pt x="10751" y="19481"/>
                  </a:lnTo>
                  <a:lnTo>
                    <a:pt x="11098" y="19308"/>
                  </a:lnTo>
                  <a:lnTo>
                    <a:pt x="11329" y="19135"/>
                  </a:lnTo>
                  <a:lnTo>
                    <a:pt x="11445" y="18905"/>
                  </a:lnTo>
                  <a:lnTo>
                    <a:pt x="11792" y="18559"/>
                  </a:lnTo>
                  <a:lnTo>
                    <a:pt x="11908" y="18213"/>
                  </a:lnTo>
                  <a:lnTo>
                    <a:pt x="12139" y="17925"/>
                  </a:lnTo>
                  <a:lnTo>
                    <a:pt x="12486" y="17522"/>
                  </a:lnTo>
                  <a:lnTo>
                    <a:pt x="12601" y="17118"/>
                  </a:lnTo>
                  <a:lnTo>
                    <a:pt x="12832" y="16715"/>
                  </a:lnTo>
                  <a:lnTo>
                    <a:pt x="13295" y="16311"/>
                  </a:lnTo>
                  <a:lnTo>
                    <a:pt x="13410" y="15850"/>
                  </a:lnTo>
                  <a:lnTo>
                    <a:pt x="13642" y="15331"/>
                  </a:lnTo>
                  <a:lnTo>
                    <a:pt x="13873" y="14870"/>
                  </a:lnTo>
                  <a:lnTo>
                    <a:pt x="14220" y="14352"/>
                  </a:lnTo>
                  <a:lnTo>
                    <a:pt x="14451" y="13833"/>
                  </a:lnTo>
                  <a:lnTo>
                    <a:pt x="14682" y="13314"/>
                  </a:lnTo>
                  <a:lnTo>
                    <a:pt x="14913" y="12738"/>
                  </a:lnTo>
                  <a:lnTo>
                    <a:pt x="15260" y="12219"/>
                  </a:lnTo>
                  <a:lnTo>
                    <a:pt x="15491" y="11585"/>
                  </a:lnTo>
                  <a:lnTo>
                    <a:pt x="15607" y="11066"/>
                  </a:lnTo>
                  <a:lnTo>
                    <a:pt x="15954" y="10548"/>
                  </a:lnTo>
                  <a:lnTo>
                    <a:pt x="16069" y="10029"/>
                  </a:lnTo>
                  <a:lnTo>
                    <a:pt x="16416" y="9452"/>
                  </a:lnTo>
                  <a:lnTo>
                    <a:pt x="16532" y="8934"/>
                  </a:lnTo>
                  <a:lnTo>
                    <a:pt x="16763" y="8473"/>
                  </a:lnTo>
                  <a:lnTo>
                    <a:pt x="16994" y="7781"/>
                  </a:lnTo>
                  <a:lnTo>
                    <a:pt x="17225" y="7262"/>
                  </a:lnTo>
                  <a:lnTo>
                    <a:pt x="17457" y="6801"/>
                  </a:lnTo>
                  <a:lnTo>
                    <a:pt x="17572" y="6225"/>
                  </a:lnTo>
                  <a:lnTo>
                    <a:pt x="17803" y="5764"/>
                  </a:lnTo>
                  <a:lnTo>
                    <a:pt x="18266" y="5187"/>
                  </a:lnTo>
                  <a:lnTo>
                    <a:pt x="18266" y="4726"/>
                  </a:lnTo>
                  <a:lnTo>
                    <a:pt x="18497" y="4265"/>
                  </a:lnTo>
                  <a:lnTo>
                    <a:pt x="18728" y="3862"/>
                  </a:lnTo>
                  <a:lnTo>
                    <a:pt x="18960" y="3401"/>
                  </a:lnTo>
                  <a:lnTo>
                    <a:pt x="19075" y="2997"/>
                  </a:lnTo>
                  <a:lnTo>
                    <a:pt x="19191" y="2594"/>
                  </a:lnTo>
                  <a:lnTo>
                    <a:pt x="19306" y="2248"/>
                  </a:lnTo>
                  <a:lnTo>
                    <a:pt x="19538" y="1960"/>
                  </a:lnTo>
                  <a:lnTo>
                    <a:pt x="19538" y="1556"/>
                  </a:lnTo>
                  <a:lnTo>
                    <a:pt x="19653" y="1326"/>
                  </a:lnTo>
                  <a:lnTo>
                    <a:pt x="19769" y="1037"/>
                  </a:lnTo>
                  <a:lnTo>
                    <a:pt x="19884" y="807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8" name="AutoShape 108">
              <a:extLst>
                <a:ext uri="{FF2B5EF4-FFF2-40B4-BE49-F238E27FC236}">
                  <a16:creationId xmlns:a16="http://schemas.microsoft.com/office/drawing/2014/main" id="{410A9553-C1CF-CC4A-1CF1-77DC4F80B39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391" y="1547"/>
              <a:ext cx="64" cy="2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4"/>
                  </a:moveTo>
                  <a:lnTo>
                    <a:pt x="247" y="18544"/>
                  </a:lnTo>
                  <a:lnTo>
                    <a:pt x="494" y="17844"/>
                  </a:lnTo>
                  <a:lnTo>
                    <a:pt x="617" y="17251"/>
                  </a:lnTo>
                  <a:lnTo>
                    <a:pt x="864" y="16712"/>
                  </a:lnTo>
                  <a:lnTo>
                    <a:pt x="1111" y="16065"/>
                  </a:lnTo>
                  <a:lnTo>
                    <a:pt x="1358" y="15472"/>
                  </a:lnTo>
                  <a:lnTo>
                    <a:pt x="1605" y="14933"/>
                  </a:lnTo>
                  <a:lnTo>
                    <a:pt x="1728" y="14286"/>
                  </a:lnTo>
                  <a:lnTo>
                    <a:pt x="1852" y="13693"/>
                  </a:lnTo>
                  <a:lnTo>
                    <a:pt x="2222" y="13154"/>
                  </a:lnTo>
                  <a:lnTo>
                    <a:pt x="2593" y="12615"/>
                  </a:lnTo>
                  <a:lnTo>
                    <a:pt x="2593" y="12022"/>
                  </a:lnTo>
                  <a:lnTo>
                    <a:pt x="2963" y="11429"/>
                  </a:lnTo>
                  <a:lnTo>
                    <a:pt x="3086" y="10889"/>
                  </a:lnTo>
                  <a:lnTo>
                    <a:pt x="3333" y="10350"/>
                  </a:lnTo>
                  <a:lnTo>
                    <a:pt x="3580" y="9757"/>
                  </a:lnTo>
                  <a:lnTo>
                    <a:pt x="3704" y="9326"/>
                  </a:lnTo>
                  <a:lnTo>
                    <a:pt x="4074" y="8733"/>
                  </a:lnTo>
                  <a:lnTo>
                    <a:pt x="4198" y="8194"/>
                  </a:lnTo>
                  <a:lnTo>
                    <a:pt x="4444" y="7763"/>
                  </a:lnTo>
                  <a:lnTo>
                    <a:pt x="4691" y="7224"/>
                  </a:lnTo>
                  <a:lnTo>
                    <a:pt x="4815" y="6846"/>
                  </a:lnTo>
                  <a:lnTo>
                    <a:pt x="5062" y="6361"/>
                  </a:lnTo>
                  <a:lnTo>
                    <a:pt x="5309" y="5876"/>
                  </a:lnTo>
                  <a:lnTo>
                    <a:pt x="5556" y="5499"/>
                  </a:lnTo>
                  <a:lnTo>
                    <a:pt x="5802" y="5067"/>
                  </a:lnTo>
                  <a:lnTo>
                    <a:pt x="5802" y="4528"/>
                  </a:lnTo>
                  <a:lnTo>
                    <a:pt x="6296" y="4151"/>
                  </a:lnTo>
                  <a:lnTo>
                    <a:pt x="6420" y="3720"/>
                  </a:lnTo>
                  <a:lnTo>
                    <a:pt x="6667" y="3396"/>
                  </a:lnTo>
                  <a:lnTo>
                    <a:pt x="6914" y="3019"/>
                  </a:lnTo>
                  <a:lnTo>
                    <a:pt x="7037" y="2749"/>
                  </a:lnTo>
                  <a:lnTo>
                    <a:pt x="7284" y="2426"/>
                  </a:lnTo>
                  <a:lnTo>
                    <a:pt x="7531" y="2102"/>
                  </a:lnTo>
                  <a:lnTo>
                    <a:pt x="7778" y="1833"/>
                  </a:lnTo>
                  <a:lnTo>
                    <a:pt x="7901" y="1563"/>
                  </a:lnTo>
                  <a:lnTo>
                    <a:pt x="8148" y="1240"/>
                  </a:lnTo>
                  <a:lnTo>
                    <a:pt x="8395" y="1024"/>
                  </a:lnTo>
                  <a:lnTo>
                    <a:pt x="8519" y="863"/>
                  </a:lnTo>
                  <a:lnTo>
                    <a:pt x="8765" y="647"/>
                  </a:lnTo>
                  <a:lnTo>
                    <a:pt x="8889" y="539"/>
                  </a:lnTo>
                  <a:lnTo>
                    <a:pt x="9136" y="377"/>
                  </a:lnTo>
                  <a:lnTo>
                    <a:pt x="9383" y="270"/>
                  </a:lnTo>
                  <a:lnTo>
                    <a:pt x="9506" y="108"/>
                  </a:lnTo>
                  <a:lnTo>
                    <a:pt x="9877" y="108"/>
                  </a:lnTo>
                  <a:lnTo>
                    <a:pt x="10000" y="54"/>
                  </a:lnTo>
                  <a:lnTo>
                    <a:pt x="10247" y="0"/>
                  </a:lnTo>
                  <a:lnTo>
                    <a:pt x="10617" y="54"/>
                  </a:lnTo>
                  <a:lnTo>
                    <a:pt x="10741" y="54"/>
                  </a:lnTo>
                  <a:lnTo>
                    <a:pt x="10864" y="108"/>
                  </a:lnTo>
                  <a:lnTo>
                    <a:pt x="11111" y="216"/>
                  </a:lnTo>
                  <a:lnTo>
                    <a:pt x="11358" y="323"/>
                  </a:lnTo>
                  <a:lnTo>
                    <a:pt x="11481" y="539"/>
                  </a:lnTo>
                  <a:lnTo>
                    <a:pt x="11852" y="755"/>
                  </a:lnTo>
                  <a:lnTo>
                    <a:pt x="12099" y="1024"/>
                  </a:lnTo>
                  <a:lnTo>
                    <a:pt x="12222" y="1240"/>
                  </a:lnTo>
                  <a:lnTo>
                    <a:pt x="12346" y="1563"/>
                  </a:lnTo>
                  <a:lnTo>
                    <a:pt x="12716" y="1887"/>
                  </a:lnTo>
                  <a:lnTo>
                    <a:pt x="12963" y="2264"/>
                  </a:lnTo>
                  <a:lnTo>
                    <a:pt x="13086" y="2749"/>
                  </a:lnTo>
                  <a:lnTo>
                    <a:pt x="13333" y="3127"/>
                  </a:lnTo>
                  <a:lnTo>
                    <a:pt x="13580" y="3504"/>
                  </a:lnTo>
                  <a:lnTo>
                    <a:pt x="13704" y="3989"/>
                  </a:lnTo>
                  <a:lnTo>
                    <a:pt x="14198" y="4367"/>
                  </a:lnTo>
                  <a:lnTo>
                    <a:pt x="14321" y="4960"/>
                  </a:lnTo>
                  <a:lnTo>
                    <a:pt x="14444" y="5499"/>
                  </a:lnTo>
                  <a:lnTo>
                    <a:pt x="14815" y="5984"/>
                  </a:lnTo>
                  <a:lnTo>
                    <a:pt x="15062" y="6523"/>
                  </a:lnTo>
                  <a:lnTo>
                    <a:pt x="15185" y="7008"/>
                  </a:lnTo>
                  <a:lnTo>
                    <a:pt x="15309" y="7601"/>
                  </a:lnTo>
                  <a:lnTo>
                    <a:pt x="15679" y="8194"/>
                  </a:lnTo>
                  <a:lnTo>
                    <a:pt x="15926" y="8787"/>
                  </a:lnTo>
                  <a:lnTo>
                    <a:pt x="16173" y="9326"/>
                  </a:lnTo>
                  <a:lnTo>
                    <a:pt x="16296" y="9919"/>
                  </a:lnTo>
                  <a:lnTo>
                    <a:pt x="16543" y="10458"/>
                  </a:lnTo>
                  <a:lnTo>
                    <a:pt x="16667" y="10997"/>
                  </a:lnTo>
                  <a:lnTo>
                    <a:pt x="16914" y="11590"/>
                  </a:lnTo>
                  <a:lnTo>
                    <a:pt x="17160" y="12183"/>
                  </a:lnTo>
                  <a:lnTo>
                    <a:pt x="17407" y="12776"/>
                  </a:lnTo>
                  <a:lnTo>
                    <a:pt x="17407" y="13261"/>
                  </a:lnTo>
                  <a:lnTo>
                    <a:pt x="17654" y="13854"/>
                  </a:lnTo>
                  <a:lnTo>
                    <a:pt x="17901" y="14340"/>
                  </a:lnTo>
                  <a:lnTo>
                    <a:pt x="18148" y="14933"/>
                  </a:lnTo>
                  <a:lnTo>
                    <a:pt x="18395" y="15472"/>
                  </a:lnTo>
                  <a:lnTo>
                    <a:pt x="18395" y="15903"/>
                  </a:lnTo>
                  <a:lnTo>
                    <a:pt x="18642" y="16442"/>
                  </a:lnTo>
                  <a:lnTo>
                    <a:pt x="18889" y="16873"/>
                  </a:lnTo>
                  <a:lnTo>
                    <a:pt x="19012" y="17305"/>
                  </a:lnTo>
                  <a:lnTo>
                    <a:pt x="19136" y="17736"/>
                  </a:lnTo>
                  <a:lnTo>
                    <a:pt x="19259" y="18113"/>
                  </a:lnTo>
                  <a:lnTo>
                    <a:pt x="19506" y="18544"/>
                  </a:lnTo>
                  <a:lnTo>
                    <a:pt x="19506" y="18976"/>
                  </a:lnTo>
                  <a:lnTo>
                    <a:pt x="19630" y="19191"/>
                  </a:lnTo>
                  <a:lnTo>
                    <a:pt x="19753" y="19461"/>
                  </a:lnTo>
                  <a:lnTo>
                    <a:pt x="19877" y="19730"/>
                  </a:lnTo>
                  <a:lnTo>
                    <a:pt x="19877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9" name="AutoShape 109">
              <a:extLst>
                <a:ext uri="{FF2B5EF4-FFF2-40B4-BE49-F238E27FC236}">
                  <a16:creationId xmlns:a16="http://schemas.microsoft.com/office/drawing/2014/main" id="{72BBF3F0-129D-6C17-0CEC-D0AE1505DFA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55" y="1527"/>
              <a:ext cx="69" cy="2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1" y="616"/>
                  </a:lnTo>
                  <a:lnTo>
                    <a:pt x="347" y="1232"/>
                  </a:lnTo>
                  <a:lnTo>
                    <a:pt x="462" y="1905"/>
                  </a:lnTo>
                  <a:lnTo>
                    <a:pt x="809" y="2521"/>
                  </a:lnTo>
                  <a:lnTo>
                    <a:pt x="925" y="3137"/>
                  </a:lnTo>
                  <a:lnTo>
                    <a:pt x="1156" y="3697"/>
                  </a:lnTo>
                  <a:lnTo>
                    <a:pt x="1387" y="4314"/>
                  </a:lnTo>
                  <a:lnTo>
                    <a:pt x="1503" y="4986"/>
                  </a:lnTo>
                  <a:lnTo>
                    <a:pt x="1734" y="5602"/>
                  </a:lnTo>
                  <a:lnTo>
                    <a:pt x="2081" y="6162"/>
                  </a:lnTo>
                  <a:lnTo>
                    <a:pt x="2197" y="6779"/>
                  </a:lnTo>
                  <a:lnTo>
                    <a:pt x="2543" y="7283"/>
                  </a:lnTo>
                  <a:lnTo>
                    <a:pt x="2543" y="7899"/>
                  </a:lnTo>
                  <a:lnTo>
                    <a:pt x="2775" y="8515"/>
                  </a:lnTo>
                  <a:lnTo>
                    <a:pt x="3006" y="9020"/>
                  </a:lnTo>
                  <a:lnTo>
                    <a:pt x="3237" y="9636"/>
                  </a:lnTo>
                  <a:lnTo>
                    <a:pt x="3353" y="10140"/>
                  </a:lnTo>
                  <a:lnTo>
                    <a:pt x="3468" y="10644"/>
                  </a:lnTo>
                  <a:lnTo>
                    <a:pt x="3815" y="11204"/>
                  </a:lnTo>
                  <a:lnTo>
                    <a:pt x="3931" y="11765"/>
                  </a:lnTo>
                  <a:lnTo>
                    <a:pt x="4162" y="12213"/>
                  </a:lnTo>
                  <a:lnTo>
                    <a:pt x="4393" y="12773"/>
                  </a:lnTo>
                  <a:lnTo>
                    <a:pt x="4509" y="13165"/>
                  </a:lnTo>
                  <a:lnTo>
                    <a:pt x="4624" y="13669"/>
                  </a:lnTo>
                  <a:lnTo>
                    <a:pt x="4971" y="14118"/>
                  </a:lnTo>
                  <a:lnTo>
                    <a:pt x="5202" y="14510"/>
                  </a:lnTo>
                  <a:lnTo>
                    <a:pt x="5434" y="15014"/>
                  </a:lnTo>
                  <a:lnTo>
                    <a:pt x="5549" y="15462"/>
                  </a:lnTo>
                  <a:lnTo>
                    <a:pt x="5665" y="15854"/>
                  </a:lnTo>
                  <a:lnTo>
                    <a:pt x="6127" y="16190"/>
                  </a:lnTo>
                  <a:lnTo>
                    <a:pt x="6243" y="16639"/>
                  </a:lnTo>
                  <a:lnTo>
                    <a:pt x="6474" y="16919"/>
                  </a:lnTo>
                  <a:lnTo>
                    <a:pt x="6590" y="17255"/>
                  </a:lnTo>
                  <a:lnTo>
                    <a:pt x="6705" y="17591"/>
                  </a:lnTo>
                  <a:lnTo>
                    <a:pt x="6936" y="17927"/>
                  </a:lnTo>
                  <a:lnTo>
                    <a:pt x="7283" y="18095"/>
                  </a:lnTo>
                  <a:lnTo>
                    <a:pt x="7514" y="18487"/>
                  </a:lnTo>
                  <a:lnTo>
                    <a:pt x="7514" y="18711"/>
                  </a:lnTo>
                  <a:lnTo>
                    <a:pt x="7861" y="18992"/>
                  </a:lnTo>
                  <a:lnTo>
                    <a:pt x="7977" y="19160"/>
                  </a:lnTo>
                  <a:lnTo>
                    <a:pt x="8208" y="19328"/>
                  </a:lnTo>
                  <a:lnTo>
                    <a:pt x="8439" y="19440"/>
                  </a:lnTo>
                  <a:lnTo>
                    <a:pt x="8555" y="19664"/>
                  </a:lnTo>
                  <a:lnTo>
                    <a:pt x="8902" y="19720"/>
                  </a:lnTo>
                  <a:lnTo>
                    <a:pt x="9017" y="19888"/>
                  </a:lnTo>
                  <a:lnTo>
                    <a:pt x="9249" y="19888"/>
                  </a:lnTo>
                  <a:lnTo>
                    <a:pt x="9480" y="19944"/>
                  </a:lnTo>
                  <a:lnTo>
                    <a:pt x="9595" y="19944"/>
                  </a:lnTo>
                  <a:lnTo>
                    <a:pt x="9827" y="19944"/>
                  </a:lnTo>
                  <a:lnTo>
                    <a:pt x="10173" y="19888"/>
                  </a:lnTo>
                  <a:lnTo>
                    <a:pt x="10405" y="19888"/>
                  </a:lnTo>
                  <a:lnTo>
                    <a:pt x="10520" y="19664"/>
                  </a:lnTo>
                  <a:lnTo>
                    <a:pt x="10751" y="19496"/>
                  </a:lnTo>
                  <a:lnTo>
                    <a:pt x="11098" y="19328"/>
                  </a:lnTo>
                  <a:lnTo>
                    <a:pt x="11329" y="19104"/>
                  </a:lnTo>
                  <a:lnTo>
                    <a:pt x="11445" y="18936"/>
                  </a:lnTo>
                  <a:lnTo>
                    <a:pt x="11792" y="18543"/>
                  </a:lnTo>
                  <a:lnTo>
                    <a:pt x="11908" y="18263"/>
                  </a:lnTo>
                  <a:lnTo>
                    <a:pt x="12139" y="17871"/>
                  </a:lnTo>
                  <a:lnTo>
                    <a:pt x="12486" y="17479"/>
                  </a:lnTo>
                  <a:lnTo>
                    <a:pt x="12601" y="17087"/>
                  </a:lnTo>
                  <a:lnTo>
                    <a:pt x="12832" y="16751"/>
                  </a:lnTo>
                  <a:lnTo>
                    <a:pt x="13295" y="16303"/>
                  </a:lnTo>
                  <a:lnTo>
                    <a:pt x="13410" y="15798"/>
                  </a:lnTo>
                  <a:lnTo>
                    <a:pt x="13642" y="15350"/>
                  </a:lnTo>
                  <a:lnTo>
                    <a:pt x="13873" y="14846"/>
                  </a:lnTo>
                  <a:lnTo>
                    <a:pt x="14220" y="14342"/>
                  </a:lnTo>
                  <a:lnTo>
                    <a:pt x="14451" y="13838"/>
                  </a:lnTo>
                  <a:lnTo>
                    <a:pt x="14682" y="13277"/>
                  </a:lnTo>
                  <a:lnTo>
                    <a:pt x="14913" y="12829"/>
                  </a:lnTo>
                  <a:lnTo>
                    <a:pt x="15260" y="12213"/>
                  </a:lnTo>
                  <a:lnTo>
                    <a:pt x="15491" y="11709"/>
                  </a:lnTo>
                  <a:lnTo>
                    <a:pt x="15607" y="11036"/>
                  </a:lnTo>
                  <a:lnTo>
                    <a:pt x="15954" y="10588"/>
                  </a:lnTo>
                  <a:lnTo>
                    <a:pt x="16069" y="10028"/>
                  </a:lnTo>
                  <a:lnTo>
                    <a:pt x="16416" y="9412"/>
                  </a:lnTo>
                  <a:lnTo>
                    <a:pt x="16532" y="8964"/>
                  </a:lnTo>
                  <a:lnTo>
                    <a:pt x="16763" y="8403"/>
                  </a:lnTo>
                  <a:lnTo>
                    <a:pt x="16994" y="7787"/>
                  </a:lnTo>
                  <a:lnTo>
                    <a:pt x="17225" y="7227"/>
                  </a:lnTo>
                  <a:lnTo>
                    <a:pt x="17457" y="6835"/>
                  </a:lnTo>
                  <a:lnTo>
                    <a:pt x="17572" y="6218"/>
                  </a:lnTo>
                  <a:lnTo>
                    <a:pt x="17803" y="5714"/>
                  </a:lnTo>
                  <a:lnTo>
                    <a:pt x="18266" y="5210"/>
                  </a:lnTo>
                  <a:lnTo>
                    <a:pt x="18266" y="4762"/>
                  </a:lnTo>
                  <a:lnTo>
                    <a:pt x="18497" y="4314"/>
                  </a:lnTo>
                  <a:lnTo>
                    <a:pt x="18728" y="3866"/>
                  </a:lnTo>
                  <a:lnTo>
                    <a:pt x="18960" y="3361"/>
                  </a:lnTo>
                  <a:lnTo>
                    <a:pt x="19075" y="3025"/>
                  </a:lnTo>
                  <a:lnTo>
                    <a:pt x="19191" y="2689"/>
                  </a:lnTo>
                  <a:lnTo>
                    <a:pt x="19306" y="2241"/>
                  </a:lnTo>
                  <a:lnTo>
                    <a:pt x="19538" y="1905"/>
                  </a:lnTo>
                  <a:lnTo>
                    <a:pt x="19538" y="1625"/>
                  </a:lnTo>
                  <a:lnTo>
                    <a:pt x="19653" y="1289"/>
                  </a:lnTo>
                  <a:lnTo>
                    <a:pt x="19769" y="1008"/>
                  </a:lnTo>
                  <a:lnTo>
                    <a:pt x="19884" y="84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30" name="AutoShape 110">
              <a:extLst>
                <a:ext uri="{FF2B5EF4-FFF2-40B4-BE49-F238E27FC236}">
                  <a16:creationId xmlns:a16="http://schemas.microsoft.com/office/drawing/2014/main" id="{2A41435F-CD8E-CD00-80BB-CC6B152EE8A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525" y="1547"/>
              <a:ext cx="65" cy="2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111"/>
                  </a:moveTo>
                  <a:lnTo>
                    <a:pt x="247" y="18500"/>
                  </a:lnTo>
                  <a:lnTo>
                    <a:pt x="494" y="17889"/>
                  </a:lnTo>
                  <a:lnTo>
                    <a:pt x="617" y="17278"/>
                  </a:lnTo>
                  <a:lnTo>
                    <a:pt x="864" y="16722"/>
                  </a:lnTo>
                  <a:lnTo>
                    <a:pt x="1111" y="16111"/>
                  </a:lnTo>
                  <a:lnTo>
                    <a:pt x="1358" y="15500"/>
                  </a:lnTo>
                  <a:lnTo>
                    <a:pt x="1605" y="14889"/>
                  </a:lnTo>
                  <a:lnTo>
                    <a:pt x="1728" y="14333"/>
                  </a:lnTo>
                  <a:lnTo>
                    <a:pt x="1852" y="13667"/>
                  </a:lnTo>
                  <a:lnTo>
                    <a:pt x="2222" y="13111"/>
                  </a:lnTo>
                  <a:lnTo>
                    <a:pt x="2593" y="12611"/>
                  </a:lnTo>
                  <a:lnTo>
                    <a:pt x="2593" y="12056"/>
                  </a:lnTo>
                  <a:lnTo>
                    <a:pt x="2963" y="11389"/>
                  </a:lnTo>
                  <a:lnTo>
                    <a:pt x="3086" y="10889"/>
                  </a:lnTo>
                  <a:lnTo>
                    <a:pt x="3333" y="10389"/>
                  </a:lnTo>
                  <a:lnTo>
                    <a:pt x="3580" y="9778"/>
                  </a:lnTo>
                  <a:lnTo>
                    <a:pt x="3704" y="9333"/>
                  </a:lnTo>
                  <a:lnTo>
                    <a:pt x="4074" y="8833"/>
                  </a:lnTo>
                  <a:lnTo>
                    <a:pt x="4198" y="8222"/>
                  </a:lnTo>
                  <a:lnTo>
                    <a:pt x="4444" y="7722"/>
                  </a:lnTo>
                  <a:lnTo>
                    <a:pt x="4691" y="7222"/>
                  </a:lnTo>
                  <a:lnTo>
                    <a:pt x="4815" y="6833"/>
                  </a:lnTo>
                  <a:lnTo>
                    <a:pt x="5062" y="6333"/>
                  </a:lnTo>
                  <a:lnTo>
                    <a:pt x="5309" y="5889"/>
                  </a:lnTo>
                  <a:lnTo>
                    <a:pt x="5556" y="5444"/>
                  </a:lnTo>
                  <a:lnTo>
                    <a:pt x="5802" y="5056"/>
                  </a:lnTo>
                  <a:lnTo>
                    <a:pt x="5802" y="4556"/>
                  </a:lnTo>
                  <a:lnTo>
                    <a:pt x="6296" y="4167"/>
                  </a:lnTo>
                  <a:lnTo>
                    <a:pt x="6420" y="3778"/>
                  </a:lnTo>
                  <a:lnTo>
                    <a:pt x="6667" y="3389"/>
                  </a:lnTo>
                  <a:lnTo>
                    <a:pt x="6914" y="3056"/>
                  </a:lnTo>
                  <a:lnTo>
                    <a:pt x="7037" y="2722"/>
                  </a:lnTo>
                  <a:lnTo>
                    <a:pt x="7284" y="2444"/>
                  </a:lnTo>
                  <a:lnTo>
                    <a:pt x="7531" y="2111"/>
                  </a:lnTo>
                  <a:lnTo>
                    <a:pt x="7778" y="1889"/>
                  </a:lnTo>
                  <a:lnTo>
                    <a:pt x="7901" y="1556"/>
                  </a:lnTo>
                  <a:lnTo>
                    <a:pt x="8148" y="1278"/>
                  </a:lnTo>
                  <a:lnTo>
                    <a:pt x="8395" y="1056"/>
                  </a:lnTo>
                  <a:lnTo>
                    <a:pt x="8519" y="833"/>
                  </a:lnTo>
                  <a:lnTo>
                    <a:pt x="8765" y="667"/>
                  </a:lnTo>
                  <a:lnTo>
                    <a:pt x="8889" y="500"/>
                  </a:lnTo>
                  <a:lnTo>
                    <a:pt x="9136" y="389"/>
                  </a:lnTo>
                  <a:lnTo>
                    <a:pt x="9383" y="278"/>
                  </a:lnTo>
                  <a:lnTo>
                    <a:pt x="9506" y="111"/>
                  </a:lnTo>
                  <a:lnTo>
                    <a:pt x="9877" y="111"/>
                  </a:lnTo>
                  <a:lnTo>
                    <a:pt x="10000" y="56"/>
                  </a:lnTo>
                  <a:lnTo>
                    <a:pt x="10247" y="0"/>
                  </a:lnTo>
                  <a:lnTo>
                    <a:pt x="10617" y="56"/>
                  </a:lnTo>
                  <a:lnTo>
                    <a:pt x="10741" y="56"/>
                  </a:lnTo>
                  <a:lnTo>
                    <a:pt x="10864" y="111"/>
                  </a:lnTo>
                  <a:lnTo>
                    <a:pt x="11111" y="222"/>
                  </a:lnTo>
                  <a:lnTo>
                    <a:pt x="11358" y="333"/>
                  </a:lnTo>
                  <a:lnTo>
                    <a:pt x="11481" y="556"/>
                  </a:lnTo>
                  <a:lnTo>
                    <a:pt x="11852" y="722"/>
                  </a:lnTo>
                  <a:lnTo>
                    <a:pt x="12099" y="1000"/>
                  </a:lnTo>
                  <a:lnTo>
                    <a:pt x="12222" y="1278"/>
                  </a:lnTo>
                  <a:lnTo>
                    <a:pt x="12346" y="1556"/>
                  </a:lnTo>
                  <a:lnTo>
                    <a:pt x="12716" y="1889"/>
                  </a:lnTo>
                  <a:lnTo>
                    <a:pt x="12963" y="2278"/>
                  </a:lnTo>
                  <a:lnTo>
                    <a:pt x="13086" y="2722"/>
                  </a:lnTo>
                  <a:lnTo>
                    <a:pt x="13333" y="3111"/>
                  </a:lnTo>
                  <a:lnTo>
                    <a:pt x="13580" y="3500"/>
                  </a:lnTo>
                  <a:lnTo>
                    <a:pt x="13704" y="4000"/>
                  </a:lnTo>
                  <a:lnTo>
                    <a:pt x="14198" y="4444"/>
                  </a:lnTo>
                  <a:lnTo>
                    <a:pt x="14321" y="4944"/>
                  </a:lnTo>
                  <a:lnTo>
                    <a:pt x="14444" y="5500"/>
                  </a:lnTo>
                  <a:lnTo>
                    <a:pt x="14815" y="6000"/>
                  </a:lnTo>
                  <a:lnTo>
                    <a:pt x="15062" y="6556"/>
                  </a:lnTo>
                  <a:lnTo>
                    <a:pt x="15185" y="7000"/>
                  </a:lnTo>
                  <a:lnTo>
                    <a:pt x="15309" y="7611"/>
                  </a:lnTo>
                  <a:lnTo>
                    <a:pt x="15679" y="8167"/>
                  </a:lnTo>
                  <a:lnTo>
                    <a:pt x="15926" y="8833"/>
                  </a:lnTo>
                  <a:lnTo>
                    <a:pt x="16173" y="9333"/>
                  </a:lnTo>
                  <a:lnTo>
                    <a:pt x="16296" y="9889"/>
                  </a:lnTo>
                  <a:lnTo>
                    <a:pt x="16543" y="10444"/>
                  </a:lnTo>
                  <a:lnTo>
                    <a:pt x="16667" y="11000"/>
                  </a:lnTo>
                  <a:lnTo>
                    <a:pt x="16914" y="11611"/>
                  </a:lnTo>
                  <a:lnTo>
                    <a:pt x="17160" y="12167"/>
                  </a:lnTo>
                  <a:lnTo>
                    <a:pt x="17407" y="12778"/>
                  </a:lnTo>
                  <a:lnTo>
                    <a:pt x="17407" y="13278"/>
                  </a:lnTo>
                  <a:lnTo>
                    <a:pt x="17654" y="13833"/>
                  </a:lnTo>
                  <a:lnTo>
                    <a:pt x="17901" y="14389"/>
                  </a:lnTo>
                  <a:lnTo>
                    <a:pt x="18148" y="14944"/>
                  </a:lnTo>
                  <a:lnTo>
                    <a:pt x="18395" y="15444"/>
                  </a:lnTo>
                  <a:lnTo>
                    <a:pt x="18395" y="15944"/>
                  </a:lnTo>
                  <a:lnTo>
                    <a:pt x="18642" y="16444"/>
                  </a:lnTo>
                  <a:lnTo>
                    <a:pt x="18889" y="16889"/>
                  </a:lnTo>
                  <a:lnTo>
                    <a:pt x="19012" y="17278"/>
                  </a:lnTo>
                  <a:lnTo>
                    <a:pt x="19136" y="17722"/>
                  </a:lnTo>
                  <a:lnTo>
                    <a:pt x="19259" y="18111"/>
                  </a:lnTo>
                  <a:lnTo>
                    <a:pt x="19506" y="18500"/>
                  </a:lnTo>
                  <a:lnTo>
                    <a:pt x="19506" y="18944"/>
                  </a:lnTo>
                  <a:lnTo>
                    <a:pt x="19630" y="19222"/>
                  </a:lnTo>
                  <a:lnTo>
                    <a:pt x="19753" y="19500"/>
                  </a:lnTo>
                  <a:lnTo>
                    <a:pt x="19877" y="19722"/>
                  </a:lnTo>
                  <a:lnTo>
                    <a:pt x="19877" y="19944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31" name="AutoShape 111">
              <a:extLst>
                <a:ext uri="{FF2B5EF4-FFF2-40B4-BE49-F238E27FC236}">
                  <a16:creationId xmlns:a16="http://schemas.microsoft.com/office/drawing/2014/main" id="{9D1B0A57-F708-6363-BC99-4302BD34B38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589" y="1528"/>
              <a:ext cx="69" cy="2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1" y="634"/>
                  </a:lnTo>
                  <a:lnTo>
                    <a:pt x="347" y="1268"/>
                  </a:lnTo>
                  <a:lnTo>
                    <a:pt x="462" y="1960"/>
                  </a:lnTo>
                  <a:lnTo>
                    <a:pt x="809" y="2536"/>
                  </a:lnTo>
                  <a:lnTo>
                    <a:pt x="925" y="3170"/>
                  </a:lnTo>
                  <a:lnTo>
                    <a:pt x="1156" y="3689"/>
                  </a:lnTo>
                  <a:lnTo>
                    <a:pt x="1387" y="4380"/>
                  </a:lnTo>
                  <a:lnTo>
                    <a:pt x="1503" y="4957"/>
                  </a:lnTo>
                  <a:lnTo>
                    <a:pt x="1734" y="5591"/>
                  </a:lnTo>
                  <a:lnTo>
                    <a:pt x="2081" y="6167"/>
                  </a:lnTo>
                  <a:lnTo>
                    <a:pt x="2197" y="6801"/>
                  </a:lnTo>
                  <a:lnTo>
                    <a:pt x="2543" y="7262"/>
                  </a:lnTo>
                  <a:lnTo>
                    <a:pt x="2543" y="7839"/>
                  </a:lnTo>
                  <a:lnTo>
                    <a:pt x="2775" y="8473"/>
                  </a:lnTo>
                  <a:lnTo>
                    <a:pt x="3006" y="8991"/>
                  </a:lnTo>
                  <a:lnTo>
                    <a:pt x="3237" y="9625"/>
                  </a:lnTo>
                  <a:lnTo>
                    <a:pt x="3353" y="10144"/>
                  </a:lnTo>
                  <a:lnTo>
                    <a:pt x="3468" y="10663"/>
                  </a:lnTo>
                  <a:lnTo>
                    <a:pt x="3815" y="11182"/>
                  </a:lnTo>
                  <a:lnTo>
                    <a:pt x="3931" y="11758"/>
                  </a:lnTo>
                  <a:lnTo>
                    <a:pt x="4162" y="12219"/>
                  </a:lnTo>
                  <a:lnTo>
                    <a:pt x="4393" y="12738"/>
                  </a:lnTo>
                  <a:lnTo>
                    <a:pt x="4509" y="13199"/>
                  </a:lnTo>
                  <a:lnTo>
                    <a:pt x="4624" y="13660"/>
                  </a:lnTo>
                  <a:lnTo>
                    <a:pt x="4971" y="14121"/>
                  </a:lnTo>
                  <a:lnTo>
                    <a:pt x="5202" y="14582"/>
                  </a:lnTo>
                  <a:lnTo>
                    <a:pt x="5434" y="15043"/>
                  </a:lnTo>
                  <a:lnTo>
                    <a:pt x="5549" y="15389"/>
                  </a:lnTo>
                  <a:lnTo>
                    <a:pt x="5665" y="15850"/>
                  </a:lnTo>
                  <a:lnTo>
                    <a:pt x="6127" y="16254"/>
                  </a:lnTo>
                  <a:lnTo>
                    <a:pt x="6243" y="16599"/>
                  </a:lnTo>
                  <a:lnTo>
                    <a:pt x="6474" y="17003"/>
                  </a:lnTo>
                  <a:lnTo>
                    <a:pt x="6590" y="17233"/>
                  </a:lnTo>
                  <a:lnTo>
                    <a:pt x="6705" y="17579"/>
                  </a:lnTo>
                  <a:lnTo>
                    <a:pt x="6936" y="17925"/>
                  </a:lnTo>
                  <a:lnTo>
                    <a:pt x="7283" y="18156"/>
                  </a:lnTo>
                  <a:lnTo>
                    <a:pt x="7514" y="18444"/>
                  </a:lnTo>
                  <a:lnTo>
                    <a:pt x="7514" y="18732"/>
                  </a:lnTo>
                  <a:lnTo>
                    <a:pt x="7861" y="18963"/>
                  </a:lnTo>
                  <a:lnTo>
                    <a:pt x="7977" y="19193"/>
                  </a:lnTo>
                  <a:lnTo>
                    <a:pt x="8208" y="19308"/>
                  </a:lnTo>
                  <a:lnTo>
                    <a:pt x="8439" y="19481"/>
                  </a:lnTo>
                  <a:lnTo>
                    <a:pt x="8555" y="19654"/>
                  </a:lnTo>
                  <a:lnTo>
                    <a:pt x="8902" y="19712"/>
                  </a:lnTo>
                  <a:lnTo>
                    <a:pt x="9017" y="19885"/>
                  </a:lnTo>
                  <a:lnTo>
                    <a:pt x="9249" y="19885"/>
                  </a:lnTo>
                  <a:lnTo>
                    <a:pt x="9480" y="19942"/>
                  </a:lnTo>
                  <a:lnTo>
                    <a:pt x="9595" y="19942"/>
                  </a:lnTo>
                  <a:lnTo>
                    <a:pt x="9827" y="19942"/>
                  </a:lnTo>
                  <a:lnTo>
                    <a:pt x="10173" y="19885"/>
                  </a:lnTo>
                  <a:lnTo>
                    <a:pt x="10405" y="19885"/>
                  </a:lnTo>
                  <a:lnTo>
                    <a:pt x="10520" y="19712"/>
                  </a:lnTo>
                  <a:lnTo>
                    <a:pt x="10751" y="19481"/>
                  </a:lnTo>
                  <a:lnTo>
                    <a:pt x="11098" y="19308"/>
                  </a:lnTo>
                  <a:lnTo>
                    <a:pt x="11329" y="19135"/>
                  </a:lnTo>
                  <a:lnTo>
                    <a:pt x="11445" y="18905"/>
                  </a:lnTo>
                  <a:lnTo>
                    <a:pt x="11792" y="18559"/>
                  </a:lnTo>
                  <a:lnTo>
                    <a:pt x="11908" y="18213"/>
                  </a:lnTo>
                  <a:lnTo>
                    <a:pt x="12139" y="17925"/>
                  </a:lnTo>
                  <a:lnTo>
                    <a:pt x="12486" y="17522"/>
                  </a:lnTo>
                  <a:lnTo>
                    <a:pt x="12601" y="17118"/>
                  </a:lnTo>
                  <a:lnTo>
                    <a:pt x="12832" y="16715"/>
                  </a:lnTo>
                  <a:lnTo>
                    <a:pt x="13295" y="16311"/>
                  </a:lnTo>
                  <a:lnTo>
                    <a:pt x="13410" y="15850"/>
                  </a:lnTo>
                  <a:lnTo>
                    <a:pt x="13642" y="15331"/>
                  </a:lnTo>
                  <a:lnTo>
                    <a:pt x="13873" y="14870"/>
                  </a:lnTo>
                  <a:lnTo>
                    <a:pt x="14220" y="14352"/>
                  </a:lnTo>
                  <a:lnTo>
                    <a:pt x="14451" y="13833"/>
                  </a:lnTo>
                  <a:lnTo>
                    <a:pt x="14682" y="13314"/>
                  </a:lnTo>
                  <a:lnTo>
                    <a:pt x="14913" y="12738"/>
                  </a:lnTo>
                  <a:lnTo>
                    <a:pt x="15260" y="12219"/>
                  </a:lnTo>
                  <a:lnTo>
                    <a:pt x="15491" y="11585"/>
                  </a:lnTo>
                  <a:lnTo>
                    <a:pt x="15607" y="11066"/>
                  </a:lnTo>
                  <a:lnTo>
                    <a:pt x="15954" y="10548"/>
                  </a:lnTo>
                  <a:lnTo>
                    <a:pt x="16069" y="10029"/>
                  </a:lnTo>
                  <a:lnTo>
                    <a:pt x="16416" y="9452"/>
                  </a:lnTo>
                  <a:lnTo>
                    <a:pt x="16532" y="8934"/>
                  </a:lnTo>
                  <a:lnTo>
                    <a:pt x="16763" y="8473"/>
                  </a:lnTo>
                  <a:lnTo>
                    <a:pt x="16994" y="7781"/>
                  </a:lnTo>
                  <a:lnTo>
                    <a:pt x="17225" y="7262"/>
                  </a:lnTo>
                  <a:lnTo>
                    <a:pt x="17457" y="6801"/>
                  </a:lnTo>
                  <a:lnTo>
                    <a:pt x="17572" y="6225"/>
                  </a:lnTo>
                  <a:lnTo>
                    <a:pt x="17803" y="5764"/>
                  </a:lnTo>
                  <a:lnTo>
                    <a:pt x="18266" y="5187"/>
                  </a:lnTo>
                  <a:lnTo>
                    <a:pt x="18266" y="4726"/>
                  </a:lnTo>
                  <a:lnTo>
                    <a:pt x="18497" y="4265"/>
                  </a:lnTo>
                  <a:lnTo>
                    <a:pt x="18728" y="3862"/>
                  </a:lnTo>
                  <a:lnTo>
                    <a:pt x="18960" y="3401"/>
                  </a:lnTo>
                  <a:lnTo>
                    <a:pt x="19075" y="2997"/>
                  </a:lnTo>
                  <a:lnTo>
                    <a:pt x="19191" y="2594"/>
                  </a:lnTo>
                  <a:lnTo>
                    <a:pt x="19306" y="2248"/>
                  </a:lnTo>
                  <a:lnTo>
                    <a:pt x="19538" y="1960"/>
                  </a:lnTo>
                  <a:lnTo>
                    <a:pt x="19538" y="1556"/>
                  </a:lnTo>
                  <a:lnTo>
                    <a:pt x="19653" y="1326"/>
                  </a:lnTo>
                  <a:lnTo>
                    <a:pt x="19769" y="1037"/>
                  </a:lnTo>
                  <a:lnTo>
                    <a:pt x="19884" y="807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32" name="AutoShape 112">
              <a:extLst>
                <a:ext uri="{FF2B5EF4-FFF2-40B4-BE49-F238E27FC236}">
                  <a16:creationId xmlns:a16="http://schemas.microsoft.com/office/drawing/2014/main" id="{D8284174-76A5-3792-F67E-5B2B078C28C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56" y="1547"/>
              <a:ext cx="65" cy="2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19084"/>
                  </a:moveTo>
                  <a:lnTo>
                    <a:pt x="247" y="18544"/>
                  </a:lnTo>
                  <a:lnTo>
                    <a:pt x="494" y="17844"/>
                  </a:lnTo>
                  <a:lnTo>
                    <a:pt x="617" y="17251"/>
                  </a:lnTo>
                  <a:lnTo>
                    <a:pt x="864" y="16712"/>
                  </a:lnTo>
                  <a:lnTo>
                    <a:pt x="1111" y="16065"/>
                  </a:lnTo>
                  <a:lnTo>
                    <a:pt x="1358" y="15472"/>
                  </a:lnTo>
                  <a:lnTo>
                    <a:pt x="1605" y="14933"/>
                  </a:lnTo>
                  <a:lnTo>
                    <a:pt x="1728" y="14286"/>
                  </a:lnTo>
                  <a:lnTo>
                    <a:pt x="1852" y="13693"/>
                  </a:lnTo>
                  <a:lnTo>
                    <a:pt x="2222" y="13154"/>
                  </a:lnTo>
                  <a:lnTo>
                    <a:pt x="2593" y="12615"/>
                  </a:lnTo>
                  <a:lnTo>
                    <a:pt x="2593" y="12022"/>
                  </a:lnTo>
                  <a:lnTo>
                    <a:pt x="2963" y="11429"/>
                  </a:lnTo>
                  <a:lnTo>
                    <a:pt x="3086" y="10889"/>
                  </a:lnTo>
                  <a:lnTo>
                    <a:pt x="3333" y="10350"/>
                  </a:lnTo>
                  <a:lnTo>
                    <a:pt x="3580" y="9757"/>
                  </a:lnTo>
                  <a:lnTo>
                    <a:pt x="3704" y="9326"/>
                  </a:lnTo>
                  <a:lnTo>
                    <a:pt x="4074" y="8733"/>
                  </a:lnTo>
                  <a:lnTo>
                    <a:pt x="4198" y="8194"/>
                  </a:lnTo>
                  <a:lnTo>
                    <a:pt x="4444" y="7763"/>
                  </a:lnTo>
                  <a:lnTo>
                    <a:pt x="4691" y="7224"/>
                  </a:lnTo>
                  <a:lnTo>
                    <a:pt x="4815" y="6846"/>
                  </a:lnTo>
                  <a:lnTo>
                    <a:pt x="5062" y="6361"/>
                  </a:lnTo>
                  <a:lnTo>
                    <a:pt x="5309" y="5876"/>
                  </a:lnTo>
                  <a:lnTo>
                    <a:pt x="5556" y="5499"/>
                  </a:lnTo>
                  <a:lnTo>
                    <a:pt x="5802" y="5067"/>
                  </a:lnTo>
                  <a:lnTo>
                    <a:pt x="5802" y="4528"/>
                  </a:lnTo>
                  <a:lnTo>
                    <a:pt x="6296" y="4151"/>
                  </a:lnTo>
                  <a:lnTo>
                    <a:pt x="6420" y="3720"/>
                  </a:lnTo>
                  <a:lnTo>
                    <a:pt x="6667" y="3396"/>
                  </a:lnTo>
                  <a:lnTo>
                    <a:pt x="6914" y="3019"/>
                  </a:lnTo>
                  <a:lnTo>
                    <a:pt x="7037" y="2749"/>
                  </a:lnTo>
                  <a:lnTo>
                    <a:pt x="7284" y="2426"/>
                  </a:lnTo>
                  <a:lnTo>
                    <a:pt x="7531" y="2102"/>
                  </a:lnTo>
                  <a:lnTo>
                    <a:pt x="7778" y="1833"/>
                  </a:lnTo>
                  <a:lnTo>
                    <a:pt x="7901" y="1563"/>
                  </a:lnTo>
                  <a:lnTo>
                    <a:pt x="8148" y="1240"/>
                  </a:lnTo>
                  <a:lnTo>
                    <a:pt x="8395" y="1024"/>
                  </a:lnTo>
                  <a:lnTo>
                    <a:pt x="8519" y="863"/>
                  </a:lnTo>
                  <a:lnTo>
                    <a:pt x="8765" y="647"/>
                  </a:lnTo>
                  <a:lnTo>
                    <a:pt x="8889" y="539"/>
                  </a:lnTo>
                  <a:lnTo>
                    <a:pt x="9136" y="377"/>
                  </a:lnTo>
                  <a:lnTo>
                    <a:pt x="9383" y="270"/>
                  </a:lnTo>
                  <a:lnTo>
                    <a:pt x="9506" y="108"/>
                  </a:lnTo>
                  <a:lnTo>
                    <a:pt x="9877" y="108"/>
                  </a:lnTo>
                  <a:lnTo>
                    <a:pt x="10000" y="54"/>
                  </a:lnTo>
                  <a:lnTo>
                    <a:pt x="10247" y="0"/>
                  </a:lnTo>
                  <a:lnTo>
                    <a:pt x="10617" y="54"/>
                  </a:lnTo>
                  <a:lnTo>
                    <a:pt x="10741" y="54"/>
                  </a:lnTo>
                  <a:lnTo>
                    <a:pt x="10864" y="108"/>
                  </a:lnTo>
                  <a:lnTo>
                    <a:pt x="11111" y="216"/>
                  </a:lnTo>
                  <a:lnTo>
                    <a:pt x="11358" y="323"/>
                  </a:lnTo>
                  <a:lnTo>
                    <a:pt x="11481" y="539"/>
                  </a:lnTo>
                  <a:lnTo>
                    <a:pt x="11852" y="755"/>
                  </a:lnTo>
                  <a:lnTo>
                    <a:pt x="12099" y="1024"/>
                  </a:lnTo>
                  <a:lnTo>
                    <a:pt x="12222" y="1240"/>
                  </a:lnTo>
                  <a:lnTo>
                    <a:pt x="12346" y="1563"/>
                  </a:lnTo>
                  <a:lnTo>
                    <a:pt x="12716" y="1887"/>
                  </a:lnTo>
                  <a:lnTo>
                    <a:pt x="12963" y="2264"/>
                  </a:lnTo>
                  <a:lnTo>
                    <a:pt x="13086" y="2749"/>
                  </a:lnTo>
                  <a:lnTo>
                    <a:pt x="13333" y="3127"/>
                  </a:lnTo>
                  <a:lnTo>
                    <a:pt x="13580" y="3504"/>
                  </a:lnTo>
                  <a:lnTo>
                    <a:pt x="13704" y="3989"/>
                  </a:lnTo>
                  <a:lnTo>
                    <a:pt x="14198" y="4367"/>
                  </a:lnTo>
                  <a:lnTo>
                    <a:pt x="14321" y="4960"/>
                  </a:lnTo>
                  <a:lnTo>
                    <a:pt x="14444" y="5499"/>
                  </a:lnTo>
                  <a:lnTo>
                    <a:pt x="14815" y="5984"/>
                  </a:lnTo>
                  <a:lnTo>
                    <a:pt x="15062" y="6523"/>
                  </a:lnTo>
                  <a:lnTo>
                    <a:pt x="15185" y="7008"/>
                  </a:lnTo>
                  <a:lnTo>
                    <a:pt x="15309" y="7601"/>
                  </a:lnTo>
                  <a:lnTo>
                    <a:pt x="15679" y="8194"/>
                  </a:lnTo>
                  <a:lnTo>
                    <a:pt x="15926" y="8787"/>
                  </a:lnTo>
                  <a:lnTo>
                    <a:pt x="16173" y="9326"/>
                  </a:lnTo>
                  <a:lnTo>
                    <a:pt x="16296" y="9919"/>
                  </a:lnTo>
                  <a:lnTo>
                    <a:pt x="16543" y="10458"/>
                  </a:lnTo>
                  <a:lnTo>
                    <a:pt x="16667" y="10997"/>
                  </a:lnTo>
                  <a:lnTo>
                    <a:pt x="16914" y="11590"/>
                  </a:lnTo>
                  <a:lnTo>
                    <a:pt x="17160" y="12183"/>
                  </a:lnTo>
                  <a:lnTo>
                    <a:pt x="17407" y="12776"/>
                  </a:lnTo>
                  <a:lnTo>
                    <a:pt x="17407" y="13261"/>
                  </a:lnTo>
                  <a:lnTo>
                    <a:pt x="17654" y="13854"/>
                  </a:lnTo>
                  <a:lnTo>
                    <a:pt x="17901" y="14340"/>
                  </a:lnTo>
                  <a:lnTo>
                    <a:pt x="18148" y="14933"/>
                  </a:lnTo>
                  <a:lnTo>
                    <a:pt x="18395" y="15472"/>
                  </a:lnTo>
                  <a:lnTo>
                    <a:pt x="18395" y="15903"/>
                  </a:lnTo>
                  <a:lnTo>
                    <a:pt x="18642" y="16442"/>
                  </a:lnTo>
                  <a:lnTo>
                    <a:pt x="18889" y="16873"/>
                  </a:lnTo>
                  <a:lnTo>
                    <a:pt x="19012" y="17305"/>
                  </a:lnTo>
                  <a:lnTo>
                    <a:pt x="19136" y="17736"/>
                  </a:lnTo>
                  <a:lnTo>
                    <a:pt x="19259" y="18113"/>
                  </a:lnTo>
                  <a:lnTo>
                    <a:pt x="19506" y="18544"/>
                  </a:lnTo>
                  <a:lnTo>
                    <a:pt x="19506" y="18976"/>
                  </a:lnTo>
                  <a:lnTo>
                    <a:pt x="19630" y="19191"/>
                  </a:lnTo>
                  <a:lnTo>
                    <a:pt x="19753" y="19461"/>
                  </a:lnTo>
                  <a:lnTo>
                    <a:pt x="19877" y="19730"/>
                  </a:lnTo>
                  <a:lnTo>
                    <a:pt x="19877" y="199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33" name="AutoShape 113">
              <a:extLst>
                <a:ext uri="{FF2B5EF4-FFF2-40B4-BE49-F238E27FC236}">
                  <a16:creationId xmlns:a16="http://schemas.microsoft.com/office/drawing/2014/main" id="{F8081B87-805D-BA4D-FF0B-F66F4E09A2A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719" y="1528"/>
              <a:ext cx="68" cy="2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w 20000"/>
                <a:gd name="T115" fmla="*/ 0 h 20000"/>
                <a:gd name="T116" fmla="*/ 0 w 20000"/>
                <a:gd name="T117" fmla="*/ 0 h 20000"/>
                <a:gd name="T118" fmla="*/ 0 w 20000"/>
                <a:gd name="T119" fmla="*/ 0 h 20000"/>
                <a:gd name="T120" fmla="*/ 0 w 20000"/>
                <a:gd name="T121" fmla="*/ 0 h 20000"/>
                <a:gd name="T122" fmla="*/ 0 w 20000"/>
                <a:gd name="T123" fmla="*/ 0 h 20000"/>
                <a:gd name="T124" fmla="*/ 0 w 20000"/>
                <a:gd name="T125" fmla="*/ 0 h 20000"/>
                <a:gd name="T126" fmla="*/ 0 w 20000"/>
                <a:gd name="T127" fmla="*/ 0 h 20000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60000 65536"/>
                <a:gd name="T190" fmla="*/ 0 60000 65536"/>
                <a:gd name="T191" fmla="*/ 0 60000 65536"/>
              </a:gdLst>
              <a:ahLst/>
              <a:cxnLst>
                <a:cxn ang="T128">
                  <a:pos x="T0" y="T1"/>
                </a:cxn>
                <a:cxn ang="T129">
                  <a:pos x="T2" y="T3"/>
                </a:cxn>
                <a:cxn ang="T130">
                  <a:pos x="T4" y="T5"/>
                </a:cxn>
                <a:cxn ang="T131">
                  <a:pos x="T6" y="T7"/>
                </a:cxn>
                <a:cxn ang="T132">
                  <a:pos x="T8" y="T9"/>
                </a:cxn>
                <a:cxn ang="T133">
                  <a:pos x="T10" y="T11"/>
                </a:cxn>
                <a:cxn ang="T134">
                  <a:pos x="T12" y="T13"/>
                </a:cxn>
                <a:cxn ang="T135">
                  <a:pos x="T14" y="T15"/>
                </a:cxn>
                <a:cxn ang="T136">
                  <a:pos x="T16" y="T17"/>
                </a:cxn>
                <a:cxn ang="T137">
                  <a:pos x="T18" y="T19"/>
                </a:cxn>
                <a:cxn ang="T138">
                  <a:pos x="T20" y="T21"/>
                </a:cxn>
                <a:cxn ang="T139">
                  <a:pos x="T22" y="T23"/>
                </a:cxn>
                <a:cxn ang="T140">
                  <a:pos x="T24" y="T25"/>
                </a:cxn>
                <a:cxn ang="T141">
                  <a:pos x="T26" y="T27"/>
                </a:cxn>
                <a:cxn ang="T142">
                  <a:pos x="T28" y="T29"/>
                </a:cxn>
                <a:cxn ang="T143">
                  <a:pos x="T30" y="T31"/>
                </a:cxn>
                <a:cxn ang="T144">
                  <a:pos x="T32" y="T33"/>
                </a:cxn>
                <a:cxn ang="T145">
                  <a:pos x="T34" y="T35"/>
                </a:cxn>
                <a:cxn ang="T146">
                  <a:pos x="T36" y="T37"/>
                </a:cxn>
                <a:cxn ang="T147">
                  <a:pos x="T38" y="T39"/>
                </a:cxn>
                <a:cxn ang="T148">
                  <a:pos x="T40" y="T41"/>
                </a:cxn>
                <a:cxn ang="T149">
                  <a:pos x="T42" y="T43"/>
                </a:cxn>
                <a:cxn ang="T150">
                  <a:pos x="T44" y="T45"/>
                </a:cxn>
                <a:cxn ang="T151">
                  <a:pos x="T46" y="T47"/>
                </a:cxn>
                <a:cxn ang="T152">
                  <a:pos x="T48" y="T49"/>
                </a:cxn>
                <a:cxn ang="T153">
                  <a:pos x="T50" y="T51"/>
                </a:cxn>
                <a:cxn ang="T154">
                  <a:pos x="T52" y="T53"/>
                </a:cxn>
                <a:cxn ang="T155">
                  <a:pos x="T54" y="T55"/>
                </a:cxn>
                <a:cxn ang="T156">
                  <a:pos x="T56" y="T57"/>
                </a:cxn>
                <a:cxn ang="T157">
                  <a:pos x="T58" y="T59"/>
                </a:cxn>
                <a:cxn ang="T158">
                  <a:pos x="T60" y="T61"/>
                </a:cxn>
                <a:cxn ang="T159">
                  <a:pos x="T62" y="T63"/>
                </a:cxn>
                <a:cxn ang="T160">
                  <a:pos x="T64" y="T65"/>
                </a:cxn>
                <a:cxn ang="T161">
                  <a:pos x="T66" y="T67"/>
                </a:cxn>
                <a:cxn ang="T162">
                  <a:pos x="T68" y="T69"/>
                </a:cxn>
                <a:cxn ang="T163">
                  <a:pos x="T70" y="T71"/>
                </a:cxn>
                <a:cxn ang="T164">
                  <a:pos x="T72" y="T73"/>
                </a:cxn>
                <a:cxn ang="T165">
                  <a:pos x="T74" y="T75"/>
                </a:cxn>
                <a:cxn ang="T166">
                  <a:pos x="T76" y="T77"/>
                </a:cxn>
                <a:cxn ang="T167">
                  <a:pos x="T78" y="T79"/>
                </a:cxn>
                <a:cxn ang="T168">
                  <a:pos x="T80" y="T81"/>
                </a:cxn>
                <a:cxn ang="T169">
                  <a:pos x="T82" y="T83"/>
                </a:cxn>
                <a:cxn ang="T170">
                  <a:pos x="T84" y="T85"/>
                </a:cxn>
                <a:cxn ang="T171">
                  <a:pos x="T86" y="T87"/>
                </a:cxn>
                <a:cxn ang="T172">
                  <a:pos x="T88" y="T89"/>
                </a:cxn>
                <a:cxn ang="T173">
                  <a:pos x="T90" y="T91"/>
                </a:cxn>
                <a:cxn ang="T174">
                  <a:pos x="T92" y="T93"/>
                </a:cxn>
                <a:cxn ang="T175">
                  <a:pos x="T94" y="T95"/>
                </a:cxn>
                <a:cxn ang="T176">
                  <a:pos x="T96" y="T97"/>
                </a:cxn>
                <a:cxn ang="T177">
                  <a:pos x="T98" y="T99"/>
                </a:cxn>
                <a:cxn ang="T178">
                  <a:pos x="T100" y="T101"/>
                </a:cxn>
                <a:cxn ang="T179">
                  <a:pos x="T102" y="T103"/>
                </a:cxn>
                <a:cxn ang="T180">
                  <a:pos x="T104" y="T105"/>
                </a:cxn>
                <a:cxn ang="T181">
                  <a:pos x="T106" y="T107"/>
                </a:cxn>
                <a:cxn ang="T182">
                  <a:pos x="T108" y="T109"/>
                </a:cxn>
                <a:cxn ang="T183">
                  <a:pos x="T110" y="T111"/>
                </a:cxn>
                <a:cxn ang="T184">
                  <a:pos x="T112" y="T113"/>
                </a:cxn>
                <a:cxn ang="T185">
                  <a:pos x="T114" y="T115"/>
                </a:cxn>
                <a:cxn ang="T186">
                  <a:pos x="T116" y="T117"/>
                </a:cxn>
                <a:cxn ang="T187">
                  <a:pos x="T118" y="T119"/>
                </a:cxn>
                <a:cxn ang="T188">
                  <a:pos x="T120" y="T121"/>
                </a:cxn>
                <a:cxn ang="T189">
                  <a:pos x="T122" y="T123"/>
                </a:cxn>
                <a:cxn ang="T190">
                  <a:pos x="T124" y="T125"/>
                </a:cxn>
                <a:cxn ang="T191">
                  <a:pos x="T126" y="T127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1" y="616"/>
                  </a:lnTo>
                  <a:lnTo>
                    <a:pt x="347" y="1232"/>
                  </a:lnTo>
                  <a:lnTo>
                    <a:pt x="462" y="1905"/>
                  </a:lnTo>
                  <a:lnTo>
                    <a:pt x="809" y="2521"/>
                  </a:lnTo>
                  <a:lnTo>
                    <a:pt x="925" y="3137"/>
                  </a:lnTo>
                  <a:lnTo>
                    <a:pt x="1156" y="3697"/>
                  </a:lnTo>
                  <a:lnTo>
                    <a:pt x="1387" y="4314"/>
                  </a:lnTo>
                  <a:lnTo>
                    <a:pt x="1503" y="4986"/>
                  </a:lnTo>
                  <a:lnTo>
                    <a:pt x="1734" y="5602"/>
                  </a:lnTo>
                  <a:lnTo>
                    <a:pt x="2081" y="6162"/>
                  </a:lnTo>
                  <a:lnTo>
                    <a:pt x="2197" y="6779"/>
                  </a:lnTo>
                  <a:lnTo>
                    <a:pt x="2543" y="7283"/>
                  </a:lnTo>
                  <a:lnTo>
                    <a:pt x="2543" y="7899"/>
                  </a:lnTo>
                  <a:lnTo>
                    <a:pt x="2775" y="8515"/>
                  </a:lnTo>
                  <a:lnTo>
                    <a:pt x="3006" y="9020"/>
                  </a:lnTo>
                  <a:lnTo>
                    <a:pt x="3237" y="9636"/>
                  </a:lnTo>
                  <a:lnTo>
                    <a:pt x="3353" y="10140"/>
                  </a:lnTo>
                  <a:lnTo>
                    <a:pt x="3468" y="10644"/>
                  </a:lnTo>
                  <a:lnTo>
                    <a:pt x="3815" y="11204"/>
                  </a:lnTo>
                  <a:lnTo>
                    <a:pt x="3931" y="11765"/>
                  </a:lnTo>
                  <a:lnTo>
                    <a:pt x="4162" y="12213"/>
                  </a:lnTo>
                  <a:lnTo>
                    <a:pt x="4393" y="12773"/>
                  </a:lnTo>
                  <a:lnTo>
                    <a:pt x="4509" y="13165"/>
                  </a:lnTo>
                  <a:lnTo>
                    <a:pt x="4624" y="13669"/>
                  </a:lnTo>
                  <a:lnTo>
                    <a:pt x="4971" y="14118"/>
                  </a:lnTo>
                  <a:lnTo>
                    <a:pt x="5202" y="14510"/>
                  </a:lnTo>
                  <a:lnTo>
                    <a:pt x="5434" y="15014"/>
                  </a:lnTo>
                  <a:lnTo>
                    <a:pt x="5549" y="15462"/>
                  </a:lnTo>
                  <a:lnTo>
                    <a:pt x="5665" y="15854"/>
                  </a:lnTo>
                  <a:lnTo>
                    <a:pt x="6127" y="16190"/>
                  </a:lnTo>
                  <a:lnTo>
                    <a:pt x="6243" y="16639"/>
                  </a:lnTo>
                  <a:lnTo>
                    <a:pt x="6474" y="16919"/>
                  </a:lnTo>
                  <a:lnTo>
                    <a:pt x="6590" y="17255"/>
                  </a:lnTo>
                  <a:lnTo>
                    <a:pt x="6705" y="17591"/>
                  </a:lnTo>
                  <a:lnTo>
                    <a:pt x="6936" y="17927"/>
                  </a:lnTo>
                  <a:lnTo>
                    <a:pt x="7283" y="18095"/>
                  </a:lnTo>
                  <a:lnTo>
                    <a:pt x="7514" y="18487"/>
                  </a:lnTo>
                  <a:lnTo>
                    <a:pt x="7514" y="18711"/>
                  </a:lnTo>
                  <a:lnTo>
                    <a:pt x="7861" y="18992"/>
                  </a:lnTo>
                  <a:lnTo>
                    <a:pt x="7977" y="19160"/>
                  </a:lnTo>
                  <a:lnTo>
                    <a:pt x="8208" y="19328"/>
                  </a:lnTo>
                  <a:lnTo>
                    <a:pt x="8439" y="19440"/>
                  </a:lnTo>
                  <a:lnTo>
                    <a:pt x="8555" y="19664"/>
                  </a:lnTo>
                  <a:lnTo>
                    <a:pt x="8902" y="19720"/>
                  </a:lnTo>
                  <a:lnTo>
                    <a:pt x="9017" y="19888"/>
                  </a:lnTo>
                  <a:lnTo>
                    <a:pt x="9249" y="19888"/>
                  </a:lnTo>
                  <a:lnTo>
                    <a:pt x="9480" y="19944"/>
                  </a:lnTo>
                  <a:lnTo>
                    <a:pt x="9595" y="19944"/>
                  </a:lnTo>
                  <a:lnTo>
                    <a:pt x="9827" y="19944"/>
                  </a:lnTo>
                  <a:lnTo>
                    <a:pt x="10173" y="19888"/>
                  </a:lnTo>
                  <a:lnTo>
                    <a:pt x="10405" y="19888"/>
                  </a:lnTo>
                  <a:lnTo>
                    <a:pt x="10520" y="19664"/>
                  </a:lnTo>
                  <a:lnTo>
                    <a:pt x="10751" y="19496"/>
                  </a:lnTo>
                  <a:lnTo>
                    <a:pt x="11098" y="19328"/>
                  </a:lnTo>
                  <a:lnTo>
                    <a:pt x="11329" y="19104"/>
                  </a:lnTo>
                  <a:lnTo>
                    <a:pt x="11445" y="18936"/>
                  </a:lnTo>
                  <a:lnTo>
                    <a:pt x="11792" y="18543"/>
                  </a:lnTo>
                  <a:lnTo>
                    <a:pt x="11908" y="18263"/>
                  </a:lnTo>
                  <a:lnTo>
                    <a:pt x="12139" y="17871"/>
                  </a:lnTo>
                  <a:lnTo>
                    <a:pt x="12486" y="17479"/>
                  </a:lnTo>
                  <a:lnTo>
                    <a:pt x="12601" y="17087"/>
                  </a:lnTo>
                  <a:lnTo>
                    <a:pt x="12832" y="16751"/>
                  </a:lnTo>
                  <a:lnTo>
                    <a:pt x="13295" y="16303"/>
                  </a:lnTo>
                  <a:lnTo>
                    <a:pt x="13410" y="15798"/>
                  </a:lnTo>
                  <a:lnTo>
                    <a:pt x="13642" y="15350"/>
                  </a:lnTo>
                  <a:lnTo>
                    <a:pt x="13873" y="14846"/>
                  </a:lnTo>
                  <a:lnTo>
                    <a:pt x="14220" y="14342"/>
                  </a:lnTo>
                  <a:lnTo>
                    <a:pt x="14451" y="13838"/>
                  </a:lnTo>
                  <a:lnTo>
                    <a:pt x="14682" y="13277"/>
                  </a:lnTo>
                  <a:lnTo>
                    <a:pt x="14913" y="12829"/>
                  </a:lnTo>
                  <a:lnTo>
                    <a:pt x="15260" y="12213"/>
                  </a:lnTo>
                  <a:lnTo>
                    <a:pt x="15491" y="11709"/>
                  </a:lnTo>
                  <a:lnTo>
                    <a:pt x="15607" y="11036"/>
                  </a:lnTo>
                  <a:lnTo>
                    <a:pt x="15954" y="10588"/>
                  </a:lnTo>
                  <a:lnTo>
                    <a:pt x="16069" y="10028"/>
                  </a:lnTo>
                  <a:lnTo>
                    <a:pt x="16416" y="9412"/>
                  </a:lnTo>
                  <a:lnTo>
                    <a:pt x="16532" y="8964"/>
                  </a:lnTo>
                  <a:lnTo>
                    <a:pt x="16763" y="8403"/>
                  </a:lnTo>
                  <a:lnTo>
                    <a:pt x="16994" y="7787"/>
                  </a:lnTo>
                  <a:lnTo>
                    <a:pt x="17225" y="7227"/>
                  </a:lnTo>
                  <a:lnTo>
                    <a:pt x="17457" y="6835"/>
                  </a:lnTo>
                  <a:lnTo>
                    <a:pt x="17572" y="6218"/>
                  </a:lnTo>
                  <a:lnTo>
                    <a:pt x="17803" y="5714"/>
                  </a:lnTo>
                  <a:lnTo>
                    <a:pt x="18266" y="5210"/>
                  </a:lnTo>
                  <a:lnTo>
                    <a:pt x="18266" y="4762"/>
                  </a:lnTo>
                  <a:lnTo>
                    <a:pt x="18497" y="4314"/>
                  </a:lnTo>
                  <a:lnTo>
                    <a:pt x="18728" y="3866"/>
                  </a:lnTo>
                  <a:lnTo>
                    <a:pt x="18960" y="3361"/>
                  </a:lnTo>
                  <a:lnTo>
                    <a:pt x="19075" y="3025"/>
                  </a:lnTo>
                  <a:lnTo>
                    <a:pt x="19191" y="2689"/>
                  </a:lnTo>
                  <a:lnTo>
                    <a:pt x="19306" y="2241"/>
                  </a:lnTo>
                  <a:lnTo>
                    <a:pt x="19538" y="1905"/>
                  </a:lnTo>
                  <a:lnTo>
                    <a:pt x="19538" y="1625"/>
                  </a:lnTo>
                  <a:lnTo>
                    <a:pt x="19653" y="1289"/>
                  </a:lnTo>
                  <a:lnTo>
                    <a:pt x="19769" y="1008"/>
                  </a:lnTo>
                  <a:lnTo>
                    <a:pt x="19884" y="84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6" tIns="45712" rIns="91426" bIns="45712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5531" name="Group 123">
            <a:extLst>
              <a:ext uri="{FF2B5EF4-FFF2-40B4-BE49-F238E27FC236}">
                <a16:creationId xmlns:a16="http://schemas.microsoft.com/office/drawing/2014/main" id="{45BB3703-6C90-BBA3-4BCF-9988434747E3}"/>
              </a:ext>
            </a:extLst>
          </p:cNvPr>
          <p:cNvGrpSpPr>
            <a:grpSpLocks/>
          </p:cNvGrpSpPr>
          <p:nvPr/>
        </p:nvGrpSpPr>
        <p:grpSpPr bwMode="auto">
          <a:xfrm>
            <a:off x="6342063" y="1273175"/>
            <a:ext cx="1993900" cy="744538"/>
            <a:chOff x="4073" y="754"/>
            <a:chExt cx="1256" cy="469"/>
          </a:xfrm>
        </p:grpSpPr>
        <p:sp>
          <p:nvSpPr>
            <p:cNvPr id="55311" name="Rectangle 9">
              <a:extLst>
                <a:ext uri="{FF2B5EF4-FFF2-40B4-BE49-F238E27FC236}">
                  <a16:creationId xmlns:a16="http://schemas.microsoft.com/office/drawing/2014/main" id="{1E95C888-C37E-C1BE-620E-CB07FFC2C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" y="935"/>
              <a:ext cx="12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>
                  <a:latin typeface="华文中宋" panose="02010600040101010101" pitchFamily="2" charset="-122"/>
                </a:rPr>
                <a:t>简谐振动      </a:t>
              </a:r>
            </a:p>
          </p:txBody>
        </p:sp>
        <p:sp>
          <p:nvSpPr>
            <p:cNvPr id="55312" name="Line 115">
              <a:extLst>
                <a:ext uri="{FF2B5EF4-FFF2-40B4-BE49-F238E27FC236}">
                  <a16:creationId xmlns:a16="http://schemas.microsoft.com/office/drawing/2014/main" id="{51B2B521-35BA-90EC-FE91-2C49221789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754"/>
              <a:ext cx="0" cy="182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5532" name="Group 124">
            <a:extLst>
              <a:ext uri="{FF2B5EF4-FFF2-40B4-BE49-F238E27FC236}">
                <a16:creationId xmlns:a16="http://schemas.microsoft.com/office/drawing/2014/main" id="{1719FBC7-AE9D-1DBC-6190-B7843A2322CA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2209800"/>
            <a:ext cx="6172200" cy="442913"/>
            <a:chOff x="340" y="1344"/>
            <a:chExt cx="3888" cy="279"/>
          </a:xfrm>
        </p:grpSpPr>
        <p:sp>
          <p:nvSpPr>
            <p:cNvPr id="55309" name="Rectangle 21">
              <a:extLst>
                <a:ext uri="{FF2B5EF4-FFF2-40B4-BE49-F238E27FC236}">
                  <a16:creationId xmlns:a16="http://schemas.microsoft.com/office/drawing/2014/main" id="{A7723EC0-D9EF-DB8C-4D33-5F921479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1344"/>
              <a:ext cx="3888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经一段时间受迫振动          简谐振动：</a:t>
              </a:r>
            </a:p>
          </p:txBody>
        </p:sp>
        <p:sp>
          <p:nvSpPr>
            <p:cNvPr id="55310" name="Line 118">
              <a:extLst>
                <a:ext uri="{FF2B5EF4-FFF2-40B4-BE49-F238E27FC236}">
                  <a16:creationId xmlns:a16="http://schemas.microsoft.com/office/drawing/2014/main" id="{0A86E658-E463-588E-57A9-170930966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4" y="1488"/>
              <a:ext cx="36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5528" name="Text Box 120">
            <a:extLst>
              <a:ext uri="{FF2B5EF4-FFF2-40B4-BE49-F238E27FC236}">
                <a16:creationId xmlns:a16="http://schemas.microsoft.com/office/drawing/2014/main" id="{1C03EFF1-104A-5D30-AE71-B4FD1E891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5132388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8000"/>
                </a:solidFill>
                <a:ea typeface="新宋体" panose="02010609030101010101" pitchFamily="49" charset="-122"/>
              </a:rPr>
              <a:t>(7-47)  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5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45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4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4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45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145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45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14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4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0"/>
                                        <p:tgtEl>
                                          <p:spTgt spid="145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4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31" grpId="0"/>
      <p:bldP spid="14552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6" name="Rectangle 4">
            <a:extLst>
              <a:ext uri="{FF2B5EF4-FFF2-40B4-BE49-F238E27FC236}">
                <a16:creationId xmlns:a16="http://schemas.microsoft.com/office/drawing/2014/main" id="{8A31EDB5-5888-DDF8-0996-8E2D3F4CB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60350"/>
            <a:ext cx="25685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66"/>
                </a:solidFill>
                <a:latin typeface="华文中宋" panose="02010600040101010101" pitchFamily="2" charset="-122"/>
              </a:rPr>
              <a:t>三、共振          </a:t>
            </a:r>
          </a:p>
        </p:txBody>
      </p:sp>
      <p:sp>
        <p:nvSpPr>
          <p:cNvPr id="146437" name="Rectangle 5">
            <a:extLst>
              <a:ext uri="{FF2B5EF4-FFF2-40B4-BE49-F238E27FC236}">
                <a16:creationId xmlns:a16="http://schemas.microsoft.com/office/drawing/2014/main" id="{C2C7AF1E-5DC9-0629-2084-A4C8B7F3C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19125"/>
            <a:ext cx="8208962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indent="3746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5000"/>
              </a:lnSpc>
            </a:pPr>
            <a:r>
              <a:rPr lang="en-US" altLang="zh-CN">
                <a:solidFill>
                  <a:srgbClr val="800000"/>
                </a:solidFill>
                <a:latin typeface="华文中宋" panose="02010600040101010101" pitchFamily="2" charset="-122"/>
              </a:rPr>
              <a:t> </a:t>
            </a:r>
            <a:r>
              <a:rPr lang="en-US" altLang="zh-CN" sz="2800">
                <a:solidFill>
                  <a:srgbClr val="800000"/>
                </a:solidFill>
                <a:latin typeface="华文中宋" panose="02010600040101010101" pitchFamily="2" charset="-122"/>
              </a:rPr>
              <a:t>— </a:t>
            </a:r>
            <a:r>
              <a:rPr lang="zh-CN" altLang="en-US">
                <a:solidFill>
                  <a:srgbClr val="800000"/>
                </a:solidFill>
                <a:latin typeface="华文中宋" panose="02010600040101010101" pitchFamily="2" charset="-122"/>
              </a:rPr>
              <a:t>驱动力的角频率为某定值时受迫振动的振幅达到</a:t>
            </a:r>
          </a:p>
          <a:p>
            <a:pPr>
              <a:lnSpc>
                <a:spcPct val="115000"/>
              </a:lnSpc>
            </a:pPr>
            <a:r>
              <a:rPr lang="zh-CN" altLang="en-US" sz="2300">
                <a:solidFill>
                  <a:srgbClr val="800000"/>
                </a:solidFill>
                <a:latin typeface="华文中宋" panose="02010600040101010101" pitchFamily="2" charset="-122"/>
              </a:rPr>
              <a:t>      </a:t>
            </a:r>
            <a:r>
              <a:rPr lang="zh-CN" altLang="en-US">
                <a:solidFill>
                  <a:srgbClr val="800000"/>
                </a:solidFill>
                <a:latin typeface="华文中宋" panose="02010600040101010101" pitchFamily="2" charset="-122"/>
              </a:rPr>
              <a:t>极大值的现象。</a:t>
            </a:r>
          </a:p>
        </p:txBody>
      </p:sp>
      <p:graphicFrame>
        <p:nvGraphicFramePr>
          <p:cNvPr id="146438" name="Object 6">
            <a:extLst>
              <a:ext uri="{FF2B5EF4-FFF2-40B4-BE49-F238E27FC236}">
                <a16:creationId xmlns:a16="http://schemas.microsoft.com/office/drawing/2014/main" id="{53FB9F24-A186-1F1A-6F72-1A01BA90D1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8150" y="2678113"/>
          <a:ext cx="6032500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061240" imgH="2260080" progId="Equation.3">
                  <p:embed/>
                </p:oleObj>
              </mc:Choice>
              <mc:Fallback>
                <p:oleObj name="公式" r:id="rId2" imgW="14061240" imgH="22600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2678113"/>
                        <a:ext cx="6032500" cy="107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9" name="Object 7">
            <a:extLst>
              <a:ext uri="{FF2B5EF4-FFF2-40B4-BE49-F238E27FC236}">
                <a16:creationId xmlns:a16="http://schemas.microsoft.com/office/drawing/2014/main" id="{193C667E-FFC4-A80A-5A48-EF71FA83D2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4759325"/>
          <a:ext cx="3167063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709400" imgH="2284200" progId="Equation.3">
                  <p:embed/>
                </p:oleObj>
              </mc:Choice>
              <mc:Fallback>
                <p:oleObj name="公式" r:id="rId4" imgW="7709400" imgH="2284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4759325"/>
                        <a:ext cx="3167063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0" name="Object 8">
            <a:extLst>
              <a:ext uri="{FF2B5EF4-FFF2-40B4-BE49-F238E27FC236}">
                <a16:creationId xmlns:a16="http://schemas.microsoft.com/office/drawing/2014/main" id="{C094105E-AFDA-95A7-6AF0-513C99F3F2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3463" y="3979863"/>
          <a:ext cx="28702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982200" imgH="1239480" progId="Equation.3">
                  <p:embed/>
                </p:oleObj>
              </mc:Choice>
              <mc:Fallback>
                <p:oleObj name="公式" r:id="rId6" imgW="6982200" imgH="1239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3463" y="3979863"/>
                        <a:ext cx="2870200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41" name="Rectangle 9">
            <a:extLst>
              <a:ext uri="{FF2B5EF4-FFF2-40B4-BE49-F238E27FC236}">
                <a16:creationId xmlns:a16="http://schemas.microsoft.com/office/drawing/2014/main" id="{E392CDFE-B151-AEA1-BAF4-419CF290C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4083050"/>
            <a:ext cx="2405063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latin typeface="华文中宋" panose="02010600040101010101" pitchFamily="2" charset="-122"/>
              </a:rPr>
              <a:t>共振角频率：     </a:t>
            </a:r>
          </a:p>
        </p:txBody>
      </p:sp>
      <p:sp>
        <p:nvSpPr>
          <p:cNvPr id="146442" name="Rectangle 10">
            <a:extLst>
              <a:ext uri="{FF2B5EF4-FFF2-40B4-BE49-F238E27FC236}">
                <a16:creationId xmlns:a16="http://schemas.microsoft.com/office/drawing/2014/main" id="{62E358EF-12A7-F40C-A06C-0198D67F2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4946650"/>
            <a:ext cx="2112962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latin typeface="华文中宋" panose="02010600040101010101" pitchFamily="2" charset="-122"/>
              </a:rPr>
              <a:t>共振振幅：     </a:t>
            </a:r>
          </a:p>
        </p:txBody>
      </p:sp>
      <p:graphicFrame>
        <p:nvGraphicFramePr>
          <p:cNvPr id="146443" name="Object 11">
            <a:extLst>
              <a:ext uri="{FF2B5EF4-FFF2-40B4-BE49-F238E27FC236}">
                <a16:creationId xmlns:a16="http://schemas.microsoft.com/office/drawing/2014/main" id="{E6FFB6E9-AC1F-F31B-9CAF-3B7D119D88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0838" y="1484313"/>
          <a:ext cx="427355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030760" imgH="2284200" progId="Equation.3">
                  <p:embed/>
                </p:oleObj>
              </mc:Choice>
              <mc:Fallback>
                <p:oleObj name="公式" r:id="rId8" imgW="11030760" imgH="2284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1484313"/>
                        <a:ext cx="4273550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44" name="Text Box 12">
            <a:extLst>
              <a:ext uri="{FF2B5EF4-FFF2-40B4-BE49-F238E27FC236}">
                <a16:creationId xmlns:a16="http://schemas.microsoft.com/office/drawing/2014/main" id="{62B50CDF-F410-6151-C33A-50C72195C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1762125"/>
            <a:ext cx="2811463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</a:rPr>
              <a:t>由</a:t>
            </a:r>
            <a:r>
              <a:rPr lang="zh-CN" altLang="en-US" sz="2300">
                <a:solidFill>
                  <a:srgbClr val="000080"/>
                </a:solidFill>
              </a:rPr>
              <a:t> </a:t>
            </a:r>
            <a:r>
              <a:rPr lang="en-US" altLang="zh-CN" sz="2300">
                <a:solidFill>
                  <a:srgbClr val="006600"/>
                </a:solidFill>
              </a:rPr>
              <a:t>(7-47)</a:t>
            </a:r>
            <a:r>
              <a:rPr lang="en-US" altLang="zh-CN" sz="2300">
                <a:solidFill>
                  <a:srgbClr val="007000"/>
                </a:solidFill>
              </a:rPr>
              <a:t> </a:t>
            </a:r>
            <a:r>
              <a:rPr lang="zh-CN" altLang="en-US" sz="2300">
                <a:solidFill>
                  <a:srgbClr val="000066"/>
                </a:solidFill>
              </a:rPr>
              <a:t>式                </a:t>
            </a:r>
          </a:p>
        </p:txBody>
      </p:sp>
      <p:sp>
        <p:nvSpPr>
          <p:cNvPr id="146445" name="Text Box 13">
            <a:extLst>
              <a:ext uri="{FF2B5EF4-FFF2-40B4-BE49-F238E27FC236}">
                <a16:creationId xmlns:a16="http://schemas.microsoft.com/office/drawing/2014/main" id="{5C319FF1-C0AA-C7FB-3049-C914BBF12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2946400"/>
            <a:ext cx="1157288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</a:rPr>
              <a:t>令</a:t>
            </a:r>
            <a:r>
              <a:rPr lang="en-US" altLang="zh-CN" sz="2300">
                <a:solidFill>
                  <a:srgbClr val="000066"/>
                </a:solidFill>
              </a:rPr>
              <a:t>:        </a:t>
            </a:r>
          </a:p>
        </p:txBody>
      </p:sp>
      <p:sp>
        <p:nvSpPr>
          <p:cNvPr id="146446" name="Text Box 14">
            <a:extLst>
              <a:ext uri="{FF2B5EF4-FFF2-40B4-BE49-F238E27FC236}">
                <a16:creationId xmlns:a16="http://schemas.microsoft.com/office/drawing/2014/main" id="{1DF1F041-F061-E0CC-4379-F0C370AF9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4078288"/>
            <a:ext cx="1157288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000066"/>
                </a:solidFill>
              </a:rPr>
              <a:t>得</a:t>
            </a:r>
            <a:r>
              <a:rPr lang="en-US" altLang="zh-CN" sz="2300">
                <a:solidFill>
                  <a:srgbClr val="000066"/>
                </a:solidFill>
              </a:rPr>
              <a:t>:        </a:t>
            </a:r>
          </a:p>
        </p:txBody>
      </p:sp>
      <p:sp>
        <p:nvSpPr>
          <p:cNvPr id="146447" name="Text Box 15">
            <a:extLst>
              <a:ext uri="{FF2B5EF4-FFF2-40B4-BE49-F238E27FC236}">
                <a16:creationId xmlns:a16="http://schemas.microsoft.com/office/drawing/2014/main" id="{57D6034A-04E7-713C-FD92-79F1AA55E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4024313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6600"/>
                </a:solidFill>
                <a:ea typeface="新宋体" panose="02010609030101010101" pitchFamily="49" charset="-122"/>
              </a:rPr>
              <a:t>(7-48)   </a:t>
            </a:r>
          </a:p>
        </p:txBody>
      </p:sp>
      <p:sp>
        <p:nvSpPr>
          <p:cNvPr id="146448" name="Text Box 16">
            <a:extLst>
              <a:ext uri="{FF2B5EF4-FFF2-40B4-BE49-F238E27FC236}">
                <a16:creationId xmlns:a16="http://schemas.microsoft.com/office/drawing/2014/main" id="{E92CCBD9-61C1-9927-3B6C-798AA3F70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4960938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6600"/>
                </a:solidFill>
                <a:ea typeface="新宋体" panose="02010609030101010101" pitchFamily="49" charset="-122"/>
              </a:rPr>
              <a:t>(7-49)  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14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4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14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4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14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4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4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4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4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4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4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4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6" grpId="0"/>
      <p:bldP spid="146437" grpId="0"/>
      <p:bldP spid="146441" grpId="0"/>
      <p:bldP spid="146442" grpId="0"/>
      <p:bldP spid="146444" grpId="0"/>
      <p:bldP spid="146445" grpId="0"/>
      <p:bldP spid="146446" grpId="0"/>
      <p:bldP spid="146447" grpId="0"/>
      <p:bldP spid="14644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0" name="Text Box 4">
            <a:extLst>
              <a:ext uri="{FF2B5EF4-FFF2-40B4-BE49-F238E27FC236}">
                <a16:creationId xmlns:a16="http://schemas.microsoft.com/office/drawing/2014/main" id="{0BF29934-4D3E-35A2-7D33-BC3CBAEFA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12875"/>
            <a:ext cx="2303462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194" tIns="38097" rIns="76194" bIns="38097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/>
            <a:r>
              <a:rPr lang="en-US" altLang="zh-CN" sz="2100">
                <a:latin typeface="华文中宋" panose="02010600040101010101" pitchFamily="2" charset="-122"/>
              </a:rPr>
              <a:t>★</a:t>
            </a:r>
            <a:r>
              <a:rPr lang="en-US" altLang="zh-CN">
                <a:solidFill>
                  <a:srgbClr val="000080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分析：</a:t>
            </a:r>
          </a:p>
        </p:txBody>
      </p:sp>
      <p:grpSp>
        <p:nvGrpSpPr>
          <p:cNvPr id="147506" name="Group 50">
            <a:extLst>
              <a:ext uri="{FF2B5EF4-FFF2-40B4-BE49-F238E27FC236}">
                <a16:creationId xmlns:a16="http://schemas.microsoft.com/office/drawing/2014/main" id="{06EA50A2-0970-6320-9119-D8FC8DC3FFBC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213100"/>
            <a:ext cx="4103687" cy="563563"/>
            <a:chOff x="295" y="2160"/>
            <a:chExt cx="2585" cy="355"/>
          </a:xfrm>
        </p:grpSpPr>
        <p:sp>
          <p:nvSpPr>
            <p:cNvPr id="57386" name="Text Box 8">
              <a:extLst>
                <a:ext uri="{FF2B5EF4-FFF2-40B4-BE49-F238E27FC236}">
                  <a16:creationId xmlns:a16="http://schemas.microsoft.com/office/drawing/2014/main" id="{6C1CE7D4-1F48-100E-2674-17706297C6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160"/>
              <a:ext cx="1952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6194" tIns="38097" rIns="76194" bIns="38097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>
                  <a:solidFill>
                    <a:srgbClr val="000066"/>
                  </a:solidFill>
                </a:rPr>
                <a:t>(2)</a:t>
              </a:r>
              <a:r>
                <a:rPr lang="en-US" altLang="zh-CN">
                  <a:solidFill>
                    <a:srgbClr val="000080"/>
                  </a:solidFill>
                  <a:latin typeface="华文中宋" panose="02010600040101010101" pitchFamily="2" charset="-122"/>
                </a:rPr>
                <a:t>  </a:t>
              </a:r>
              <a:r>
                <a:rPr lang="en-US" altLang="zh-CN" sz="2800" i="1">
                  <a:latin typeface="华文中宋" panose="02010600040101010101" pitchFamily="2" charset="-122"/>
                  <a:sym typeface="Symbol" panose="05050102010706020507" pitchFamily="18" charset="2"/>
                </a:rPr>
                <a:t></a:t>
              </a:r>
              <a:r>
                <a:rPr lang="en-US" altLang="zh-CN" sz="2800" i="1">
                  <a:latin typeface="华文中宋" panose="02010600040101010101" pitchFamily="2" charset="-122"/>
                </a:rPr>
                <a:t> </a:t>
              </a:r>
              <a:r>
                <a:rPr lang="en-US" altLang="zh-CN" sz="2800">
                  <a:latin typeface="华文中宋" panose="02010600040101010101" pitchFamily="2" charset="-122"/>
                </a:rPr>
                <a:t>= </a:t>
              </a:r>
              <a:r>
                <a:rPr lang="en-US" altLang="zh-CN" sz="2800"/>
                <a:t>0</a:t>
              </a:r>
              <a:r>
                <a:rPr lang="en-US" altLang="zh-CN" sz="2800">
                  <a:solidFill>
                    <a:srgbClr val="000080"/>
                  </a:solidFill>
                </a:rPr>
                <a:t> </a:t>
              </a:r>
              <a:r>
                <a:rPr lang="zh-CN" altLang="en-US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时，</a:t>
              </a:r>
            </a:p>
          </p:txBody>
        </p:sp>
        <p:graphicFrame>
          <p:nvGraphicFramePr>
            <p:cNvPr id="57387" name="Object 9">
              <a:extLst>
                <a:ext uri="{FF2B5EF4-FFF2-40B4-BE49-F238E27FC236}">
                  <a16:creationId xmlns:a16="http://schemas.microsoft.com/office/drawing/2014/main" id="{FFE6BBE5-94D5-3E5B-FF53-C2C79DBB12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49" y="2160"/>
            <a:ext cx="1231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733560" imgH="874800" progId="Equation.3">
                    <p:embed/>
                  </p:oleObj>
                </mc:Choice>
                <mc:Fallback>
                  <p:oleObj name="公式" r:id="rId2" imgW="3733560" imgH="8748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9" y="2160"/>
                          <a:ext cx="1231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7466" name="Object 10">
            <a:extLst>
              <a:ext uri="{FF2B5EF4-FFF2-40B4-BE49-F238E27FC236}">
                <a16:creationId xmlns:a16="http://schemas.microsoft.com/office/drawing/2014/main" id="{7AEEBDBC-AADE-513E-77CB-7844B80C1C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005263"/>
          <a:ext cx="170656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709440" imgH="874800" progId="Equation.3">
                  <p:embed/>
                </p:oleObj>
              </mc:Choice>
              <mc:Fallback>
                <p:oleObj name="公式" r:id="rId4" imgW="3709440" imgH="874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005263"/>
                        <a:ext cx="1706563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67" name="Text Box 11">
            <a:extLst>
              <a:ext uri="{FF2B5EF4-FFF2-40B4-BE49-F238E27FC236}">
                <a16:creationId xmlns:a16="http://schemas.microsoft.com/office/drawing/2014/main" id="{63B299C9-33F8-D23A-79FD-E40FC9549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4081463"/>
            <a:ext cx="22415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194" tIns="38097" rIns="76194" bIns="38097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/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尖锐振动。</a:t>
            </a:r>
          </a:p>
        </p:txBody>
      </p:sp>
      <p:sp>
        <p:nvSpPr>
          <p:cNvPr id="147468" name="Text Box 12">
            <a:extLst>
              <a:ext uri="{FF2B5EF4-FFF2-40B4-BE49-F238E27FC236}">
                <a16:creationId xmlns:a16="http://schemas.microsoft.com/office/drawing/2014/main" id="{A293E19E-9ED1-7A3A-F0D8-9B8A7E929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8" y="4652963"/>
            <a:ext cx="4535487" cy="91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194" tIns="38097" rIns="76194" bIns="38097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 sz="2100">
                <a:latin typeface="华文中宋" panose="02010600040101010101" pitchFamily="2" charset="-122"/>
              </a:rPr>
              <a:t>★</a:t>
            </a:r>
            <a:r>
              <a:rPr lang="en-US" altLang="zh-CN" sz="2300">
                <a:solidFill>
                  <a:srgbClr val="000080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强迫力的方向永远与物体</a:t>
            </a: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    运动方向相同。</a:t>
            </a:r>
          </a:p>
        </p:txBody>
      </p:sp>
      <p:grpSp>
        <p:nvGrpSpPr>
          <p:cNvPr id="147505" name="Group 49">
            <a:extLst>
              <a:ext uri="{FF2B5EF4-FFF2-40B4-BE49-F238E27FC236}">
                <a16:creationId xmlns:a16="http://schemas.microsoft.com/office/drawing/2014/main" id="{E6A436DC-BACF-D004-DE41-9734EFF4A8B7}"/>
              </a:ext>
            </a:extLst>
          </p:cNvPr>
          <p:cNvGrpSpPr>
            <a:grpSpLocks/>
          </p:cNvGrpSpPr>
          <p:nvPr/>
        </p:nvGrpSpPr>
        <p:grpSpPr bwMode="auto">
          <a:xfrm>
            <a:off x="465138" y="1916113"/>
            <a:ext cx="5208587" cy="549275"/>
            <a:chOff x="293" y="1270"/>
            <a:chExt cx="3281" cy="346"/>
          </a:xfrm>
        </p:grpSpPr>
        <p:sp>
          <p:nvSpPr>
            <p:cNvPr id="57384" name="Text Box 6">
              <a:extLst>
                <a:ext uri="{FF2B5EF4-FFF2-40B4-BE49-F238E27FC236}">
                  <a16:creationId xmlns:a16="http://schemas.microsoft.com/office/drawing/2014/main" id="{EEE2CB16-885E-C619-3290-DF8DEEFCEF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" y="1298"/>
              <a:ext cx="1952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6194" tIns="38097" rIns="76194" bIns="38097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en-US" altLang="zh-CN">
                  <a:solidFill>
                    <a:srgbClr val="000066"/>
                  </a:solidFill>
                </a:rPr>
                <a:t>(1)</a:t>
              </a:r>
              <a:r>
                <a:rPr lang="en-US" altLang="zh-CN">
                  <a:solidFill>
                    <a:srgbClr val="000080"/>
                  </a:solidFill>
                  <a:latin typeface="华文中宋" panose="02010600040101010101" pitchFamily="2" charset="-122"/>
                </a:rPr>
                <a:t>  </a:t>
              </a:r>
              <a:r>
                <a:rPr lang="en-US" altLang="zh-CN" sz="2800" i="1">
                  <a:latin typeface="华文中宋" panose="02010600040101010101" pitchFamily="2" charset="-122"/>
                  <a:sym typeface="Symbol" panose="05050102010706020507" pitchFamily="18" charset="2"/>
                </a:rPr>
                <a:t></a:t>
              </a:r>
              <a:r>
                <a:rPr lang="en-US" altLang="zh-CN" i="1">
                  <a:latin typeface="华文中宋" panose="02010600040101010101" pitchFamily="2" charset="-122"/>
                </a:rPr>
                <a:t> </a:t>
              </a:r>
              <a:r>
                <a:rPr lang="zh-CN" altLang="en-US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越小时，</a:t>
              </a:r>
            </a:p>
          </p:txBody>
        </p:sp>
        <p:sp>
          <p:nvSpPr>
            <p:cNvPr id="57385" name="Text Box 36">
              <a:extLst>
                <a:ext uri="{FF2B5EF4-FFF2-40B4-BE49-F238E27FC236}">
                  <a16:creationId xmlns:a16="http://schemas.microsoft.com/office/drawing/2014/main" id="{73264885-A1AA-4A47-5214-9368CEB2BE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" y="1270"/>
              <a:ext cx="2050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3000" i="1">
                  <a:solidFill>
                    <a:srgbClr val="800000"/>
                  </a:solidFill>
                </a:rPr>
                <a:t>ω</a:t>
              </a:r>
              <a:r>
                <a:rPr kumimoji="0" lang="zh-CN" altLang="en-US" sz="3000" baseline="-25000">
                  <a:solidFill>
                    <a:srgbClr val="800000"/>
                  </a:solidFill>
                </a:rPr>
                <a:t>共</a:t>
              </a:r>
              <a:r>
                <a:rPr kumimoji="0" lang="zh-CN" altLang="en-US" baseline="-25000">
                  <a:solidFill>
                    <a:srgbClr val="000080"/>
                  </a:solidFill>
                </a:rPr>
                <a:t> </a:t>
              </a:r>
              <a:r>
                <a:rPr kumimoji="0" lang="zh-CN" altLang="en-US" sz="2300">
                  <a:solidFill>
                    <a:srgbClr val="000066"/>
                  </a:solidFill>
                </a:rPr>
                <a:t>越接近于</a:t>
              </a:r>
              <a:r>
                <a:rPr lang="en-US" altLang="zh-CN" sz="3000" i="1">
                  <a:solidFill>
                    <a:srgbClr val="800000"/>
                  </a:solidFill>
                </a:rPr>
                <a:t>ω</a:t>
              </a:r>
              <a:r>
                <a:rPr lang="en-US" altLang="zh-CN" sz="1000" i="1">
                  <a:solidFill>
                    <a:srgbClr val="800000"/>
                  </a:solidFill>
                </a:rPr>
                <a:t> </a:t>
              </a:r>
              <a:r>
                <a:rPr lang="en-US" altLang="zh-CN" sz="3200" baseline="-25000">
                  <a:solidFill>
                    <a:srgbClr val="800000"/>
                  </a:solidFill>
                </a:rPr>
                <a:t>0</a:t>
              </a:r>
              <a:r>
                <a:rPr lang="en-US" altLang="zh-CN">
                  <a:solidFill>
                    <a:srgbClr val="000080"/>
                  </a:solidFill>
                </a:rPr>
                <a:t> </a:t>
              </a:r>
              <a:r>
                <a:rPr lang="zh-CN" altLang="en-US">
                  <a:solidFill>
                    <a:srgbClr val="000080"/>
                  </a:solidFill>
                </a:rPr>
                <a:t>，       </a:t>
              </a:r>
            </a:p>
          </p:txBody>
        </p:sp>
      </p:grpSp>
      <p:sp>
        <p:nvSpPr>
          <p:cNvPr id="147493" name="Text Box 37">
            <a:extLst>
              <a:ext uri="{FF2B5EF4-FFF2-40B4-BE49-F238E27FC236}">
                <a16:creationId xmlns:a16="http://schemas.microsoft.com/office/drawing/2014/main" id="{CB8C9744-25B5-B3FC-E51B-E47E71DE7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519363"/>
            <a:ext cx="259238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 i="1">
                <a:solidFill>
                  <a:srgbClr val="800000"/>
                </a:solidFill>
              </a:rPr>
              <a:t>A</a:t>
            </a:r>
            <a:r>
              <a:rPr lang="zh-CN" altLang="en-US" sz="3000" baseline="-25000">
                <a:solidFill>
                  <a:srgbClr val="800000"/>
                </a:solidFill>
              </a:rPr>
              <a:t>共</a:t>
            </a:r>
            <a:r>
              <a:rPr lang="zh-CN" altLang="en-US" sz="3000" baseline="-25000">
                <a:solidFill>
                  <a:srgbClr val="000080"/>
                </a:solidFill>
              </a:rPr>
              <a:t> </a:t>
            </a:r>
            <a:r>
              <a:rPr lang="zh-CN" altLang="en-US" sz="2300">
                <a:solidFill>
                  <a:srgbClr val="000080"/>
                </a:solidFill>
              </a:rPr>
              <a:t>越大。</a:t>
            </a:r>
            <a:r>
              <a:rPr lang="zh-CN" altLang="en-US">
                <a:solidFill>
                  <a:srgbClr val="000080"/>
                </a:solidFill>
              </a:rPr>
              <a:t>            </a:t>
            </a:r>
          </a:p>
        </p:txBody>
      </p:sp>
      <p:grpSp>
        <p:nvGrpSpPr>
          <p:cNvPr id="147502" name="Group 46">
            <a:extLst>
              <a:ext uri="{FF2B5EF4-FFF2-40B4-BE49-F238E27FC236}">
                <a16:creationId xmlns:a16="http://schemas.microsoft.com/office/drawing/2014/main" id="{5C7AEEE6-0305-F760-5388-3896BC831202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1557338"/>
            <a:ext cx="3887787" cy="3948112"/>
            <a:chOff x="3061" y="300"/>
            <a:chExt cx="2541" cy="2829"/>
          </a:xfrm>
        </p:grpSpPr>
        <p:sp>
          <p:nvSpPr>
            <p:cNvPr id="57366" name="Line 14">
              <a:extLst>
                <a:ext uri="{FF2B5EF4-FFF2-40B4-BE49-F238E27FC236}">
                  <a16:creationId xmlns:a16="http://schemas.microsoft.com/office/drawing/2014/main" id="{26E88B20-D7A6-0B40-1143-3C53757957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2" y="2812"/>
              <a:ext cx="1925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7" name="Line 15">
              <a:extLst>
                <a:ext uri="{FF2B5EF4-FFF2-40B4-BE49-F238E27FC236}">
                  <a16:creationId xmlns:a16="http://schemas.microsoft.com/office/drawing/2014/main" id="{CA9393F6-EB27-9D68-555A-72E9F09405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4" y="422"/>
              <a:ext cx="0" cy="239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8" name="Line 16">
              <a:extLst>
                <a:ext uri="{FF2B5EF4-FFF2-40B4-BE49-F238E27FC236}">
                  <a16:creationId xmlns:a16="http://schemas.microsoft.com/office/drawing/2014/main" id="{66107977-228C-3F92-9578-A2634F5A00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3" y="636"/>
              <a:ext cx="0" cy="21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9" name="Freeform 17">
              <a:extLst>
                <a:ext uri="{FF2B5EF4-FFF2-40B4-BE49-F238E27FC236}">
                  <a16:creationId xmlns:a16="http://schemas.microsoft.com/office/drawing/2014/main" id="{C3218815-FD01-00DE-C683-74B588E32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2158"/>
              <a:ext cx="1377" cy="454"/>
            </a:xfrm>
            <a:custGeom>
              <a:avLst/>
              <a:gdLst>
                <a:gd name="T0" fmla="*/ 0 w 1503"/>
                <a:gd name="T1" fmla="*/ 8 h 546"/>
                <a:gd name="T2" fmla="*/ 86 w 1503"/>
                <a:gd name="T3" fmla="*/ 2 h 546"/>
                <a:gd name="T4" fmla="*/ 220 w 1503"/>
                <a:gd name="T5" fmla="*/ 18 h 546"/>
                <a:gd name="T6" fmla="*/ 405 w 1503"/>
                <a:gd name="T7" fmla="*/ 35 h 5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03" h="546">
                  <a:moveTo>
                    <a:pt x="0" y="134"/>
                  </a:moveTo>
                  <a:cubicBezTo>
                    <a:pt x="53" y="119"/>
                    <a:pt x="182" y="0"/>
                    <a:pt x="318" y="28"/>
                  </a:cubicBezTo>
                  <a:cubicBezTo>
                    <a:pt x="454" y="56"/>
                    <a:pt x="621" y="215"/>
                    <a:pt x="818" y="301"/>
                  </a:cubicBezTo>
                  <a:cubicBezTo>
                    <a:pt x="1015" y="387"/>
                    <a:pt x="1360" y="495"/>
                    <a:pt x="1503" y="546"/>
                  </a:cubicBezTo>
                </a:path>
              </a:pathLst>
            </a:cu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0" name="Freeform 18">
              <a:extLst>
                <a:ext uri="{FF2B5EF4-FFF2-40B4-BE49-F238E27FC236}">
                  <a16:creationId xmlns:a16="http://schemas.microsoft.com/office/drawing/2014/main" id="{55E036D1-A352-2AAD-1106-D28155A65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1986"/>
              <a:ext cx="1429" cy="573"/>
            </a:xfrm>
            <a:custGeom>
              <a:avLst/>
              <a:gdLst>
                <a:gd name="T0" fmla="*/ 0 w 1561"/>
                <a:gd name="T1" fmla="*/ 15 h 690"/>
                <a:gd name="T2" fmla="*/ 85 w 1561"/>
                <a:gd name="T3" fmla="*/ 2 h 690"/>
                <a:gd name="T4" fmla="*/ 186 w 1561"/>
                <a:gd name="T5" fmla="*/ 18 h 690"/>
                <a:gd name="T6" fmla="*/ 414 w 1561"/>
                <a:gd name="T7" fmla="*/ 42 h 6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61" h="690">
                  <a:moveTo>
                    <a:pt x="0" y="250"/>
                  </a:moveTo>
                  <a:cubicBezTo>
                    <a:pt x="53" y="210"/>
                    <a:pt x="202" y="0"/>
                    <a:pt x="318" y="8"/>
                  </a:cubicBezTo>
                  <a:cubicBezTo>
                    <a:pt x="434" y="16"/>
                    <a:pt x="490" y="182"/>
                    <a:pt x="697" y="296"/>
                  </a:cubicBezTo>
                  <a:cubicBezTo>
                    <a:pt x="904" y="410"/>
                    <a:pt x="1381" y="608"/>
                    <a:pt x="1561" y="690"/>
                  </a:cubicBezTo>
                </a:path>
              </a:pathLst>
            </a:cu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1" name="Freeform 19">
              <a:extLst>
                <a:ext uri="{FF2B5EF4-FFF2-40B4-BE49-F238E27FC236}">
                  <a16:creationId xmlns:a16="http://schemas.microsoft.com/office/drawing/2014/main" id="{6FBE6849-197F-2F7E-080F-1BA8BD7D8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" y="1010"/>
              <a:ext cx="1499" cy="1537"/>
            </a:xfrm>
            <a:custGeom>
              <a:avLst/>
              <a:gdLst>
                <a:gd name="T0" fmla="*/ 0 w 1637"/>
                <a:gd name="T1" fmla="*/ 84 h 1850"/>
                <a:gd name="T2" fmla="*/ 52 w 1637"/>
                <a:gd name="T3" fmla="*/ 61 h 1850"/>
                <a:gd name="T4" fmla="*/ 122 w 1637"/>
                <a:gd name="T5" fmla="*/ 4 h 1850"/>
                <a:gd name="T6" fmla="*/ 174 w 1637"/>
                <a:gd name="T7" fmla="*/ 39 h 1850"/>
                <a:gd name="T8" fmla="*/ 263 w 1637"/>
                <a:gd name="T9" fmla="*/ 80 h 1850"/>
                <a:gd name="T10" fmla="*/ 438 w 1637"/>
                <a:gd name="T11" fmla="*/ 115 h 18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37" h="1850">
                  <a:moveTo>
                    <a:pt x="0" y="1350"/>
                  </a:moveTo>
                  <a:cubicBezTo>
                    <a:pt x="33" y="1292"/>
                    <a:pt x="121" y="1201"/>
                    <a:pt x="197" y="986"/>
                  </a:cubicBezTo>
                  <a:cubicBezTo>
                    <a:pt x="273" y="771"/>
                    <a:pt x="379" y="122"/>
                    <a:pt x="455" y="61"/>
                  </a:cubicBezTo>
                  <a:cubicBezTo>
                    <a:pt x="531" y="0"/>
                    <a:pt x="564" y="415"/>
                    <a:pt x="652" y="622"/>
                  </a:cubicBezTo>
                  <a:cubicBezTo>
                    <a:pt x="740" y="829"/>
                    <a:pt x="822" y="1099"/>
                    <a:pt x="986" y="1304"/>
                  </a:cubicBezTo>
                  <a:cubicBezTo>
                    <a:pt x="1150" y="1509"/>
                    <a:pt x="1501" y="1736"/>
                    <a:pt x="1637" y="185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2" name="Freeform 20">
              <a:extLst>
                <a:ext uri="{FF2B5EF4-FFF2-40B4-BE49-F238E27FC236}">
                  <a16:creationId xmlns:a16="http://schemas.microsoft.com/office/drawing/2014/main" id="{3C82F347-EB64-A419-7F7A-7F3CBCCCB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0" y="733"/>
              <a:ext cx="423" cy="1468"/>
            </a:xfrm>
            <a:custGeom>
              <a:avLst/>
              <a:gdLst>
                <a:gd name="T0" fmla="*/ 0 w 462"/>
                <a:gd name="T1" fmla="*/ 111 h 1766"/>
                <a:gd name="T2" fmla="*/ 76 w 462"/>
                <a:gd name="T3" fmla="*/ 72 h 1766"/>
                <a:gd name="T4" fmla="*/ 123 w 462"/>
                <a:gd name="T5" fmla="*/ 0 h 17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2" h="1766">
                  <a:moveTo>
                    <a:pt x="0" y="1766"/>
                  </a:moveTo>
                  <a:cubicBezTo>
                    <a:pt x="48" y="1664"/>
                    <a:pt x="208" y="1451"/>
                    <a:pt x="285" y="1157"/>
                  </a:cubicBezTo>
                  <a:cubicBezTo>
                    <a:pt x="362" y="863"/>
                    <a:pt x="425" y="241"/>
                    <a:pt x="462" y="0"/>
                  </a:cubicBezTo>
                </a:path>
              </a:pathLst>
            </a:custGeom>
            <a:noFill/>
            <a:ln w="28575" cmpd="sng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3" name="Freeform 21">
              <a:extLst>
                <a:ext uri="{FF2B5EF4-FFF2-40B4-BE49-F238E27FC236}">
                  <a16:creationId xmlns:a16="http://schemas.microsoft.com/office/drawing/2014/main" id="{2E538576-ADEF-58E9-F106-8A5CF8069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721"/>
              <a:ext cx="1033" cy="1798"/>
            </a:xfrm>
            <a:custGeom>
              <a:avLst/>
              <a:gdLst>
                <a:gd name="T0" fmla="*/ 0 w 1129"/>
                <a:gd name="T1" fmla="*/ 0 h 2165"/>
                <a:gd name="T2" fmla="*/ 16 w 1129"/>
                <a:gd name="T3" fmla="*/ 34 h 2165"/>
                <a:gd name="T4" fmla="*/ 86 w 1129"/>
                <a:gd name="T5" fmla="*/ 76 h 2165"/>
                <a:gd name="T6" fmla="*/ 168 w 1129"/>
                <a:gd name="T7" fmla="*/ 106 h 2165"/>
                <a:gd name="T8" fmla="*/ 298 w 1129"/>
                <a:gd name="T9" fmla="*/ 134 h 2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29" h="2165">
                  <a:moveTo>
                    <a:pt x="0" y="0"/>
                  </a:moveTo>
                  <a:cubicBezTo>
                    <a:pt x="7" y="88"/>
                    <a:pt x="5" y="339"/>
                    <a:pt x="60" y="546"/>
                  </a:cubicBezTo>
                  <a:cubicBezTo>
                    <a:pt x="115" y="753"/>
                    <a:pt x="237" y="1046"/>
                    <a:pt x="333" y="1243"/>
                  </a:cubicBezTo>
                  <a:cubicBezTo>
                    <a:pt x="429" y="1440"/>
                    <a:pt x="503" y="1574"/>
                    <a:pt x="636" y="1728"/>
                  </a:cubicBezTo>
                  <a:cubicBezTo>
                    <a:pt x="769" y="1882"/>
                    <a:pt x="1026" y="2074"/>
                    <a:pt x="1129" y="2165"/>
                  </a:cubicBezTo>
                </a:path>
              </a:pathLst>
            </a:custGeom>
            <a:noFill/>
            <a:ln w="28575" cmpd="sng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4" name="Oval 22">
              <a:extLst>
                <a:ext uri="{FF2B5EF4-FFF2-40B4-BE49-F238E27FC236}">
                  <a16:creationId xmlns:a16="http://schemas.microsoft.com/office/drawing/2014/main" id="{9966575D-A175-B7B9-3076-FDCBAE1FF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7" y="1964"/>
              <a:ext cx="62" cy="57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7375" name="Oval 23">
              <a:extLst>
                <a:ext uri="{FF2B5EF4-FFF2-40B4-BE49-F238E27FC236}">
                  <a16:creationId xmlns:a16="http://schemas.microsoft.com/office/drawing/2014/main" id="{099CD61A-029F-5CD6-56EA-B582965AA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5" y="2143"/>
              <a:ext cx="62" cy="57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7376" name="Oval 24">
              <a:extLst>
                <a:ext uri="{FF2B5EF4-FFF2-40B4-BE49-F238E27FC236}">
                  <a16:creationId xmlns:a16="http://schemas.microsoft.com/office/drawing/2014/main" id="{7BA2B712-FCA3-B474-8BAF-65E8D7CD6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5" y="1032"/>
              <a:ext cx="62" cy="5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7377" name="Text Box 25">
              <a:extLst>
                <a:ext uri="{FF2B5EF4-FFF2-40B4-BE49-F238E27FC236}">
                  <a16:creationId xmlns:a16="http://schemas.microsoft.com/office/drawing/2014/main" id="{8952E92F-3499-BEB9-944F-947F002BEE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1" y="2757"/>
              <a:ext cx="289" cy="3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57378" name="Text Box 26">
              <a:extLst>
                <a:ext uri="{FF2B5EF4-FFF2-40B4-BE49-F238E27FC236}">
                  <a16:creationId xmlns:a16="http://schemas.microsoft.com/office/drawing/2014/main" id="{FDD1906A-D7F9-BA20-4287-D6A5ED95EC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4" y="2751"/>
              <a:ext cx="491" cy="3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ym typeface="Symbol" panose="05050102010706020507" pitchFamily="18" charset="2"/>
                </a:rPr>
                <a:t></a:t>
              </a:r>
              <a:r>
                <a:rPr lang="en-US" altLang="zh-CN" sz="2800" baseline="-25000"/>
                <a:t>0</a:t>
              </a:r>
              <a:endParaRPr lang="en-US" altLang="zh-CN" sz="2800"/>
            </a:p>
          </p:txBody>
        </p:sp>
        <p:sp>
          <p:nvSpPr>
            <p:cNvPr id="57379" name="Text Box 27">
              <a:extLst>
                <a:ext uri="{FF2B5EF4-FFF2-40B4-BE49-F238E27FC236}">
                  <a16:creationId xmlns:a16="http://schemas.microsoft.com/office/drawing/2014/main" id="{A8DA8520-97C6-42CD-8BF4-073C6A98DC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300"/>
              <a:ext cx="275" cy="3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7380" name="Text Box 28">
              <a:extLst>
                <a:ext uri="{FF2B5EF4-FFF2-40B4-BE49-F238E27FC236}">
                  <a16:creationId xmlns:a16="http://schemas.microsoft.com/office/drawing/2014/main" id="{308D2A3A-7ACF-E8CE-541D-FBDC4705F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4" y="2751"/>
              <a:ext cx="598" cy="3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tx2"/>
                  </a:solidFill>
                  <a:sym typeface="Symbol" panose="05050102010706020507" pitchFamily="18" charset="2"/>
                </a:rPr>
                <a:t>ω</a:t>
              </a:r>
              <a:r>
                <a:rPr lang="zh-CN" altLang="en-US" sz="2800" baseline="-25000">
                  <a:solidFill>
                    <a:schemeClr val="tx2"/>
                  </a:solidFill>
                  <a:sym typeface="Symbol" panose="05050102010706020507" pitchFamily="18" charset="2"/>
                </a:rPr>
                <a:t>共</a:t>
              </a:r>
              <a:endParaRPr lang="zh-CN" altLang="en-US" sz="2800" baseline="-25000">
                <a:solidFill>
                  <a:schemeClr val="tx2"/>
                </a:solidFill>
              </a:endParaRPr>
            </a:p>
          </p:txBody>
        </p:sp>
        <p:sp>
          <p:nvSpPr>
            <p:cNvPr id="57381" name="Line 32">
              <a:extLst>
                <a:ext uri="{FF2B5EF4-FFF2-40B4-BE49-F238E27FC236}">
                  <a16:creationId xmlns:a16="http://schemas.microsoft.com/office/drawing/2014/main" id="{87B6213F-A6F0-7B88-4463-4E2F6F0F8B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56" y="868"/>
              <a:ext cx="152" cy="171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2" name="Line 38">
              <a:extLst>
                <a:ext uri="{FF2B5EF4-FFF2-40B4-BE49-F238E27FC236}">
                  <a16:creationId xmlns:a16="http://schemas.microsoft.com/office/drawing/2014/main" id="{710DA18B-B643-B1C3-149C-865022F17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0" y="2221"/>
              <a:ext cx="0" cy="59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dash"/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3" name="Line 39">
              <a:extLst>
                <a:ext uri="{FF2B5EF4-FFF2-40B4-BE49-F238E27FC236}">
                  <a16:creationId xmlns:a16="http://schemas.microsoft.com/office/drawing/2014/main" id="{7516B265-D22E-740E-A33C-AF42FB220C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2024"/>
              <a:ext cx="0" cy="81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dash"/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7497" name="Group 41">
            <a:extLst>
              <a:ext uri="{FF2B5EF4-FFF2-40B4-BE49-F238E27FC236}">
                <a16:creationId xmlns:a16="http://schemas.microsoft.com/office/drawing/2014/main" id="{D6FC1B0F-B42E-E9CC-2AB3-C2FCD4B6E085}"/>
              </a:ext>
            </a:extLst>
          </p:cNvPr>
          <p:cNvGrpSpPr>
            <a:grpSpLocks/>
          </p:cNvGrpSpPr>
          <p:nvPr/>
        </p:nvGrpSpPr>
        <p:grpSpPr bwMode="auto">
          <a:xfrm>
            <a:off x="6491288" y="3284538"/>
            <a:ext cx="2305050" cy="1119187"/>
            <a:chOff x="4195" y="1655"/>
            <a:chExt cx="1452" cy="705"/>
          </a:xfrm>
        </p:grpSpPr>
        <p:sp>
          <p:nvSpPr>
            <p:cNvPr id="57363" name="Text Box 31">
              <a:extLst>
                <a:ext uri="{FF2B5EF4-FFF2-40B4-BE49-F238E27FC236}">
                  <a16:creationId xmlns:a16="http://schemas.microsoft.com/office/drawing/2014/main" id="{EB91FFF3-C59A-976A-897B-59CC307CB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1655"/>
              <a:ext cx="1179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6194" tIns="38097" rIns="76194" bIns="38097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200">
                  <a:solidFill>
                    <a:srgbClr val="008000"/>
                  </a:solidFill>
                </a:rPr>
                <a:t>大阻尼 </a:t>
              </a:r>
              <a:r>
                <a:rPr lang="zh-CN" altLang="en-US" i="1">
                  <a:solidFill>
                    <a:srgbClr val="008000"/>
                  </a:solidFill>
                  <a:sym typeface="Symbol" panose="05050102010706020507" pitchFamily="18" charset="2"/>
                </a:rPr>
                <a:t></a:t>
              </a:r>
              <a:r>
                <a:rPr lang="zh-CN" altLang="en-US" i="1">
                  <a:solidFill>
                    <a:srgbClr val="008000"/>
                  </a:solidFill>
                </a:rPr>
                <a:t> </a:t>
              </a:r>
              <a:r>
                <a:rPr lang="en-US" altLang="zh-CN">
                  <a:solidFill>
                    <a:srgbClr val="008000"/>
                  </a:solidFill>
                </a:rPr>
                <a:t>&gt;</a:t>
              </a:r>
              <a:r>
                <a:rPr lang="en-US" altLang="zh-CN" sz="1500">
                  <a:solidFill>
                    <a:srgbClr val="008000"/>
                  </a:solidFill>
                </a:rPr>
                <a:t> </a:t>
              </a:r>
              <a:r>
                <a:rPr lang="en-US" altLang="zh-CN">
                  <a:solidFill>
                    <a:srgbClr val="008000"/>
                  </a:solidFill>
                </a:rPr>
                <a:t>0 </a:t>
              </a:r>
            </a:p>
          </p:txBody>
        </p:sp>
        <p:sp>
          <p:nvSpPr>
            <p:cNvPr id="57364" name="Line 34">
              <a:extLst>
                <a:ext uri="{FF2B5EF4-FFF2-40B4-BE49-F238E27FC236}">
                  <a16:creationId xmlns:a16="http://schemas.microsoft.com/office/drawing/2014/main" id="{4302ABA3-8239-9FBE-3B88-8D0D060117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6" y="1933"/>
              <a:ext cx="378" cy="427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5" name="Line 40">
              <a:extLst>
                <a:ext uri="{FF2B5EF4-FFF2-40B4-BE49-F238E27FC236}">
                  <a16:creationId xmlns:a16="http://schemas.microsoft.com/office/drawing/2014/main" id="{4943F7C3-61CB-FA1C-C596-548B19009E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5" y="1933"/>
              <a:ext cx="409" cy="227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7499" name="Group 43">
            <a:extLst>
              <a:ext uri="{FF2B5EF4-FFF2-40B4-BE49-F238E27FC236}">
                <a16:creationId xmlns:a16="http://schemas.microsoft.com/office/drawing/2014/main" id="{A3CD27DE-A501-0488-56AA-DCA2DEE3D792}"/>
              </a:ext>
            </a:extLst>
          </p:cNvPr>
          <p:cNvGrpSpPr>
            <a:grpSpLocks/>
          </p:cNvGrpSpPr>
          <p:nvPr/>
        </p:nvGrpSpPr>
        <p:grpSpPr bwMode="auto">
          <a:xfrm>
            <a:off x="6721475" y="2781300"/>
            <a:ext cx="1943100" cy="728663"/>
            <a:chOff x="4332" y="1338"/>
            <a:chExt cx="1224" cy="459"/>
          </a:xfrm>
        </p:grpSpPr>
        <p:sp>
          <p:nvSpPr>
            <p:cNvPr id="57361" name="Text Box 30">
              <a:extLst>
                <a:ext uri="{FF2B5EF4-FFF2-40B4-BE49-F238E27FC236}">
                  <a16:creationId xmlns:a16="http://schemas.microsoft.com/office/drawing/2014/main" id="{86C9B0AB-1468-4BD7-5B1E-7FD5ECC62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5" y="1338"/>
              <a:ext cx="1211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6194" tIns="38097" rIns="76194" bIns="38097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200"/>
                <a:t>弱阻尼 </a:t>
              </a:r>
              <a:r>
                <a:rPr lang="zh-CN" altLang="en-US" i="1">
                  <a:sym typeface="Symbol" panose="05050102010706020507" pitchFamily="18" charset="2"/>
                </a:rPr>
                <a:t></a:t>
              </a:r>
              <a:r>
                <a:rPr lang="zh-CN" altLang="en-US" i="1"/>
                <a:t> </a:t>
              </a:r>
              <a:r>
                <a:rPr lang="en-US" altLang="zh-CN"/>
                <a:t>&gt;</a:t>
              </a:r>
              <a:r>
                <a:rPr lang="en-US" altLang="zh-CN" sz="1500"/>
                <a:t> </a:t>
              </a:r>
              <a:r>
                <a:rPr lang="en-US" altLang="zh-CN"/>
                <a:t>0</a:t>
              </a:r>
            </a:p>
          </p:txBody>
        </p:sp>
        <p:sp>
          <p:nvSpPr>
            <p:cNvPr id="57362" name="Line 42">
              <a:extLst>
                <a:ext uri="{FF2B5EF4-FFF2-40B4-BE49-F238E27FC236}">
                  <a16:creationId xmlns:a16="http://schemas.microsoft.com/office/drawing/2014/main" id="{A7EB6419-D721-C672-AB06-5144E71BEF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2" y="1616"/>
              <a:ext cx="272" cy="18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7501" name="Group 45">
            <a:extLst>
              <a:ext uri="{FF2B5EF4-FFF2-40B4-BE49-F238E27FC236}">
                <a16:creationId xmlns:a16="http://schemas.microsoft.com/office/drawing/2014/main" id="{30720AD5-8790-B2A4-BCFD-10D7726F4386}"/>
              </a:ext>
            </a:extLst>
          </p:cNvPr>
          <p:cNvGrpSpPr>
            <a:grpSpLocks/>
          </p:cNvGrpSpPr>
          <p:nvPr/>
        </p:nvGrpSpPr>
        <p:grpSpPr bwMode="auto">
          <a:xfrm>
            <a:off x="6589713" y="2266950"/>
            <a:ext cx="2087562" cy="585788"/>
            <a:chOff x="4241" y="1020"/>
            <a:chExt cx="1315" cy="369"/>
          </a:xfrm>
        </p:grpSpPr>
        <p:sp>
          <p:nvSpPr>
            <p:cNvPr id="57359" name="Text Box 29">
              <a:extLst>
                <a:ext uri="{FF2B5EF4-FFF2-40B4-BE49-F238E27FC236}">
                  <a16:creationId xmlns:a16="http://schemas.microsoft.com/office/drawing/2014/main" id="{8E18DAE7-43C7-A3A6-6344-364BAB8D0E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1" y="1020"/>
              <a:ext cx="1305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6194" tIns="38097" rIns="76194" bIns="38097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200">
                  <a:solidFill>
                    <a:schemeClr val="accent2"/>
                  </a:solidFill>
                </a:rPr>
                <a:t>无阻尼 </a:t>
              </a:r>
              <a:r>
                <a:rPr lang="zh-CN" altLang="en-US" i="1">
                  <a:solidFill>
                    <a:schemeClr val="accent2"/>
                  </a:solidFill>
                  <a:sym typeface="Symbol" panose="05050102010706020507" pitchFamily="18" charset="2"/>
                </a:rPr>
                <a:t></a:t>
              </a:r>
              <a:r>
                <a:rPr lang="zh-CN" altLang="en-US" i="1">
                  <a:solidFill>
                    <a:schemeClr val="accent2"/>
                  </a:solidFill>
                </a:rPr>
                <a:t> </a:t>
              </a:r>
              <a:r>
                <a:rPr lang="en-US" altLang="zh-CN">
                  <a:solidFill>
                    <a:schemeClr val="accent2"/>
                  </a:solidFill>
                </a:rPr>
                <a:t>=</a:t>
              </a:r>
              <a:r>
                <a:rPr lang="en-US" altLang="zh-CN" sz="1500">
                  <a:solidFill>
                    <a:schemeClr val="accent2"/>
                  </a:solidFill>
                </a:rPr>
                <a:t> </a:t>
              </a:r>
              <a:r>
                <a:rPr lang="en-US" altLang="zh-CN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57360" name="Line 44">
              <a:extLst>
                <a:ext uri="{FF2B5EF4-FFF2-40B4-BE49-F238E27FC236}">
                  <a16:creationId xmlns:a16="http://schemas.microsoft.com/office/drawing/2014/main" id="{3A0ADE32-114C-4C41-DE35-5D7A782904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1" y="1298"/>
              <a:ext cx="181" cy="9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47503" name="Object 47">
            <a:extLst>
              <a:ext uri="{FF2B5EF4-FFF2-40B4-BE49-F238E27FC236}">
                <a16:creationId xmlns:a16="http://schemas.microsoft.com/office/drawing/2014/main" id="{0D60288D-7850-9FCA-1AF4-23B7D5EF03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1875" y="404813"/>
          <a:ext cx="3108325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370280" imgH="1239480" progId="Equation.3">
                  <p:embed/>
                </p:oleObj>
              </mc:Choice>
              <mc:Fallback>
                <p:oleObj name="公式" r:id="rId6" imgW="7370280" imgH="123948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875" y="404813"/>
                        <a:ext cx="3108325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504" name="Object 48">
            <a:extLst>
              <a:ext uri="{FF2B5EF4-FFF2-40B4-BE49-F238E27FC236}">
                <a16:creationId xmlns:a16="http://schemas.microsoft.com/office/drawing/2014/main" id="{362951AF-0247-50A3-BA39-AA37641D5F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4250" y="254000"/>
          <a:ext cx="3233738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709400" imgH="2284200" progId="Equation.3">
                  <p:embed/>
                </p:oleObj>
              </mc:Choice>
              <mc:Fallback>
                <p:oleObj name="公式" r:id="rId8" imgW="7709400" imgH="22842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0" y="254000"/>
                        <a:ext cx="3233738" cy="108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7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47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4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7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147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47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147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47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4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47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47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4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0"/>
                                        <p:tgtEl>
                                          <p:spTgt spid="147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0" grpId="0"/>
      <p:bldP spid="147467" grpId="0"/>
      <p:bldP spid="147468" grpId="0"/>
      <p:bldP spid="14749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4" name="Text Box 4">
            <a:extLst>
              <a:ext uri="{FF2B5EF4-FFF2-40B4-BE49-F238E27FC236}">
                <a16:creationId xmlns:a16="http://schemas.microsoft.com/office/drawing/2014/main" id="{C4493382-A884-89A1-3F9F-3326FF6EF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06388"/>
            <a:ext cx="2232025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194" tIns="38097" rIns="76194" bIns="38097">
            <a:spAutoFit/>
          </a:bodyPr>
          <a:lstStyle>
            <a:lvl1pPr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/>
            <a:r>
              <a:rPr lang="en-US" altLang="zh-CN" sz="2100">
                <a:latin typeface="华文中宋" panose="02010600040101010101" pitchFamily="2" charset="-122"/>
              </a:rPr>
              <a:t>★</a:t>
            </a:r>
            <a:r>
              <a:rPr lang="en-US" altLang="zh-CN">
                <a:solidFill>
                  <a:srgbClr val="000080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>
                <a:solidFill>
                  <a:srgbClr val="000066"/>
                </a:solidFill>
                <a:latin typeface="华文中宋" panose="02010600040101010101" pitchFamily="2" charset="-122"/>
              </a:rPr>
              <a:t>应用：</a:t>
            </a:r>
          </a:p>
        </p:txBody>
      </p:sp>
      <p:sp>
        <p:nvSpPr>
          <p:cNvPr id="148485" name="Text Box 5">
            <a:extLst>
              <a:ext uri="{FF2B5EF4-FFF2-40B4-BE49-F238E27FC236}">
                <a16:creationId xmlns:a16="http://schemas.microsoft.com/office/drawing/2014/main" id="{60DCEA15-F39D-62AA-151A-38C57BF8D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738188"/>
            <a:ext cx="6049963" cy="1443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194" tIns="38097" rIns="76194" bIns="38097">
            <a:spAutoFit/>
          </a:bodyPr>
          <a:lstStyle>
            <a:lvl1pPr marL="457200" indent="-4572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en-US" altLang="zh-CN" sz="2300">
                <a:solidFill>
                  <a:srgbClr val="000066"/>
                </a:solidFill>
              </a:rPr>
              <a:t>(1)</a:t>
            </a:r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电磁共振选台</a:t>
            </a:r>
            <a:r>
              <a:rPr lang="en-US" altLang="zh-CN" sz="2300">
                <a:solidFill>
                  <a:srgbClr val="000066"/>
                </a:solidFill>
              </a:rPr>
              <a:t>(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收音机</a:t>
            </a:r>
            <a:r>
              <a:rPr lang="en-US" altLang="zh-CN" sz="2300">
                <a:solidFill>
                  <a:srgbClr val="000066"/>
                </a:solidFill>
              </a:rPr>
              <a:t>)</a:t>
            </a:r>
            <a:r>
              <a:rPr lang="zh-CN" altLang="en-US" sz="2300">
                <a:solidFill>
                  <a:srgbClr val="000066"/>
                </a:solidFill>
              </a:rPr>
              <a:t>；</a:t>
            </a:r>
          </a:p>
          <a:p>
            <a:pPr algn="just" eaLnBrk="1" hangingPunct="1">
              <a:lnSpc>
                <a:spcPct val="130000"/>
              </a:lnSpc>
            </a:pPr>
            <a:r>
              <a:rPr lang="en-US" altLang="zh-CN" sz="2300">
                <a:solidFill>
                  <a:srgbClr val="000066"/>
                </a:solidFill>
              </a:rPr>
              <a:t>(2)</a:t>
            </a:r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乐器利用共振提高音响效果；</a:t>
            </a:r>
          </a:p>
          <a:p>
            <a:pPr algn="just" eaLnBrk="1" hangingPunct="1">
              <a:lnSpc>
                <a:spcPct val="130000"/>
              </a:lnSpc>
            </a:pPr>
            <a:r>
              <a:rPr lang="en-US" altLang="zh-CN" sz="2300">
                <a:solidFill>
                  <a:srgbClr val="000066"/>
                </a:solidFill>
              </a:rPr>
              <a:t>(3)</a:t>
            </a:r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研究避免共振的破坏的措施等。</a:t>
            </a:r>
          </a:p>
        </p:txBody>
      </p:sp>
      <p:sp>
        <p:nvSpPr>
          <p:cNvPr id="148486" name="Text Box 6">
            <a:extLst>
              <a:ext uri="{FF2B5EF4-FFF2-40B4-BE49-F238E27FC236}">
                <a16:creationId xmlns:a16="http://schemas.microsoft.com/office/drawing/2014/main" id="{FEE8B351-ADD0-B72D-A5CE-538899136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386013"/>
            <a:ext cx="5105400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194" tIns="38097" rIns="76194" bIns="38097">
            <a:spAutoFit/>
          </a:bodyPr>
          <a:lstStyle>
            <a:lvl1pPr marL="457200" indent="-4572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defTabSz="7620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Clr>
                <a:srgbClr val="FF3300"/>
              </a:buClr>
              <a:buFont typeface="Wingdings" panose="05000000000000000000" pitchFamily="2" charset="2"/>
              <a:buChar char="v"/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破坏外力</a:t>
            </a:r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(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强迫力</a:t>
            </a:r>
            <a:r>
              <a:rPr lang="en-US" altLang="zh-CN" sz="2300">
                <a:solidFill>
                  <a:srgbClr val="000066"/>
                </a:solidFill>
                <a:latin typeface="华文中宋" panose="02010600040101010101" pitchFamily="2" charset="-122"/>
              </a:rPr>
              <a:t>)</a:t>
            </a: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的周期性</a:t>
            </a:r>
          </a:p>
          <a:p>
            <a:pPr algn="just" eaLnBrk="1" hangingPunct="1">
              <a:lnSpc>
                <a:spcPct val="110000"/>
              </a:lnSpc>
              <a:buClr>
                <a:srgbClr val="FF3300"/>
              </a:buClr>
              <a:buFont typeface="Wingdings" panose="05000000000000000000" pitchFamily="2" charset="2"/>
              <a:buChar char="v"/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改变系统固有频率</a:t>
            </a:r>
          </a:p>
          <a:p>
            <a:pPr algn="just" eaLnBrk="1" hangingPunct="1">
              <a:lnSpc>
                <a:spcPct val="110000"/>
              </a:lnSpc>
              <a:buClr>
                <a:srgbClr val="FF3300"/>
              </a:buClr>
              <a:buFont typeface="Wingdings" panose="05000000000000000000" pitchFamily="2" charset="2"/>
              <a:buChar char="v"/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改变外力的频率</a:t>
            </a:r>
          </a:p>
          <a:p>
            <a:pPr algn="just" eaLnBrk="1" hangingPunct="1">
              <a:lnSpc>
                <a:spcPct val="110000"/>
              </a:lnSpc>
              <a:buClr>
                <a:srgbClr val="FF3300"/>
              </a:buClr>
              <a:buFont typeface="Wingdings" panose="05000000000000000000" pitchFamily="2" charset="2"/>
              <a:buChar char="v"/>
            </a:pPr>
            <a:r>
              <a:rPr lang="zh-CN" altLang="en-US" sz="2300">
                <a:solidFill>
                  <a:srgbClr val="000066"/>
                </a:solidFill>
                <a:latin typeface="华文中宋" panose="02010600040101010101" pitchFamily="2" charset="-122"/>
              </a:rPr>
              <a:t>增大系统阻尼力</a:t>
            </a:r>
          </a:p>
        </p:txBody>
      </p:sp>
      <p:grpSp>
        <p:nvGrpSpPr>
          <p:cNvPr id="148489" name="Group 9">
            <a:extLst>
              <a:ext uri="{FF2B5EF4-FFF2-40B4-BE49-F238E27FC236}">
                <a16:creationId xmlns:a16="http://schemas.microsoft.com/office/drawing/2014/main" id="{29FCC63A-829B-59E6-1110-DEB4266ABE83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4941888"/>
            <a:ext cx="6462713" cy="630237"/>
            <a:chOff x="532" y="2931"/>
            <a:chExt cx="4071" cy="397"/>
          </a:xfrm>
        </p:grpSpPr>
        <p:sp>
          <p:nvSpPr>
            <p:cNvPr id="58376" name="WordArt 7">
              <a:extLst>
                <a:ext uri="{FF2B5EF4-FFF2-40B4-BE49-F238E27FC236}">
                  <a16:creationId xmlns:a16="http://schemas.microsoft.com/office/drawing/2014/main" id="{BC611C67-CF65-7E35-850F-5EC4EDDF02DC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532" y="2931"/>
              <a:ext cx="345" cy="397"/>
            </a:xfrm>
            <a:prstGeom prst="rect">
              <a:avLst/>
            </a:pr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path path="rect">
                      <a:fillToRect l="50000" t="50000" r="50000" b="50000"/>
                    </a:path>
                  </a:gradFill>
                  <a:effectLst>
                    <a:outerShdw dist="35921" dir="2700000" algn="ctr" rotWithShape="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？</a:t>
              </a:r>
            </a:p>
          </p:txBody>
        </p:sp>
        <p:sp>
          <p:nvSpPr>
            <p:cNvPr id="58377" name="Rectangle 8">
              <a:extLst>
                <a:ext uri="{FF2B5EF4-FFF2-40B4-BE49-F238E27FC236}">
                  <a16:creationId xmlns:a16="http://schemas.microsoft.com/office/drawing/2014/main" id="{32AB03FC-7EE4-8716-26E8-9D4C5BBF1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" y="2951"/>
              <a:ext cx="3580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2300">
                  <a:solidFill>
                    <a:srgbClr val="000066"/>
                  </a:solidFill>
                  <a:latin typeface="华文中宋" panose="02010600040101010101" pitchFamily="2" charset="-122"/>
                </a:rPr>
                <a:t>受迫振动与简谐振动有何不同？</a:t>
              </a:r>
            </a:p>
          </p:txBody>
        </p:sp>
      </p:grpSp>
      <p:pic>
        <p:nvPicPr>
          <p:cNvPr id="148490" name="Picture 10" descr="1">
            <a:extLst>
              <a:ext uri="{FF2B5EF4-FFF2-40B4-BE49-F238E27FC236}">
                <a16:creationId xmlns:a16="http://schemas.microsoft.com/office/drawing/2014/main" id="{1ED22279-AB16-E4D0-764C-877DDCA31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1206500"/>
            <a:ext cx="3960812" cy="344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491" name="Text Box 11">
            <a:extLst>
              <a:ext uri="{FF2B5EF4-FFF2-40B4-BE49-F238E27FC236}">
                <a16:creationId xmlns:a16="http://schemas.microsoft.com/office/drawing/2014/main" id="{C6880EAC-878C-4050-5979-ACBB45AFB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267200"/>
            <a:ext cx="5103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塔科马海峡大桥的共振断蹋              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4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148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4" grpId="0"/>
      <p:bldP spid="148485" grpId="0"/>
      <p:bldP spid="148486" grpId="0"/>
      <p:bldP spid="148491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22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lg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Times New Roman" pitchFamily="18" charset="0"/>
            <a:ea typeface="华文中宋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22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lg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Times New Roman" pitchFamily="18" charset="0"/>
            <a:ea typeface="华文中宋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4295</TotalTime>
  <Words>2902</Words>
  <Application>Microsoft Office PowerPoint</Application>
  <PresentationFormat>全屏显示(4:3)</PresentationFormat>
  <Paragraphs>548</Paragraphs>
  <Slides>54</Slides>
  <Notes>1</Notes>
  <HiddenSlides>0</HiddenSlides>
  <MMClips>3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54</vt:i4>
      </vt:variant>
    </vt:vector>
  </HeadingPairs>
  <TitlesOfParts>
    <vt:vector size="69" baseType="lpstr">
      <vt:lpstr>Times New Roman</vt:lpstr>
      <vt:lpstr>华文中宋</vt:lpstr>
      <vt:lpstr>Arial</vt:lpstr>
      <vt:lpstr>宋体</vt:lpstr>
      <vt:lpstr>等线</vt:lpstr>
      <vt:lpstr>黑体</vt:lpstr>
      <vt:lpstr>隶书</vt:lpstr>
      <vt:lpstr>Symbol</vt:lpstr>
      <vt:lpstr>Wingdings</vt:lpstr>
      <vt:lpstr>新宋体</vt:lpstr>
      <vt:lpstr>楷体_GB2312</vt:lpstr>
      <vt:lpstr>Lucida Sans Unicode</vt:lpstr>
      <vt:lpstr>默认设计模板</vt:lpstr>
      <vt:lpstr>Microsoft 公式 3.0</vt:lpstr>
      <vt:lpstr>MathType 6.0 Equation</vt:lpstr>
      <vt:lpstr>机械振动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SDU-phy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振动</dc:subject>
  <dc:creator>高建华   刘东红</dc:creator>
  <cp:lastModifiedBy>LuoXiaoguang</cp:lastModifiedBy>
  <cp:revision>271</cp:revision>
  <dcterms:created xsi:type="dcterms:W3CDTF">2003-03-03T05:08:48Z</dcterms:created>
  <dcterms:modified xsi:type="dcterms:W3CDTF">2026-03-05T00:09:36Z</dcterms:modified>
</cp:coreProperties>
</file>