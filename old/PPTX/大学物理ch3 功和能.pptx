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96" r:id="rId2"/>
    <p:sldId id="298" r:id="rId3"/>
    <p:sldId id="326" r:id="rId4"/>
    <p:sldId id="299" r:id="rId5"/>
    <p:sldId id="300" r:id="rId6"/>
    <p:sldId id="303" r:id="rId7"/>
    <p:sldId id="301" r:id="rId8"/>
    <p:sldId id="302" r:id="rId9"/>
    <p:sldId id="304" r:id="rId10"/>
    <p:sldId id="327" r:id="rId11"/>
    <p:sldId id="305" r:id="rId12"/>
    <p:sldId id="306" r:id="rId13"/>
    <p:sldId id="307" r:id="rId14"/>
    <p:sldId id="329" r:id="rId15"/>
    <p:sldId id="330" r:id="rId16"/>
    <p:sldId id="258" r:id="rId17"/>
    <p:sldId id="308" r:id="rId18"/>
    <p:sldId id="332" r:id="rId19"/>
    <p:sldId id="331" r:id="rId20"/>
    <p:sldId id="309" r:id="rId21"/>
    <p:sldId id="333" r:id="rId22"/>
    <p:sldId id="312" r:id="rId23"/>
    <p:sldId id="313" r:id="rId24"/>
    <p:sldId id="334" r:id="rId25"/>
    <p:sldId id="335" r:id="rId26"/>
    <p:sldId id="314" r:id="rId27"/>
    <p:sldId id="336" r:id="rId28"/>
    <p:sldId id="342" r:id="rId29"/>
    <p:sldId id="338" r:id="rId30"/>
    <p:sldId id="339" r:id="rId31"/>
    <p:sldId id="316" r:id="rId32"/>
    <p:sldId id="317" r:id="rId33"/>
    <p:sldId id="318" r:id="rId34"/>
    <p:sldId id="319" r:id="rId35"/>
    <p:sldId id="340" r:id="rId36"/>
    <p:sldId id="321" r:id="rId37"/>
    <p:sldId id="322" r:id="rId38"/>
    <p:sldId id="323" r:id="rId39"/>
    <p:sldId id="324" r:id="rId40"/>
    <p:sldId id="341" r:id="rId41"/>
    <p:sldId id="325" r:id="rId42"/>
    <p:sldId id="343" r:id="rId4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  <a:srgbClr val="080808"/>
    <a:srgbClr val="1C1C1C"/>
    <a:srgbClr val="333333"/>
    <a:srgbClr val="5F5F5F"/>
    <a:srgbClr val="B2B2B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24" autoAdjust="0"/>
  </p:normalViewPr>
  <p:slideViewPr>
    <p:cSldViewPr>
      <p:cViewPr varScale="1">
        <p:scale>
          <a:sx n="123" d="100"/>
          <a:sy n="123" d="100"/>
        </p:scale>
        <p:origin x="4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46400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592067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8810431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54160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602300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957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7537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6879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37022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444116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455997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61738C4-1DC5-686E-11E9-2330C68E361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75438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5C83F8C-81A5-6A55-2A38-AD449523B0E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75438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13A6865-A991-1D7E-3BD8-5066975DD20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75438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920369-B4FD-967C-13BC-B6F1B3FB37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6013" y="3495675"/>
            <a:ext cx="7777162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zh-CN" altLang="en-US" sz="800">
              <a:latin typeface="Times New Roman" panose="02020603050405020304" pitchFamily="18" charset="0"/>
            </a:endParaRPr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47FCE44A-C36D-62FE-1F82-AAEEA02177C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6604000"/>
            <a:ext cx="9086850" cy="4763"/>
            <a:chOff x="5" y="4160"/>
            <a:chExt cx="5724" cy="3"/>
          </a:xfrm>
        </p:grpSpPr>
        <p:sp>
          <p:nvSpPr>
            <p:cNvPr id="1031" name="Line 7">
              <a:extLst>
                <a:ext uri="{FF2B5EF4-FFF2-40B4-BE49-F238E27FC236}">
                  <a16:creationId xmlns:a16="http://schemas.microsoft.com/office/drawing/2014/main" id="{DFC4B19B-0118-03F3-CFDD-F05EA1BDE1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" y="4163"/>
              <a:ext cx="5724" cy="0"/>
            </a:xfrm>
            <a:prstGeom prst="line">
              <a:avLst/>
            </a:prstGeom>
            <a:noFill/>
            <a:ln w="3175">
              <a:solidFill>
                <a:srgbClr val="B2B2B2">
                  <a:alpha val="89803"/>
                </a:srgb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Line 8">
              <a:extLst>
                <a:ext uri="{FF2B5EF4-FFF2-40B4-BE49-F238E27FC236}">
                  <a16:creationId xmlns:a16="http://schemas.microsoft.com/office/drawing/2014/main" id="{C61DF7E7-06E3-9F7C-AEF7-F2DE819DCEA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1" y="4160"/>
              <a:ext cx="5701" cy="0"/>
            </a:xfrm>
            <a:prstGeom prst="line">
              <a:avLst/>
            </a:prstGeom>
            <a:noFill/>
            <a:ln w="63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6.emf"/><Relationship Id="rId21" Type="http://schemas.openxmlformats.org/officeDocument/2006/relationships/image" Target="../media/image15.emf"/><Relationship Id="rId7" Type="http://schemas.openxmlformats.org/officeDocument/2006/relationships/image" Target="../media/image8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3.emf"/><Relationship Id="rId25" Type="http://schemas.openxmlformats.org/officeDocument/2006/relationships/image" Target="../media/image17.e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e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19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4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4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1.emf"/><Relationship Id="rId5" Type="http://schemas.openxmlformats.org/officeDocument/2006/relationships/image" Target="../media/image28.emf"/><Relationship Id="rId15" Type="http://schemas.openxmlformats.org/officeDocument/2006/relationships/image" Target="../media/image33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0.e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0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35.emf"/><Relationship Id="rId21" Type="http://schemas.openxmlformats.org/officeDocument/2006/relationships/image" Target="../media/image44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2.emf"/><Relationship Id="rId25" Type="http://schemas.openxmlformats.org/officeDocument/2006/relationships/image" Target="../media/image46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9.e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23" Type="http://schemas.openxmlformats.org/officeDocument/2006/relationships/image" Target="../media/image45.e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3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4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3.emf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0.bin"/><Relationship Id="rId3" Type="http://schemas.openxmlformats.org/officeDocument/2006/relationships/image" Target="../media/image48.emf"/><Relationship Id="rId21" Type="http://schemas.openxmlformats.org/officeDocument/2006/relationships/image" Target="../media/image57.e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5.emf"/><Relationship Id="rId25" Type="http://schemas.openxmlformats.org/officeDocument/2006/relationships/image" Target="../media/image59.emf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29" Type="http://schemas.openxmlformats.org/officeDocument/2006/relationships/image" Target="../media/image6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2.emf"/><Relationship Id="rId24" Type="http://schemas.openxmlformats.org/officeDocument/2006/relationships/oleObject" Target="../embeddings/oleObject59.bin"/><Relationship Id="rId5" Type="http://schemas.openxmlformats.org/officeDocument/2006/relationships/image" Target="../media/image49.emf"/><Relationship Id="rId15" Type="http://schemas.openxmlformats.org/officeDocument/2006/relationships/image" Target="../media/image54.emf"/><Relationship Id="rId23" Type="http://schemas.openxmlformats.org/officeDocument/2006/relationships/image" Target="../media/image58.emf"/><Relationship Id="rId28" Type="http://schemas.openxmlformats.org/officeDocument/2006/relationships/oleObject" Target="../embeddings/oleObject61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6.e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e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Relationship Id="rId27" Type="http://schemas.openxmlformats.org/officeDocument/2006/relationships/image" Target="../media/image6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6.emf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12" Type="http://schemas.openxmlformats.org/officeDocument/2006/relationships/oleObject" Target="../embeddings/oleObject72.bin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4.emf"/><Relationship Id="rId14" Type="http://schemas.openxmlformats.org/officeDocument/2006/relationships/image" Target="../media/image7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83.e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" Type="http://schemas.openxmlformats.org/officeDocument/2006/relationships/image" Target="../media/image78.emf"/><Relationship Id="rId21" Type="http://schemas.openxmlformats.org/officeDocument/2006/relationships/image" Target="../media/image87.emf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85.emf"/><Relationship Id="rId25" Type="http://schemas.openxmlformats.org/officeDocument/2006/relationships/image" Target="../media/image89.e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29" Type="http://schemas.openxmlformats.org/officeDocument/2006/relationships/image" Target="../media/image9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82.e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23" Type="http://schemas.openxmlformats.org/officeDocument/2006/relationships/image" Target="../media/image88.emf"/><Relationship Id="rId28" Type="http://schemas.openxmlformats.org/officeDocument/2006/relationships/oleObject" Target="../embeddings/oleObject86.bin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86.e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81.e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9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7.emf"/><Relationship Id="rId3" Type="http://schemas.openxmlformats.org/officeDocument/2006/relationships/image" Target="../media/image92.emf"/><Relationship Id="rId7" Type="http://schemas.openxmlformats.org/officeDocument/2006/relationships/image" Target="../media/image94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9.e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6.wmf"/><Relationship Id="rId5" Type="http://schemas.openxmlformats.org/officeDocument/2006/relationships/image" Target="../media/image93.emf"/><Relationship Id="rId15" Type="http://schemas.openxmlformats.org/officeDocument/2006/relationships/image" Target="../media/image98.e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5.emf"/><Relationship Id="rId14" Type="http://schemas.openxmlformats.org/officeDocument/2006/relationships/oleObject" Target="../embeddings/oleObject9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11.emf"/><Relationship Id="rId3" Type="http://schemas.openxmlformats.org/officeDocument/2006/relationships/image" Target="../media/image106.emf"/><Relationship Id="rId7" Type="http://schemas.openxmlformats.org/officeDocument/2006/relationships/image" Target="../media/image108.emf"/><Relationship Id="rId12" Type="http://schemas.openxmlformats.org/officeDocument/2006/relationships/oleObject" Target="../embeddings/oleObject102.bin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10.emf"/><Relationship Id="rId5" Type="http://schemas.openxmlformats.org/officeDocument/2006/relationships/image" Target="../media/image107.e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emf"/><Relationship Id="rId18" Type="http://schemas.openxmlformats.org/officeDocument/2006/relationships/oleObject" Target="../embeddings/oleObject111.bin"/><Relationship Id="rId26" Type="http://schemas.openxmlformats.org/officeDocument/2006/relationships/oleObject" Target="../embeddings/oleObject115.bin"/><Relationship Id="rId3" Type="http://schemas.openxmlformats.org/officeDocument/2006/relationships/image" Target="../media/image117.emf"/><Relationship Id="rId21" Type="http://schemas.openxmlformats.org/officeDocument/2006/relationships/image" Target="../media/image126.emf"/><Relationship Id="rId34" Type="http://schemas.openxmlformats.org/officeDocument/2006/relationships/oleObject" Target="../embeddings/oleObject119.bin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24.emf"/><Relationship Id="rId25" Type="http://schemas.openxmlformats.org/officeDocument/2006/relationships/image" Target="../media/image128.emf"/><Relationship Id="rId33" Type="http://schemas.openxmlformats.org/officeDocument/2006/relationships/image" Target="../media/image132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29" Type="http://schemas.openxmlformats.org/officeDocument/2006/relationships/image" Target="../media/image13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21.wmf"/><Relationship Id="rId24" Type="http://schemas.openxmlformats.org/officeDocument/2006/relationships/oleObject" Target="../embeddings/oleObject114.bin"/><Relationship Id="rId32" Type="http://schemas.openxmlformats.org/officeDocument/2006/relationships/oleObject" Target="../embeddings/oleObject118.bin"/><Relationship Id="rId5" Type="http://schemas.openxmlformats.org/officeDocument/2006/relationships/image" Target="../media/image118.emf"/><Relationship Id="rId15" Type="http://schemas.openxmlformats.org/officeDocument/2006/relationships/image" Target="../media/image123.wmf"/><Relationship Id="rId23" Type="http://schemas.openxmlformats.org/officeDocument/2006/relationships/image" Target="../media/image127.emf"/><Relationship Id="rId28" Type="http://schemas.openxmlformats.org/officeDocument/2006/relationships/oleObject" Target="../embeddings/oleObject116.bin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25.wmf"/><Relationship Id="rId31" Type="http://schemas.openxmlformats.org/officeDocument/2006/relationships/image" Target="../media/image131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20.e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Relationship Id="rId27" Type="http://schemas.openxmlformats.org/officeDocument/2006/relationships/image" Target="../media/image129.emf"/><Relationship Id="rId30" Type="http://schemas.openxmlformats.org/officeDocument/2006/relationships/oleObject" Target="../embeddings/oleObject117.bin"/><Relationship Id="rId35" Type="http://schemas.openxmlformats.org/officeDocument/2006/relationships/image" Target="../media/image133.emf"/><Relationship Id="rId8" Type="http://schemas.openxmlformats.org/officeDocument/2006/relationships/oleObject" Target="../embeddings/oleObject106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e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35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37.emf"/><Relationship Id="rId7" Type="http://schemas.openxmlformats.org/officeDocument/2006/relationships/image" Target="../media/image139.e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38.e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4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5.png"/><Relationship Id="rId7" Type="http://schemas.openxmlformats.org/officeDocument/2006/relationships/image" Target="../media/image148.wmf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52.emf"/><Relationship Id="rId7" Type="http://schemas.openxmlformats.org/officeDocument/2006/relationships/image" Target="../media/image154.e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56.emf"/><Relationship Id="rId5" Type="http://schemas.openxmlformats.org/officeDocument/2006/relationships/image" Target="../media/image153.e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5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emf"/><Relationship Id="rId3" Type="http://schemas.openxmlformats.org/officeDocument/2006/relationships/image" Target="../media/image157.emf"/><Relationship Id="rId7" Type="http://schemas.openxmlformats.org/officeDocument/2006/relationships/oleObject" Target="../embeddings/oleObject136.bin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e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58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3" Type="http://schemas.openxmlformats.org/officeDocument/2006/relationships/image" Target="../media/image161.emf"/><Relationship Id="rId7" Type="http://schemas.openxmlformats.org/officeDocument/2006/relationships/image" Target="../media/image163.emf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64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image" Target="../media/image166.emf"/><Relationship Id="rId7" Type="http://schemas.openxmlformats.org/officeDocument/2006/relationships/image" Target="../media/image168.emf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5" Type="http://schemas.openxmlformats.org/officeDocument/2006/relationships/image" Target="../media/image167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6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image" Target="../media/image176.emf"/><Relationship Id="rId3" Type="http://schemas.openxmlformats.org/officeDocument/2006/relationships/image" Target="../media/image170.emf"/><Relationship Id="rId7" Type="http://schemas.openxmlformats.org/officeDocument/2006/relationships/image" Target="../media/image172.emf"/><Relationship Id="rId12" Type="http://schemas.openxmlformats.org/officeDocument/2006/relationships/oleObject" Target="../embeddings/oleObject150.bin"/><Relationship Id="rId2" Type="http://schemas.openxmlformats.org/officeDocument/2006/relationships/oleObject" Target="../embeddings/oleObject146.bin"/><Relationship Id="rId16" Type="http://schemas.openxmlformats.org/officeDocument/2006/relationships/image" Target="../media/image17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75.emf"/><Relationship Id="rId5" Type="http://schemas.openxmlformats.org/officeDocument/2006/relationships/image" Target="../media/image171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5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84.emf"/><Relationship Id="rId3" Type="http://schemas.openxmlformats.org/officeDocument/2006/relationships/image" Target="../media/image179.emf"/><Relationship Id="rId7" Type="http://schemas.openxmlformats.org/officeDocument/2006/relationships/image" Target="../media/image181.e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83.emf"/><Relationship Id="rId5" Type="http://schemas.openxmlformats.org/officeDocument/2006/relationships/image" Target="../media/image180.e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82.emf"/><Relationship Id="rId14" Type="http://schemas.openxmlformats.org/officeDocument/2006/relationships/oleObject" Target="../embeddings/oleObject15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96.emf"/><Relationship Id="rId3" Type="http://schemas.openxmlformats.org/officeDocument/2006/relationships/image" Target="../media/image191.emf"/><Relationship Id="rId7" Type="http://schemas.openxmlformats.org/officeDocument/2006/relationships/image" Target="../media/image193.e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95.emf"/><Relationship Id="rId5" Type="http://schemas.openxmlformats.org/officeDocument/2006/relationships/image" Target="../media/image192.emf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94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202.emf"/><Relationship Id="rId3" Type="http://schemas.openxmlformats.org/officeDocument/2006/relationships/image" Target="../media/image197.emf"/><Relationship Id="rId7" Type="http://schemas.openxmlformats.org/officeDocument/2006/relationships/image" Target="../media/image199.e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204.emf"/><Relationship Id="rId2" Type="http://schemas.openxmlformats.org/officeDocument/2006/relationships/oleObject" Target="../embeddings/oleObject166.bin"/><Relationship Id="rId16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201.emf"/><Relationship Id="rId5" Type="http://schemas.openxmlformats.org/officeDocument/2006/relationships/image" Target="../media/image198.emf"/><Relationship Id="rId15" Type="http://schemas.openxmlformats.org/officeDocument/2006/relationships/image" Target="../media/image203.emf"/><Relationship Id="rId10" Type="http://schemas.openxmlformats.org/officeDocument/2006/relationships/oleObject" Target="../embeddings/oleObject170.bin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200.emf"/><Relationship Id="rId14" Type="http://schemas.openxmlformats.org/officeDocument/2006/relationships/oleObject" Target="../embeddings/oleObject17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210.emf"/><Relationship Id="rId3" Type="http://schemas.openxmlformats.org/officeDocument/2006/relationships/image" Target="../media/image205.emf"/><Relationship Id="rId7" Type="http://schemas.openxmlformats.org/officeDocument/2006/relationships/image" Target="../media/image207.e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6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209.emf"/><Relationship Id="rId5" Type="http://schemas.openxmlformats.org/officeDocument/2006/relationships/image" Target="../media/image206.emf"/><Relationship Id="rId15" Type="http://schemas.openxmlformats.org/officeDocument/2006/relationships/image" Target="../media/image211.e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208.emf"/><Relationship Id="rId14" Type="http://schemas.openxmlformats.org/officeDocument/2006/relationships/oleObject" Target="../embeddings/oleObject180.bin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8.emf"/><Relationship Id="rId18" Type="http://schemas.openxmlformats.org/officeDocument/2006/relationships/image" Target="../media/image221.emf"/><Relationship Id="rId26" Type="http://schemas.openxmlformats.org/officeDocument/2006/relationships/oleObject" Target="../embeddings/oleObject192.bin"/><Relationship Id="rId39" Type="http://schemas.openxmlformats.org/officeDocument/2006/relationships/oleObject" Target="../embeddings/oleObject198.bin"/><Relationship Id="rId21" Type="http://schemas.openxmlformats.org/officeDocument/2006/relationships/oleObject" Target="../embeddings/oleObject190.bin"/><Relationship Id="rId34" Type="http://schemas.openxmlformats.org/officeDocument/2006/relationships/image" Target="../media/image230.emf"/><Relationship Id="rId7" Type="http://schemas.openxmlformats.org/officeDocument/2006/relationships/image" Target="../media/image215.emf"/><Relationship Id="rId12" Type="http://schemas.openxmlformats.org/officeDocument/2006/relationships/oleObject" Target="../embeddings/oleObject186.bin"/><Relationship Id="rId17" Type="http://schemas.openxmlformats.org/officeDocument/2006/relationships/oleObject" Target="../embeddings/oleObject188.bin"/><Relationship Id="rId25" Type="http://schemas.openxmlformats.org/officeDocument/2006/relationships/image" Target="../media/image225.emf"/><Relationship Id="rId33" Type="http://schemas.openxmlformats.org/officeDocument/2006/relationships/oleObject" Target="../embeddings/oleObject195.bin"/><Relationship Id="rId38" Type="http://schemas.openxmlformats.org/officeDocument/2006/relationships/image" Target="../media/image232.emf"/><Relationship Id="rId2" Type="http://schemas.openxmlformats.org/officeDocument/2006/relationships/oleObject" Target="../embeddings/oleObject181.bin"/><Relationship Id="rId16" Type="http://schemas.openxmlformats.org/officeDocument/2006/relationships/image" Target="../media/image220.emf"/><Relationship Id="rId20" Type="http://schemas.openxmlformats.org/officeDocument/2006/relationships/image" Target="../media/image222.emf"/><Relationship Id="rId29" Type="http://schemas.openxmlformats.org/officeDocument/2006/relationships/image" Target="../media/image22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217.emf"/><Relationship Id="rId24" Type="http://schemas.openxmlformats.org/officeDocument/2006/relationships/oleObject" Target="../embeddings/oleObject191.bin"/><Relationship Id="rId32" Type="http://schemas.openxmlformats.org/officeDocument/2006/relationships/image" Target="../media/image229.emf"/><Relationship Id="rId37" Type="http://schemas.openxmlformats.org/officeDocument/2006/relationships/oleObject" Target="../embeddings/oleObject197.bin"/><Relationship Id="rId40" Type="http://schemas.openxmlformats.org/officeDocument/2006/relationships/image" Target="../media/image233.emf"/><Relationship Id="rId5" Type="http://schemas.openxmlformats.org/officeDocument/2006/relationships/image" Target="../media/image214.emf"/><Relationship Id="rId15" Type="http://schemas.openxmlformats.org/officeDocument/2006/relationships/image" Target="../media/image219.emf"/><Relationship Id="rId23" Type="http://schemas.openxmlformats.org/officeDocument/2006/relationships/image" Target="../media/image224.emf"/><Relationship Id="rId28" Type="http://schemas.openxmlformats.org/officeDocument/2006/relationships/oleObject" Target="../embeddings/oleObject193.bin"/><Relationship Id="rId36" Type="http://schemas.openxmlformats.org/officeDocument/2006/relationships/image" Target="../media/image231.emf"/><Relationship Id="rId10" Type="http://schemas.openxmlformats.org/officeDocument/2006/relationships/oleObject" Target="../embeddings/oleObject185.bin"/><Relationship Id="rId19" Type="http://schemas.openxmlformats.org/officeDocument/2006/relationships/oleObject" Target="../embeddings/oleObject189.bin"/><Relationship Id="rId31" Type="http://schemas.openxmlformats.org/officeDocument/2006/relationships/oleObject" Target="../embeddings/oleObject194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216.emf"/><Relationship Id="rId14" Type="http://schemas.openxmlformats.org/officeDocument/2006/relationships/oleObject" Target="../embeddings/oleObject187.bin"/><Relationship Id="rId22" Type="http://schemas.openxmlformats.org/officeDocument/2006/relationships/image" Target="../media/image223.emf"/><Relationship Id="rId27" Type="http://schemas.openxmlformats.org/officeDocument/2006/relationships/image" Target="../media/image226.emf"/><Relationship Id="rId30" Type="http://schemas.openxmlformats.org/officeDocument/2006/relationships/image" Target="../media/image228.emf"/><Relationship Id="rId35" Type="http://schemas.openxmlformats.org/officeDocument/2006/relationships/oleObject" Target="../embeddings/oleObject196.bin"/><Relationship Id="rId8" Type="http://schemas.openxmlformats.org/officeDocument/2006/relationships/oleObject" Target="../embeddings/oleObject184.bin"/><Relationship Id="rId3" Type="http://schemas.openxmlformats.org/officeDocument/2006/relationships/image" Target="../media/image213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>
            <a:extLst>
              <a:ext uri="{FF2B5EF4-FFF2-40B4-BE49-F238E27FC236}">
                <a16:creationId xmlns:a16="http://schemas.microsoft.com/office/drawing/2014/main" id="{1BDEBD85-627D-6233-6984-B8D618721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458788"/>
            <a:ext cx="6240462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6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kumimoji="1" lang="en-US" altLang="zh-CN" sz="6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6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章 功和能</a:t>
            </a:r>
          </a:p>
        </p:txBody>
      </p:sp>
      <p:sp>
        <p:nvSpPr>
          <p:cNvPr id="2051" name="Text Box 4">
            <a:extLst>
              <a:ext uri="{FF2B5EF4-FFF2-40B4-BE49-F238E27FC236}">
                <a16:creationId xmlns:a16="http://schemas.microsoft.com/office/drawing/2014/main" id="{EEAA8BA1-9B3C-9B2E-4046-390E93884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1820863"/>
            <a:ext cx="308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3. 1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功</a:t>
            </a:r>
          </a:p>
        </p:txBody>
      </p:sp>
      <p:sp>
        <p:nvSpPr>
          <p:cNvPr id="2052" name="Text Box 5">
            <a:extLst>
              <a:ext uri="{FF2B5EF4-FFF2-40B4-BE49-F238E27FC236}">
                <a16:creationId xmlns:a16="http://schemas.microsoft.com/office/drawing/2014/main" id="{4A76B81D-EA6D-6CD8-7634-629A1198B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2420938"/>
            <a:ext cx="308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3. 2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几种常见力的功</a:t>
            </a:r>
          </a:p>
        </p:txBody>
      </p:sp>
      <p:sp>
        <p:nvSpPr>
          <p:cNvPr id="2053" name="Text Box 6">
            <a:extLst>
              <a:ext uri="{FF2B5EF4-FFF2-40B4-BE49-F238E27FC236}">
                <a16:creationId xmlns:a16="http://schemas.microsoft.com/office/drawing/2014/main" id="{13175602-560C-ED21-5D45-CCABBDC46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3021013"/>
            <a:ext cx="418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3. 3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动能定理</a:t>
            </a:r>
          </a:p>
        </p:txBody>
      </p:sp>
      <p:sp>
        <p:nvSpPr>
          <p:cNvPr id="2054" name="Text Box 7">
            <a:extLst>
              <a:ext uri="{FF2B5EF4-FFF2-40B4-BE49-F238E27FC236}">
                <a16:creationId xmlns:a16="http://schemas.microsoft.com/office/drawing/2014/main" id="{ECB068F1-DA40-57DB-E4DB-DE4C784CE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3621088"/>
            <a:ext cx="418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3. 4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势能    机械能守恒定律</a:t>
            </a:r>
          </a:p>
        </p:txBody>
      </p:sp>
      <p:sp>
        <p:nvSpPr>
          <p:cNvPr id="2055" name="Text Box 8">
            <a:extLst>
              <a:ext uri="{FF2B5EF4-FFF2-40B4-BE49-F238E27FC236}">
                <a16:creationId xmlns:a16="http://schemas.microsoft.com/office/drawing/2014/main" id="{28EF7195-389C-B448-54A0-F6A5130C5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4197350"/>
            <a:ext cx="418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3. 5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能量守恒定律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B74C86A-3AE3-4172-B535-9ACF5A988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60350"/>
            <a:ext cx="2149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</a:t>
            </a:r>
            <a:r>
              <a:rPr kumimoji="1"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5B4BFC2E-26DA-5172-F2AF-B90656085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483393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恒力的功 </a:t>
            </a:r>
          </a:p>
        </p:txBody>
      </p:sp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97E42F95-2892-1243-BBDB-A2ED006A2869}"/>
              </a:ext>
            </a:extLst>
          </p:cNvPr>
          <p:cNvGraphicFramePr>
            <a:graphicFrameLocks/>
          </p:cNvGraphicFramePr>
          <p:nvPr/>
        </p:nvGraphicFramePr>
        <p:xfrm>
          <a:off x="1254125" y="5473700"/>
          <a:ext cx="17526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57218" imgH="228600" progId="Equation.3">
                  <p:embed/>
                </p:oleObj>
              </mc:Choice>
              <mc:Fallback>
                <p:oleObj name="公式" r:id="rId2" imgW="1657218" imgH="2286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5473700"/>
                        <a:ext cx="17526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7">
            <a:extLst>
              <a:ext uri="{FF2B5EF4-FFF2-40B4-BE49-F238E27FC236}">
                <a16:creationId xmlns:a16="http://schemas.microsoft.com/office/drawing/2014/main" id="{08EED94A-E509-3E99-94DA-5E30208DC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825" y="1431925"/>
            <a:ext cx="307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空间积累：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功</a:t>
            </a:r>
          </a:p>
        </p:txBody>
      </p:sp>
      <p:sp>
        <p:nvSpPr>
          <p:cNvPr id="3078" name="Text Box 8">
            <a:extLst>
              <a:ext uri="{FF2B5EF4-FFF2-40B4-BE49-F238E27FC236}">
                <a16:creationId xmlns:a16="http://schemas.microsoft.com/office/drawing/2014/main" id="{3E295ABF-8189-5A61-EAD7-6C183BF1B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2041525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时间积累：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冲量</a:t>
            </a:r>
          </a:p>
        </p:txBody>
      </p:sp>
      <p:sp>
        <p:nvSpPr>
          <p:cNvPr id="3079" name="AutoShape 9">
            <a:extLst>
              <a:ext uri="{FF2B5EF4-FFF2-40B4-BE49-F238E27FC236}">
                <a16:creationId xmlns:a16="http://schemas.microsoft.com/office/drawing/2014/main" id="{566EC751-E440-00DA-DEBF-A157D24CC94F}"/>
              </a:ext>
            </a:extLst>
          </p:cNvPr>
          <p:cNvSpPr>
            <a:spLocks/>
          </p:cNvSpPr>
          <p:nvPr/>
        </p:nvSpPr>
        <p:spPr bwMode="auto">
          <a:xfrm>
            <a:off x="1069975" y="158432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80" name="Object 10">
            <a:extLst>
              <a:ext uri="{FF2B5EF4-FFF2-40B4-BE49-F238E27FC236}">
                <a16:creationId xmlns:a16="http://schemas.microsoft.com/office/drawing/2014/main" id="{1904B49F-1DD7-633D-DE60-1A8243CD92CA}"/>
              </a:ext>
            </a:extLst>
          </p:cNvPr>
          <p:cNvGraphicFramePr>
            <a:graphicFrameLocks/>
          </p:cNvGraphicFramePr>
          <p:nvPr/>
        </p:nvGraphicFramePr>
        <p:xfrm>
          <a:off x="620713" y="1804988"/>
          <a:ext cx="3063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712" imgH="247650" progId="Equation.3">
                  <p:embed/>
                </p:oleObj>
              </mc:Choice>
              <mc:Fallback>
                <p:oleObj name="Equation" r:id="rId4" imgW="209712" imgH="2476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1804988"/>
                        <a:ext cx="3063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12">
            <a:extLst>
              <a:ext uri="{FF2B5EF4-FFF2-40B4-BE49-F238E27FC236}">
                <a16:creationId xmlns:a16="http://schemas.microsoft.com/office/drawing/2014/main" id="{102D883B-8EEE-C53C-B6E7-CBCA22EDA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3190875"/>
            <a:ext cx="7546975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研究力在空间的积累效应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      </a:t>
            </a:r>
            <a:endParaRPr kumimoji="1" lang="en-US" altLang="zh-CN" sz="2400" b="1">
              <a:solidFill>
                <a:srgbClr val="FFFF66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功、动能、势能、动能定理、机械能守恒定律。 </a:t>
            </a:r>
          </a:p>
        </p:txBody>
      </p:sp>
      <p:graphicFrame>
        <p:nvGraphicFramePr>
          <p:cNvPr id="3082" name="Object 14">
            <a:extLst>
              <a:ext uri="{FF2B5EF4-FFF2-40B4-BE49-F238E27FC236}">
                <a16:creationId xmlns:a16="http://schemas.microsoft.com/office/drawing/2014/main" id="{BD93D179-2940-BD4B-E642-B0E9193A8B8E}"/>
              </a:ext>
            </a:extLst>
          </p:cNvPr>
          <p:cNvGraphicFramePr>
            <a:graphicFrameLocks/>
          </p:cNvGraphicFramePr>
          <p:nvPr/>
        </p:nvGraphicFramePr>
        <p:xfrm>
          <a:off x="4003675" y="5445125"/>
          <a:ext cx="1295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0018" imgH="266700" progId="Equation.3">
                  <p:embed/>
                </p:oleObj>
              </mc:Choice>
              <mc:Fallback>
                <p:oleObj name="Equation" r:id="rId6" imgW="1200018" imgH="2667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675" y="5445125"/>
                        <a:ext cx="1295400" cy="355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3" name="Group 15">
            <a:extLst>
              <a:ext uri="{FF2B5EF4-FFF2-40B4-BE49-F238E27FC236}">
                <a16:creationId xmlns:a16="http://schemas.microsoft.com/office/drawing/2014/main" id="{2CEDC01A-93AB-9329-1724-C008181830CF}"/>
              </a:ext>
            </a:extLst>
          </p:cNvPr>
          <p:cNvGrpSpPr>
            <a:grpSpLocks/>
          </p:cNvGrpSpPr>
          <p:nvPr/>
        </p:nvGrpSpPr>
        <p:grpSpPr bwMode="auto">
          <a:xfrm>
            <a:off x="5619750" y="1717675"/>
            <a:ext cx="3200400" cy="474663"/>
            <a:chOff x="3360" y="757"/>
            <a:chExt cx="2016" cy="299"/>
          </a:xfrm>
        </p:grpSpPr>
        <p:sp>
          <p:nvSpPr>
            <p:cNvPr id="3099" name="Line 16">
              <a:extLst>
                <a:ext uri="{FF2B5EF4-FFF2-40B4-BE49-F238E27FC236}">
                  <a16:creationId xmlns:a16="http://schemas.microsoft.com/office/drawing/2014/main" id="{A8BBB178-B230-22C2-BD0F-0F7962707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056"/>
              <a:ext cx="201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0" name="Rectangle 17">
              <a:extLst>
                <a:ext uri="{FF2B5EF4-FFF2-40B4-BE49-F238E27FC236}">
                  <a16:creationId xmlns:a16="http://schemas.microsoft.com/office/drawing/2014/main" id="{F59FAEF5-EE2C-AEAE-865A-20B258685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757"/>
              <a:ext cx="336" cy="28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01" name="Text Box 18">
              <a:extLst>
                <a:ext uri="{FF2B5EF4-FFF2-40B4-BE49-F238E27FC236}">
                  <a16:creationId xmlns:a16="http://schemas.microsoft.com/office/drawing/2014/main" id="{F13874BE-E733-67DA-1A7B-4B4BCB5D8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76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</p:grpSp>
      <p:sp>
        <p:nvSpPr>
          <p:cNvPr id="3084" name="Line 19">
            <a:extLst>
              <a:ext uri="{FF2B5EF4-FFF2-40B4-BE49-F238E27FC236}">
                <a16:creationId xmlns:a16="http://schemas.microsoft.com/office/drawing/2014/main" id="{B9DE9937-66FC-6F76-2EB5-A805ABABA5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0488" y="1377950"/>
            <a:ext cx="609600" cy="3810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85" name="Object 20">
            <a:extLst>
              <a:ext uri="{FF2B5EF4-FFF2-40B4-BE49-F238E27FC236}">
                <a16:creationId xmlns:a16="http://schemas.microsoft.com/office/drawing/2014/main" id="{09C958E7-A79C-D5B1-80FF-201AF971E7E7}"/>
              </a:ext>
            </a:extLst>
          </p:cNvPr>
          <p:cNvGraphicFramePr>
            <a:graphicFrameLocks/>
          </p:cNvGraphicFramePr>
          <p:nvPr/>
        </p:nvGraphicFramePr>
        <p:xfrm>
          <a:off x="6915150" y="955675"/>
          <a:ext cx="3063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712" imgH="247650" progId="Equation.3">
                  <p:embed/>
                </p:oleObj>
              </mc:Choice>
              <mc:Fallback>
                <p:oleObj name="Equation" r:id="rId8" imgW="209712" imgH="247650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150" y="955675"/>
                        <a:ext cx="3063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Line 21">
            <a:extLst>
              <a:ext uri="{FF2B5EF4-FFF2-40B4-BE49-F238E27FC236}">
                <a16:creationId xmlns:a16="http://schemas.microsoft.com/office/drawing/2014/main" id="{4191A6BE-F2CA-7F08-8BE8-5F8348647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0488" y="1758950"/>
            <a:ext cx="6858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87" name="Object 22">
            <a:extLst>
              <a:ext uri="{FF2B5EF4-FFF2-40B4-BE49-F238E27FC236}">
                <a16:creationId xmlns:a16="http://schemas.microsoft.com/office/drawing/2014/main" id="{E2633DA1-B7E0-104A-EE56-F2DB69F00CF0}"/>
              </a:ext>
            </a:extLst>
          </p:cNvPr>
          <p:cNvGraphicFramePr>
            <a:graphicFrameLocks/>
          </p:cNvGraphicFramePr>
          <p:nvPr/>
        </p:nvGraphicFramePr>
        <p:xfrm>
          <a:off x="6831013" y="1520825"/>
          <a:ext cx="252412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777" imgH="190500" progId="Equation.3">
                  <p:embed/>
                </p:oleObj>
              </mc:Choice>
              <mc:Fallback>
                <p:oleObj name="公式" r:id="rId10" imgW="228777" imgH="190500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1013" y="1520825"/>
                        <a:ext cx="252412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8" name="Group 23">
            <a:extLst>
              <a:ext uri="{FF2B5EF4-FFF2-40B4-BE49-F238E27FC236}">
                <a16:creationId xmlns:a16="http://schemas.microsoft.com/office/drawing/2014/main" id="{E37CF90C-81A8-33B7-9E41-4F410034A74C}"/>
              </a:ext>
            </a:extLst>
          </p:cNvPr>
          <p:cNvGrpSpPr>
            <a:grpSpLocks/>
          </p:cNvGrpSpPr>
          <p:nvPr/>
        </p:nvGrpSpPr>
        <p:grpSpPr bwMode="auto">
          <a:xfrm>
            <a:off x="8058150" y="1717675"/>
            <a:ext cx="533400" cy="474663"/>
            <a:chOff x="3504" y="1104"/>
            <a:chExt cx="336" cy="299"/>
          </a:xfrm>
        </p:grpSpPr>
        <p:sp>
          <p:nvSpPr>
            <p:cNvPr id="3097" name="Rectangle 24">
              <a:extLst>
                <a:ext uri="{FF2B5EF4-FFF2-40B4-BE49-F238E27FC236}">
                  <a16:creationId xmlns:a16="http://schemas.microsoft.com/office/drawing/2014/main" id="{227C394F-26B7-68B7-2EE6-6C33B8F8B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104"/>
              <a:ext cx="336" cy="28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98" name="Text Box 25">
              <a:extLst>
                <a:ext uri="{FF2B5EF4-FFF2-40B4-BE49-F238E27FC236}">
                  <a16:creationId xmlns:a16="http://schemas.microsoft.com/office/drawing/2014/main" id="{E2DFB362-DD4B-02B4-8790-7C1186495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6" y="1115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</p:grpSp>
      <p:grpSp>
        <p:nvGrpSpPr>
          <p:cNvPr id="3089" name="Group 26">
            <a:extLst>
              <a:ext uri="{FF2B5EF4-FFF2-40B4-BE49-F238E27FC236}">
                <a16:creationId xmlns:a16="http://schemas.microsoft.com/office/drawing/2014/main" id="{F14056E8-506E-267F-E2CD-161F364A9345}"/>
              </a:ext>
            </a:extLst>
          </p:cNvPr>
          <p:cNvGrpSpPr>
            <a:grpSpLocks/>
          </p:cNvGrpSpPr>
          <p:nvPr/>
        </p:nvGrpSpPr>
        <p:grpSpPr bwMode="auto">
          <a:xfrm>
            <a:off x="5856288" y="2198688"/>
            <a:ext cx="2852737" cy="661987"/>
            <a:chOff x="3653" y="1385"/>
            <a:chExt cx="1797" cy="417"/>
          </a:xfrm>
        </p:grpSpPr>
        <p:sp>
          <p:nvSpPr>
            <p:cNvPr id="3091" name="Line 27">
              <a:extLst>
                <a:ext uri="{FF2B5EF4-FFF2-40B4-BE49-F238E27FC236}">
                  <a16:creationId xmlns:a16="http://schemas.microsoft.com/office/drawing/2014/main" id="{5E626629-8913-ACA0-CBAC-03824A56E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385"/>
              <a:ext cx="0" cy="19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Line 28">
              <a:extLst>
                <a:ext uri="{FF2B5EF4-FFF2-40B4-BE49-F238E27FC236}">
                  <a16:creationId xmlns:a16="http://schemas.microsoft.com/office/drawing/2014/main" id="{17477A69-1F23-B220-57AE-45D68E379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8" y="1385"/>
              <a:ext cx="0" cy="19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Line 29">
              <a:extLst>
                <a:ext uri="{FF2B5EF4-FFF2-40B4-BE49-F238E27FC236}">
                  <a16:creationId xmlns:a16="http://schemas.microsoft.com/office/drawing/2014/main" id="{489FF866-1412-C765-C82E-47D9EB3C2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1529"/>
              <a:ext cx="1296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none" w="med" len="lg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Text Box 30">
              <a:extLst>
                <a:ext uri="{FF2B5EF4-FFF2-40B4-BE49-F238E27FC236}">
                  <a16:creationId xmlns:a16="http://schemas.microsoft.com/office/drawing/2014/main" id="{05C027C2-FDE6-9574-1FB0-ACDDF1A33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3" y="138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95" name="Text Box 31">
              <a:extLst>
                <a:ext uri="{FF2B5EF4-FFF2-40B4-BE49-F238E27FC236}">
                  <a16:creationId xmlns:a16="http://schemas.microsoft.com/office/drawing/2014/main" id="{38472D0D-2FFC-8268-7CE3-3CDA7BC92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14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096" name="Text Box 32">
              <a:extLst>
                <a:ext uri="{FF2B5EF4-FFF2-40B4-BE49-F238E27FC236}">
                  <a16:creationId xmlns:a16="http://schemas.microsoft.com/office/drawing/2014/main" id="{802A3DDD-AB40-09EF-3C30-11D9DD571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" y="1475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3090" name="Arc 64">
            <a:extLst>
              <a:ext uri="{FF2B5EF4-FFF2-40B4-BE49-F238E27FC236}">
                <a16:creationId xmlns:a16="http://schemas.microsoft.com/office/drawing/2014/main" id="{2B499710-AE1E-4509-4AEF-20B3E2E996DB}"/>
              </a:ext>
            </a:extLst>
          </p:cNvPr>
          <p:cNvSpPr>
            <a:spLocks/>
          </p:cNvSpPr>
          <p:nvPr/>
        </p:nvSpPr>
        <p:spPr bwMode="auto">
          <a:xfrm rot="5400000">
            <a:off x="6577807" y="1537493"/>
            <a:ext cx="152400" cy="258763"/>
          </a:xfrm>
          <a:custGeom>
            <a:avLst/>
            <a:gdLst>
              <a:gd name="T0" fmla="*/ 0 w 14553"/>
              <a:gd name="T1" fmla="*/ 2147483646 h 21600"/>
              <a:gd name="T2" fmla="*/ 2147483646 w 14553"/>
              <a:gd name="T3" fmla="*/ 2147483646 h 21600"/>
              <a:gd name="T4" fmla="*/ 2147483646 w 14553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553" h="21600" fill="none" extrusionOk="0">
                <a:moveTo>
                  <a:pt x="0" y="4593"/>
                </a:moveTo>
                <a:cubicBezTo>
                  <a:pt x="3801" y="1617"/>
                  <a:pt x="8489" y="-1"/>
                  <a:pt x="13317" y="0"/>
                </a:cubicBezTo>
                <a:cubicBezTo>
                  <a:pt x="13729" y="0"/>
                  <a:pt x="14141" y="11"/>
                  <a:pt x="14552" y="35"/>
                </a:cubicBezTo>
              </a:path>
              <a:path w="14553" h="21600" stroke="0" extrusionOk="0">
                <a:moveTo>
                  <a:pt x="0" y="4593"/>
                </a:moveTo>
                <a:cubicBezTo>
                  <a:pt x="3801" y="1617"/>
                  <a:pt x="8489" y="-1"/>
                  <a:pt x="13317" y="0"/>
                </a:cubicBezTo>
                <a:cubicBezTo>
                  <a:pt x="13729" y="0"/>
                  <a:pt x="14141" y="11"/>
                  <a:pt x="14552" y="35"/>
                </a:cubicBezTo>
                <a:lnTo>
                  <a:pt x="13317" y="21600"/>
                </a:lnTo>
                <a:lnTo>
                  <a:pt x="0" y="4593"/>
                </a:lnTo>
                <a:close/>
              </a:path>
            </a:pathLst>
          </a:custGeom>
          <a:noFill/>
          <a:ln w="28575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97A0A610-A28E-6850-6ADF-3DD87F4CC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153988"/>
            <a:ext cx="3470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变力的功</a:t>
            </a:r>
            <a:endParaRPr kumimoji="1" lang="zh-CN" altLang="en-US" sz="280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3D099A87-E3DE-BE77-89E6-3D94F0900B5C}"/>
              </a:ext>
            </a:extLst>
          </p:cNvPr>
          <p:cNvGraphicFramePr>
            <a:graphicFrameLocks/>
          </p:cNvGraphicFramePr>
          <p:nvPr/>
        </p:nvGraphicFramePr>
        <p:xfrm>
          <a:off x="725488" y="3146425"/>
          <a:ext cx="22209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482" imgH="361950" progId="Equation.3">
                  <p:embed/>
                </p:oleObj>
              </mc:Choice>
              <mc:Fallback>
                <p:oleObj name="Equation" r:id="rId2" imgW="2133482" imgH="36195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3146425"/>
                        <a:ext cx="22209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3">
            <a:extLst>
              <a:ext uri="{FF2B5EF4-FFF2-40B4-BE49-F238E27FC236}">
                <a16:creationId xmlns:a16="http://schemas.microsoft.com/office/drawing/2014/main" id="{D09DFA59-9B5B-952F-AE5F-C77C5F025E32}"/>
              </a:ext>
            </a:extLst>
          </p:cNvPr>
          <p:cNvGrpSpPr>
            <a:grpSpLocks/>
          </p:cNvGrpSpPr>
          <p:nvPr/>
        </p:nvGrpSpPr>
        <p:grpSpPr bwMode="auto">
          <a:xfrm>
            <a:off x="5780088" y="101600"/>
            <a:ext cx="2873375" cy="2957513"/>
            <a:chOff x="3540" y="1884"/>
            <a:chExt cx="1810" cy="1863"/>
          </a:xfrm>
        </p:grpSpPr>
        <p:grpSp>
          <p:nvGrpSpPr>
            <p:cNvPr id="4134" name="Group 34">
              <a:extLst>
                <a:ext uri="{FF2B5EF4-FFF2-40B4-BE49-F238E27FC236}">
                  <a16:creationId xmlns:a16="http://schemas.microsoft.com/office/drawing/2014/main" id="{59841BEB-89BE-51AF-0063-3D391462DC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0" y="1884"/>
              <a:ext cx="1810" cy="1863"/>
              <a:chOff x="3542" y="1765"/>
              <a:chExt cx="1810" cy="1863"/>
            </a:xfrm>
          </p:grpSpPr>
          <p:sp>
            <p:nvSpPr>
              <p:cNvPr id="4136" name="Line 35">
                <a:extLst>
                  <a:ext uri="{FF2B5EF4-FFF2-40B4-BE49-F238E27FC236}">
                    <a16:creationId xmlns:a16="http://schemas.microsoft.com/office/drawing/2014/main" id="{48328D9F-E5AB-CD6B-DC79-47AED8422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923"/>
                <a:ext cx="1392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7" name="Line 36">
                <a:extLst>
                  <a:ext uri="{FF2B5EF4-FFF2-40B4-BE49-F238E27FC236}">
                    <a16:creationId xmlns:a16="http://schemas.microsoft.com/office/drawing/2014/main" id="{DFF4C1F4-BE50-EE3B-1B7E-894FBB680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974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8" name="Line 37">
                <a:extLst>
                  <a:ext uri="{FF2B5EF4-FFF2-40B4-BE49-F238E27FC236}">
                    <a16:creationId xmlns:a16="http://schemas.microsoft.com/office/drawing/2014/main" id="{62CDD503-E1F0-E1E6-1F8A-104C1809F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2923"/>
                <a:ext cx="288" cy="43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9" name="Text Box 38">
                <a:extLst>
                  <a:ext uri="{FF2B5EF4-FFF2-40B4-BE49-F238E27FC236}">
                    <a16:creationId xmlns:a16="http://schemas.microsoft.com/office/drawing/2014/main" id="{911BFCA5-7FFB-1034-734A-FF46AB009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330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4140" name="Text Box 39">
                <a:extLst>
                  <a:ext uri="{FF2B5EF4-FFF2-40B4-BE49-F238E27FC236}">
                    <a16:creationId xmlns:a16="http://schemas.microsoft.com/office/drawing/2014/main" id="{4696474D-7021-4E37-0E77-7F12DECD9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7" y="2932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4141" name="Text Box 40">
                <a:extLst>
                  <a:ext uri="{FF2B5EF4-FFF2-40B4-BE49-F238E27FC236}">
                    <a16:creationId xmlns:a16="http://schemas.microsoft.com/office/drawing/2014/main" id="{56C86802-DFA2-04ED-EB6B-80F6921E3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6" y="1765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z</a:t>
                </a:r>
              </a:p>
            </p:txBody>
          </p:sp>
        </p:grpSp>
        <p:sp>
          <p:nvSpPr>
            <p:cNvPr id="4135" name="Text Box 41">
              <a:extLst>
                <a:ext uri="{FF2B5EF4-FFF2-40B4-BE49-F238E27FC236}">
                  <a16:creationId xmlns:a16="http://schemas.microsoft.com/office/drawing/2014/main" id="{7E55D896-8B52-4F83-965E-251E08BDD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02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3" name="Freeform 42">
            <a:extLst>
              <a:ext uri="{FF2B5EF4-FFF2-40B4-BE49-F238E27FC236}">
                <a16:creationId xmlns:a16="http://schemas.microsoft.com/office/drawing/2014/main" id="{CB6F6BDC-5FF8-BB17-3654-67D18BB1D23E}"/>
              </a:ext>
            </a:extLst>
          </p:cNvPr>
          <p:cNvSpPr>
            <a:spLocks/>
          </p:cNvSpPr>
          <p:nvPr/>
        </p:nvSpPr>
        <p:spPr bwMode="auto">
          <a:xfrm>
            <a:off x="6484938" y="801688"/>
            <a:ext cx="1701800" cy="1752600"/>
          </a:xfrm>
          <a:custGeom>
            <a:avLst/>
            <a:gdLst>
              <a:gd name="T0" fmla="*/ 0 w 1072"/>
              <a:gd name="T1" fmla="*/ 0 h 1104"/>
              <a:gd name="T2" fmla="*/ 2147483646 w 1072"/>
              <a:gd name="T3" fmla="*/ 2147483646 h 1104"/>
              <a:gd name="T4" fmla="*/ 2147483646 w 1072"/>
              <a:gd name="T5" fmla="*/ 2147483646 h 1104"/>
              <a:gd name="T6" fmla="*/ 2147483646 w 1072"/>
              <a:gd name="T7" fmla="*/ 2147483646 h 1104"/>
              <a:gd name="T8" fmla="*/ 2147483646 w 1072"/>
              <a:gd name="T9" fmla="*/ 2147483646 h 1104"/>
              <a:gd name="T10" fmla="*/ 2147483646 w 1072"/>
              <a:gd name="T11" fmla="*/ 2147483646 h 1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72" h="1104">
                <a:moveTo>
                  <a:pt x="0" y="0"/>
                </a:moveTo>
                <a:cubicBezTo>
                  <a:pt x="24" y="84"/>
                  <a:pt x="48" y="168"/>
                  <a:pt x="144" y="192"/>
                </a:cubicBezTo>
                <a:cubicBezTo>
                  <a:pt x="240" y="216"/>
                  <a:pt x="429" y="150"/>
                  <a:pt x="576" y="144"/>
                </a:cubicBezTo>
                <a:cubicBezTo>
                  <a:pt x="723" y="138"/>
                  <a:pt x="944" y="152"/>
                  <a:pt x="1008" y="240"/>
                </a:cubicBezTo>
                <a:cubicBezTo>
                  <a:pt x="1072" y="328"/>
                  <a:pt x="1016" y="528"/>
                  <a:pt x="960" y="672"/>
                </a:cubicBezTo>
                <a:cubicBezTo>
                  <a:pt x="904" y="816"/>
                  <a:pt x="788" y="960"/>
                  <a:pt x="672" y="1104"/>
                </a:cubicBezTo>
              </a:path>
            </a:pathLst>
          </a:custGeom>
          <a:noFill/>
          <a:ln w="38100" cmpd="sng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Oval 43">
            <a:extLst>
              <a:ext uri="{FF2B5EF4-FFF2-40B4-BE49-F238E27FC236}">
                <a16:creationId xmlns:a16="http://schemas.microsoft.com/office/drawing/2014/main" id="{F34C0676-8C86-9F3E-5CA7-4D5D46A1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338" y="10477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55E29610-035F-3226-4103-19AB64EBF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463" y="481013"/>
            <a:ext cx="396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6" name="Oval 45">
            <a:extLst>
              <a:ext uri="{FF2B5EF4-FFF2-40B4-BE49-F238E27FC236}">
                <a16:creationId xmlns:a16="http://schemas.microsoft.com/office/drawing/2014/main" id="{63AF7DED-A613-3C01-93DE-28E6DF49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22399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Text Box 46">
            <a:extLst>
              <a:ext uri="{FF2B5EF4-FFF2-40B4-BE49-F238E27FC236}">
                <a16:creationId xmlns:a16="http://schemas.microsoft.com/office/drawing/2014/main" id="{C7A36DF2-99FD-8431-E6B0-E8D83CBF0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338" y="22907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" name="Text Box 47">
            <a:extLst>
              <a:ext uri="{FF2B5EF4-FFF2-40B4-BE49-F238E27FC236}">
                <a16:creationId xmlns:a16="http://schemas.microsoft.com/office/drawing/2014/main" id="{1DB62298-646B-5D0B-3287-E2B459BC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3" y="863600"/>
            <a:ext cx="5410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求质点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在变力作用下，沿曲线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轨迹由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运动到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，变力作的功</a:t>
            </a:r>
          </a:p>
        </p:txBody>
      </p:sp>
      <p:graphicFrame>
        <p:nvGraphicFramePr>
          <p:cNvPr id="19" name="Object 48">
            <a:extLst>
              <a:ext uri="{FF2B5EF4-FFF2-40B4-BE49-F238E27FC236}">
                <a16:creationId xmlns:a16="http://schemas.microsoft.com/office/drawing/2014/main" id="{508411D4-7B75-9E63-453C-37220311AE43}"/>
              </a:ext>
            </a:extLst>
          </p:cNvPr>
          <p:cNvGraphicFramePr>
            <a:graphicFrameLocks/>
          </p:cNvGraphicFramePr>
          <p:nvPr/>
        </p:nvGraphicFramePr>
        <p:xfrm>
          <a:off x="3856038" y="3167063"/>
          <a:ext cx="15732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88" imgH="266700" progId="Equation.3">
                  <p:embed/>
                </p:oleObj>
              </mc:Choice>
              <mc:Fallback>
                <p:oleObj name="Equation" r:id="rId4" imgW="1485988" imgH="266700" progId="Equation.3">
                  <p:embed/>
                  <p:pic>
                    <p:nvPicPr>
                      <p:cNvPr id="0" name="Object 4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167063"/>
                        <a:ext cx="15732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9">
            <a:extLst>
              <a:ext uri="{FF2B5EF4-FFF2-40B4-BE49-F238E27FC236}">
                <a16:creationId xmlns:a16="http://schemas.microsoft.com/office/drawing/2014/main" id="{287E6205-7730-9676-6494-FD5A9CEA4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2397125"/>
            <a:ext cx="209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一段上的功：</a:t>
            </a:r>
          </a:p>
        </p:txBody>
      </p:sp>
      <p:graphicFrame>
        <p:nvGraphicFramePr>
          <p:cNvPr id="21" name="Object 50">
            <a:extLst>
              <a:ext uri="{FF2B5EF4-FFF2-40B4-BE49-F238E27FC236}">
                <a16:creationId xmlns:a16="http://schemas.microsoft.com/office/drawing/2014/main" id="{CE7D339A-91DB-2B9C-17AC-DFDE1DA3F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288" y="2360613"/>
          <a:ext cx="3873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259" imgH="95250" progId="Equation.3">
                  <p:embed/>
                </p:oleObj>
              </mc:Choice>
              <mc:Fallback>
                <p:oleObj name="Equation" r:id="rId6" imgW="76259" imgH="9525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2360613"/>
                        <a:ext cx="38735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51">
            <a:extLst>
              <a:ext uri="{FF2B5EF4-FFF2-40B4-BE49-F238E27FC236}">
                <a16:creationId xmlns:a16="http://schemas.microsoft.com/office/drawing/2014/main" id="{40054D1D-8D41-EA4E-B3B3-C9050AF75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326072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Text Box 52">
            <a:extLst>
              <a:ext uri="{FF2B5EF4-FFF2-40B4-BE49-F238E27FC236}">
                <a16:creationId xmlns:a16="http://schemas.microsoft.com/office/drawing/2014/main" id="{F9F70784-50E0-CDA2-AAD9-C72587C72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487363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</a:p>
        </p:txBody>
      </p:sp>
      <p:graphicFrame>
        <p:nvGraphicFramePr>
          <p:cNvPr id="24" name="Object 53">
            <a:extLst>
              <a:ext uri="{FF2B5EF4-FFF2-40B4-BE49-F238E27FC236}">
                <a16:creationId xmlns:a16="http://schemas.microsoft.com/office/drawing/2014/main" id="{43B4904D-398B-1425-8B51-7F611BDAF3DF}"/>
              </a:ext>
            </a:extLst>
          </p:cNvPr>
          <p:cNvGraphicFramePr>
            <a:graphicFrameLocks/>
          </p:cNvGraphicFramePr>
          <p:nvPr/>
        </p:nvGraphicFramePr>
        <p:xfrm>
          <a:off x="7137400" y="1331913"/>
          <a:ext cx="2413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712" imgH="247650" progId="Equation.3">
                  <p:embed/>
                </p:oleObj>
              </mc:Choice>
              <mc:Fallback>
                <p:oleObj name="Equation" r:id="rId8" imgW="209712" imgH="247650" progId="Equation.3">
                  <p:embed/>
                  <p:pic>
                    <p:nvPicPr>
                      <p:cNvPr id="0" name="Object 5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1331913"/>
                        <a:ext cx="241300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54">
            <a:extLst>
              <a:ext uri="{FF2B5EF4-FFF2-40B4-BE49-F238E27FC236}">
                <a16:creationId xmlns:a16="http://schemas.microsoft.com/office/drawing/2014/main" id="{1D1865D7-1565-461B-0637-54C291CE6F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6338" y="1706563"/>
            <a:ext cx="1828800" cy="228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55">
            <a:extLst>
              <a:ext uri="{FF2B5EF4-FFF2-40B4-BE49-F238E27FC236}">
                <a16:creationId xmlns:a16="http://schemas.microsoft.com/office/drawing/2014/main" id="{870E683D-72E7-4FAB-8DBD-1177B06BE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1738" y="1020763"/>
            <a:ext cx="519112" cy="690562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56">
            <a:extLst>
              <a:ext uri="{FF2B5EF4-FFF2-40B4-BE49-F238E27FC236}">
                <a16:creationId xmlns:a16="http://schemas.microsoft.com/office/drawing/2014/main" id="{7473D52F-FC92-652A-567C-687681A7B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9338" y="1055688"/>
            <a:ext cx="149225" cy="603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Object 57">
            <a:extLst>
              <a:ext uri="{FF2B5EF4-FFF2-40B4-BE49-F238E27FC236}">
                <a16:creationId xmlns:a16="http://schemas.microsoft.com/office/drawing/2014/main" id="{EDDE05F0-133A-3A2A-7A16-23D3BC7BCF5C}"/>
              </a:ext>
            </a:extLst>
          </p:cNvPr>
          <p:cNvGraphicFramePr>
            <a:graphicFrameLocks/>
          </p:cNvGraphicFramePr>
          <p:nvPr/>
        </p:nvGraphicFramePr>
        <p:xfrm>
          <a:off x="6613525" y="1296988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88" imgH="171450" progId="Equation.3">
                  <p:embed/>
                </p:oleObj>
              </mc:Choice>
              <mc:Fallback>
                <p:oleObj name="Equation" r:id="rId10" imgW="114388" imgH="171450" progId="Equation.3">
                  <p:embed/>
                  <p:pic>
                    <p:nvPicPr>
                      <p:cNvPr id="0" name="Object 5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3525" y="1296988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8">
            <a:extLst>
              <a:ext uri="{FF2B5EF4-FFF2-40B4-BE49-F238E27FC236}">
                <a16:creationId xmlns:a16="http://schemas.microsoft.com/office/drawing/2014/main" id="{DF7B4C4F-C8CA-70BA-955A-45A2625204DA}"/>
              </a:ext>
            </a:extLst>
          </p:cNvPr>
          <p:cNvGraphicFramePr>
            <a:graphicFrameLocks/>
          </p:cNvGraphicFramePr>
          <p:nvPr/>
        </p:nvGraphicFramePr>
        <p:xfrm>
          <a:off x="6604000" y="1908175"/>
          <a:ext cx="7239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00012" imgH="228600" progId="Equation.3">
                  <p:embed/>
                </p:oleObj>
              </mc:Choice>
              <mc:Fallback>
                <p:oleObj name="Equation" r:id="rId12" imgW="800012" imgH="228600" progId="Equation.3">
                  <p:embed/>
                  <p:pic>
                    <p:nvPicPr>
                      <p:cNvPr id="0" name="Object 5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1908175"/>
                        <a:ext cx="7239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9">
            <a:extLst>
              <a:ext uri="{FF2B5EF4-FFF2-40B4-BE49-F238E27FC236}">
                <a16:creationId xmlns:a16="http://schemas.microsoft.com/office/drawing/2014/main" id="{D1EDA1CF-DBBE-821E-B31B-1395AC4B6107}"/>
              </a:ext>
            </a:extLst>
          </p:cNvPr>
          <p:cNvGraphicFramePr>
            <a:graphicFrameLocks/>
          </p:cNvGraphicFramePr>
          <p:nvPr/>
        </p:nvGraphicFramePr>
        <p:xfrm>
          <a:off x="7804150" y="1144588"/>
          <a:ext cx="312738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682" imgH="228600" progId="Equation.3">
                  <p:embed/>
                </p:oleObj>
              </mc:Choice>
              <mc:Fallback>
                <p:oleObj name="Equation" r:id="rId14" imgW="304682" imgH="228600" progId="Equation.3">
                  <p:embed/>
                  <p:pic>
                    <p:nvPicPr>
                      <p:cNvPr id="0" name="Object 5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150" y="1144588"/>
                        <a:ext cx="312738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0">
            <a:extLst>
              <a:ext uri="{FF2B5EF4-FFF2-40B4-BE49-F238E27FC236}">
                <a16:creationId xmlns:a16="http://schemas.microsoft.com/office/drawing/2014/main" id="{D304DE74-9C1E-F495-AC26-BF3513CF8497}"/>
              </a:ext>
            </a:extLst>
          </p:cNvPr>
          <p:cNvGraphicFramePr>
            <a:graphicFrameLocks/>
          </p:cNvGraphicFramePr>
          <p:nvPr/>
        </p:nvGraphicFramePr>
        <p:xfrm>
          <a:off x="7512050" y="1352550"/>
          <a:ext cx="255588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777" imgH="190500" progId="Equation.3">
                  <p:embed/>
                </p:oleObj>
              </mc:Choice>
              <mc:Fallback>
                <p:oleObj name="公式" r:id="rId16" imgW="228777" imgH="190500" progId="Equation.3">
                  <p:embed/>
                  <p:pic>
                    <p:nvPicPr>
                      <p:cNvPr id="0" name="Object 60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1352550"/>
                        <a:ext cx="255588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Oval 61">
            <a:extLst>
              <a:ext uri="{FF2B5EF4-FFF2-40B4-BE49-F238E27FC236}">
                <a16:creationId xmlns:a16="http://schemas.microsoft.com/office/drawing/2014/main" id="{19F7A83A-DEB0-82FF-2C60-AAF9D4DE9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463" y="1003300"/>
            <a:ext cx="76200" cy="76200"/>
          </a:xfrm>
          <a:prstGeom prst="ellipse">
            <a:avLst/>
          </a:prstGeom>
          <a:solidFill>
            <a:srgbClr val="FF00FF"/>
          </a:solidFill>
          <a:ln w="9525">
            <a:solidFill>
              <a:srgbClr val="FF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Rectangle 62">
            <a:extLst>
              <a:ext uri="{FF2B5EF4-FFF2-40B4-BE49-F238E27FC236}">
                <a16:creationId xmlns:a16="http://schemas.microsoft.com/office/drawing/2014/main" id="{DF801C66-E5FC-CD62-54A9-46F48542B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23780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</a:p>
        </p:txBody>
      </p:sp>
      <p:graphicFrame>
        <p:nvGraphicFramePr>
          <p:cNvPr id="34" name="Object 63">
            <a:extLst>
              <a:ext uri="{FF2B5EF4-FFF2-40B4-BE49-F238E27FC236}">
                <a16:creationId xmlns:a16="http://schemas.microsoft.com/office/drawing/2014/main" id="{87A19146-8210-11E4-F7CC-BC2CE4A96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700" y="2473325"/>
          <a:ext cx="393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4682" imgH="228600" progId="Equation.3">
                  <p:embed/>
                </p:oleObj>
              </mc:Choice>
              <mc:Fallback>
                <p:oleObj name="Equation" r:id="rId18" imgW="304682" imgH="2286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473325"/>
                        <a:ext cx="393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rc 65">
            <a:extLst>
              <a:ext uri="{FF2B5EF4-FFF2-40B4-BE49-F238E27FC236}">
                <a16:creationId xmlns:a16="http://schemas.microsoft.com/office/drawing/2014/main" id="{24B4C265-F3B9-BDF3-7D29-82EA717EAECF}"/>
              </a:ext>
            </a:extLst>
          </p:cNvPr>
          <p:cNvSpPr>
            <a:spLocks/>
          </p:cNvSpPr>
          <p:nvPr/>
        </p:nvSpPr>
        <p:spPr bwMode="auto">
          <a:xfrm rot="-4952326">
            <a:off x="7293769" y="848519"/>
            <a:ext cx="615950" cy="265112"/>
          </a:xfrm>
          <a:custGeom>
            <a:avLst/>
            <a:gdLst>
              <a:gd name="T0" fmla="*/ 2147483646 w 21398"/>
              <a:gd name="T1" fmla="*/ 2147483646 h 9807"/>
              <a:gd name="T2" fmla="*/ 0 w 21398"/>
              <a:gd name="T3" fmla="*/ 2147483646 h 9807"/>
              <a:gd name="T4" fmla="*/ 2147483646 w 21398"/>
              <a:gd name="T5" fmla="*/ 0 h 98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98" h="9807" fill="none" extrusionOk="0">
                <a:moveTo>
                  <a:pt x="2152" y="9807"/>
                </a:moveTo>
                <a:cubicBezTo>
                  <a:pt x="1057" y="7657"/>
                  <a:pt x="329" y="5338"/>
                  <a:pt x="0" y="2947"/>
                </a:cubicBezTo>
              </a:path>
              <a:path w="21398" h="9807" stroke="0" extrusionOk="0">
                <a:moveTo>
                  <a:pt x="2152" y="9807"/>
                </a:moveTo>
                <a:cubicBezTo>
                  <a:pt x="1057" y="7657"/>
                  <a:pt x="329" y="5338"/>
                  <a:pt x="0" y="2947"/>
                </a:cubicBezTo>
                <a:lnTo>
                  <a:pt x="21398" y="0"/>
                </a:lnTo>
                <a:lnTo>
                  <a:pt x="2152" y="9807"/>
                </a:lnTo>
                <a:close/>
              </a:path>
            </a:pathLst>
          </a:custGeom>
          <a:noFill/>
          <a:ln w="28575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66">
            <a:extLst>
              <a:ext uri="{FF2B5EF4-FFF2-40B4-BE49-F238E27FC236}">
                <a16:creationId xmlns:a16="http://schemas.microsoft.com/office/drawing/2014/main" id="{FC9AB438-BD04-2D66-454A-CD3639CCA2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6338" y="1039813"/>
            <a:ext cx="1289050" cy="8953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2">
            <a:extLst>
              <a:ext uri="{FF2B5EF4-FFF2-40B4-BE49-F238E27FC236}">
                <a16:creationId xmlns:a16="http://schemas.microsoft.com/office/drawing/2014/main" id="{A68FFAFC-F1C7-71A6-F27C-544F40B22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846638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在直角坐标系中</a:t>
            </a:r>
            <a:r>
              <a:rPr kumimoji="1" lang="zh-CN" altLang="en-US" sz="2400">
                <a:solidFill>
                  <a:srgbClr val="66FF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</a:t>
            </a:r>
          </a:p>
        </p:txBody>
      </p:sp>
      <p:graphicFrame>
        <p:nvGraphicFramePr>
          <p:cNvPr id="38" name="Object 3">
            <a:extLst>
              <a:ext uri="{FF2B5EF4-FFF2-40B4-BE49-F238E27FC236}">
                <a16:creationId xmlns:a16="http://schemas.microsoft.com/office/drawing/2014/main" id="{E560F484-3ECC-FD8D-087B-CD0D302512A6}"/>
              </a:ext>
            </a:extLst>
          </p:cNvPr>
          <p:cNvGraphicFramePr>
            <a:graphicFrameLocks/>
          </p:cNvGraphicFramePr>
          <p:nvPr/>
        </p:nvGraphicFramePr>
        <p:xfrm>
          <a:off x="3829050" y="4822825"/>
          <a:ext cx="39862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886377" imgH="419100" progId="Equation.3">
                  <p:embed/>
                </p:oleObj>
              </mc:Choice>
              <mc:Fallback>
                <p:oleObj name="Equation" r:id="rId20" imgW="3886377" imgH="4191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4822825"/>
                        <a:ext cx="39862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>
            <a:extLst>
              <a:ext uri="{FF2B5EF4-FFF2-40B4-BE49-F238E27FC236}">
                <a16:creationId xmlns:a16="http://schemas.microsoft.com/office/drawing/2014/main" id="{758F0A15-EDD8-5F27-C03A-8492FB113817}"/>
              </a:ext>
            </a:extLst>
          </p:cNvPr>
          <p:cNvGraphicFramePr>
            <a:graphicFrameLocks/>
          </p:cNvGraphicFramePr>
          <p:nvPr/>
        </p:nvGraphicFramePr>
        <p:xfrm>
          <a:off x="6035675" y="5502275"/>
          <a:ext cx="22240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133482" imgH="628650" progId="Equation.3">
                  <p:embed/>
                </p:oleObj>
              </mc:Choice>
              <mc:Fallback>
                <p:oleObj name="公式" r:id="rId22" imgW="2133482" imgH="62865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5502275"/>
                        <a:ext cx="2224088" cy="723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>
            <a:extLst>
              <a:ext uri="{FF2B5EF4-FFF2-40B4-BE49-F238E27FC236}">
                <a16:creationId xmlns:a16="http://schemas.microsoft.com/office/drawing/2014/main" id="{6B7DC03E-8C69-17C2-3B8F-DB9BB457E070}"/>
              </a:ext>
            </a:extLst>
          </p:cNvPr>
          <p:cNvGraphicFramePr>
            <a:graphicFrameLocks/>
          </p:cNvGraphicFramePr>
          <p:nvPr/>
        </p:nvGraphicFramePr>
        <p:xfrm>
          <a:off x="3822700" y="4048125"/>
          <a:ext cx="1903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09735" imgH="419100" progId="Equation.3">
                  <p:embed/>
                </p:oleObj>
              </mc:Choice>
              <mc:Fallback>
                <p:oleObj name="Equation" r:id="rId24" imgW="1809735" imgH="4191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4048125"/>
                        <a:ext cx="1903413" cy="520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0">
            <a:extLst>
              <a:ext uri="{FF2B5EF4-FFF2-40B4-BE49-F238E27FC236}">
                <a16:creationId xmlns:a16="http://schemas.microsoft.com/office/drawing/2014/main" id="{917C47C2-6960-5195-6C35-1EABBD8A3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4092575"/>
            <a:ext cx="233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ab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一段上的功</a:t>
            </a:r>
          </a:p>
        </p:txBody>
      </p:sp>
      <p:graphicFrame>
        <p:nvGraphicFramePr>
          <p:cNvPr id="42" name="Object 11">
            <a:extLst>
              <a:ext uri="{FF2B5EF4-FFF2-40B4-BE49-F238E27FC236}">
                <a16:creationId xmlns:a16="http://schemas.microsoft.com/office/drawing/2014/main" id="{40B5DA57-D0A9-D2CD-A77F-43082026D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013" y="4130675"/>
          <a:ext cx="2984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712" imgH="247650" progId="Equation.3">
                  <p:embed/>
                </p:oleObj>
              </mc:Choice>
              <mc:Fallback>
                <p:oleObj name="Equation" r:id="rId26" imgW="209712" imgH="2476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4130675"/>
                        <a:ext cx="2984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12">
            <a:extLst>
              <a:ext uri="{FF2B5EF4-FFF2-40B4-BE49-F238E27FC236}">
                <a16:creationId xmlns:a16="http://schemas.microsoft.com/office/drawing/2014/main" id="{DCA1E5A9-E319-0212-7707-65EDDC70F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5645150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在自然坐标系中</a:t>
            </a:r>
          </a:p>
        </p:txBody>
      </p:sp>
      <p:graphicFrame>
        <p:nvGraphicFramePr>
          <p:cNvPr id="44" name="Object 13">
            <a:extLst>
              <a:ext uri="{FF2B5EF4-FFF2-40B4-BE49-F238E27FC236}">
                <a16:creationId xmlns:a16="http://schemas.microsoft.com/office/drawing/2014/main" id="{230757A6-5AB3-8FA9-299C-11D821E280A0}"/>
              </a:ext>
            </a:extLst>
          </p:cNvPr>
          <p:cNvGraphicFramePr>
            <a:graphicFrameLocks/>
          </p:cNvGraphicFramePr>
          <p:nvPr/>
        </p:nvGraphicFramePr>
        <p:xfrm>
          <a:off x="3865563" y="5645150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47853" imgH="361950" progId="Equation.3">
                  <p:embed/>
                </p:oleObj>
              </mc:Choice>
              <mc:Fallback>
                <p:oleObj name="Equation" r:id="rId28" imgW="1047853" imgH="36195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3" y="5645150"/>
                        <a:ext cx="114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AutoShape 14">
            <a:extLst>
              <a:ext uri="{FF2B5EF4-FFF2-40B4-BE49-F238E27FC236}">
                <a16:creationId xmlns:a16="http://schemas.microsoft.com/office/drawing/2014/main" id="{155232F5-A184-85DE-A83B-C7362D243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574357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4" grpId="0" animBg="1"/>
      <p:bldP spid="15" grpId="0" autoUpdateAnimBg="0"/>
      <p:bldP spid="16" grpId="0" animBg="1"/>
      <p:bldP spid="17" grpId="0" autoUpdateAnimBg="0"/>
      <p:bldP spid="18" grpId="0" autoUpdateAnimBg="0"/>
      <p:bldP spid="20" grpId="0" autoUpdateAnimBg="0"/>
      <p:bldP spid="22" grpId="0" animBg="1"/>
      <p:bldP spid="23" grpId="0" autoUpdateAnimBg="0"/>
      <p:bldP spid="32" grpId="0" animBg="1"/>
      <p:bldP spid="33" grpId="0" autoUpdateAnimBg="0"/>
      <p:bldP spid="37" grpId="0" autoUpdateAnimBg="0"/>
      <p:bldP spid="41" grpId="0" autoUpdateAnimBg="0"/>
      <p:bldP spid="43" grpId="0" autoUpdateAnimBg="0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>
            <a:extLst>
              <a:ext uri="{FF2B5EF4-FFF2-40B4-BE49-F238E27FC236}">
                <a16:creationId xmlns:a16="http://schemas.microsoft.com/office/drawing/2014/main" id="{ECFFE9F2-90F6-ED85-B991-540BB3CB9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333375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说明</a:t>
            </a:r>
          </a:p>
        </p:txBody>
      </p:sp>
      <p:sp>
        <p:nvSpPr>
          <p:cNvPr id="5123" name="Text Box 5">
            <a:extLst>
              <a:ext uri="{FF2B5EF4-FFF2-40B4-BE49-F238E27FC236}">
                <a16:creationId xmlns:a16="http://schemas.microsoft.com/office/drawing/2014/main" id="{A988F70D-46CD-8B1C-4D11-51EA5934D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556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功是标量，且有正负</a:t>
            </a:r>
          </a:p>
        </p:txBody>
      </p:sp>
      <p:sp>
        <p:nvSpPr>
          <p:cNvPr id="5124" name="Text Box 6">
            <a:extLst>
              <a:ext uri="{FF2B5EF4-FFF2-40B4-BE49-F238E27FC236}">
                <a16:creationId xmlns:a16="http://schemas.microsoft.com/office/drawing/2014/main" id="{F2043118-96DE-D942-5808-5AB50B92A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1285875"/>
            <a:ext cx="711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合力的功等于各分力的功的代数和</a:t>
            </a:r>
          </a:p>
        </p:txBody>
      </p:sp>
      <p:graphicFrame>
        <p:nvGraphicFramePr>
          <p:cNvPr id="5125" name="Object 9">
            <a:extLst>
              <a:ext uri="{FF2B5EF4-FFF2-40B4-BE49-F238E27FC236}">
                <a16:creationId xmlns:a16="http://schemas.microsoft.com/office/drawing/2014/main" id="{FD3DD094-7B4F-68E8-B204-6D50F743C706}"/>
              </a:ext>
            </a:extLst>
          </p:cNvPr>
          <p:cNvGraphicFramePr>
            <a:graphicFrameLocks/>
          </p:cNvGraphicFramePr>
          <p:nvPr/>
        </p:nvGraphicFramePr>
        <p:xfrm>
          <a:off x="1390650" y="2517775"/>
          <a:ext cx="633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48282" imgH="685800" progId="Equation.3">
                  <p:embed/>
                </p:oleObj>
              </mc:Choice>
              <mc:Fallback>
                <p:oleObj name="Equation" r:id="rId2" imgW="6248282" imgH="6858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2517775"/>
                        <a:ext cx="6337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5">
            <a:extLst>
              <a:ext uri="{FF2B5EF4-FFF2-40B4-BE49-F238E27FC236}">
                <a16:creationId xmlns:a16="http://schemas.microsoft.com/office/drawing/2014/main" id="{61CEE46E-D398-2704-EE47-95A293E6095B}"/>
              </a:ext>
            </a:extLst>
          </p:cNvPr>
          <p:cNvGraphicFramePr>
            <a:graphicFrameLocks/>
          </p:cNvGraphicFramePr>
          <p:nvPr/>
        </p:nvGraphicFramePr>
        <p:xfrm>
          <a:off x="1390650" y="3444875"/>
          <a:ext cx="255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57582" imgH="342900" progId="Equation.3">
                  <p:embed/>
                </p:oleObj>
              </mc:Choice>
              <mc:Fallback>
                <p:oleObj name="Equation" r:id="rId4" imgW="2457582" imgH="34290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3444875"/>
                        <a:ext cx="2552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16">
            <a:extLst>
              <a:ext uri="{FF2B5EF4-FFF2-40B4-BE49-F238E27FC236}">
                <a16:creationId xmlns:a16="http://schemas.microsoft.com/office/drawing/2014/main" id="{D91D7DA5-FADA-DDFE-BA92-3B5F4E55D06C}"/>
              </a:ext>
            </a:extLst>
          </p:cNvPr>
          <p:cNvGraphicFramePr>
            <a:graphicFrameLocks/>
          </p:cNvGraphicFramePr>
          <p:nvPr/>
        </p:nvGraphicFramePr>
        <p:xfrm>
          <a:off x="1068388" y="1870075"/>
          <a:ext cx="56753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1724" imgH="419100" progId="Equation.3">
                  <p:embed/>
                </p:oleObj>
              </mc:Choice>
              <mc:Fallback>
                <p:oleObj name="Equation" r:id="rId6" imgW="5581724" imgH="4191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1870075"/>
                        <a:ext cx="56753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17">
            <a:extLst>
              <a:ext uri="{FF2B5EF4-FFF2-40B4-BE49-F238E27FC236}">
                <a16:creationId xmlns:a16="http://schemas.microsoft.com/office/drawing/2014/main" id="{B02846BA-64BD-DFC4-8297-C58AFBCD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3914775"/>
            <a:ext cx="803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(3) </a:t>
            </a:r>
            <a:r>
              <a:rPr kumimoji="1" lang="zh-CN" altLang="en-US" sz="2400" b="1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一般来说，功的值与质点运动的路径有关</a:t>
            </a:r>
            <a:r>
              <a:rPr kumimoji="1" lang="zh-CN" altLang="en-US" sz="2400" b="1" dirty="0">
                <a:solidFill>
                  <a:schemeClr val="bg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      </a:t>
            </a:r>
          </a:p>
        </p:txBody>
      </p:sp>
      <p:sp>
        <p:nvSpPr>
          <p:cNvPr id="5129" name="AutoShape 18">
            <a:extLst>
              <a:ext uri="{FF2B5EF4-FFF2-40B4-BE49-F238E27FC236}">
                <a16:creationId xmlns:a16="http://schemas.microsoft.com/office/drawing/2014/main" id="{A49157D5-16B0-629E-CF07-2F0A5EA06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8" y="26670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Text Box 17">
            <a:extLst>
              <a:ext uri="{FF2B5EF4-FFF2-40B4-BE49-F238E27FC236}">
                <a16:creationId xmlns:a16="http://schemas.microsoft.com/office/drawing/2014/main" id="{3A35F0DB-019D-7DEB-1486-4FB9C48CB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08" y="5295810"/>
            <a:ext cx="86876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解题时第一步永远是写出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dA</a:t>
            </a:r>
            <a:endParaRPr kumimoji="1"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然后看“哪个变量在变”，把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dA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写成该变量的函数，再积分。</a:t>
            </a:r>
            <a:endParaRPr kumimoji="1"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建模能力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A7063A32-11BF-7FC5-87C2-0F41C394F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525463"/>
            <a:ext cx="2784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功率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C2FCCB14-5353-3019-AA81-1A31EB21B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1171575"/>
            <a:ext cx="672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力在单位时间内所作的功，称为功率。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97D92D41-84A1-2189-7E8D-FB53DBC76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2127250"/>
            <a:ext cx="1562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平均功率 </a:t>
            </a:r>
          </a:p>
        </p:txBody>
      </p:sp>
      <p:graphicFrame>
        <p:nvGraphicFramePr>
          <p:cNvPr id="6149" name="Object 5">
            <a:extLst>
              <a:ext uri="{FF2B5EF4-FFF2-40B4-BE49-F238E27FC236}">
                <a16:creationId xmlns:a16="http://schemas.microsoft.com/office/drawing/2014/main" id="{CB610523-819F-D736-F529-4694647EA1C8}"/>
              </a:ext>
            </a:extLst>
          </p:cNvPr>
          <p:cNvGraphicFramePr>
            <a:graphicFrameLocks/>
          </p:cNvGraphicFramePr>
          <p:nvPr/>
        </p:nvGraphicFramePr>
        <p:xfrm>
          <a:off x="3527425" y="1884363"/>
          <a:ext cx="11160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788" imgH="723900" progId="Equation.3">
                  <p:embed/>
                </p:oleObj>
              </mc:Choice>
              <mc:Fallback>
                <p:oleObj name="Equation" r:id="rId2" imgW="1028788" imgH="723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1884363"/>
                        <a:ext cx="1116013" cy="825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>
            <a:extLst>
              <a:ext uri="{FF2B5EF4-FFF2-40B4-BE49-F238E27FC236}">
                <a16:creationId xmlns:a16="http://schemas.microsoft.com/office/drawing/2014/main" id="{D70EFF81-A8FA-796A-7204-51E921F3AC6F}"/>
              </a:ext>
            </a:extLst>
          </p:cNvPr>
          <p:cNvGraphicFramePr>
            <a:graphicFrameLocks/>
          </p:cNvGraphicFramePr>
          <p:nvPr/>
        </p:nvGraphicFramePr>
        <p:xfrm>
          <a:off x="3532188" y="4489450"/>
          <a:ext cx="25161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19453" imgH="266700" progId="Equation.3">
                  <p:embed/>
                </p:oleObj>
              </mc:Choice>
              <mc:Fallback>
                <p:oleObj name="公式" r:id="rId4" imgW="2419453" imgH="2667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4489450"/>
                        <a:ext cx="25161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3B0F7A01-4B6B-BD4E-9125-5D16D7FB7598}"/>
              </a:ext>
            </a:extLst>
          </p:cNvPr>
          <p:cNvGraphicFramePr>
            <a:graphicFrameLocks/>
          </p:cNvGraphicFramePr>
          <p:nvPr/>
        </p:nvGraphicFramePr>
        <p:xfrm>
          <a:off x="1944688" y="4260850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742950" progId="Equation.3">
                  <p:embed/>
                </p:oleObj>
              </mc:Choice>
              <mc:Fallback>
                <p:oleObj name="Equation" r:id="rId6" imgW="1371600" imgH="74295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4260850"/>
                        <a:ext cx="146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8">
            <a:extLst>
              <a:ext uri="{FF2B5EF4-FFF2-40B4-BE49-F238E27FC236}">
                <a16:creationId xmlns:a16="http://schemas.microsoft.com/office/drawing/2014/main" id="{B2AC77E0-1C45-CC0B-1BBB-DEE358951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4243388"/>
            <a:ext cx="4419600" cy="91440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5B59A3A6-E10D-D695-831F-CC15B6978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3116263"/>
            <a:ext cx="402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当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0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时的瞬时功率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6154" name="Object 10">
            <a:extLst>
              <a:ext uri="{FF2B5EF4-FFF2-40B4-BE49-F238E27FC236}">
                <a16:creationId xmlns:a16="http://schemas.microsoft.com/office/drawing/2014/main" id="{CC71FA2F-36E0-EA52-7AA3-826EB634A62A}"/>
              </a:ext>
            </a:extLst>
          </p:cNvPr>
          <p:cNvGraphicFramePr>
            <a:graphicFrameLocks/>
          </p:cNvGraphicFramePr>
          <p:nvPr/>
        </p:nvGraphicFramePr>
        <p:xfrm>
          <a:off x="4330700" y="2963863"/>
          <a:ext cx="2425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4129" imgH="723900" progId="Equation.3">
                  <p:embed/>
                </p:oleObj>
              </mc:Choice>
              <mc:Fallback>
                <p:oleObj name="Equation" r:id="rId8" imgW="2324129" imgH="7239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963863"/>
                        <a:ext cx="2425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5240E526-6F8E-4972-08D5-740E846B4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1349375"/>
            <a:ext cx="6983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已知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m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= 2kg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,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F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= 12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t</a:t>
            </a: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作用下由静止做直线运动</a:t>
            </a: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F189B4A8-0DD8-29C1-04D1-AC5E7C3BF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29622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79793AD2-DC47-9EB3-5179-3EEB220CC7DE}"/>
              </a:ext>
            </a:extLst>
          </p:cNvPr>
          <p:cNvGraphicFramePr>
            <a:graphicFrameLocks/>
          </p:cNvGraphicFramePr>
          <p:nvPr/>
        </p:nvGraphicFramePr>
        <p:xfrm>
          <a:off x="923925" y="2763838"/>
          <a:ext cx="17526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7218" imgH="723900" progId="Equation.3">
                  <p:embed/>
                </p:oleObj>
              </mc:Choice>
              <mc:Fallback>
                <p:oleObj name="Equation" r:id="rId2" imgW="1657218" imgH="723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2763838"/>
                        <a:ext cx="17526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>
            <a:extLst>
              <a:ext uri="{FF2B5EF4-FFF2-40B4-BE49-F238E27FC236}">
                <a16:creationId xmlns:a16="http://schemas.microsoft.com/office/drawing/2014/main" id="{CF5EC0B0-B41F-08D8-A007-267E61436B25}"/>
              </a:ext>
            </a:extLst>
          </p:cNvPr>
          <p:cNvGraphicFramePr>
            <a:graphicFrameLocks/>
          </p:cNvGraphicFramePr>
          <p:nvPr/>
        </p:nvGraphicFramePr>
        <p:xfrm>
          <a:off x="3898900" y="2779713"/>
          <a:ext cx="1727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153" imgH="723900" progId="Equation.3">
                  <p:embed/>
                </p:oleObj>
              </mc:Choice>
              <mc:Fallback>
                <p:oleObj name="Equation" r:id="rId4" imgW="1638153" imgH="723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2779713"/>
                        <a:ext cx="1727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6">
            <a:extLst>
              <a:ext uri="{FF2B5EF4-FFF2-40B4-BE49-F238E27FC236}">
                <a16:creationId xmlns:a16="http://schemas.microsoft.com/office/drawing/2014/main" id="{3201A0C9-1162-83D5-AA62-5D1BA820E11A}"/>
              </a:ext>
            </a:extLst>
          </p:cNvPr>
          <p:cNvGraphicFramePr>
            <a:graphicFrameLocks/>
          </p:cNvGraphicFramePr>
          <p:nvPr/>
        </p:nvGraphicFramePr>
        <p:xfrm>
          <a:off x="6619875" y="2957513"/>
          <a:ext cx="14208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71" imgH="304800" progId="Equation.3">
                  <p:embed/>
                </p:oleObj>
              </mc:Choice>
              <mc:Fallback>
                <p:oleObj name="Equation" r:id="rId6" imgW="1333471" imgH="3048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75" y="2957513"/>
                        <a:ext cx="14208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7">
            <a:extLst>
              <a:ext uri="{FF2B5EF4-FFF2-40B4-BE49-F238E27FC236}">
                <a16:creationId xmlns:a16="http://schemas.microsoft.com/office/drawing/2014/main" id="{0EDF29EB-A27F-D074-6057-4B587DADC526}"/>
              </a:ext>
            </a:extLst>
          </p:cNvPr>
          <p:cNvGraphicFramePr>
            <a:graphicFrameLocks/>
          </p:cNvGraphicFramePr>
          <p:nvPr/>
        </p:nvGraphicFramePr>
        <p:xfrm>
          <a:off x="4271963" y="3957638"/>
          <a:ext cx="25019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388" imgH="590550" progId="Equation.3">
                  <p:embed/>
                </p:oleObj>
              </mc:Choice>
              <mc:Fallback>
                <p:oleObj name="Equation" r:id="rId8" imgW="2400388" imgH="59055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3957638"/>
                        <a:ext cx="25019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>
            <a:extLst>
              <a:ext uri="{FF2B5EF4-FFF2-40B4-BE49-F238E27FC236}">
                <a16:creationId xmlns:a16="http://schemas.microsoft.com/office/drawing/2014/main" id="{51991416-2C8A-D406-E3C9-95FBBEE962AB}"/>
              </a:ext>
            </a:extLst>
          </p:cNvPr>
          <p:cNvGraphicFramePr>
            <a:graphicFrameLocks/>
          </p:cNvGraphicFramePr>
          <p:nvPr/>
        </p:nvGraphicFramePr>
        <p:xfrm>
          <a:off x="2193925" y="5110163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95712" imgH="304800" progId="Equation.3">
                  <p:embed/>
                </p:oleObj>
              </mc:Choice>
              <mc:Fallback>
                <p:oleObj name="Equation" r:id="rId10" imgW="2495712" imgH="3048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5110163"/>
                        <a:ext cx="259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5" name="AutoShape 9">
            <a:extLst>
              <a:ext uri="{FF2B5EF4-FFF2-40B4-BE49-F238E27FC236}">
                <a16:creationId xmlns:a16="http://schemas.microsoft.com/office/drawing/2014/main" id="{5D75A0C9-9C98-85B7-43B1-C36D19CAA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1963" y="310991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1386" name="Object 10">
            <a:extLst>
              <a:ext uri="{FF2B5EF4-FFF2-40B4-BE49-F238E27FC236}">
                <a16:creationId xmlns:a16="http://schemas.microsoft.com/office/drawing/2014/main" id="{EF6D3D93-D14A-E740-D3DA-33223D478059}"/>
              </a:ext>
            </a:extLst>
          </p:cNvPr>
          <p:cNvGraphicFramePr>
            <a:graphicFrameLocks/>
          </p:cNvGraphicFramePr>
          <p:nvPr/>
        </p:nvGraphicFramePr>
        <p:xfrm>
          <a:off x="842963" y="3975100"/>
          <a:ext cx="15113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729" imgH="590550" progId="Equation.3">
                  <p:embed/>
                </p:oleObj>
              </mc:Choice>
              <mc:Fallback>
                <p:oleObj name="Equation" r:id="rId12" imgW="1409729" imgH="5905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3975100"/>
                        <a:ext cx="15113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7" name="Object 11">
            <a:extLst>
              <a:ext uri="{FF2B5EF4-FFF2-40B4-BE49-F238E27FC236}">
                <a16:creationId xmlns:a16="http://schemas.microsoft.com/office/drawing/2014/main" id="{2F44BC91-F9A4-CD3A-19E7-8A53656DF493}"/>
              </a:ext>
            </a:extLst>
          </p:cNvPr>
          <p:cNvGraphicFramePr>
            <a:graphicFrameLocks/>
          </p:cNvGraphicFramePr>
          <p:nvPr/>
        </p:nvGraphicFramePr>
        <p:xfrm>
          <a:off x="2487613" y="3975100"/>
          <a:ext cx="1725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38153" imgH="590550" progId="Equation.3">
                  <p:embed/>
                </p:oleObj>
              </mc:Choice>
              <mc:Fallback>
                <p:oleObj name="Equation" r:id="rId14" imgW="1638153" imgH="59055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3975100"/>
                        <a:ext cx="17256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8" name="Object 12">
            <a:extLst>
              <a:ext uri="{FF2B5EF4-FFF2-40B4-BE49-F238E27FC236}">
                <a16:creationId xmlns:a16="http://schemas.microsoft.com/office/drawing/2014/main" id="{637FD82D-869B-93A0-A8C8-156B62C491B3}"/>
              </a:ext>
            </a:extLst>
          </p:cNvPr>
          <p:cNvGraphicFramePr>
            <a:graphicFrameLocks/>
          </p:cNvGraphicFramePr>
          <p:nvPr/>
        </p:nvGraphicFramePr>
        <p:xfrm>
          <a:off x="796925" y="5172075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953" imgH="266700" progId="Equation.3">
                  <p:embed/>
                </p:oleObj>
              </mc:Choice>
              <mc:Fallback>
                <p:oleObj name="Equation" r:id="rId16" imgW="1180953" imgH="2667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5172075"/>
                        <a:ext cx="1270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>
            <a:extLst>
              <a:ext uri="{FF2B5EF4-FFF2-40B4-BE49-F238E27FC236}">
                <a16:creationId xmlns:a16="http://schemas.microsoft.com/office/drawing/2014/main" id="{0F5E27F1-E3D4-FEB5-C49F-F1402107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1328738"/>
            <a:ext cx="647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00139972-A55D-C61F-FCBC-08DDD8BED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0843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7F058083-F669-8203-C926-D38A880B1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2051050"/>
            <a:ext cx="542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= 0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2s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内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F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作的功及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= 2s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时的功率。</a:t>
            </a:r>
          </a:p>
        </p:txBody>
      </p:sp>
      <p:sp>
        <p:nvSpPr>
          <p:cNvPr id="101392" name="AutoShape 16">
            <a:extLst>
              <a:ext uri="{FF2B5EF4-FFF2-40B4-BE49-F238E27FC236}">
                <a16:creationId xmlns:a16="http://schemas.microsoft.com/office/drawing/2014/main" id="{9F01AF13-8A37-61EB-AC00-6B0A857BD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25" y="310991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5" name="TextBox 16">
            <a:extLst>
              <a:ext uri="{FF2B5EF4-FFF2-40B4-BE49-F238E27FC236}">
                <a16:creationId xmlns:a16="http://schemas.microsoft.com/office/drawing/2014/main" id="{FA5A7F8E-61AF-6DA6-3262-4A408E834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03200"/>
            <a:ext cx="3897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C000"/>
                </a:solidFill>
              </a:rPr>
              <a:t>力的大小随时间变化的例子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  <p:bldP spid="101385" grpId="0" animBg="1"/>
      <p:bldP spid="1013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FACCF185-F99A-842F-8594-7F0BFDA2E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381000"/>
            <a:ext cx="80168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质量为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10kg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的质点，在外力作用下做平面曲线运动，该质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点的速度为</a:t>
            </a:r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A9D33A85-92F4-57BF-7591-80C213D49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7613" y="965200"/>
          <a:ext cx="23923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059" imgH="342900" progId="Equation.3">
                  <p:embed/>
                </p:oleObj>
              </mc:Choice>
              <mc:Fallback>
                <p:oleObj name="Equation" r:id="rId2" imgW="1905059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965200"/>
                        <a:ext cx="23923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Text Box 4">
            <a:extLst>
              <a:ext uri="{FF2B5EF4-FFF2-40B4-BE49-F238E27FC236}">
                <a16:creationId xmlns:a16="http://schemas.microsoft.com/office/drawing/2014/main" id="{987EFB8B-7DD0-9A7B-8624-B88121E98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21971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99333" name="Object 5">
            <a:extLst>
              <a:ext uri="{FF2B5EF4-FFF2-40B4-BE49-F238E27FC236}">
                <a16:creationId xmlns:a16="http://schemas.microsoft.com/office/drawing/2014/main" id="{C2081BAA-198B-5E25-0E69-F195711D8E89}"/>
              </a:ext>
            </a:extLst>
          </p:cNvPr>
          <p:cNvGraphicFramePr>
            <a:graphicFrameLocks/>
          </p:cNvGraphicFramePr>
          <p:nvPr/>
        </p:nvGraphicFramePr>
        <p:xfrm>
          <a:off x="965200" y="2057400"/>
          <a:ext cx="185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541" imgH="723900" progId="Equation.3">
                  <p:embed/>
                </p:oleObj>
              </mc:Choice>
              <mc:Fallback>
                <p:oleObj name="Equation" r:id="rId4" imgW="1752541" imgH="723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2057400"/>
                        <a:ext cx="185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8594EC59-C837-0358-DE5D-24FD94524E77}"/>
              </a:ext>
            </a:extLst>
          </p:cNvPr>
          <p:cNvGraphicFramePr>
            <a:graphicFrameLocks/>
          </p:cNvGraphicFramePr>
          <p:nvPr/>
        </p:nvGraphicFramePr>
        <p:xfrm>
          <a:off x="4349750" y="2209800"/>
          <a:ext cx="14462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2535" imgH="304800" progId="Equation.3">
                  <p:embed/>
                </p:oleObj>
              </mc:Choice>
              <mc:Fallback>
                <p:oleObj name="Equation" r:id="rId6" imgW="1352535" imgH="3048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2209800"/>
                        <a:ext cx="14462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7">
            <a:extLst>
              <a:ext uri="{FF2B5EF4-FFF2-40B4-BE49-F238E27FC236}">
                <a16:creationId xmlns:a16="http://schemas.microsoft.com/office/drawing/2014/main" id="{8B9BB5D0-70EC-6963-7C0C-66E0245C6591}"/>
              </a:ext>
            </a:extLst>
          </p:cNvPr>
          <p:cNvGraphicFramePr>
            <a:graphicFrameLocks/>
          </p:cNvGraphicFramePr>
          <p:nvPr/>
        </p:nvGraphicFramePr>
        <p:xfrm>
          <a:off x="947738" y="3194050"/>
          <a:ext cx="17621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282" imgH="723900" progId="Equation.3">
                  <p:embed/>
                </p:oleObj>
              </mc:Choice>
              <mc:Fallback>
                <p:oleObj name="Equation" r:id="rId8" imgW="1676282" imgH="7239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3194050"/>
                        <a:ext cx="17621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6" name="Object 8">
            <a:extLst>
              <a:ext uri="{FF2B5EF4-FFF2-40B4-BE49-F238E27FC236}">
                <a16:creationId xmlns:a16="http://schemas.microsoft.com/office/drawing/2014/main" id="{510BA6D0-1789-E535-7A9C-77372B7085B4}"/>
              </a:ext>
            </a:extLst>
          </p:cNvPr>
          <p:cNvGraphicFramePr>
            <a:graphicFrameLocks/>
          </p:cNvGraphicFramePr>
          <p:nvPr/>
        </p:nvGraphicFramePr>
        <p:xfrm>
          <a:off x="3821113" y="343535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3465" imgH="304800" progId="Equation.3">
                  <p:embed/>
                </p:oleObj>
              </mc:Choice>
              <mc:Fallback>
                <p:oleObj name="Equation" r:id="rId10" imgW="933465" imgH="3048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3" y="3435350"/>
                        <a:ext cx="1028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7" name="Object 9">
            <a:extLst>
              <a:ext uri="{FF2B5EF4-FFF2-40B4-BE49-F238E27FC236}">
                <a16:creationId xmlns:a16="http://schemas.microsoft.com/office/drawing/2014/main" id="{837269B9-4244-DC2C-B28E-74B1BB88A889}"/>
              </a:ext>
            </a:extLst>
          </p:cNvPr>
          <p:cNvGraphicFramePr>
            <a:graphicFrameLocks/>
          </p:cNvGraphicFramePr>
          <p:nvPr/>
        </p:nvGraphicFramePr>
        <p:xfrm>
          <a:off x="936625" y="4506913"/>
          <a:ext cx="240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05065" imgH="723900" progId="Equation.3">
                  <p:embed/>
                </p:oleObj>
              </mc:Choice>
              <mc:Fallback>
                <p:oleObj name="Equation" r:id="rId12" imgW="2305065" imgH="7239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4506913"/>
                        <a:ext cx="2400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8" name="Object 10">
            <a:extLst>
              <a:ext uri="{FF2B5EF4-FFF2-40B4-BE49-F238E27FC236}">
                <a16:creationId xmlns:a16="http://schemas.microsoft.com/office/drawing/2014/main" id="{9BF13FA2-F2AC-5D7A-38B7-0CC5DB6F4F25}"/>
              </a:ext>
            </a:extLst>
          </p:cNvPr>
          <p:cNvGraphicFramePr>
            <a:graphicFrameLocks/>
          </p:cNvGraphicFramePr>
          <p:nvPr/>
        </p:nvGraphicFramePr>
        <p:xfrm>
          <a:off x="4803775" y="4437063"/>
          <a:ext cx="21447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577" imgH="762000" progId="Equation.3">
                  <p:embed/>
                </p:oleObj>
              </mc:Choice>
              <mc:Fallback>
                <p:oleObj name="Equation" r:id="rId14" imgW="2057577" imgH="7620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4437063"/>
                        <a:ext cx="21447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9" name="Object 11">
            <a:extLst>
              <a:ext uri="{FF2B5EF4-FFF2-40B4-BE49-F238E27FC236}">
                <a16:creationId xmlns:a16="http://schemas.microsoft.com/office/drawing/2014/main" id="{CA3E9085-189E-646D-A1B6-9C9AA853A3D8}"/>
              </a:ext>
            </a:extLst>
          </p:cNvPr>
          <p:cNvGraphicFramePr>
            <a:graphicFrameLocks/>
          </p:cNvGraphicFramePr>
          <p:nvPr/>
        </p:nvGraphicFramePr>
        <p:xfrm>
          <a:off x="998538" y="5753100"/>
          <a:ext cx="2501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00388" imgH="495300" progId="Equation.3">
                  <p:embed/>
                </p:oleObj>
              </mc:Choice>
              <mc:Fallback>
                <p:oleObj name="Equation" r:id="rId16" imgW="2400388" imgH="4953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5753100"/>
                        <a:ext cx="2501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0" name="Object 12">
            <a:extLst>
              <a:ext uri="{FF2B5EF4-FFF2-40B4-BE49-F238E27FC236}">
                <a16:creationId xmlns:a16="http://schemas.microsoft.com/office/drawing/2014/main" id="{D7EBA239-F261-79FE-F540-3EC1C80673BB}"/>
              </a:ext>
            </a:extLst>
          </p:cNvPr>
          <p:cNvGraphicFramePr>
            <a:graphicFrameLocks/>
          </p:cNvGraphicFramePr>
          <p:nvPr/>
        </p:nvGraphicFramePr>
        <p:xfrm>
          <a:off x="3522663" y="5676900"/>
          <a:ext cx="292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19459" imgH="590550" progId="Equation.3">
                  <p:embed/>
                </p:oleObj>
              </mc:Choice>
              <mc:Fallback>
                <p:oleObj name="Equation" r:id="rId18" imgW="2819459" imgH="59055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5676900"/>
                        <a:ext cx="2921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1" name="AutoShape 13">
            <a:extLst>
              <a:ext uri="{FF2B5EF4-FFF2-40B4-BE49-F238E27FC236}">
                <a16:creationId xmlns:a16="http://schemas.microsoft.com/office/drawing/2014/main" id="{38B3C7CD-5D98-F07F-43C8-74135D81B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362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42" name="AutoShape 14">
            <a:extLst>
              <a:ext uri="{FF2B5EF4-FFF2-40B4-BE49-F238E27FC236}">
                <a16:creationId xmlns:a16="http://schemas.microsoft.com/office/drawing/2014/main" id="{A54D3882-E88D-0431-4B51-FC842041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35067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343" name="AutoShape 15">
            <a:extLst>
              <a:ext uri="{FF2B5EF4-FFF2-40B4-BE49-F238E27FC236}">
                <a16:creationId xmlns:a16="http://schemas.microsoft.com/office/drawing/2014/main" id="{9C732A99-794C-1584-EE96-21B6D18CC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3516313"/>
            <a:ext cx="625475" cy="215900"/>
          </a:xfrm>
          <a:prstGeom prst="rightArrow">
            <a:avLst>
              <a:gd name="adj1" fmla="val 50000"/>
              <a:gd name="adj2" fmla="val 72426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8" name="Text Box 16">
            <a:extLst>
              <a:ext uri="{FF2B5EF4-FFF2-40B4-BE49-F238E27FC236}">
                <a16:creationId xmlns:a16="http://schemas.microsoft.com/office/drawing/2014/main" id="{4EA367A5-057A-6269-DC12-01A97980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1484313"/>
            <a:ext cx="836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在质点从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y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 16m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到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y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 32m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的过程中，外力做的功。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D9C7D3A3-D57F-3AE0-0019-49C30EBCA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4478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74674A44-7E66-A169-C21D-43C3E62E5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61963"/>
            <a:ext cx="647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9FE5018F-B6C9-2F79-8BD4-B2926A857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933450"/>
            <a:ext cx="430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开始时质点位于坐标原点。</a:t>
            </a:r>
          </a:p>
        </p:txBody>
      </p:sp>
      <p:graphicFrame>
        <p:nvGraphicFramePr>
          <p:cNvPr id="99348" name="Object 20">
            <a:extLst>
              <a:ext uri="{FF2B5EF4-FFF2-40B4-BE49-F238E27FC236}">
                <a16:creationId xmlns:a16="http://schemas.microsoft.com/office/drawing/2014/main" id="{52DA7A93-403C-0469-37BD-F83E039BE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9638" y="303530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05047" imgH="304800" progId="Equation.3">
                  <p:embed/>
                </p:oleObj>
              </mc:Choice>
              <mc:Fallback>
                <p:oleObj name="公式" r:id="rId20" imgW="1105047" imgH="304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38" y="303530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9" name="Object 21">
            <a:extLst>
              <a:ext uri="{FF2B5EF4-FFF2-40B4-BE49-F238E27FC236}">
                <a16:creationId xmlns:a16="http://schemas.microsoft.com/office/drawing/2014/main" id="{47F81ED4-E265-E10F-D26F-7C4C4C7D80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3016250"/>
          <a:ext cx="609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14394" imgH="228600" progId="Equation.3">
                  <p:embed/>
                </p:oleObj>
              </mc:Choice>
              <mc:Fallback>
                <p:oleObj name="公式" r:id="rId22" imgW="514394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016250"/>
                        <a:ext cx="609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0" name="Object 22">
            <a:extLst>
              <a:ext uri="{FF2B5EF4-FFF2-40B4-BE49-F238E27FC236}">
                <a16:creationId xmlns:a16="http://schemas.microsoft.com/office/drawing/2014/main" id="{5CDA1A20-DE66-73B3-9AE1-10C326F73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7575" y="3716338"/>
          <a:ext cx="121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24112" imgH="304800" progId="Equation.3">
                  <p:embed/>
                </p:oleObj>
              </mc:Choice>
              <mc:Fallback>
                <p:oleObj name="公式" r:id="rId24" imgW="1124112" imgH="304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3716338"/>
                        <a:ext cx="121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1" name="Object 23">
            <a:extLst>
              <a:ext uri="{FF2B5EF4-FFF2-40B4-BE49-F238E27FC236}">
                <a16:creationId xmlns:a16="http://schemas.microsoft.com/office/drawing/2014/main" id="{285E8065-B1D5-1CA2-CDD4-0027D2EB8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3694113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71588" imgH="228600" progId="Equation.3">
                  <p:embed/>
                </p:oleObj>
              </mc:Choice>
              <mc:Fallback>
                <p:oleObj name="公式" r:id="rId26" imgW="571588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3694113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52" name="AutoShape 24">
            <a:extLst>
              <a:ext uri="{FF2B5EF4-FFF2-40B4-BE49-F238E27FC236}">
                <a16:creationId xmlns:a16="http://schemas.microsoft.com/office/drawing/2014/main" id="{1E1ED70B-378E-69EC-24AB-14DB69291D71}"/>
              </a:ext>
            </a:extLst>
          </p:cNvPr>
          <p:cNvSpPr>
            <a:spLocks/>
          </p:cNvSpPr>
          <p:nvPr/>
        </p:nvSpPr>
        <p:spPr bwMode="auto">
          <a:xfrm>
            <a:off x="5705475" y="3219450"/>
            <a:ext cx="215900" cy="792163"/>
          </a:xfrm>
          <a:prstGeom prst="leftBrace">
            <a:avLst>
              <a:gd name="adj1" fmla="val 30576"/>
              <a:gd name="adj2" fmla="val 50000"/>
            </a:avLst>
          </a:prstGeom>
          <a:noFill/>
          <a:ln w="190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/>
      <p:bldP spid="99341" grpId="0" animBg="1"/>
      <p:bldP spid="99342" grpId="0" animBg="1"/>
      <p:bldP spid="99343" grpId="0" animBg="1"/>
      <p:bldP spid="993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4" name="Group 2">
            <a:extLst>
              <a:ext uri="{FF2B5EF4-FFF2-40B4-BE49-F238E27FC236}">
                <a16:creationId xmlns:a16="http://schemas.microsoft.com/office/drawing/2014/main" id="{28803A9F-B17D-3E79-650C-75980247C6BF}"/>
              </a:ext>
            </a:extLst>
          </p:cNvPr>
          <p:cNvGrpSpPr>
            <a:grpSpLocks/>
          </p:cNvGrpSpPr>
          <p:nvPr/>
        </p:nvGrpSpPr>
        <p:grpSpPr bwMode="auto">
          <a:xfrm>
            <a:off x="6157913" y="1689100"/>
            <a:ext cx="2317750" cy="2241550"/>
            <a:chOff x="4013" y="675"/>
            <a:chExt cx="1460" cy="1412"/>
          </a:xfrm>
        </p:grpSpPr>
        <p:graphicFrame>
          <p:nvGraphicFramePr>
            <p:cNvPr id="9250" name="Object 3">
              <a:extLst>
                <a:ext uri="{FF2B5EF4-FFF2-40B4-BE49-F238E27FC236}">
                  <a16:creationId xmlns:a16="http://schemas.microsoft.com/office/drawing/2014/main" id="{589B2D56-062D-0C39-5F32-DEF2143E165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80" y="1872"/>
            <a:ext cx="193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9712" imgH="247650" progId="Equation.3">
                    <p:embed/>
                  </p:oleObj>
                </mc:Choice>
                <mc:Fallback>
                  <p:oleObj name="Equation" r:id="rId2" imgW="209712" imgH="247650" progId="Equation.3">
                    <p:embed/>
                    <p:pic>
                      <p:nvPicPr>
                        <p:cNvPr id="0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872"/>
                          <a:ext cx="193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1" name="Line 4">
              <a:extLst>
                <a:ext uri="{FF2B5EF4-FFF2-40B4-BE49-F238E27FC236}">
                  <a16:creationId xmlns:a16="http://schemas.microsoft.com/office/drawing/2014/main" id="{2828C77A-7CE6-71A7-C78C-CA0307B7D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" y="675"/>
              <a:ext cx="67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Oval 5">
              <a:extLst>
                <a:ext uri="{FF2B5EF4-FFF2-40B4-BE49-F238E27FC236}">
                  <a16:creationId xmlns:a16="http://schemas.microsoft.com/office/drawing/2014/main" id="{8E573868-94E2-4833-114D-20A1C22CE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779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CCCC"/>
                </a:gs>
                <a:gs pos="100000">
                  <a:srgbClr val="FF505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FFCC0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3" name="Line 6">
              <a:extLst>
                <a:ext uri="{FF2B5EF4-FFF2-40B4-BE49-F238E27FC236}">
                  <a16:creationId xmlns:a16="http://schemas.microsoft.com/office/drawing/2014/main" id="{9613D468-7D8A-2088-CDD5-9F3DE54D0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" y="675"/>
              <a:ext cx="0" cy="1104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7">
              <a:extLst>
                <a:ext uri="{FF2B5EF4-FFF2-40B4-BE49-F238E27FC236}">
                  <a16:creationId xmlns:a16="http://schemas.microsoft.com/office/drawing/2014/main" id="{312A5DBE-C62F-3BA8-68A9-B157D7E28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" y="675"/>
              <a:ext cx="528" cy="105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Oval 8">
              <a:extLst>
                <a:ext uri="{FF2B5EF4-FFF2-40B4-BE49-F238E27FC236}">
                  <a16:creationId xmlns:a16="http://schemas.microsoft.com/office/drawing/2014/main" id="{6924C56D-F5CE-BBF6-2E24-A0CB7FFE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" y="167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CCCC"/>
                </a:gs>
                <a:gs pos="100000">
                  <a:srgbClr val="FF505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6" name="Text Box 9">
              <a:extLst>
                <a:ext uri="{FF2B5EF4-FFF2-40B4-BE49-F238E27FC236}">
                  <a16:creationId xmlns:a16="http://schemas.microsoft.com/office/drawing/2014/main" id="{BED573E2-1698-7B4B-94C7-35C866BCE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9" y="98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257" name="Line 10">
              <a:extLst>
                <a:ext uri="{FF2B5EF4-FFF2-40B4-BE49-F238E27FC236}">
                  <a16:creationId xmlns:a16="http://schemas.microsoft.com/office/drawing/2014/main" id="{1690AED5-5C97-9212-576B-FE6B09A15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" y="1787"/>
              <a:ext cx="48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" name="Rectangle 11">
            <a:extLst>
              <a:ext uri="{FF2B5EF4-FFF2-40B4-BE49-F238E27FC236}">
                <a16:creationId xmlns:a16="http://schemas.microsoft.com/office/drawing/2014/main" id="{A843669E-4095-FF89-8E8D-5E2A97091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5" y="676275"/>
            <a:ext cx="4525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缓慢拉质量为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的小球，</a:t>
            </a:r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0364" name="Text Box 12">
            <a:extLst>
              <a:ext uri="{FF2B5EF4-FFF2-40B4-BE49-F238E27FC236}">
                <a16:creationId xmlns:a16="http://schemas.microsoft.com/office/drawing/2014/main" id="{2641EE07-822A-EF7B-3D3E-DA6CF425B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18764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00365" name="Object 13">
            <a:extLst>
              <a:ext uri="{FF2B5EF4-FFF2-40B4-BE49-F238E27FC236}">
                <a16:creationId xmlns:a16="http://schemas.microsoft.com/office/drawing/2014/main" id="{03F9A1C6-0022-E3E5-229E-CCDD1793161F}"/>
              </a:ext>
            </a:extLst>
          </p:cNvPr>
          <p:cNvGraphicFramePr>
            <a:graphicFrameLocks/>
          </p:cNvGraphicFramePr>
          <p:nvPr/>
        </p:nvGraphicFramePr>
        <p:xfrm>
          <a:off x="1484313" y="1958975"/>
          <a:ext cx="20589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62253" imgH="228600" progId="Equation.3">
                  <p:embed/>
                </p:oleObj>
              </mc:Choice>
              <mc:Fallback>
                <p:oleObj name="公式" r:id="rId4" imgW="1962253" imgH="22860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3" y="1958975"/>
                        <a:ext cx="20589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765D1549-0D1F-62D3-EDD5-9E8B49F87FCD}"/>
              </a:ext>
            </a:extLst>
          </p:cNvPr>
          <p:cNvGraphicFramePr>
            <a:graphicFrameLocks/>
          </p:cNvGraphicFramePr>
          <p:nvPr/>
        </p:nvGraphicFramePr>
        <p:xfrm>
          <a:off x="1439863" y="2546350"/>
          <a:ext cx="23098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09741" imgH="304800" progId="Equation.3">
                  <p:embed/>
                </p:oleObj>
              </mc:Choice>
              <mc:Fallback>
                <p:oleObj name="公式" r:id="rId6" imgW="2209741" imgH="3048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546350"/>
                        <a:ext cx="23098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7" name="AutoShape 15">
            <a:extLst>
              <a:ext uri="{FF2B5EF4-FFF2-40B4-BE49-F238E27FC236}">
                <a16:creationId xmlns:a16="http://schemas.microsoft.com/office/drawing/2014/main" id="{B4E798F7-CBF6-AC2C-A45C-878604A2A8C1}"/>
              </a:ext>
            </a:extLst>
          </p:cNvPr>
          <p:cNvSpPr>
            <a:spLocks/>
          </p:cNvSpPr>
          <p:nvPr/>
        </p:nvSpPr>
        <p:spPr bwMode="auto">
          <a:xfrm>
            <a:off x="1304925" y="2052638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0368" name="Object 16">
            <a:extLst>
              <a:ext uri="{FF2B5EF4-FFF2-40B4-BE49-F238E27FC236}">
                <a16:creationId xmlns:a16="http://schemas.microsoft.com/office/drawing/2014/main" id="{EFD9B03D-1ED8-D612-74CD-53A51C9A5FD6}"/>
              </a:ext>
            </a:extLst>
          </p:cNvPr>
          <p:cNvGraphicFramePr>
            <a:graphicFrameLocks/>
          </p:cNvGraphicFramePr>
          <p:nvPr/>
        </p:nvGraphicFramePr>
        <p:xfrm>
          <a:off x="1449388" y="3105150"/>
          <a:ext cx="18415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52541" imgH="285750" progId="Equation.3">
                  <p:embed/>
                </p:oleObj>
              </mc:Choice>
              <mc:Fallback>
                <p:oleObj name="公式" r:id="rId8" imgW="1752541" imgH="28575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3105150"/>
                        <a:ext cx="18415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9" name="Object 17">
            <a:extLst>
              <a:ext uri="{FF2B5EF4-FFF2-40B4-BE49-F238E27FC236}">
                <a16:creationId xmlns:a16="http://schemas.microsoft.com/office/drawing/2014/main" id="{0A76E43B-C1F9-58A0-AC3A-CCC5A65E30F1}"/>
              </a:ext>
            </a:extLst>
          </p:cNvPr>
          <p:cNvGraphicFramePr>
            <a:graphicFrameLocks/>
          </p:cNvGraphicFramePr>
          <p:nvPr/>
        </p:nvGraphicFramePr>
        <p:xfrm>
          <a:off x="1719263" y="4460875"/>
          <a:ext cx="2806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05071" imgH="495300" progId="Equation.3">
                  <p:embed/>
                </p:oleObj>
              </mc:Choice>
              <mc:Fallback>
                <p:oleObj name="公式" r:id="rId10" imgW="2705071" imgH="49530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4460875"/>
                        <a:ext cx="2806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70" name="Group 18">
            <a:extLst>
              <a:ext uri="{FF2B5EF4-FFF2-40B4-BE49-F238E27FC236}">
                <a16:creationId xmlns:a16="http://schemas.microsoft.com/office/drawing/2014/main" id="{478347EB-0A41-5A28-26D1-2E4D1A948625}"/>
              </a:ext>
            </a:extLst>
          </p:cNvPr>
          <p:cNvGrpSpPr>
            <a:grpSpLocks/>
          </p:cNvGrpSpPr>
          <p:nvPr/>
        </p:nvGrpSpPr>
        <p:grpSpPr bwMode="auto">
          <a:xfrm>
            <a:off x="6518275" y="4784725"/>
            <a:ext cx="1143000" cy="1600200"/>
            <a:chOff x="2928" y="602"/>
            <a:chExt cx="720" cy="1008"/>
          </a:xfrm>
        </p:grpSpPr>
        <p:sp>
          <p:nvSpPr>
            <p:cNvPr id="9246" name="Line 19">
              <a:extLst>
                <a:ext uri="{FF2B5EF4-FFF2-40B4-BE49-F238E27FC236}">
                  <a16:creationId xmlns:a16="http://schemas.microsoft.com/office/drawing/2014/main" id="{2C1D3B16-4C8B-27C6-8A64-32C518C5B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96"/>
              <a:ext cx="720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20">
              <a:extLst>
                <a:ext uri="{FF2B5EF4-FFF2-40B4-BE49-F238E27FC236}">
                  <a16:creationId xmlns:a16="http://schemas.microsoft.com/office/drawing/2014/main" id="{5534C8B1-F9A6-0AC8-3AE3-DDBE30FCF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720"/>
              <a:ext cx="0" cy="81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Text Box 21">
              <a:extLst>
                <a:ext uri="{FF2B5EF4-FFF2-40B4-BE49-F238E27FC236}">
                  <a16:creationId xmlns:a16="http://schemas.microsoft.com/office/drawing/2014/main" id="{AADEEF9C-234F-84F6-286C-4003FC9C8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132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249" name="Text Box 22">
              <a:extLst>
                <a:ext uri="{FF2B5EF4-FFF2-40B4-BE49-F238E27FC236}">
                  <a16:creationId xmlns:a16="http://schemas.microsoft.com/office/drawing/2014/main" id="{6766AD9C-65FC-D396-3FF6-B47479653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60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100375" name="Object 23">
            <a:extLst>
              <a:ext uri="{FF2B5EF4-FFF2-40B4-BE49-F238E27FC236}">
                <a16:creationId xmlns:a16="http://schemas.microsoft.com/office/drawing/2014/main" id="{8D72E565-C00A-C144-7988-51C28F2E69D3}"/>
              </a:ext>
            </a:extLst>
          </p:cNvPr>
          <p:cNvGraphicFramePr>
            <a:graphicFrameLocks/>
          </p:cNvGraphicFramePr>
          <p:nvPr/>
        </p:nvGraphicFramePr>
        <p:xfrm>
          <a:off x="1423988" y="3675063"/>
          <a:ext cx="35544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66953" imgH="495300" progId="Equation.3">
                  <p:embed/>
                </p:oleObj>
              </mc:Choice>
              <mc:Fallback>
                <p:oleObj name="公式" r:id="rId12" imgW="3466953" imgH="495300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3675063"/>
                        <a:ext cx="35544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6" name="Object 24">
            <a:extLst>
              <a:ext uri="{FF2B5EF4-FFF2-40B4-BE49-F238E27FC236}">
                <a16:creationId xmlns:a16="http://schemas.microsoft.com/office/drawing/2014/main" id="{3FCA951A-E82A-D67C-60C5-F95D44B57B26}"/>
              </a:ext>
            </a:extLst>
          </p:cNvPr>
          <p:cNvGraphicFramePr>
            <a:graphicFrameLocks/>
          </p:cNvGraphicFramePr>
          <p:nvPr/>
        </p:nvGraphicFramePr>
        <p:xfrm>
          <a:off x="6677025" y="2235200"/>
          <a:ext cx="32067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8777" imgH="190500" progId="Equation.3">
                  <p:embed/>
                </p:oleObj>
              </mc:Choice>
              <mc:Fallback>
                <p:oleObj name="公式" r:id="rId14" imgW="228777" imgH="190500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2235200"/>
                        <a:ext cx="320675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7" name="Line 25">
            <a:extLst>
              <a:ext uri="{FF2B5EF4-FFF2-40B4-BE49-F238E27FC236}">
                <a16:creationId xmlns:a16="http://schemas.microsoft.com/office/drawing/2014/main" id="{9558B92A-C1E4-DF55-8EE8-33D45028D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0950" y="3441700"/>
            <a:ext cx="0" cy="990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0378" name="Object 26">
            <a:extLst>
              <a:ext uri="{FF2B5EF4-FFF2-40B4-BE49-F238E27FC236}">
                <a16:creationId xmlns:a16="http://schemas.microsoft.com/office/drawing/2014/main" id="{C4CE88B5-C756-9D82-4AB8-73CA332F9DEF}"/>
              </a:ext>
            </a:extLst>
          </p:cNvPr>
          <p:cNvGraphicFramePr>
            <a:graphicFrameLocks/>
          </p:cNvGraphicFramePr>
          <p:nvPr/>
        </p:nvGraphicFramePr>
        <p:xfrm>
          <a:off x="7483475" y="4478338"/>
          <a:ext cx="292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647" imgH="266700" progId="Equation.3">
                  <p:embed/>
                </p:oleObj>
              </mc:Choice>
              <mc:Fallback>
                <p:oleObj name="Equation" r:id="rId16" imgW="190647" imgH="266700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475" y="4478338"/>
                        <a:ext cx="292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9" name="Object 27">
            <a:extLst>
              <a:ext uri="{FF2B5EF4-FFF2-40B4-BE49-F238E27FC236}">
                <a16:creationId xmlns:a16="http://schemas.microsoft.com/office/drawing/2014/main" id="{62075E43-8EDA-E40C-4329-103297CF5B12}"/>
              </a:ext>
            </a:extLst>
          </p:cNvPr>
          <p:cNvGraphicFramePr>
            <a:graphicFrameLocks/>
          </p:cNvGraphicFramePr>
          <p:nvPr/>
        </p:nvGraphicFramePr>
        <p:xfrm>
          <a:off x="7559675" y="2674938"/>
          <a:ext cx="2555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518" imgH="247650" progId="Equation.3">
                  <p:embed/>
                </p:oleObj>
              </mc:Choice>
              <mc:Fallback>
                <p:oleObj name="Equation" r:id="rId18" imgW="152518" imgH="247650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9675" y="2674938"/>
                        <a:ext cx="2555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80" name="Object 28">
            <a:extLst>
              <a:ext uri="{FF2B5EF4-FFF2-40B4-BE49-F238E27FC236}">
                <a16:creationId xmlns:a16="http://schemas.microsoft.com/office/drawing/2014/main" id="{3CFFA193-08FF-295A-C5EF-EC31B4D3F4E4}"/>
              </a:ext>
            </a:extLst>
          </p:cNvPr>
          <p:cNvGraphicFramePr>
            <a:graphicFrameLocks/>
          </p:cNvGraphicFramePr>
          <p:nvPr/>
        </p:nvGraphicFramePr>
        <p:xfrm>
          <a:off x="1692275" y="5927725"/>
          <a:ext cx="22923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788" imgH="171450" progId="Equation.DSMT4">
                  <p:embed/>
                </p:oleObj>
              </mc:Choice>
              <mc:Fallback>
                <p:oleObj name="Equation" r:id="rId20" imgW="1028788" imgH="171450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927725"/>
                        <a:ext cx="22923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Rectangle 29">
            <a:extLst>
              <a:ext uri="{FF2B5EF4-FFF2-40B4-BE49-F238E27FC236}">
                <a16:creationId xmlns:a16="http://schemas.microsoft.com/office/drawing/2014/main" id="{3DD25C2C-6930-9CBF-BA80-D18A532BF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57225"/>
            <a:ext cx="647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4" name="Rectangle 30">
            <a:extLst>
              <a:ext uri="{FF2B5EF4-FFF2-40B4-BE49-F238E27FC236}">
                <a16:creationId xmlns:a16="http://schemas.microsoft.com/office/drawing/2014/main" id="{BB1CBA87-5311-5C94-9B3B-D414483D6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1266825"/>
            <a:ext cx="275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时，</a:t>
            </a:r>
          </a:p>
        </p:txBody>
      </p:sp>
      <p:sp>
        <p:nvSpPr>
          <p:cNvPr id="9235" name="Rectangle 31">
            <a:extLst>
              <a:ext uri="{FF2B5EF4-FFF2-40B4-BE49-F238E27FC236}">
                <a16:creationId xmlns:a16="http://schemas.microsoft.com/office/drawing/2014/main" id="{EDBB8702-DAD6-190A-8838-D28F1B863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2668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100384" name="Line 32">
            <a:extLst>
              <a:ext uri="{FF2B5EF4-FFF2-40B4-BE49-F238E27FC236}">
                <a16:creationId xmlns:a16="http://schemas.microsoft.com/office/drawing/2014/main" id="{DE0AEE7C-EB8A-D326-ECF4-01D696A96C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5188" y="2751138"/>
            <a:ext cx="377825" cy="714375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Rectangle 33">
            <a:extLst>
              <a:ext uri="{FF2B5EF4-FFF2-40B4-BE49-F238E27FC236}">
                <a16:creationId xmlns:a16="http://schemas.microsoft.com/office/drawing/2014/main" id="{14D2107E-A618-A53D-EB58-E5158EAA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6572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已知用力</a:t>
            </a:r>
          </a:p>
        </p:txBody>
      </p:sp>
      <p:graphicFrame>
        <p:nvGraphicFramePr>
          <p:cNvPr id="9238" name="Object 34">
            <a:extLst>
              <a:ext uri="{FF2B5EF4-FFF2-40B4-BE49-F238E27FC236}">
                <a16:creationId xmlns:a16="http://schemas.microsoft.com/office/drawing/2014/main" id="{0174DB9C-FD43-EFBA-F3B9-03DF1BB65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8038" y="714375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9712" imgH="247650" progId="Equation.3">
                  <p:embed/>
                </p:oleObj>
              </mc:Choice>
              <mc:Fallback>
                <p:oleObj name="Equation" r:id="rId22" imgW="209712" imgH="24765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714375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35">
            <a:extLst>
              <a:ext uri="{FF2B5EF4-FFF2-40B4-BE49-F238E27FC236}">
                <a16:creationId xmlns:a16="http://schemas.microsoft.com/office/drawing/2014/main" id="{7D6DC40D-BD69-1474-4CF6-519925998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8" y="676275"/>
            <a:ext cx="202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保持方向不变</a:t>
            </a:r>
          </a:p>
        </p:txBody>
      </p:sp>
      <p:graphicFrame>
        <p:nvGraphicFramePr>
          <p:cNvPr id="9240" name="Object 36">
            <a:extLst>
              <a:ext uri="{FF2B5EF4-FFF2-40B4-BE49-F238E27FC236}">
                <a16:creationId xmlns:a16="http://schemas.microsoft.com/office/drawing/2014/main" id="{FD0AAF5D-B1A7-EA9E-9BAA-B1023E7B2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2788" y="733425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9712" imgH="247650" progId="Equation.3">
                  <p:embed/>
                </p:oleObj>
              </mc:Choice>
              <mc:Fallback>
                <p:oleObj name="Equation" r:id="rId24" imgW="209712" imgH="24765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8" y="733425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Rectangle 37">
            <a:extLst>
              <a:ext uri="{FF2B5EF4-FFF2-40B4-BE49-F238E27FC236}">
                <a16:creationId xmlns:a16="http://schemas.microsoft.com/office/drawing/2014/main" id="{69B705CC-3A34-90A8-E3A2-4886531F2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247775"/>
            <a:ext cx="139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作的功。</a:t>
            </a:r>
          </a:p>
        </p:txBody>
      </p:sp>
      <p:graphicFrame>
        <p:nvGraphicFramePr>
          <p:cNvPr id="9242" name="Object 38">
            <a:extLst>
              <a:ext uri="{FF2B5EF4-FFF2-40B4-BE49-F238E27FC236}">
                <a16:creationId xmlns:a16="http://schemas.microsoft.com/office/drawing/2014/main" id="{BE5F7E13-E44A-A902-3B99-2E95DB888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1388" y="1304925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712" imgH="247650" progId="Equation.3">
                  <p:embed/>
                </p:oleObj>
              </mc:Choice>
              <mc:Fallback>
                <p:oleObj name="Equation" r:id="rId26" imgW="209712" imgH="24765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1304925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91" name="Object 39">
            <a:extLst>
              <a:ext uri="{FF2B5EF4-FFF2-40B4-BE49-F238E27FC236}">
                <a16:creationId xmlns:a16="http://schemas.microsoft.com/office/drawing/2014/main" id="{A2591A79-9700-261F-CFAC-6F129C963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119688"/>
          <a:ext cx="29130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0665" imgH="266700" progId="Equation.DSMT4">
                  <p:embed/>
                </p:oleObj>
              </mc:Choice>
              <mc:Fallback>
                <p:oleObj name="Equation" r:id="rId28" imgW="1390665" imgH="2667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119688"/>
                        <a:ext cx="29130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92" name="Arc 40">
            <a:extLst>
              <a:ext uri="{FF2B5EF4-FFF2-40B4-BE49-F238E27FC236}">
                <a16:creationId xmlns:a16="http://schemas.microsoft.com/office/drawing/2014/main" id="{A12C8587-2139-CC98-A509-6DD0F374CB49}"/>
              </a:ext>
            </a:extLst>
          </p:cNvPr>
          <p:cNvSpPr>
            <a:spLocks/>
          </p:cNvSpPr>
          <p:nvPr/>
        </p:nvSpPr>
        <p:spPr bwMode="auto">
          <a:xfrm rot="-4952326">
            <a:off x="6485732" y="1720056"/>
            <a:ext cx="615950" cy="265113"/>
          </a:xfrm>
          <a:custGeom>
            <a:avLst/>
            <a:gdLst>
              <a:gd name="T0" fmla="*/ 2147483646 w 21398"/>
              <a:gd name="T1" fmla="*/ 2147483646 h 9807"/>
              <a:gd name="T2" fmla="*/ 0 w 21398"/>
              <a:gd name="T3" fmla="*/ 2147483646 h 9807"/>
              <a:gd name="T4" fmla="*/ 2147483646 w 21398"/>
              <a:gd name="T5" fmla="*/ 0 h 98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98" h="9807" fill="none" extrusionOk="0">
                <a:moveTo>
                  <a:pt x="2152" y="9807"/>
                </a:moveTo>
                <a:cubicBezTo>
                  <a:pt x="1057" y="7657"/>
                  <a:pt x="329" y="5338"/>
                  <a:pt x="0" y="2947"/>
                </a:cubicBezTo>
              </a:path>
              <a:path w="21398" h="9807" stroke="0" extrusionOk="0">
                <a:moveTo>
                  <a:pt x="2152" y="9807"/>
                </a:moveTo>
                <a:cubicBezTo>
                  <a:pt x="1057" y="7657"/>
                  <a:pt x="329" y="5338"/>
                  <a:pt x="0" y="2947"/>
                </a:cubicBezTo>
                <a:lnTo>
                  <a:pt x="21398" y="0"/>
                </a:lnTo>
                <a:lnTo>
                  <a:pt x="2152" y="9807"/>
                </a:lnTo>
                <a:close/>
              </a:path>
            </a:pathLst>
          </a:custGeom>
          <a:noFill/>
          <a:ln w="28575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5" name="TextBox 16">
            <a:extLst>
              <a:ext uri="{FF2B5EF4-FFF2-40B4-BE49-F238E27FC236}">
                <a16:creationId xmlns:a16="http://schemas.microsoft.com/office/drawing/2014/main" id="{E3FC8347-7BEB-32FA-D317-B4F94C301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1275"/>
            <a:ext cx="23510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C000"/>
                </a:solidFill>
              </a:rPr>
              <a:t>夹角变化的例子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94E0E48-D38B-3853-7039-F34CB1E52FA3}"/>
              </a:ext>
            </a:extLst>
          </p:cNvPr>
          <p:cNvCxnSpPr>
            <a:stCxn id="100384" idx="0"/>
            <a:endCxn id="9252" idx="0"/>
          </p:cNvCxnSpPr>
          <p:nvPr/>
        </p:nvCxnSpPr>
        <p:spPr>
          <a:xfrm flipH="1" flipV="1">
            <a:off x="6691313" y="3441700"/>
            <a:ext cx="901700" cy="23813"/>
          </a:xfrm>
          <a:prstGeom prst="line">
            <a:avLst/>
          </a:prstGeom>
          <a:ln w="2857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4" grpId="0" autoUpdateAnimBg="0"/>
      <p:bldP spid="1003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02" name="Group 2">
            <a:extLst>
              <a:ext uri="{FF2B5EF4-FFF2-40B4-BE49-F238E27FC236}">
                <a16:creationId xmlns:a16="http://schemas.microsoft.com/office/drawing/2014/main" id="{868CF5D9-DE31-548F-6688-96890A1B0816}"/>
              </a:ext>
            </a:extLst>
          </p:cNvPr>
          <p:cNvGrpSpPr>
            <a:grpSpLocks/>
          </p:cNvGrpSpPr>
          <p:nvPr/>
        </p:nvGrpSpPr>
        <p:grpSpPr bwMode="auto">
          <a:xfrm>
            <a:off x="6151563" y="974725"/>
            <a:ext cx="2535237" cy="2632075"/>
            <a:chOff x="3875" y="541"/>
            <a:chExt cx="1597" cy="1658"/>
          </a:xfrm>
        </p:grpSpPr>
        <p:grpSp>
          <p:nvGrpSpPr>
            <p:cNvPr id="10266" name="Group 3">
              <a:extLst>
                <a:ext uri="{FF2B5EF4-FFF2-40B4-BE49-F238E27FC236}">
                  <a16:creationId xmlns:a16="http://schemas.microsoft.com/office/drawing/2014/main" id="{8408469D-B68D-5EF1-0763-0898C38163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5" y="541"/>
              <a:ext cx="1597" cy="1658"/>
              <a:chOff x="3875" y="541"/>
              <a:chExt cx="1597" cy="1658"/>
            </a:xfrm>
          </p:grpSpPr>
          <p:sp>
            <p:nvSpPr>
              <p:cNvPr id="10268" name="Line 4">
                <a:extLst>
                  <a:ext uri="{FF2B5EF4-FFF2-40B4-BE49-F238E27FC236}">
                    <a16:creationId xmlns:a16="http://schemas.microsoft.com/office/drawing/2014/main" id="{9A1569A7-0ED9-636A-BF68-0CA3D2900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9" y="1577"/>
                <a:ext cx="1200" cy="0"/>
              </a:xfrm>
              <a:prstGeom prst="line">
                <a:avLst/>
              </a:prstGeom>
              <a:noFill/>
              <a:ln w="28575">
                <a:solidFill>
                  <a:srgbClr val="CCFF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9" name="Line 5">
                <a:extLst>
                  <a:ext uri="{FF2B5EF4-FFF2-40B4-BE49-F238E27FC236}">
                    <a16:creationId xmlns:a16="http://schemas.microsoft.com/office/drawing/2014/main" id="{85919B52-2D5F-C385-D5C5-F1615C13E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75" y="1577"/>
                <a:ext cx="384" cy="528"/>
              </a:xfrm>
              <a:prstGeom prst="line">
                <a:avLst/>
              </a:prstGeom>
              <a:noFill/>
              <a:ln w="28575">
                <a:solidFill>
                  <a:srgbClr val="CCFF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0" name="Line 6">
                <a:extLst>
                  <a:ext uri="{FF2B5EF4-FFF2-40B4-BE49-F238E27FC236}">
                    <a16:creationId xmlns:a16="http://schemas.microsoft.com/office/drawing/2014/main" id="{B9F18CE7-4342-95D2-1ED1-FCF810DD0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9" y="676"/>
                <a:ext cx="0" cy="912"/>
              </a:xfrm>
              <a:prstGeom prst="line">
                <a:avLst/>
              </a:prstGeom>
              <a:noFill/>
              <a:ln w="28575">
                <a:solidFill>
                  <a:srgbClr val="CCFF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1" name="Text Box 7">
                <a:extLst>
                  <a:ext uri="{FF2B5EF4-FFF2-40B4-BE49-F238E27FC236}">
                    <a16:creationId xmlns:a16="http://schemas.microsoft.com/office/drawing/2014/main" id="{AD0CB1DC-16BE-5E53-8615-46531329D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87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0272" name="Text Box 8">
                <a:extLst>
                  <a:ext uri="{FF2B5EF4-FFF2-40B4-BE49-F238E27FC236}">
                    <a16:creationId xmlns:a16="http://schemas.microsoft.com/office/drawing/2014/main" id="{F33058F0-5B9E-7EF8-C23D-8E53A71E40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7" y="1586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10273" name="Text Box 9">
                <a:extLst>
                  <a:ext uri="{FF2B5EF4-FFF2-40B4-BE49-F238E27FC236}">
                    <a16:creationId xmlns:a16="http://schemas.microsoft.com/office/drawing/2014/main" id="{A22FD88F-32EF-98C2-D17D-5CFAFE178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" y="541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z</a:t>
                </a:r>
              </a:p>
            </p:txBody>
          </p:sp>
        </p:grpSp>
        <p:sp>
          <p:nvSpPr>
            <p:cNvPr id="10267" name="Text Box 10">
              <a:extLst>
                <a:ext uri="{FF2B5EF4-FFF2-40B4-BE49-F238E27FC236}">
                  <a16:creationId xmlns:a16="http://schemas.microsoft.com/office/drawing/2014/main" id="{991FE0DB-D3BC-1907-6011-75DD9C837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58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0243" name="Text Box 11">
            <a:extLst>
              <a:ext uri="{FF2B5EF4-FFF2-40B4-BE49-F238E27FC236}">
                <a16:creationId xmlns:a16="http://schemas.microsoft.com/office/drawing/2014/main" id="{1B405331-3D06-8686-6788-4896C83DA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33375"/>
            <a:ext cx="414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3.2</a:t>
            </a:r>
            <a:r>
              <a:rPr kumimoji="1"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几种常见力的功</a:t>
            </a:r>
            <a:r>
              <a:rPr kumimoji="1" lang="zh-CN" altLang="en-US" sz="32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244" name="Text Box 12">
            <a:extLst>
              <a:ext uri="{FF2B5EF4-FFF2-40B4-BE49-F238E27FC236}">
                <a16:creationId xmlns:a16="http://schemas.microsoft.com/office/drawing/2014/main" id="{5A248BBC-25D0-27BF-4153-4F553FD94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944563"/>
            <a:ext cx="3444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重力的功</a:t>
            </a: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D48F51A6-174A-54FD-08CE-A13CBAC07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557338"/>
            <a:ext cx="527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重力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mg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在曲线路径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上的功为</a:t>
            </a:r>
            <a:r>
              <a:rPr kumimoji="1" lang="zh-CN" altLang="en-US" sz="2400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02414" name="Object 14">
            <a:extLst>
              <a:ext uri="{FF2B5EF4-FFF2-40B4-BE49-F238E27FC236}">
                <a16:creationId xmlns:a16="http://schemas.microsoft.com/office/drawing/2014/main" id="{3A2A1BC5-69AB-63F1-E2BF-4779DCF25EDE}"/>
              </a:ext>
            </a:extLst>
          </p:cNvPr>
          <p:cNvGraphicFramePr>
            <a:graphicFrameLocks/>
          </p:cNvGraphicFramePr>
          <p:nvPr/>
        </p:nvGraphicFramePr>
        <p:xfrm>
          <a:off x="977900" y="2063750"/>
          <a:ext cx="19446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7865" imgH="647700" progId="Equation.3">
                  <p:embed/>
                </p:oleObj>
              </mc:Choice>
              <mc:Fallback>
                <p:oleObj name="Equation" r:id="rId2" imgW="1847865" imgH="6477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063750"/>
                        <a:ext cx="194468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5" name="Object 15">
            <a:extLst>
              <a:ext uri="{FF2B5EF4-FFF2-40B4-BE49-F238E27FC236}">
                <a16:creationId xmlns:a16="http://schemas.microsoft.com/office/drawing/2014/main" id="{91F78259-CAA8-EFBA-3731-606C15D44F1F}"/>
              </a:ext>
            </a:extLst>
          </p:cNvPr>
          <p:cNvGraphicFramePr>
            <a:graphicFrameLocks/>
          </p:cNvGraphicFramePr>
          <p:nvPr/>
        </p:nvGraphicFramePr>
        <p:xfrm>
          <a:off x="3035300" y="2052638"/>
          <a:ext cx="24622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2259" imgH="647700" progId="Equation.3">
                  <p:embed/>
                </p:oleObj>
              </mc:Choice>
              <mc:Fallback>
                <p:oleObj name="Equation" r:id="rId4" imgW="2362259" imgH="64770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2052638"/>
                        <a:ext cx="24622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6" name="Object 16">
            <a:extLst>
              <a:ext uri="{FF2B5EF4-FFF2-40B4-BE49-F238E27FC236}">
                <a16:creationId xmlns:a16="http://schemas.microsoft.com/office/drawing/2014/main" id="{21AA58CA-C490-83AE-F25B-BB7DF4B69719}"/>
              </a:ext>
            </a:extLst>
          </p:cNvPr>
          <p:cNvGraphicFramePr>
            <a:graphicFrameLocks/>
          </p:cNvGraphicFramePr>
          <p:nvPr/>
        </p:nvGraphicFramePr>
        <p:xfrm>
          <a:off x="1333500" y="2973388"/>
          <a:ext cx="207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318" imgH="323850" progId="Equation.3">
                  <p:embed/>
                </p:oleObj>
              </mc:Choice>
              <mc:Fallback>
                <p:oleObj name="Equation" r:id="rId6" imgW="1981318" imgH="32385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2973388"/>
                        <a:ext cx="207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7" name="Text Box 17">
            <a:extLst>
              <a:ext uri="{FF2B5EF4-FFF2-40B4-BE49-F238E27FC236}">
                <a16:creationId xmlns:a16="http://schemas.microsoft.com/office/drawing/2014/main" id="{0A3CB1B6-E682-5E3A-12A9-2CA1E3F4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492500"/>
            <a:ext cx="7550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重力所作的功等于重力的大小乘以质点起始位置与末了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位置的高度差。 </a:t>
            </a:r>
          </a:p>
        </p:txBody>
      </p:sp>
      <p:sp>
        <p:nvSpPr>
          <p:cNvPr id="102418" name="Text Box 18">
            <a:extLst>
              <a:ext uri="{FF2B5EF4-FFF2-40B4-BE49-F238E27FC236}">
                <a16:creationId xmlns:a16="http://schemas.microsoft.com/office/drawing/2014/main" id="{422C1169-2A4D-89E4-F7FA-E4856CB04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4935538"/>
            <a:ext cx="84407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</a:rPr>
              <a:t>(1)</a:t>
            </a:r>
            <a:r>
              <a:rPr kumimoji="1" lang="zh-CN" altLang="en-US" sz="24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重力的功只与始、末位置有关，而与质点所行经的路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径无关。 </a:t>
            </a:r>
          </a:p>
        </p:txBody>
      </p:sp>
      <p:sp>
        <p:nvSpPr>
          <p:cNvPr id="102419" name="Text Box 19">
            <a:extLst>
              <a:ext uri="{FF2B5EF4-FFF2-40B4-BE49-F238E27FC236}">
                <a16:creationId xmlns:a16="http://schemas.microsoft.com/office/drawing/2014/main" id="{EF31A7A9-08C1-56E7-0F44-1897EC9B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943600"/>
            <a:ext cx="8188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</a:rPr>
              <a:t>(2)</a:t>
            </a:r>
            <a:r>
              <a:rPr kumimoji="1" lang="zh-CN" altLang="en-US" sz="2400" b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质点上升时，重力作负功；质点下降时，重力作正功。</a:t>
            </a:r>
            <a:r>
              <a:rPr kumimoji="1" lang="zh-CN" altLang="en-US" sz="2400" b="1">
                <a:solidFill>
                  <a:srgbClr val="66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</a:p>
        </p:txBody>
      </p:sp>
      <p:sp>
        <p:nvSpPr>
          <p:cNvPr id="102420" name="Freeform 20">
            <a:extLst>
              <a:ext uri="{FF2B5EF4-FFF2-40B4-BE49-F238E27FC236}">
                <a16:creationId xmlns:a16="http://schemas.microsoft.com/office/drawing/2014/main" id="{A9B1455C-3E23-F30F-7353-4BDB3F931307}"/>
              </a:ext>
            </a:extLst>
          </p:cNvPr>
          <p:cNvSpPr>
            <a:spLocks/>
          </p:cNvSpPr>
          <p:nvPr/>
        </p:nvSpPr>
        <p:spPr bwMode="auto">
          <a:xfrm>
            <a:off x="6608763" y="1400175"/>
            <a:ext cx="2057400" cy="1028700"/>
          </a:xfrm>
          <a:custGeom>
            <a:avLst/>
            <a:gdLst>
              <a:gd name="T0" fmla="*/ 0 w 1296"/>
              <a:gd name="T1" fmla="*/ 2147483646 h 648"/>
              <a:gd name="T2" fmla="*/ 2147483646 w 1296"/>
              <a:gd name="T3" fmla="*/ 2147483646 h 648"/>
              <a:gd name="T4" fmla="*/ 2147483646 w 1296"/>
              <a:gd name="T5" fmla="*/ 2147483646 h 648"/>
              <a:gd name="T6" fmla="*/ 2147483646 w 1296"/>
              <a:gd name="T7" fmla="*/ 2147483646 h 648"/>
              <a:gd name="T8" fmla="*/ 2147483646 w 1296"/>
              <a:gd name="T9" fmla="*/ 2147483646 h 6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648">
                <a:moveTo>
                  <a:pt x="0" y="96"/>
                </a:moveTo>
                <a:cubicBezTo>
                  <a:pt x="116" y="48"/>
                  <a:pt x="232" y="0"/>
                  <a:pt x="336" y="48"/>
                </a:cubicBezTo>
                <a:cubicBezTo>
                  <a:pt x="440" y="96"/>
                  <a:pt x="528" y="288"/>
                  <a:pt x="624" y="384"/>
                </a:cubicBezTo>
                <a:cubicBezTo>
                  <a:pt x="720" y="480"/>
                  <a:pt x="800" y="600"/>
                  <a:pt x="912" y="624"/>
                </a:cubicBezTo>
                <a:cubicBezTo>
                  <a:pt x="1024" y="648"/>
                  <a:pt x="1160" y="588"/>
                  <a:pt x="1296" y="528"/>
                </a:cubicBezTo>
              </a:path>
            </a:pathLst>
          </a:custGeom>
          <a:noFill/>
          <a:ln w="38100" cmpd="sng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21" name="Oval 21">
            <a:extLst>
              <a:ext uri="{FF2B5EF4-FFF2-40B4-BE49-F238E27FC236}">
                <a16:creationId xmlns:a16="http://schemas.microsoft.com/office/drawing/2014/main" id="{95BBC680-7F03-6491-EB6D-B97B1941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963" y="14176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22" name="Oval 22">
            <a:extLst>
              <a:ext uri="{FF2B5EF4-FFF2-40B4-BE49-F238E27FC236}">
                <a16:creationId xmlns:a16="http://schemas.microsoft.com/office/drawing/2014/main" id="{94DC3935-4C7E-71B0-1329-1C8D0BDE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23495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423" name="Object 23">
            <a:extLst>
              <a:ext uri="{FF2B5EF4-FFF2-40B4-BE49-F238E27FC236}">
                <a16:creationId xmlns:a16="http://schemas.microsoft.com/office/drawing/2014/main" id="{FC3620A8-F954-E172-FE10-8D399F887545}"/>
              </a:ext>
            </a:extLst>
          </p:cNvPr>
          <p:cNvGraphicFramePr>
            <a:graphicFrameLocks/>
          </p:cNvGraphicFramePr>
          <p:nvPr/>
        </p:nvGraphicFramePr>
        <p:xfrm>
          <a:off x="6819900" y="1057275"/>
          <a:ext cx="4159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812" imgH="323850" progId="Equation.3">
                  <p:embed/>
                </p:oleObj>
              </mc:Choice>
              <mc:Fallback>
                <p:oleObj name="Equation" r:id="rId8" imgW="342812" imgH="323850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1057275"/>
                        <a:ext cx="4159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4" name="Object 24">
            <a:extLst>
              <a:ext uri="{FF2B5EF4-FFF2-40B4-BE49-F238E27FC236}">
                <a16:creationId xmlns:a16="http://schemas.microsoft.com/office/drawing/2014/main" id="{0CC23683-A8D9-F688-7E57-E9649298A75B}"/>
              </a:ext>
            </a:extLst>
          </p:cNvPr>
          <p:cNvGraphicFramePr>
            <a:graphicFrameLocks/>
          </p:cNvGraphicFramePr>
          <p:nvPr/>
        </p:nvGraphicFramePr>
        <p:xfrm>
          <a:off x="7931150" y="2032000"/>
          <a:ext cx="3159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941" imgH="323850" progId="Equation.3">
                  <p:embed/>
                </p:oleObj>
              </mc:Choice>
              <mc:Fallback>
                <p:oleObj name="Equation" r:id="rId10" imgW="380941" imgH="323850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0" y="2032000"/>
                        <a:ext cx="315913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5" name="Oval 25">
            <a:extLst>
              <a:ext uri="{FF2B5EF4-FFF2-40B4-BE49-F238E27FC236}">
                <a16:creationId xmlns:a16="http://schemas.microsoft.com/office/drawing/2014/main" id="{2A329232-05CD-FEF7-F318-E59789B63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88" y="1781175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rgbClr val="FF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26" name="Text Box 26">
            <a:extLst>
              <a:ext uri="{FF2B5EF4-FFF2-40B4-BE49-F238E27FC236}">
                <a16:creationId xmlns:a16="http://schemas.microsoft.com/office/drawing/2014/main" id="{1275A99B-076D-8DD9-D92D-DD99F2A5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56368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CCFF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02427" name="Line 27">
            <a:extLst>
              <a:ext uri="{FF2B5EF4-FFF2-40B4-BE49-F238E27FC236}">
                <a16:creationId xmlns:a16="http://schemas.microsoft.com/office/drawing/2014/main" id="{9B355A34-FE00-E6F1-E666-BD4534727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2200" y="1852613"/>
            <a:ext cx="0" cy="609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28" name="Text Box 28">
            <a:extLst>
              <a:ext uri="{FF2B5EF4-FFF2-40B4-BE49-F238E27FC236}">
                <a16:creationId xmlns:a16="http://schemas.microsoft.com/office/drawing/2014/main" id="{D0F313B5-CD11-86D3-A1CF-D736DF9AC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208213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FF00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02429" name="Freeform 29">
            <a:extLst>
              <a:ext uri="{FF2B5EF4-FFF2-40B4-BE49-F238E27FC236}">
                <a16:creationId xmlns:a16="http://schemas.microsoft.com/office/drawing/2014/main" id="{614DA12A-3D81-C7AF-B6A0-AABE1C834F89}"/>
              </a:ext>
            </a:extLst>
          </p:cNvPr>
          <p:cNvSpPr>
            <a:spLocks/>
          </p:cNvSpPr>
          <p:nvPr/>
        </p:nvSpPr>
        <p:spPr bwMode="auto">
          <a:xfrm>
            <a:off x="7107238" y="1146175"/>
            <a:ext cx="1168400" cy="1244600"/>
          </a:xfrm>
          <a:custGeom>
            <a:avLst/>
            <a:gdLst>
              <a:gd name="T0" fmla="*/ 0 w 736"/>
              <a:gd name="T1" fmla="*/ 2147483646 h 784"/>
              <a:gd name="T2" fmla="*/ 2147483646 w 736"/>
              <a:gd name="T3" fmla="*/ 2147483646 h 784"/>
              <a:gd name="T4" fmla="*/ 2147483646 w 736"/>
              <a:gd name="T5" fmla="*/ 2147483646 h 784"/>
              <a:gd name="T6" fmla="*/ 2147483646 w 736"/>
              <a:gd name="T7" fmla="*/ 2147483646 h 784"/>
              <a:gd name="T8" fmla="*/ 2147483646 w 736"/>
              <a:gd name="T9" fmla="*/ 2147483646 h 7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36" h="784">
                <a:moveTo>
                  <a:pt x="0" y="208"/>
                </a:moveTo>
                <a:cubicBezTo>
                  <a:pt x="92" y="120"/>
                  <a:pt x="184" y="32"/>
                  <a:pt x="288" y="16"/>
                </a:cubicBezTo>
                <a:cubicBezTo>
                  <a:pt x="392" y="0"/>
                  <a:pt x="552" y="48"/>
                  <a:pt x="624" y="112"/>
                </a:cubicBezTo>
                <a:cubicBezTo>
                  <a:pt x="696" y="176"/>
                  <a:pt x="704" y="288"/>
                  <a:pt x="720" y="400"/>
                </a:cubicBezTo>
                <a:cubicBezTo>
                  <a:pt x="736" y="512"/>
                  <a:pt x="728" y="648"/>
                  <a:pt x="720" y="784"/>
                </a:cubicBezTo>
              </a:path>
            </a:pathLst>
          </a:custGeom>
          <a:noFill/>
          <a:ln w="28575" cap="flat" cmpd="sng">
            <a:solidFill>
              <a:srgbClr val="FF505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30" name="Rectangle 30">
            <a:extLst>
              <a:ext uri="{FF2B5EF4-FFF2-40B4-BE49-F238E27FC236}">
                <a16:creationId xmlns:a16="http://schemas.microsoft.com/office/drawing/2014/main" id="{0212911F-F4C9-676F-6022-EA428383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521200"/>
            <a:ext cx="151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结论</a:t>
            </a:r>
          </a:p>
        </p:txBody>
      </p:sp>
      <p:sp>
        <p:nvSpPr>
          <p:cNvPr id="102431" name="Text Box 31">
            <a:extLst>
              <a:ext uri="{FF2B5EF4-FFF2-40B4-BE49-F238E27FC236}">
                <a16:creationId xmlns:a16="http://schemas.microsoft.com/office/drawing/2014/main" id="{2256425B-9969-CECB-6491-CBE9B276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8223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②</a:t>
            </a:r>
          </a:p>
        </p:txBody>
      </p:sp>
      <p:sp>
        <p:nvSpPr>
          <p:cNvPr id="102432" name="AutoShape 32">
            <a:extLst>
              <a:ext uri="{FF2B5EF4-FFF2-40B4-BE49-F238E27FC236}">
                <a16:creationId xmlns:a16="http://schemas.microsoft.com/office/drawing/2014/main" id="{E2702809-F069-4A08-D08A-C6EC888EF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448945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33" name="Text Box 33">
            <a:extLst>
              <a:ext uri="{FF2B5EF4-FFF2-40B4-BE49-F238E27FC236}">
                <a16:creationId xmlns:a16="http://schemas.microsoft.com/office/drawing/2014/main" id="{FBCF6153-C456-CAB9-7F38-222CCB1A4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157321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0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3" grpId="0" autoUpdateAnimBg="0"/>
      <p:bldP spid="102417" grpId="0" autoUpdateAnimBg="0"/>
      <p:bldP spid="102418" grpId="0" autoUpdateAnimBg="0"/>
      <p:bldP spid="102419" grpId="0" autoUpdateAnimBg="0"/>
      <p:bldP spid="102421" grpId="0" animBg="1"/>
      <p:bldP spid="102422" grpId="0" animBg="1"/>
      <p:bldP spid="102425" grpId="0" animBg="1"/>
      <p:bldP spid="102426" grpId="0" autoUpdateAnimBg="0"/>
      <p:bldP spid="102428" grpId="0" autoUpdateAnimBg="0"/>
      <p:bldP spid="102430" grpId="0" autoUpdateAnimBg="0"/>
      <p:bldP spid="102431" grpId="0" autoUpdateAnimBg="0"/>
      <p:bldP spid="102432" grpId="0" animBg="1"/>
      <p:bldP spid="1024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6">
            <a:extLst>
              <a:ext uri="{FF2B5EF4-FFF2-40B4-BE49-F238E27FC236}">
                <a16:creationId xmlns:a16="http://schemas.microsoft.com/office/drawing/2014/main" id="{737F1BA3-4D29-B668-5A4C-F91A55E10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15888"/>
            <a:ext cx="3883025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书中例题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(p.98)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（重点）</a:t>
            </a:r>
            <a:endParaRPr lang="zh-CN" altLang="en-US" sz="1000" b="1">
              <a:solidFill>
                <a:schemeClr val="bg1"/>
              </a:solidFill>
            </a:endParaRPr>
          </a:p>
          <a:p>
            <a:endParaRPr lang="zh-CN" altLang="en-US"/>
          </a:p>
        </p:txBody>
      </p:sp>
      <p:sp>
        <p:nvSpPr>
          <p:cNvPr id="11267" name="Rectangle 19">
            <a:extLst>
              <a:ext uri="{FF2B5EF4-FFF2-40B4-BE49-F238E27FC236}">
                <a16:creationId xmlns:a16="http://schemas.microsoft.com/office/drawing/2014/main" id="{A002F030-B35E-F2CE-127B-67D24D1A0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5263"/>
            <a:ext cx="8861425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一条长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，质量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的均匀柔绳，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端挂在天花板上，自然下垂，将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端沿铅直方向提高到与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端同高处。</a:t>
            </a:r>
            <a:endParaRPr lang="zh-CN" altLang="en-US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求：该过程中重力所作的功。</a:t>
            </a:r>
            <a:endParaRPr lang="zh-CN" altLang="en-US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解：提升高度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时，提的链长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en-US" altLang="zh-CN" sz="1000" b="1">
              <a:solidFill>
                <a:schemeClr val="bg1"/>
              </a:solidFill>
            </a:endParaRPr>
          </a:p>
          <a:p>
            <a:endParaRPr lang="en-US" altLang="zh-CN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4D9726-EDD6-9DD1-63FF-F260DF0ED82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211388"/>
            <a:ext cx="5346700" cy="2157412"/>
            <a:chOff x="468313" y="2211943"/>
            <a:chExt cx="5346700" cy="2156857"/>
          </a:xfrm>
        </p:grpSpPr>
        <p:pic>
          <p:nvPicPr>
            <p:cNvPr id="11271" name="Picture 3">
              <a:extLst>
                <a:ext uri="{FF2B5EF4-FFF2-40B4-BE49-F238E27FC236}">
                  <a16:creationId xmlns:a16="http://schemas.microsoft.com/office/drawing/2014/main" id="{DF5898E5-4109-6229-5A26-0CE5DCF0A9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9738" y="2293938"/>
              <a:ext cx="1009650" cy="860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2" name="Picture 2">
              <a:extLst>
                <a:ext uri="{FF2B5EF4-FFF2-40B4-BE49-F238E27FC236}">
                  <a16:creationId xmlns:a16="http://schemas.microsoft.com/office/drawing/2014/main" id="{E8B15441-897E-5FDA-6CFF-E54524B8D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0100" y="3590925"/>
              <a:ext cx="2474913" cy="777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3" name="Rectangle 20">
              <a:extLst>
                <a:ext uri="{FF2B5EF4-FFF2-40B4-BE49-F238E27FC236}">
                  <a16:creationId xmlns:a16="http://schemas.microsoft.com/office/drawing/2014/main" id="{FCC6EA48-ED6B-7826-7D10-1E195BB89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2211943"/>
              <a:ext cx="2350323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提起部分</a:t>
              </a:r>
              <a:r>
                <a:rPr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的质量</a:t>
              </a:r>
              <a:endParaRPr lang="zh-CN" altLang="zh-CN" sz="1000" b="1">
                <a:solidFill>
                  <a:schemeClr val="bg1"/>
                </a:solidFill>
              </a:endParaRPr>
            </a:p>
            <a:p>
              <a:endParaRPr lang="zh-CN" altLang="zh-CN"/>
            </a:p>
          </p:txBody>
        </p:sp>
        <p:sp>
          <p:nvSpPr>
            <p:cNvPr id="11274" name="Rectangle 21">
              <a:extLst>
                <a:ext uri="{FF2B5EF4-FFF2-40B4-BE49-F238E27FC236}">
                  <a16:creationId xmlns:a16="http://schemas.microsoft.com/office/drawing/2014/main" id="{A98D73D6-637F-B55A-8CFD-5CA01805F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486150"/>
              <a:ext cx="2903537" cy="738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533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dy</a:t>
              </a:r>
              <a:r>
                <a:rPr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上的元功为：</a:t>
              </a:r>
              <a:endParaRPr lang="zh-CN" altLang="en-US" sz="1000" b="1">
                <a:solidFill>
                  <a:schemeClr val="bg1"/>
                </a:solidFill>
              </a:endParaRPr>
            </a:p>
            <a:p>
              <a:endParaRPr lang="zh-CN" altLang="en-US"/>
            </a:p>
          </p:txBody>
        </p:sp>
      </p:grpSp>
      <p:pic>
        <p:nvPicPr>
          <p:cNvPr id="11269" name="Picture 22">
            <a:extLst>
              <a:ext uri="{FF2B5EF4-FFF2-40B4-BE49-F238E27FC236}">
                <a16:creationId xmlns:a16="http://schemas.microsoft.com/office/drawing/2014/main" id="{C9FFFE4E-A1AE-D66B-1D40-3D6097EB9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575" y="1316038"/>
            <a:ext cx="2160588" cy="290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1" name="Picture 11">
            <a:extLst>
              <a:ext uri="{FF2B5EF4-FFF2-40B4-BE49-F238E27FC236}">
                <a16:creationId xmlns:a16="http://schemas.microsoft.com/office/drawing/2014/main" id="{2226E693-94B1-A972-1479-03B49B171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4868863"/>
            <a:ext cx="50482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68206182-92ED-C4B4-1674-2C3EC69F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284163"/>
            <a:ext cx="368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弹性力的功 </a:t>
            </a:r>
          </a:p>
        </p:txBody>
      </p:sp>
      <p:graphicFrame>
        <p:nvGraphicFramePr>
          <p:cNvPr id="103427" name="Object 3">
            <a:extLst>
              <a:ext uri="{FF2B5EF4-FFF2-40B4-BE49-F238E27FC236}">
                <a16:creationId xmlns:a16="http://schemas.microsoft.com/office/drawing/2014/main" id="{ABA75853-94CE-DFFB-0EE8-5C87FCF9F077}"/>
              </a:ext>
            </a:extLst>
          </p:cNvPr>
          <p:cNvGraphicFramePr>
            <a:graphicFrameLocks/>
          </p:cNvGraphicFramePr>
          <p:nvPr/>
        </p:nvGraphicFramePr>
        <p:xfrm>
          <a:off x="1479550" y="2470150"/>
          <a:ext cx="19542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29" imgH="647700" progId="Equation.3">
                  <p:embed/>
                </p:oleObj>
              </mc:Choice>
              <mc:Fallback>
                <p:oleObj name="Equation" r:id="rId2" imgW="1866929" imgH="6477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2470150"/>
                        <a:ext cx="19542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Text Box 4">
            <a:extLst>
              <a:ext uri="{FF2B5EF4-FFF2-40B4-BE49-F238E27FC236}">
                <a16:creationId xmlns:a16="http://schemas.microsoft.com/office/drawing/2014/main" id="{1F9557D7-94AA-5564-EB85-F9C7EC710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4654550"/>
            <a:ext cx="8305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弹性力的功只与始、末位置有关，而与质点所行经的路径无关。 </a:t>
            </a:r>
          </a:p>
        </p:txBody>
      </p:sp>
      <p:sp>
        <p:nvSpPr>
          <p:cNvPr id="103429" name="Text Box 5">
            <a:extLst>
              <a:ext uri="{FF2B5EF4-FFF2-40B4-BE49-F238E27FC236}">
                <a16:creationId xmlns:a16="http://schemas.microsoft.com/office/drawing/2014/main" id="{F728CF8B-45D5-D06B-8D9B-9C00DCF28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562600"/>
            <a:ext cx="79930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弹簧的变形减小时，弹性力作正功；弹簧的变形增大时，弹性力作负功。</a:t>
            </a:r>
          </a:p>
        </p:txBody>
      </p:sp>
      <p:graphicFrame>
        <p:nvGraphicFramePr>
          <p:cNvPr id="103430" name="Object 6">
            <a:extLst>
              <a:ext uri="{FF2B5EF4-FFF2-40B4-BE49-F238E27FC236}">
                <a16:creationId xmlns:a16="http://schemas.microsoft.com/office/drawing/2014/main" id="{43D14607-4CFC-B46E-3459-4EE1F6B5C2E1}"/>
              </a:ext>
            </a:extLst>
          </p:cNvPr>
          <p:cNvGraphicFramePr>
            <a:graphicFrameLocks/>
          </p:cNvGraphicFramePr>
          <p:nvPr/>
        </p:nvGraphicFramePr>
        <p:xfrm>
          <a:off x="3541713" y="2416175"/>
          <a:ext cx="2019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24124" imgH="723900" progId="Equation.3">
                  <p:embed/>
                </p:oleObj>
              </mc:Choice>
              <mc:Fallback>
                <p:oleObj name="Equation" r:id="rId4" imgW="1924124" imgH="7239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2416175"/>
                        <a:ext cx="20193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1" name="Object 7">
            <a:extLst>
              <a:ext uri="{FF2B5EF4-FFF2-40B4-BE49-F238E27FC236}">
                <a16:creationId xmlns:a16="http://schemas.microsoft.com/office/drawing/2014/main" id="{C559B633-953F-7B40-3431-B12F0A6F64E7}"/>
              </a:ext>
            </a:extLst>
          </p:cNvPr>
          <p:cNvGraphicFramePr>
            <a:graphicFrameLocks/>
          </p:cNvGraphicFramePr>
          <p:nvPr/>
        </p:nvGraphicFramePr>
        <p:xfrm>
          <a:off x="6577013" y="1258888"/>
          <a:ext cx="2809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647" imgH="323850" progId="Equation.3">
                  <p:embed/>
                </p:oleObj>
              </mc:Choice>
              <mc:Fallback>
                <p:oleObj name="Equation" r:id="rId6" imgW="190647" imgH="32385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013" y="1258888"/>
                        <a:ext cx="2809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8">
            <a:extLst>
              <a:ext uri="{FF2B5EF4-FFF2-40B4-BE49-F238E27FC236}">
                <a16:creationId xmlns:a16="http://schemas.microsoft.com/office/drawing/2014/main" id="{5414D350-CAA8-6DE6-2182-8E2E0B105108}"/>
              </a:ext>
            </a:extLst>
          </p:cNvPr>
          <p:cNvGraphicFramePr>
            <a:graphicFrameLocks/>
          </p:cNvGraphicFramePr>
          <p:nvPr/>
        </p:nvGraphicFramePr>
        <p:xfrm>
          <a:off x="7532688" y="1293813"/>
          <a:ext cx="3159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777" imgH="323850" progId="Equation.3">
                  <p:embed/>
                </p:oleObj>
              </mc:Choice>
              <mc:Fallback>
                <p:oleObj name="Equation" r:id="rId8" imgW="228777" imgH="32385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688" y="1293813"/>
                        <a:ext cx="3159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3" name="Object 9">
            <a:extLst>
              <a:ext uri="{FF2B5EF4-FFF2-40B4-BE49-F238E27FC236}">
                <a16:creationId xmlns:a16="http://schemas.microsoft.com/office/drawing/2014/main" id="{3DBE3E6E-FB06-FCD9-6C17-5A4E82D23641}"/>
              </a:ext>
            </a:extLst>
          </p:cNvPr>
          <p:cNvGraphicFramePr>
            <a:graphicFrameLocks/>
          </p:cNvGraphicFramePr>
          <p:nvPr/>
        </p:nvGraphicFramePr>
        <p:xfrm>
          <a:off x="7008813" y="614363"/>
          <a:ext cx="3063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712" imgH="247650" progId="Equation.3">
                  <p:embed/>
                </p:oleObj>
              </mc:Choice>
              <mc:Fallback>
                <p:oleObj name="Equation" r:id="rId10" imgW="209712" imgH="24765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614363"/>
                        <a:ext cx="3063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4" name="Object 10">
            <a:extLst>
              <a:ext uri="{FF2B5EF4-FFF2-40B4-BE49-F238E27FC236}">
                <a16:creationId xmlns:a16="http://schemas.microsoft.com/office/drawing/2014/main" id="{727ADD1F-3C40-2ACF-A501-E01EC943A14A}"/>
              </a:ext>
            </a:extLst>
          </p:cNvPr>
          <p:cNvGraphicFramePr>
            <a:graphicFrameLocks/>
          </p:cNvGraphicFramePr>
          <p:nvPr/>
        </p:nvGraphicFramePr>
        <p:xfrm>
          <a:off x="1497013" y="1417638"/>
          <a:ext cx="134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212" imgH="266700" progId="Equation.3">
                  <p:embed/>
                </p:oleObj>
              </mc:Choice>
              <mc:Fallback>
                <p:oleObj name="Equation" r:id="rId12" imgW="1257212" imgH="2667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1417638"/>
                        <a:ext cx="1346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5" name="Text Box 11">
            <a:extLst>
              <a:ext uri="{FF2B5EF4-FFF2-40B4-BE49-F238E27FC236}">
                <a16:creationId xmlns:a16="http://schemas.microsoft.com/office/drawing/2014/main" id="{D0275A12-EFED-1812-047E-F738F596E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838200"/>
            <a:ext cx="1724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弹簧弹性力</a:t>
            </a:r>
          </a:p>
        </p:txBody>
      </p:sp>
      <p:sp>
        <p:nvSpPr>
          <p:cNvPr id="103436" name="Text Box 12">
            <a:extLst>
              <a:ext uri="{FF2B5EF4-FFF2-40B4-BE49-F238E27FC236}">
                <a16:creationId xmlns:a16="http://schemas.microsoft.com/office/drawing/2014/main" id="{14F50FD4-04C5-636F-0EFB-816969D27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38325"/>
            <a:ext cx="5715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由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到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baseline="-250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路程上弹性力的功为  </a:t>
            </a:r>
          </a:p>
        </p:txBody>
      </p:sp>
      <p:sp>
        <p:nvSpPr>
          <p:cNvPr id="103437" name="Text Box 13">
            <a:extLst>
              <a:ext uri="{FF2B5EF4-FFF2-40B4-BE49-F238E27FC236}">
                <a16:creationId xmlns:a16="http://schemas.microsoft.com/office/drawing/2014/main" id="{F3DB1D0F-85F7-EEBB-5A4C-AD0392156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267075"/>
            <a:ext cx="7883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弹性力的功等于弹簧劲度系数乘以质点始末位置弹簧形变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量平方之差的一半。</a:t>
            </a:r>
          </a:p>
        </p:txBody>
      </p:sp>
      <p:sp>
        <p:nvSpPr>
          <p:cNvPr id="103438" name="Rectangle 14">
            <a:extLst>
              <a:ext uri="{FF2B5EF4-FFF2-40B4-BE49-F238E27FC236}">
                <a16:creationId xmlns:a16="http://schemas.microsoft.com/office/drawing/2014/main" id="{5BD54D27-4D06-8210-A5F0-DBD9619ED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265613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结论</a:t>
            </a:r>
          </a:p>
        </p:txBody>
      </p:sp>
      <p:grpSp>
        <p:nvGrpSpPr>
          <p:cNvPr id="103439" name="Group 15">
            <a:extLst>
              <a:ext uri="{FF2B5EF4-FFF2-40B4-BE49-F238E27FC236}">
                <a16:creationId xmlns:a16="http://schemas.microsoft.com/office/drawing/2014/main" id="{E952A9B7-A60E-5370-CCA7-CF2FEC885BC6}"/>
              </a:ext>
            </a:extLst>
          </p:cNvPr>
          <p:cNvGrpSpPr>
            <a:grpSpLocks/>
          </p:cNvGrpSpPr>
          <p:nvPr/>
        </p:nvGrpSpPr>
        <p:grpSpPr bwMode="auto">
          <a:xfrm>
            <a:off x="5849938" y="1073150"/>
            <a:ext cx="2989262" cy="609600"/>
            <a:chOff x="3504" y="816"/>
            <a:chExt cx="1877" cy="384"/>
          </a:xfrm>
        </p:grpSpPr>
        <p:sp>
          <p:nvSpPr>
            <p:cNvPr id="12316" name="Line 16">
              <a:extLst>
                <a:ext uri="{FF2B5EF4-FFF2-40B4-BE49-F238E27FC236}">
                  <a16:creationId xmlns:a16="http://schemas.microsoft.com/office/drawing/2014/main" id="{7A7ABF46-8649-C98D-CD99-2F4A25906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816"/>
              <a:ext cx="1680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Text Box 17">
              <a:extLst>
                <a:ext uri="{FF2B5EF4-FFF2-40B4-BE49-F238E27FC236}">
                  <a16:creationId xmlns:a16="http://schemas.microsoft.com/office/drawing/2014/main" id="{C68A7110-F04D-B1A6-7DDF-AABCC3955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9" y="89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318" name="Text Box 18">
              <a:extLst>
                <a:ext uri="{FF2B5EF4-FFF2-40B4-BE49-F238E27FC236}">
                  <a16:creationId xmlns:a16="http://schemas.microsoft.com/office/drawing/2014/main" id="{2A296C7A-2D46-60A9-C34F-9D0631F59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912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03443" name="Line 19">
            <a:extLst>
              <a:ext uri="{FF2B5EF4-FFF2-40B4-BE49-F238E27FC236}">
                <a16:creationId xmlns:a16="http://schemas.microsoft.com/office/drawing/2014/main" id="{22BE7CCF-1F5E-BCB8-1306-5B0AF23F05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2938" y="1073150"/>
            <a:ext cx="4572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44" name="Oval 20">
            <a:extLst>
              <a:ext uri="{FF2B5EF4-FFF2-40B4-BE49-F238E27FC236}">
                <a16:creationId xmlns:a16="http://schemas.microsoft.com/office/drawing/2014/main" id="{78DEE527-D49F-9CBA-E0D3-3FFBA7CA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8" y="92075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55BAC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FFCC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3445" name="AutoShape 21">
            <a:extLst>
              <a:ext uri="{FF2B5EF4-FFF2-40B4-BE49-F238E27FC236}">
                <a16:creationId xmlns:a16="http://schemas.microsoft.com/office/drawing/2014/main" id="{D8D32C43-A5B7-300F-F53F-B519815CA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420211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3446" name="Group 22">
            <a:extLst>
              <a:ext uri="{FF2B5EF4-FFF2-40B4-BE49-F238E27FC236}">
                <a16:creationId xmlns:a16="http://schemas.microsoft.com/office/drawing/2014/main" id="{A615661A-C9AB-3AC0-75B6-EEEA4C2EACA9}"/>
              </a:ext>
            </a:extLst>
          </p:cNvPr>
          <p:cNvGrpSpPr>
            <a:grpSpLocks/>
          </p:cNvGrpSpPr>
          <p:nvPr/>
        </p:nvGrpSpPr>
        <p:grpSpPr bwMode="auto">
          <a:xfrm>
            <a:off x="4348163" y="390525"/>
            <a:ext cx="2474912" cy="1525588"/>
            <a:chOff x="2033" y="1389"/>
            <a:chExt cx="1559" cy="961"/>
          </a:xfrm>
        </p:grpSpPr>
        <p:pic>
          <p:nvPicPr>
            <p:cNvPr id="12308" name="Picture 23">
              <a:extLst>
                <a:ext uri="{FF2B5EF4-FFF2-40B4-BE49-F238E27FC236}">
                  <a16:creationId xmlns:a16="http://schemas.microsoft.com/office/drawing/2014/main" id="{A879C47A-BA28-C3E3-E062-98F963F23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" y="1389"/>
              <a:ext cx="1244" cy="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309" name="Oval 24">
              <a:extLst>
                <a:ext uri="{FF2B5EF4-FFF2-40B4-BE49-F238E27FC236}">
                  <a16:creationId xmlns:a16="http://schemas.microsoft.com/office/drawing/2014/main" id="{01238290-5721-0785-09E2-B73AD2065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1725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55BA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55BA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0" name="Line 25">
              <a:extLst>
                <a:ext uri="{FF2B5EF4-FFF2-40B4-BE49-F238E27FC236}">
                  <a16:creationId xmlns:a16="http://schemas.microsoft.com/office/drawing/2014/main" id="{E2613AA3-4065-99E1-108B-7AA433FFC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1480"/>
              <a:ext cx="0" cy="68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26">
              <a:extLst>
                <a:ext uri="{FF2B5EF4-FFF2-40B4-BE49-F238E27FC236}">
                  <a16:creationId xmlns:a16="http://schemas.microsoft.com/office/drawing/2014/main" id="{4AE15E92-4C7E-6BB6-8B3B-DCA597F97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1570"/>
              <a:ext cx="136" cy="91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27">
              <a:extLst>
                <a:ext uri="{FF2B5EF4-FFF2-40B4-BE49-F238E27FC236}">
                  <a16:creationId xmlns:a16="http://schemas.microsoft.com/office/drawing/2014/main" id="{ADFBCB31-0A2A-06BE-1888-7CA612F81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1694"/>
              <a:ext cx="136" cy="91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28">
              <a:extLst>
                <a:ext uri="{FF2B5EF4-FFF2-40B4-BE49-F238E27FC236}">
                  <a16:creationId xmlns:a16="http://schemas.microsoft.com/office/drawing/2014/main" id="{BAEC9480-8F61-D793-8240-8BC68DAAC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1830"/>
              <a:ext cx="136" cy="91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29">
              <a:extLst>
                <a:ext uri="{FF2B5EF4-FFF2-40B4-BE49-F238E27FC236}">
                  <a16:creationId xmlns:a16="http://schemas.microsoft.com/office/drawing/2014/main" id="{C675D914-56EF-6873-B894-259C2D68B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2069"/>
              <a:ext cx="136" cy="91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Line 30">
              <a:extLst>
                <a:ext uri="{FF2B5EF4-FFF2-40B4-BE49-F238E27FC236}">
                  <a16:creationId xmlns:a16="http://schemas.microsoft.com/office/drawing/2014/main" id="{38074039-B838-574A-ED02-572303786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3" y="1967"/>
              <a:ext cx="136" cy="91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autoUpdateAnimBg="0"/>
      <p:bldP spid="103429" grpId="0" autoUpdateAnimBg="0"/>
      <p:bldP spid="103435" grpId="0" autoUpdateAnimBg="0"/>
      <p:bldP spid="103436" grpId="0" autoUpdateAnimBg="0"/>
      <p:bldP spid="103437" grpId="0" autoUpdateAnimBg="0"/>
      <p:bldP spid="103438" grpId="0" autoUpdateAnimBg="0"/>
      <p:bldP spid="103444" grpId="0" animBg="1"/>
      <p:bldP spid="1034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reeform 2">
            <a:extLst>
              <a:ext uri="{FF2B5EF4-FFF2-40B4-BE49-F238E27FC236}">
                <a16:creationId xmlns:a16="http://schemas.microsoft.com/office/drawing/2014/main" id="{BF8C1240-122D-CDF6-CE8B-0BC66E553578}"/>
              </a:ext>
            </a:extLst>
          </p:cNvPr>
          <p:cNvSpPr>
            <a:spLocks/>
          </p:cNvSpPr>
          <p:nvPr/>
        </p:nvSpPr>
        <p:spPr bwMode="auto">
          <a:xfrm>
            <a:off x="6178550" y="1563688"/>
            <a:ext cx="2006600" cy="2057400"/>
          </a:xfrm>
          <a:custGeom>
            <a:avLst/>
            <a:gdLst>
              <a:gd name="T0" fmla="*/ 2147483646 w 1264"/>
              <a:gd name="T1" fmla="*/ 2147483646 h 1296"/>
              <a:gd name="T2" fmla="*/ 2147483646 w 1264"/>
              <a:gd name="T3" fmla="*/ 2147483646 h 1296"/>
              <a:gd name="T4" fmla="*/ 2147483646 w 1264"/>
              <a:gd name="T5" fmla="*/ 2147483646 h 1296"/>
              <a:gd name="T6" fmla="*/ 2147483646 w 1264"/>
              <a:gd name="T7" fmla="*/ 2147483646 h 1296"/>
              <a:gd name="T8" fmla="*/ 2147483646 w 1264"/>
              <a:gd name="T9" fmla="*/ 2147483646 h 1296"/>
              <a:gd name="T10" fmla="*/ 2147483646 w 1264"/>
              <a:gd name="T11" fmla="*/ 2147483646 h 1296"/>
              <a:gd name="T12" fmla="*/ 2147483646 w 1264"/>
              <a:gd name="T13" fmla="*/ 2147483646 h 1296"/>
              <a:gd name="T14" fmla="*/ 2147483646 w 1264"/>
              <a:gd name="T15" fmla="*/ 2147483646 h 1296"/>
              <a:gd name="T16" fmla="*/ 0 w 1264"/>
              <a:gd name="T17" fmla="*/ 0 h 12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4" h="1296">
                <a:moveTo>
                  <a:pt x="1248" y="1296"/>
                </a:moveTo>
                <a:cubicBezTo>
                  <a:pt x="1216" y="1228"/>
                  <a:pt x="1184" y="1160"/>
                  <a:pt x="1152" y="1104"/>
                </a:cubicBezTo>
                <a:cubicBezTo>
                  <a:pt x="1120" y="1048"/>
                  <a:pt x="1072" y="1008"/>
                  <a:pt x="1056" y="960"/>
                </a:cubicBezTo>
                <a:cubicBezTo>
                  <a:pt x="1040" y="912"/>
                  <a:pt x="1024" y="880"/>
                  <a:pt x="1056" y="816"/>
                </a:cubicBezTo>
                <a:cubicBezTo>
                  <a:pt x="1088" y="752"/>
                  <a:pt x="1232" y="656"/>
                  <a:pt x="1248" y="576"/>
                </a:cubicBezTo>
                <a:cubicBezTo>
                  <a:pt x="1264" y="496"/>
                  <a:pt x="1232" y="400"/>
                  <a:pt x="1152" y="336"/>
                </a:cubicBezTo>
                <a:cubicBezTo>
                  <a:pt x="1072" y="272"/>
                  <a:pt x="920" y="224"/>
                  <a:pt x="768" y="192"/>
                </a:cubicBezTo>
                <a:cubicBezTo>
                  <a:pt x="616" y="160"/>
                  <a:pt x="368" y="176"/>
                  <a:pt x="240" y="144"/>
                </a:cubicBezTo>
                <a:cubicBezTo>
                  <a:pt x="112" y="112"/>
                  <a:pt x="56" y="56"/>
                  <a:pt x="0" y="0"/>
                </a:cubicBezTo>
              </a:path>
            </a:pathLst>
          </a:custGeom>
          <a:noFill/>
          <a:ln w="38100" cap="flat" cmpd="sng">
            <a:solidFill>
              <a:srgbClr val="66FF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FF29FF08-6FE1-A21A-CAC0-1CA29275D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319088"/>
            <a:ext cx="458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万有引力的功</a:t>
            </a:r>
            <a:r>
              <a:rPr kumimoji="1"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115DBA73-C886-4CB8-D18C-A0F7317C8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350" y="914400"/>
            <a:ext cx="186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上的元功为 </a:t>
            </a:r>
          </a:p>
        </p:txBody>
      </p:sp>
      <p:graphicFrame>
        <p:nvGraphicFramePr>
          <p:cNvPr id="104453" name="Object 5">
            <a:extLst>
              <a:ext uri="{FF2B5EF4-FFF2-40B4-BE49-F238E27FC236}">
                <a16:creationId xmlns:a16="http://schemas.microsoft.com/office/drawing/2014/main" id="{9F7EBF40-C649-47EB-E0E3-3144BEA632DC}"/>
              </a:ext>
            </a:extLst>
          </p:cNvPr>
          <p:cNvGraphicFramePr>
            <a:graphicFrameLocks/>
          </p:cNvGraphicFramePr>
          <p:nvPr/>
        </p:nvGraphicFramePr>
        <p:xfrm>
          <a:off x="838200" y="1657350"/>
          <a:ext cx="22209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482" imgH="361950" progId="Equation.3">
                  <p:embed/>
                </p:oleObj>
              </mc:Choice>
              <mc:Fallback>
                <p:oleObj name="Equation" r:id="rId2" imgW="2133482" imgH="36195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57350"/>
                        <a:ext cx="22209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F2F7E755-6871-B56C-1A57-6B544F670B7E}"/>
              </a:ext>
            </a:extLst>
          </p:cNvPr>
          <p:cNvGraphicFramePr>
            <a:graphicFrameLocks/>
          </p:cNvGraphicFramePr>
          <p:nvPr/>
        </p:nvGraphicFramePr>
        <p:xfrm>
          <a:off x="838200" y="2305050"/>
          <a:ext cx="4354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67318" imgH="361950" progId="Equation.3">
                  <p:embed/>
                </p:oleObj>
              </mc:Choice>
              <mc:Fallback>
                <p:oleObj name="Equation" r:id="rId4" imgW="4267318" imgH="36195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05050"/>
                        <a:ext cx="43545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>
            <a:extLst>
              <a:ext uri="{FF2B5EF4-FFF2-40B4-BE49-F238E27FC236}">
                <a16:creationId xmlns:a16="http://schemas.microsoft.com/office/drawing/2014/main" id="{AC0E1AC2-BD97-DCA5-8721-950FB43FB6E4}"/>
              </a:ext>
            </a:extLst>
          </p:cNvPr>
          <p:cNvGraphicFramePr>
            <a:graphicFrameLocks/>
          </p:cNvGraphicFramePr>
          <p:nvPr/>
        </p:nvGraphicFramePr>
        <p:xfrm>
          <a:off x="868363" y="2927350"/>
          <a:ext cx="228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0676" imgH="723900" progId="Equation.3">
                  <p:embed/>
                </p:oleObj>
              </mc:Choice>
              <mc:Fallback>
                <p:oleObj name="Equation" r:id="rId6" imgW="2190676" imgH="7239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2927350"/>
                        <a:ext cx="2286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6" name="Text Box 8">
            <a:extLst>
              <a:ext uri="{FF2B5EF4-FFF2-40B4-BE49-F238E27FC236}">
                <a16:creationId xmlns:a16="http://schemas.microsoft.com/office/drawing/2014/main" id="{DBF86B29-0300-BDA5-194A-CD0F26B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75285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万有引力</a:t>
            </a:r>
            <a:r>
              <a:rPr kumimoji="1" lang="en-US" altLang="zh-CN" sz="2400" b="1" i="1">
                <a:solidFill>
                  <a:schemeClr val="bg1"/>
                </a:solidFill>
                <a:latin typeface="宋体" panose="02010600030101010101" pitchFamily="2" charset="-122"/>
              </a:rPr>
              <a:t>F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在全部路程中的功为 </a:t>
            </a:r>
          </a:p>
        </p:txBody>
      </p:sp>
      <p:graphicFrame>
        <p:nvGraphicFramePr>
          <p:cNvPr id="104457" name="Object 9">
            <a:extLst>
              <a:ext uri="{FF2B5EF4-FFF2-40B4-BE49-F238E27FC236}">
                <a16:creationId xmlns:a16="http://schemas.microsoft.com/office/drawing/2014/main" id="{0A71F353-5DB5-3EB3-F539-F74CD5087613}"/>
              </a:ext>
            </a:extLst>
          </p:cNvPr>
          <p:cNvGraphicFramePr>
            <a:graphicFrameLocks/>
          </p:cNvGraphicFramePr>
          <p:nvPr/>
        </p:nvGraphicFramePr>
        <p:xfrm>
          <a:off x="877888" y="4246563"/>
          <a:ext cx="289242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00394" imgH="723900" progId="Equation.3">
                  <p:embed/>
                </p:oleObj>
              </mc:Choice>
              <mc:Fallback>
                <p:oleObj name="公式" r:id="rId8" imgW="2800394" imgH="7239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246563"/>
                        <a:ext cx="2892425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>
            <a:extLst>
              <a:ext uri="{FF2B5EF4-FFF2-40B4-BE49-F238E27FC236}">
                <a16:creationId xmlns:a16="http://schemas.microsoft.com/office/drawing/2014/main" id="{527FE5FB-F890-E9C4-3ABA-3EAD51AE4A59}"/>
              </a:ext>
            </a:extLst>
          </p:cNvPr>
          <p:cNvGraphicFramePr>
            <a:graphicFrameLocks/>
          </p:cNvGraphicFramePr>
          <p:nvPr/>
        </p:nvGraphicFramePr>
        <p:xfrm>
          <a:off x="3849688" y="4229100"/>
          <a:ext cx="22463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2547" imgH="819150" progId="Equation.3">
                  <p:embed/>
                </p:oleObj>
              </mc:Choice>
              <mc:Fallback>
                <p:oleObj name="Equation" r:id="rId10" imgW="2152547" imgH="8191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4229100"/>
                        <a:ext cx="22463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Text Box 11">
            <a:extLst>
              <a:ext uri="{FF2B5EF4-FFF2-40B4-BE49-F238E27FC236}">
                <a16:creationId xmlns:a16="http://schemas.microsoft.com/office/drawing/2014/main" id="{B547161F-BED1-2B48-5357-D5F889A2B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70525"/>
            <a:ext cx="8153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万有引力的功，也是只与始、末位置有关，而与质点所行经的路径无关。 </a:t>
            </a:r>
          </a:p>
        </p:txBody>
      </p:sp>
      <p:sp>
        <p:nvSpPr>
          <p:cNvPr id="104460" name="Text Box 12">
            <a:extLst>
              <a:ext uri="{FF2B5EF4-FFF2-40B4-BE49-F238E27FC236}">
                <a16:creationId xmlns:a16="http://schemas.microsoft.com/office/drawing/2014/main" id="{B87EF820-FDA3-9E5B-5DBE-6452EEFA2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308768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04461" name="Text Box 13">
            <a:extLst>
              <a:ext uri="{FF2B5EF4-FFF2-40B4-BE49-F238E27FC236}">
                <a16:creationId xmlns:a16="http://schemas.microsoft.com/office/drawing/2014/main" id="{49A439F9-35DD-41AB-0A5B-258BA00D7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5" y="3067050"/>
            <a:ext cx="54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FF66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4462" name="Text Box 14">
            <a:extLst>
              <a:ext uri="{FF2B5EF4-FFF2-40B4-BE49-F238E27FC236}">
                <a16:creationId xmlns:a16="http://schemas.microsoft.com/office/drawing/2014/main" id="{A365F4EE-DA36-982C-90B0-08C3848DB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1311275"/>
            <a:ext cx="687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FF66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4463" name="Oval 15">
            <a:extLst>
              <a:ext uri="{FF2B5EF4-FFF2-40B4-BE49-F238E27FC236}">
                <a16:creationId xmlns:a16="http://schemas.microsoft.com/office/drawing/2014/main" id="{EBA0DD20-3381-D5D8-D632-97656C5F2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538" y="32924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4464" name="Group 16">
            <a:extLst>
              <a:ext uri="{FF2B5EF4-FFF2-40B4-BE49-F238E27FC236}">
                <a16:creationId xmlns:a16="http://schemas.microsoft.com/office/drawing/2014/main" id="{827C6D7C-F641-CCCC-CBD7-89FD4753CF8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316288"/>
            <a:ext cx="1295400" cy="493712"/>
            <a:chOff x="4041" y="1968"/>
            <a:chExt cx="816" cy="311"/>
          </a:xfrm>
        </p:grpSpPr>
        <p:sp>
          <p:nvSpPr>
            <p:cNvPr id="13354" name="Line 17">
              <a:extLst>
                <a:ext uri="{FF2B5EF4-FFF2-40B4-BE49-F238E27FC236}">
                  <a16:creationId xmlns:a16="http://schemas.microsoft.com/office/drawing/2014/main" id="{86F84FC4-3E50-A227-61E3-79D9E939C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" y="1968"/>
              <a:ext cx="81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55" name="Object 18">
              <a:extLst>
                <a:ext uri="{FF2B5EF4-FFF2-40B4-BE49-F238E27FC236}">
                  <a16:creationId xmlns:a16="http://schemas.microsoft.com/office/drawing/2014/main" id="{3375DAA1-F61A-78D0-E4B4-F7985A8B7D3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68" y="2016"/>
            <a:ext cx="13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388" imgH="323850" progId="Equation.3">
                    <p:embed/>
                  </p:oleObj>
                </mc:Choice>
                <mc:Fallback>
                  <p:oleObj name="Equation" r:id="rId12" imgW="114388" imgH="323850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016"/>
                          <a:ext cx="13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467" name="Group 19">
            <a:extLst>
              <a:ext uri="{FF2B5EF4-FFF2-40B4-BE49-F238E27FC236}">
                <a16:creationId xmlns:a16="http://schemas.microsoft.com/office/drawing/2014/main" id="{F9754E79-ED3F-41BE-05C0-5EE00E425B76}"/>
              </a:ext>
            </a:extLst>
          </p:cNvPr>
          <p:cNvGrpSpPr>
            <a:grpSpLocks/>
          </p:cNvGrpSpPr>
          <p:nvPr/>
        </p:nvGrpSpPr>
        <p:grpSpPr bwMode="auto">
          <a:xfrm>
            <a:off x="6310313" y="1792288"/>
            <a:ext cx="533400" cy="1389062"/>
            <a:chOff x="3792" y="1008"/>
            <a:chExt cx="336" cy="875"/>
          </a:xfrm>
        </p:grpSpPr>
        <p:sp>
          <p:nvSpPr>
            <p:cNvPr id="13352" name="Line 20">
              <a:extLst>
                <a:ext uri="{FF2B5EF4-FFF2-40B4-BE49-F238E27FC236}">
                  <a16:creationId xmlns:a16="http://schemas.microsoft.com/office/drawing/2014/main" id="{CA795B03-5494-ECED-CF52-B41B8E70B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5" y="1008"/>
              <a:ext cx="183" cy="87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53" name="Object 21">
              <a:extLst>
                <a:ext uri="{FF2B5EF4-FFF2-40B4-BE49-F238E27FC236}">
                  <a16:creationId xmlns:a16="http://schemas.microsoft.com/office/drawing/2014/main" id="{BC86491C-9F99-35D7-929C-83BAD718C57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92" y="1344"/>
            <a:ext cx="161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518" imgH="323850" progId="Equation.3">
                    <p:embed/>
                  </p:oleObj>
                </mc:Choice>
                <mc:Fallback>
                  <p:oleObj name="Equation" r:id="rId14" imgW="152518" imgH="323850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344"/>
                          <a:ext cx="161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470" name="Oval 22">
            <a:extLst>
              <a:ext uri="{FF2B5EF4-FFF2-40B4-BE49-F238E27FC236}">
                <a16:creationId xmlns:a16="http://schemas.microsoft.com/office/drawing/2014/main" id="{A473CCFE-A80D-E957-69C1-E9336680E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28178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471" name="Line 23">
            <a:extLst>
              <a:ext uri="{FF2B5EF4-FFF2-40B4-BE49-F238E27FC236}">
                <a16:creationId xmlns:a16="http://schemas.microsoft.com/office/drawing/2014/main" id="{C0BB6040-3D20-C6D9-E8E8-9F7B899FC7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2859088"/>
            <a:ext cx="1143000" cy="381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2" name="Line 24">
            <a:extLst>
              <a:ext uri="{FF2B5EF4-FFF2-40B4-BE49-F238E27FC236}">
                <a16:creationId xmlns:a16="http://schemas.microsoft.com/office/drawing/2014/main" id="{39D01D89-1A00-F9CE-64B8-C08B34A9E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2097088"/>
            <a:ext cx="1371600" cy="1143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3" name="Line 25">
            <a:extLst>
              <a:ext uri="{FF2B5EF4-FFF2-40B4-BE49-F238E27FC236}">
                <a16:creationId xmlns:a16="http://schemas.microsoft.com/office/drawing/2014/main" id="{02BB3269-1B53-D7CC-5E23-9DFF0AF97C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2097088"/>
            <a:ext cx="152400" cy="7620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4" name="Line 26">
            <a:extLst>
              <a:ext uri="{FF2B5EF4-FFF2-40B4-BE49-F238E27FC236}">
                <a16:creationId xmlns:a16="http://schemas.microsoft.com/office/drawing/2014/main" id="{DAFBEC80-2522-344A-8B6B-66C8B71703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2863850"/>
            <a:ext cx="609600" cy="2095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5" name="Line 27">
            <a:extLst>
              <a:ext uri="{FF2B5EF4-FFF2-40B4-BE49-F238E27FC236}">
                <a16:creationId xmlns:a16="http://schemas.microsoft.com/office/drawing/2014/main" id="{6AEA499F-ED58-3C7F-B7B6-75C7A57248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2640013"/>
            <a:ext cx="461963" cy="20955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6" name="Line 28">
            <a:extLst>
              <a:ext uri="{FF2B5EF4-FFF2-40B4-BE49-F238E27FC236}">
                <a16:creationId xmlns:a16="http://schemas.microsoft.com/office/drawing/2014/main" id="{0680EB57-1339-12B3-D1AB-432E03720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097088"/>
            <a:ext cx="285750" cy="538162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7" name="Text Box 29">
            <a:extLst>
              <a:ext uri="{FF2B5EF4-FFF2-40B4-BE49-F238E27FC236}">
                <a16:creationId xmlns:a16="http://schemas.microsoft.com/office/drawing/2014/main" id="{1A6E8511-4FB6-6E3C-AD87-18DCF5DBD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2838450"/>
            <a:ext cx="66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</a:p>
        </p:txBody>
      </p:sp>
      <p:graphicFrame>
        <p:nvGraphicFramePr>
          <p:cNvPr id="104478" name="Object 30">
            <a:extLst>
              <a:ext uri="{FF2B5EF4-FFF2-40B4-BE49-F238E27FC236}">
                <a16:creationId xmlns:a16="http://schemas.microsoft.com/office/drawing/2014/main" id="{B9D82E78-9273-3114-542A-5DC1E326DEBD}"/>
              </a:ext>
            </a:extLst>
          </p:cNvPr>
          <p:cNvGraphicFramePr>
            <a:graphicFrameLocks/>
          </p:cNvGraphicFramePr>
          <p:nvPr/>
        </p:nvGraphicFramePr>
        <p:xfrm>
          <a:off x="7138988" y="2752725"/>
          <a:ext cx="2413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9712" imgH="247650" progId="Equation.3">
                  <p:embed/>
                </p:oleObj>
              </mc:Choice>
              <mc:Fallback>
                <p:oleObj name="Equation" r:id="rId16" imgW="209712" imgH="247650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2752725"/>
                        <a:ext cx="241300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9" name="Object 31">
            <a:extLst>
              <a:ext uri="{FF2B5EF4-FFF2-40B4-BE49-F238E27FC236}">
                <a16:creationId xmlns:a16="http://schemas.microsoft.com/office/drawing/2014/main" id="{83FA7CDD-04AA-D46C-35F7-F222EF7D1A25}"/>
              </a:ext>
            </a:extLst>
          </p:cNvPr>
          <p:cNvGraphicFramePr>
            <a:graphicFrameLocks/>
          </p:cNvGraphicFramePr>
          <p:nvPr/>
        </p:nvGraphicFramePr>
        <p:xfrm>
          <a:off x="7624763" y="2330450"/>
          <a:ext cx="3127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4682" imgH="228600" progId="Equation.3">
                  <p:embed/>
                </p:oleObj>
              </mc:Choice>
              <mc:Fallback>
                <p:oleObj name="Equation" r:id="rId18" imgW="304682" imgH="228600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763" y="2330450"/>
                        <a:ext cx="31273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0" name="Object 32">
            <a:extLst>
              <a:ext uri="{FF2B5EF4-FFF2-40B4-BE49-F238E27FC236}">
                <a16:creationId xmlns:a16="http://schemas.microsoft.com/office/drawing/2014/main" id="{F5967C6E-5380-D06D-FDAF-8DE3E1E935F3}"/>
              </a:ext>
            </a:extLst>
          </p:cNvPr>
          <p:cNvGraphicFramePr>
            <a:graphicFrameLocks/>
          </p:cNvGraphicFramePr>
          <p:nvPr/>
        </p:nvGraphicFramePr>
        <p:xfrm>
          <a:off x="7485063" y="2581275"/>
          <a:ext cx="2301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3453" imgH="228600" progId="Equation.3">
                  <p:embed/>
                </p:oleObj>
              </mc:Choice>
              <mc:Fallback>
                <p:oleObj name="Equation" r:id="rId20" imgW="133453" imgH="228600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2581275"/>
                        <a:ext cx="2301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1" name="Freeform 33">
            <a:extLst>
              <a:ext uri="{FF2B5EF4-FFF2-40B4-BE49-F238E27FC236}">
                <a16:creationId xmlns:a16="http://schemas.microsoft.com/office/drawing/2014/main" id="{B1442D1F-81F7-5CED-8AEB-2BC47DAB98FB}"/>
              </a:ext>
            </a:extLst>
          </p:cNvPr>
          <p:cNvSpPr>
            <a:spLocks/>
          </p:cNvSpPr>
          <p:nvPr/>
        </p:nvSpPr>
        <p:spPr bwMode="auto">
          <a:xfrm>
            <a:off x="6843713" y="1335088"/>
            <a:ext cx="1752600" cy="1981200"/>
          </a:xfrm>
          <a:custGeom>
            <a:avLst/>
            <a:gdLst>
              <a:gd name="T0" fmla="*/ 0 w 1288"/>
              <a:gd name="T1" fmla="*/ 2147483646 h 1272"/>
              <a:gd name="T2" fmla="*/ 2147483646 w 1288"/>
              <a:gd name="T3" fmla="*/ 2147483646 h 1272"/>
              <a:gd name="T4" fmla="*/ 2147483646 w 1288"/>
              <a:gd name="T5" fmla="*/ 2147483646 h 1272"/>
              <a:gd name="T6" fmla="*/ 2147483646 w 1288"/>
              <a:gd name="T7" fmla="*/ 2147483646 h 1272"/>
              <a:gd name="T8" fmla="*/ 2147483646 w 1288"/>
              <a:gd name="T9" fmla="*/ 2147483646 h 1272"/>
              <a:gd name="T10" fmla="*/ 2147483646 w 1288"/>
              <a:gd name="T11" fmla="*/ 2147483646 h 1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88" h="1272">
                <a:moveTo>
                  <a:pt x="0" y="264"/>
                </a:moveTo>
                <a:cubicBezTo>
                  <a:pt x="140" y="156"/>
                  <a:pt x="280" y="48"/>
                  <a:pt x="432" y="24"/>
                </a:cubicBezTo>
                <a:cubicBezTo>
                  <a:pt x="584" y="0"/>
                  <a:pt x="776" y="32"/>
                  <a:pt x="912" y="120"/>
                </a:cubicBezTo>
                <a:cubicBezTo>
                  <a:pt x="1048" y="208"/>
                  <a:pt x="1208" y="392"/>
                  <a:pt x="1248" y="552"/>
                </a:cubicBezTo>
                <a:cubicBezTo>
                  <a:pt x="1288" y="712"/>
                  <a:pt x="1208" y="960"/>
                  <a:pt x="1152" y="1080"/>
                </a:cubicBezTo>
                <a:cubicBezTo>
                  <a:pt x="1096" y="1200"/>
                  <a:pt x="1004" y="1236"/>
                  <a:pt x="912" y="127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82" name="Rectangle 34">
            <a:extLst>
              <a:ext uri="{FF2B5EF4-FFF2-40B4-BE49-F238E27FC236}">
                <a16:creationId xmlns:a16="http://schemas.microsoft.com/office/drawing/2014/main" id="{3D70BFD6-4905-A30C-C5A6-75518F8EE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5051425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结论</a:t>
            </a:r>
          </a:p>
        </p:txBody>
      </p:sp>
      <p:sp>
        <p:nvSpPr>
          <p:cNvPr id="104483" name="Rectangle 35">
            <a:extLst>
              <a:ext uri="{FF2B5EF4-FFF2-40B4-BE49-F238E27FC236}">
                <a16:creationId xmlns:a16="http://schemas.microsoft.com/office/drawing/2014/main" id="{ACD812F3-DCBB-7EBA-2E57-F70F1D3D3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91440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在位移元</a:t>
            </a:r>
          </a:p>
        </p:txBody>
      </p:sp>
      <p:graphicFrame>
        <p:nvGraphicFramePr>
          <p:cNvPr id="104484" name="Object 36">
            <a:extLst>
              <a:ext uri="{FF2B5EF4-FFF2-40B4-BE49-F238E27FC236}">
                <a16:creationId xmlns:a16="http://schemas.microsoft.com/office/drawing/2014/main" id="{FD96F81A-6B48-C446-D90E-1B78CDA9A5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952500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9712" imgH="247650" progId="Equation.3">
                  <p:embed/>
                </p:oleObj>
              </mc:Choice>
              <mc:Fallback>
                <p:oleObj name="Equation" r:id="rId22" imgW="209712" imgH="24765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952500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5" name="Object 37">
            <a:extLst>
              <a:ext uri="{FF2B5EF4-FFF2-40B4-BE49-F238E27FC236}">
                <a16:creationId xmlns:a16="http://schemas.microsoft.com/office/drawing/2014/main" id="{18A074E1-FA71-78CC-E5C3-003CFC0E1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990600"/>
          <a:ext cx="393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682" imgH="228600" progId="Equation.3">
                  <p:embed/>
                </p:oleObj>
              </mc:Choice>
              <mc:Fallback>
                <p:oleObj name="Equation" r:id="rId24" imgW="304682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990600"/>
                        <a:ext cx="393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6" name="Oval 38">
            <a:extLst>
              <a:ext uri="{FF2B5EF4-FFF2-40B4-BE49-F238E27FC236}">
                <a16:creationId xmlns:a16="http://schemas.microsoft.com/office/drawing/2014/main" id="{9DB5BE16-A3F0-F2FE-0AB6-E13A13944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17732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4487" name="Object 39">
            <a:extLst>
              <a:ext uri="{FF2B5EF4-FFF2-40B4-BE49-F238E27FC236}">
                <a16:creationId xmlns:a16="http://schemas.microsoft.com/office/drawing/2014/main" id="{B832FA01-8642-C62D-55D0-9F105D069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428750"/>
          <a:ext cx="1587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85988" imgH="723900" progId="Equation.3">
                  <p:embed/>
                </p:oleObj>
              </mc:Choice>
              <mc:Fallback>
                <p:oleObj name="Equation" r:id="rId26" imgW="1485988" imgH="7239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28750"/>
                        <a:ext cx="1587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8" name="Object 40">
            <a:extLst>
              <a:ext uri="{FF2B5EF4-FFF2-40B4-BE49-F238E27FC236}">
                <a16:creationId xmlns:a16="http://schemas.microsoft.com/office/drawing/2014/main" id="{325E95A8-AD2C-9664-CE20-4D2D696C54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1950" y="2743200"/>
          <a:ext cx="36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53" imgH="228600" progId="Equation.3">
                  <p:embed/>
                </p:oleObj>
              </mc:Choice>
              <mc:Fallback>
                <p:oleObj name="Equation" r:id="rId28" imgW="266553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950" y="2743200"/>
                        <a:ext cx="36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9" name="AutoShape 41">
            <a:extLst>
              <a:ext uri="{FF2B5EF4-FFF2-40B4-BE49-F238E27FC236}">
                <a16:creationId xmlns:a16="http://schemas.microsoft.com/office/drawing/2014/main" id="{C461C76A-B038-0507-C922-2D490CCB4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942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490" name="Oval 42">
            <a:extLst>
              <a:ext uri="{FF2B5EF4-FFF2-40B4-BE49-F238E27FC236}">
                <a16:creationId xmlns:a16="http://schemas.microsoft.com/office/drawing/2014/main" id="{548433FF-6033-0F48-B3B8-CA5D91C03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163888"/>
            <a:ext cx="228600" cy="2286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D60093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60093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491" name="Arc 43">
            <a:extLst>
              <a:ext uri="{FF2B5EF4-FFF2-40B4-BE49-F238E27FC236}">
                <a16:creationId xmlns:a16="http://schemas.microsoft.com/office/drawing/2014/main" id="{DC3E22BD-E009-E41C-AA9C-16F4C76E6FFC}"/>
              </a:ext>
            </a:extLst>
          </p:cNvPr>
          <p:cNvSpPr>
            <a:spLocks/>
          </p:cNvSpPr>
          <p:nvPr/>
        </p:nvSpPr>
        <p:spPr bwMode="auto">
          <a:xfrm rot="7262018">
            <a:off x="7728744" y="2663031"/>
            <a:ext cx="339725" cy="385763"/>
          </a:xfrm>
          <a:custGeom>
            <a:avLst/>
            <a:gdLst>
              <a:gd name="T0" fmla="*/ 2147483646 w 18079"/>
              <a:gd name="T1" fmla="*/ 2147483646 h 21600"/>
              <a:gd name="T2" fmla="*/ 0 w 18079"/>
              <a:gd name="T3" fmla="*/ 2147483646 h 21600"/>
              <a:gd name="T4" fmla="*/ 2147483646 w 18079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079" h="21600" fill="none" extrusionOk="0">
                <a:moveTo>
                  <a:pt x="18079" y="20917"/>
                </a:moveTo>
                <a:cubicBezTo>
                  <a:pt x="16319" y="21370"/>
                  <a:pt x="14509" y="21599"/>
                  <a:pt x="12692" y="21600"/>
                </a:cubicBezTo>
                <a:cubicBezTo>
                  <a:pt x="8132" y="21600"/>
                  <a:pt x="3689" y="20157"/>
                  <a:pt x="0" y="17477"/>
                </a:cubicBezTo>
              </a:path>
              <a:path w="18079" h="21600" stroke="0" extrusionOk="0">
                <a:moveTo>
                  <a:pt x="18079" y="20917"/>
                </a:moveTo>
                <a:cubicBezTo>
                  <a:pt x="16319" y="21370"/>
                  <a:pt x="14509" y="21599"/>
                  <a:pt x="12692" y="21600"/>
                </a:cubicBezTo>
                <a:cubicBezTo>
                  <a:pt x="8132" y="21600"/>
                  <a:pt x="3689" y="20157"/>
                  <a:pt x="0" y="17477"/>
                </a:cubicBezTo>
                <a:lnTo>
                  <a:pt x="12692" y="0"/>
                </a:lnTo>
                <a:lnTo>
                  <a:pt x="18079" y="20917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0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utoUpdateAnimBg="0"/>
      <p:bldP spid="104456" grpId="0" autoUpdateAnimBg="0"/>
      <p:bldP spid="104459" grpId="0" autoUpdateAnimBg="0"/>
      <p:bldP spid="104460" grpId="0" autoUpdateAnimBg="0"/>
      <p:bldP spid="104461" grpId="0" autoUpdateAnimBg="0"/>
      <p:bldP spid="104462" grpId="0" autoUpdateAnimBg="0"/>
      <p:bldP spid="104463" grpId="0" animBg="1"/>
      <p:bldP spid="104470" grpId="0" animBg="1"/>
      <p:bldP spid="104477" grpId="0" autoUpdateAnimBg="0"/>
      <p:bldP spid="104482" grpId="0" autoUpdateAnimBg="0"/>
      <p:bldP spid="104483" grpId="0" autoUpdateAnimBg="0"/>
      <p:bldP spid="104486" grpId="0" animBg="1"/>
      <p:bldP spid="104489" grpId="0" animBg="1"/>
      <p:bldP spid="1044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>
            <a:extLst>
              <a:ext uri="{FF2B5EF4-FFF2-40B4-BE49-F238E27FC236}">
                <a16:creationId xmlns:a16="http://schemas.microsoft.com/office/drawing/2014/main" id="{0465B30D-DA66-B538-828D-45C8386E4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8270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摩擦力的功</a:t>
            </a:r>
          </a:p>
        </p:txBody>
      </p:sp>
      <p:sp>
        <p:nvSpPr>
          <p:cNvPr id="105475" name="Text Box 3">
            <a:extLst>
              <a:ext uri="{FF2B5EF4-FFF2-40B4-BE49-F238E27FC236}">
                <a16:creationId xmlns:a16="http://schemas.microsoft.com/office/drawing/2014/main" id="{910A3EC5-37D9-10D1-E8F4-AC02A595D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1857375"/>
            <a:ext cx="370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在这个过程中所作的功为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5476" name="Object 4">
            <a:extLst>
              <a:ext uri="{FF2B5EF4-FFF2-40B4-BE49-F238E27FC236}">
                <a16:creationId xmlns:a16="http://schemas.microsoft.com/office/drawing/2014/main" id="{BB2C1B58-E577-F934-892B-E4CC10B43D7F}"/>
              </a:ext>
            </a:extLst>
          </p:cNvPr>
          <p:cNvGraphicFramePr>
            <a:graphicFrameLocks/>
          </p:cNvGraphicFramePr>
          <p:nvPr/>
        </p:nvGraphicFramePr>
        <p:xfrm>
          <a:off x="1579563" y="2357438"/>
          <a:ext cx="270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9747" imgH="647700" progId="Equation.3">
                  <p:embed/>
                </p:oleObj>
              </mc:Choice>
              <mc:Fallback>
                <p:oleObj name="Equation" r:id="rId2" imgW="2609747" imgH="6477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2357438"/>
                        <a:ext cx="2705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>
            <a:extLst>
              <a:ext uri="{FF2B5EF4-FFF2-40B4-BE49-F238E27FC236}">
                <a16:creationId xmlns:a16="http://schemas.microsoft.com/office/drawing/2014/main" id="{30DE07D7-3A19-6DD0-EA78-E2F2E9DFDC42}"/>
              </a:ext>
            </a:extLst>
          </p:cNvPr>
          <p:cNvGraphicFramePr>
            <a:graphicFrameLocks/>
          </p:cNvGraphicFramePr>
          <p:nvPr/>
        </p:nvGraphicFramePr>
        <p:xfrm>
          <a:off x="1504950" y="4371975"/>
          <a:ext cx="16271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118" imgH="304800" progId="Equation.3">
                  <p:embed/>
                </p:oleObj>
              </mc:Choice>
              <mc:Fallback>
                <p:oleObj name="公式" r:id="rId4" imgW="1524118" imgH="3048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371975"/>
                        <a:ext cx="16271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8" name="Text Box 6">
            <a:extLst>
              <a:ext uri="{FF2B5EF4-FFF2-40B4-BE49-F238E27FC236}">
                <a16:creationId xmlns:a16="http://schemas.microsoft.com/office/drawing/2014/main" id="{CD64C6F4-2D9D-83CB-9018-20F50848D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5362575"/>
            <a:ext cx="80883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摩擦力的功，不仅与始、末位置有关，而且与质点所行经的路径有关 。</a:t>
            </a:r>
          </a:p>
        </p:txBody>
      </p:sp>
      <p:sp>
        <p:nvSpPr>
          <p:cNvPr id="105479" name="AutoShape 7">
            <a:extLst>
              <a:ext uri="{FF2B5EF4-FFF2-40B4-BE49-F238E27FC236}">
                <a16:creationId xmlns:a16="http://schemas.microsoft.com/office/drawing/2014/main" id="{90AEEB4B-706F-17E9-2293-38043539C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178050"/>
            <a:ext cx="2967037" cy="1295400"/>
          </a:xfrm>
          <a:prstGeom prst="parallelogram">
            <a:avLst>
              <a:gd name="adj" fmla="val 57261"/>
            </a:avLst>
          </a:prstGeom>
          <a:solidFill>
            <a:srgbClr val="CCFFFF">
              <a:alpha val="6705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5480" name="Oval 8">
            <a:extLst>
              <a:ext uri="{FF2B5EF4-FFF2-40B4-BE49-F238E27FC236}">
                <a16:creationId xmlns:a16="http://schemas.microsoft.com/office/drawing/2014/main" id="{22583E5D-EAD7-1A8D-2A8C-DD892D003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363" y="29400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481" name="Oval 9">
            <a:extLst>
              <a:ext uri="{FF2B5EF4-FFF2-40B4-BE49-F238E27FC236}">
                <a16:creationId xmlns:a16="http://schemas.microsoft.com/office/drawing/2014/main" id="{FA1C58CB-6458-2C8E-EC32-BC7A7CEA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825" y="27876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5482" name="Object 10">
            <a:extLst>
              <a:ext uri="{FF2B5EF4-FFF2-40B4-BE49-F238E27FC236}">
                <a16:creationId xmlns:a16="http://schemas.microsoft.com/office/drawing/2014/main" id="{41BA9BBE-C62F-4A0E-5AAA-0018764367D4}"/>
              </a:ext>
            </a:extLst>
          </p:cNvPr>
          <p:cNvGraphicFramePr>
            <a:graphicFrameLocks/>
          </p:cNvGraphicFramePr>
          <p:nvPr/>
        </p:nvGraphicFramePr>
        <p:xfrm>
          <a:off x="6088063" y="3036888"/>
          <a:ext cx="3556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812" imgH="323850" progId="Equation.3">
                  <p:embed/>
                </p:oleObj>
              </mc:Choice>
              <mc:Fallback>
                <p:oleObj name="Equation" r:id="rId6" imgW="342812" imgH="3238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3" y="3036888"/>
                        <a:ext cx="3556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>
            <a:extLst>
              <a:ext uri="{FF2B5EF4-FFF2-40B4-BE49-F238E27FC236}">
                <a16:creationId xmlns:a16="http://schemas.microsoft.com/office/drawing/2014/main" id="{8A2EC0A0-6535-8E82-7E7F-79F8016743F7}"/>
              </a:ext>
            </a:extLst>
          </p:cNvPr>
          <p:cNvGraphicFramePr>
            <a:graphicFrameLocks/>
          </p:cNvGraphicFramePr>
          <p:nvPr/>
        </p:nvGraphicFramePr>
        <p:xfrm>
          <a:off x="7708900" y="2928938"/>
          <a:ext cx="388938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941" imgH="323850" progId="Equation.3">
                  <p:embed/>
                </p:oleObj>
              </mc:Choice>
              <mc:Fallback>
                <p:oleObj name="Equation" r:id="rId8" imgW="380941" imgH="32385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2928938"/>
                        <a:ext cx="388938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4" name="Freeform 12">
            <a:extLst>
              <a:ext uri="{FF2B5EF4-FFF2-40B4-BE49-F238E27FC236}">
                <a16:creationId xmlns:a16="http://schemas.microsoft.com/office/drawing/2014/main" id="{87CD5015-8989-C789-9707-CF260D54A15D}"/>
              </a:ext>
            </a:extLst>
          </p:cNvPr>
          <p:cNvSpPr>
            <a:spLocks/>
          </p:cNvSpPr>
          <p:nvPr/>
        </p:nvSpPr>
        <p:spPr bwMode="auto">
          <a:xfrm>
            <a:off x="6388100" y="2368550"/>
            <a:ext cx="1524000" cy="571500"/>
          </a:xfrm>
          <a:custGeom>
            <a:avLst/>
            <a:gdLst>
              <a:gd name="T0" fmla="*/ 0 w 960"/>
              <a:gd name="T1" fmla="*/ 2147483646 h 360"/>
              <a:gd name="T2" fmla="*/ 2147483646 w 960"/>
              <a:gd name="T3" fmla="*/ 2147483646 h 360"/>
              <a:gd name="T4" fmla="*/ 2147483646 w 960"/>
              <a:gd name="T5" fmla="*/ 2147483646 h 360"/>
              <a:gd name="T6" fmla="*/ 2147483646 w 960"/>
              <a:gd name="T7" fmla="*/ 2147483646 h 360"/>
              <a:gd name="T8" fmla="*/ 2147483646 w 960"/>
              <a:gd name="T9" fmla="*/ 2147483646 h 3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60" h="360">
                <a:moveTo>
                  <a:pt x="0" y="360"/>
                </a:moveTo>
                <a:cubicBezTo>
                  <a:pt x="36" y="260"/>
                  <a:pt x="72" y="160"/>
                  <a:pt x="144" y="120"/>
                </a:cubicBezTo>
                <a:cubicBezTo>
                  <a:pt x="216" y="80"/>
                  <a:pt x="328" y="136"/>
                  <a:pt x="432" y="120"/>
                </a:cubicBezTo>
                <a:cubicBezTo>
                  <a:pt x="536" y="104"/>
                  <a:pt x="680" y="0"/>
                  <a:pt x="768" y="24"/>
                </a:cubicBezTo>
                <a:cubicBezTo>
                  <a:pt x="856" y="48"/>
                  <a:pt x="908" y="156"/>
                  <a:pt x="960" y="264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5" name="Line 13">
            <a:extLst>
              <a:ext uri="{FF2B5EF4-FFF2-40B4-BE49-F238E27FC236}">
                <a16:creationId xmlns:a16="http://schemas.microsoft.com/office/drawing/2014/main" id="{E29596A1-2452-9880-F747-F1275D10E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3613" y="2249488"/>
            <a:ext cx="609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6" name="Oval 14">
            <a:extLst>
              <a:ext uri="{FF2B5EF4-FFF2-40B4-BE49-F238E27FC236}">
                <a16:creationId xmlns:a16="http://schemas.microsoft.com/office/drawing/2014/main" id="{00C11BC0-7D0D-485A-E3DE-BE46869B4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24479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487" name="Line 15">
            <a:extLst>
              <a:ext uri="{FF2B5EF4-FFF2-40B4-BE49-F238E27FC236}">
                <a16:creationId xmlns:a16="http://schemas.microsoft.com/office/drawing/2014/main" id="{B9022B31-4266-FBA0-18DB-D7A0395CEA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2250" y="2501900"/>
            <a:ext cx="685800" cy="228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5488" name="Object 16">
            <a:extLst>
              <a:ext uri="{FF2B5EF4-FFF2-40B4-BE49-F238E27FC236}">
                <a16:creationId xmlns:a16="http://schemas.microsoft.com/office/drawing/2014/main" id="{169ED915-D54C-A520-9612-5472FC2D7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0" y="2279650"/>
          <a:ext cx="2270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501" imgH="291973" progId="Equation.3">
                  <p:embed/>
                </p:oleObj>
              </mc:Choice>
              <mc:Fallback>
                <p:oleObj name="Equation" r:id="rId10" imgW="228501" imgH="29197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0" y="2279650"/>
                        <a:ext cx="2270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17">
            <a:extLst>
              <a:ext uri="{FF2B5EF4-FFF2-40B4-BE49-F238E27FC236}">
                <a16:creationId xmlns:a16="http://schemas.microsoft.com/office/drawing/2014/main" id="{0DA0AC8A-EB77-D0EE-0B44-BE88E6F934B5}"/>
              </a:ext>
            </a:extLst>
          </p:cNvPr>
          <p:cNvGraphicFramePr>
            <a:graphicFrameLocks/>
          </p:cNvGraphicFramePr>
          <p:nvPr/>
        </p:nvGraphicFramePr>
        <p:xfrm>
          <a:off x="6589713" y="2738438"/>
          <a:ext cx="3063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9712" imgH="247650" progId="Equation.3">
                  <p:embed/>
                </p:oleObj>
              </mc:Choice>
              <mc:Fallback>
                <p:oleObj name="Equation" r:id="rId12" imgW="209712" imgH="24765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9713" y="2738438"/>
                        <a:ext cx="3063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0" name="Freeform 18">
            <a:extLst>
              <a:ext uri="{FF2B5EF4-FFF2-40B4-BE49-F238E27FC236}">
                <a16:creationId xmlns:a16="http://schemas.microsoft.com/office/drawing/2014/main" id="{79783E8E-9767-D0EB-F979-99FDF21BA17D}"/>
              </a:ext>
            </a:extLst>
          </p:cNvPr>
          <p:cNvSpPr>
            <a:spLocks/>
          </p:cNvSpPr>
          <p:nvPr/>
        </p:nvSpPr>
        <p:spPr bwMode="auto">
          <a:xfrm>
            <a:off x="6400800" y="2889250"/>
            <a:ext cx="1447800" cy="393700"/>
          </a:xfrm>
          <a:custGeom>
            <a:avLst/>
            <a:gdLst>
              <a:gd name="T0" fmla="*/ 0 w 912"/>
              <a:gd name="T1" fmla="*/ 2147483646 h 248"/>
              <a:gd name="T2" fmla="*/ 2147483646 w 912"/>
              <a:gd name="T3" fmla="*/ 2147483646 h 248"/>
              <a:gd name="T4" fmla="*/ 2147483646 w 912"/>
              <a:gd name="T5" fmla="*/ 2147483646 h 248"/>
              <a:gd name="T6" fmla="*/ 2147483646 w 912"/>
              <a:gd name="T7" fmla="*/ 0 h 24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248">
                <a:moveTo>
                  <a:pt x="0" y="96"/>
                </a:moveTo>
                <a:cubicBezTo>
                  <a:pt x="24" y="164"/>
                  <a:pt x="48" y="232"/>
                  <a:pt x="144" y="240"/>
                </a:cubicBezTo>
                <a:cubicBezTo>
                  <a:pt x="240" y="248"/>
                  <a:pt x="448" y="184"/>
                  <a:pt x="576" y="144"/>
                </a:cubicBezTo>
                <a:cubicBezTo>
                  <a:pt x="704" y="104"/>
                  <a:pt x="808" y="52"/>
                  <a:pt x="912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5491" name="Object 19">
            <a:extLst>
              <a:ext uri="{FF2B5EF4-FFF2-40B4-BE49-F238E27FC236}">
                <a16:creationId xmlns:a16="http://schemas.microsoft.com/office/drawing/2014/main" id="{1B6C94C8-79B5-193E-106F-3AC88E63B8C3}"/>
              </a:ext>
            </a:extLst>
          </p:cNvPr>
          <p:cNvGraphicFramePr>
            <a:graphicFrameLocks/>
          </p:cNvGraphicFramePr>
          <p:nvPr/>
        </p:nvGraphicFramePr>
        <p:xfrm>
          <a:off x="1511300" y="3294063"/>
          <a:ext cx="13319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8147" imgH="285750" progId="Equation.3">
                  <p:embed/>
                </p:oleObj>
              </mc:Choice>
              <mc:Fallback>
                <p:oleObj name="Equation" r:id="rId14" imgW="1238147" imgH="285750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294063"/>
                        <a:ext cx="13319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2" name="Text Box 20">
            <a:extLst>
              <a:ext uri="{FF2B5EF4-FFF2-40B4-BE49-F238E27FC236}">
                <a16:creationId xmlns:a16="http://schemas.microsoft.com/office/drawing/2014/main" id="{B7C5E49C-9DBE-7586-4186-1E36E4C20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756025"/>
            <a:ext cx="701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摩擦力方向始终与质点速度方向相反</a:t>
            </a:r>
          </a:p>
        </p:txBody>
      </p:sp>
      <p:sp>
        <p:nvSpPr>
          <p:cNvPr id="14357" name="Text Box 21">
            <a:extLst>
              <a:ext uri="{FF2B5EF4-FFF2-40B4-BE49-F238E27FC236}">
                <a16:creationId xmlns:a16="http://schemas.microsoft.com/office/drawing/2014/main" id="{43A0125A-DA5D-A1A6-FC3B-F858A2E2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98450"/>
            <a:ext cx="78517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质点移近质点时，万有引力作正功；质点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远离质点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O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时，万有引力作负功。 </a:t>
            </a:r>
          </a:p>
        </p:txBody>
      </p:sp>
      <p:sp>
        <p:nvSpPr>
          <p:cNvPr id="105494" name="Rectangle 22">
            <a:extLst>
              <a:ext uri="{FF2B5EF4-FFF2-40B4-BE49-F238E27FC236}">
                <a16:creationId xmlns:a16="http://schemas.microsoft.com/office/drawing/2014/main" id="{F16F22B7-3615-123F-7739-AFF95B153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832350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结论</a:t>
            </a:r>
          </a:p>
        </p:txBody>
      </p:sp>
      <p:sp>
        <p:nvSpPr>
          <p:cNvPr id="105495" name="Rectangle 23">
            <a:extLst>
              <a:ext uri="{FF2B5EF4-FFF2-40B4-BE49-F238E27FC236}">
                <a16:creationId xmlns:a16="http://schemas.microsoft.com/office/drawing/2014/main" id="{3A1BCFCF-7F89-A29B-802B-CCCD01F6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841500"/>
            <a:ext cx="110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摩擦力</a:t>
            </a:r>
          </a:p>
        </p:txBody>
      </p:sp>
      <p:graphicFrame>
        <p:nvGraphicFramePr>
          <p:cNvPr id="105496" name="Object 24">
            <a:extLst>
              <a:ext uri="{FF2B5EF4-FFF2-40B4-BE49-F238E27FC236}">
                <a16:creationId xmlns:a16="http://schemas.microsoft.com/office/drawing/2014/main" id="{158224B7-12F7-2160-1DD6-5CA13C2D2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898650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9712" imgH="247650" progId="Equation.3">
                  <p:embed/>
                </p:oleObj>
              </mc:Choice>
              <mc:Fallback>
                <p:oleObj name="Equation" r:id="rId16" imgW="209712" imgH="24765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98650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7" name="AutoShape 25">
            <a:extLst>
              <a:ext uri="{FF2B5EF4-FFF2-40B4-BE49-F238E27FC236}">
                <a16:creationId xmlns:a16="http://schemas.microsoft.com/office/drawing/2014/main" id="{0F3AF65C-C36A-E2A0-EF7D-CFFAFE78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7752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0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0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autoUpdateAnimBg="0"/>
      <p:bldP spid="105475" grpId="0" autoUpdateAnimBg="0"/>
      <p:bldP spid="105478" grpId="0" autoUpdateAnimBg="0"/>
      <p:bldP spid="105479" grpId="0" animBg="1" autoUpdateAnimBg="0"/>
      <p:bldP spid="105480" grpId="0" animBg="1"/>
      <p:bldP spid="105481" grpId="0" animBg="1"/>
      <p:bldP spid="105486" grpId="0" animBg="1"/>
      <p:bldP spid="105492" grpId="0" autoUpdateAnimBg="0"/>
      <p:bldP spid="105494" grpId="0" autoUpdateAnimBg="0"/>
      <p:bldP spid="105495" grpId="0" autoUpdateAnimBg="0"/>
      <p:bldP spid="1054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">
            <a:extLst>
              <a:ext uri="{FF2B5EF4-FFF2-40B4-BE49-F238E27FC236}">
                <a16:creationId xmlns:a16="http://schemas.microsoft.com/office/drawing/2014/main" id="{4A8DF0BF-51AC-2BF2-6675-4141B7859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89" y="4725346"/>
            <a:ext cx="5453063" cy="1039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1">
            <a:extLst>
              <a:ext uri="{FF2B5EF4-FFF2-40B4-BE49-F238E27FC236}">
                <a16:creationId xmlns:a16="http://schemas.microsoft.com/office/drawing/2014/main" id="{3BBCBC05-2A9D-4500-7CE6-2BD0DCF84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8" y="192088"/>
            <a:ext cx="2032000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（重点）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1000" b="1">
              <a:solidFill>
                <a:schemeClr val="bg1"/>
              </a:solidFill>
            </a:endParaRPr>
          </a:p>
          <a:p>
            <a:endParaRPr lang="zh-CN" altLang="en-US"/>
          </a:p>
        </p:txBody>
      </p:sp>
      <p:sp>
        <p:nvSpPr>
          <p:cNvPr id="15365" name="Rectangle 26">
            <a:extLst>
              <a:ext uri="{FF2B5EF4-FFF2-40B4-BE49-F238E27FC236}">
                <a16:creationId xmlns:a16="http://schemas.microsoft.com/office/drawing/2014/main" id="{D6FA8984-807D-C035-FA21-4977B021A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692150"/>
            <a:ext cx="5756275" cy="434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蓄水池面积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，水深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，水面距地面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，水的密度为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000" b="1" dirty="0">
              <a:solidFill>
                <a:schemeClr val="bg1"/>
              </a:solidFill>
            </a:endParaRPr>
          </a:p>
          <a:p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求：抽出水需要作多少功？</a:t>
            </a:r>
            <a:endParaRPr lang="zh-CN" altLang="en-US" sz="1000" b="1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解：离地面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处，深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的一层水的</a:t>
            </a:r>
            <a:endParaRPr lang="zh-CN" altLang="en-US" sz="1000" b="1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质量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ρS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水提到路面所需作的功：</a:t>
            </a:r>
            <a:endParaRPr lang="zh-CN" altLang="en-US" sz="1000" b="1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ρSgx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1000" b="1" i="1" dirty="0">
              <a:solidFill>
                <a:schemeClr val="bg1"/>
              </a:solidFill>
            </a:endParaRPr>
          </a:p>
          <a:p>
            <a:endParaRPr lang="en-US" altLang="zh-CN" dirty="0"/>
          </a:p>
        </p:txBody>
      </p:sp>
      <p:pic>
        <p:nvPicPr>
          <p:cNvPr id="24" name="Picture 24">
            <a:extLst>
              <a:ext uri="{FF2B5EF4-FFF2-40B4-BE49-F238E27FC236}">
                <a16:creationId xmlns:a16="http://schemas.microsoft.com/office/drawing/2014/main" id="{F3C70A2B-DCEF-C3CA-5B62-64EDF4C00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613" y="501650"/>
            <a:ext cx="3046412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38CAFD-177E-8EB6-885A-BA7443206803}"/>
              </a:ext>
            </a:extLst>
          </p:cNvPr>
          <p:cNvSpPr txBox="1"/>
          <p:nvPr/>
        </p:nvSpPr>
        <p:spPr>
          <a:xfrm>
            <a:off x="1013522" y="5834915"/>
            <a:ext cx="741682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C000"/>
                </a:solidFill>
              </a:rPr>
              <a:t>抽水做功 </a:t>
            </a:r>
            <a:r>
              <a:rPr lang="en-US" altLang="zh-CN" sz="2400" b="1" dirty="0">
                <a:solidFill>
                  <a:srgbClr val="FFC000"/>
                </a:solidFill>
              </a:rPr>
              <a:t>= </a:t>
            </a:r>
            <a:r>
              <a:rPr lang="zh-CN" altLang="en-US" sz="2400" b="1" dirty="0">
                <a:solidFill>
                  <a:srgbClr val="FFC000"/>
                </a:solidFill>
              </a:rPr>
              <a:t>把全部水的质心提升到地面</a:t>
            </a:r>
            <a:endParaRPr lang="en-US" altLang="zh-CN" sz="2400" b="1" dirty="0">
              <a:solidFill>
                <a:srgbClr val="FFC000"/>
              </a:solidFill>
            </a:endParaRPr>
          </a:p>
          <a:p>
            <a:r>
              <a:rPr lang="zh-CN" altLang="en-US" sz="2400" b="1" dirty="0">
                <a:solidFill>
                  <a:srgbClr val="FFC000"/>
                </a:solidFill>
              </a:rPr>
              <a:t>讨论：微元思想 </a:t>
            </a:r>
            <a:r>
              <a:rPr lang="en-US" altLang="zh-CN" sz="2400" b="1" dirty="0">
                <a:solidFill>
                  <a:srgbClr val="FFC000"/>
                </a:solidFill>
              </a:rPr>
              <a:t>/ </a:t>
            </a:r>
            <a:r>
              <a:rPr lang="zh-CN" altLang="en-US" sz="2400" b="1" dirty="0">
                <a:solidFill>
                  <a:srgbClr val="FFC000"/>
                </a:solidFill>
              </a:rPr>
              <a:t>质心思想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3AEA95-BC47-7EA9-649C-F783F3409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749" y="4725345"/>
            <a:ext cx="3034211" cy="103981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>
            <a:extLst>
              <a:ext uri="{FF2B5EF4-FFF2-40B4-BE49-F238E27FC236}">
                <a16:creationId xmlns:a16="http://schemas.microsoft.com/office/drawing/2014/main" id="{62BB3AF7-94A3-675E-C72C-F4AFE6EF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115888"/>
            <a:ext cx="8604250" cy="1938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例</a:t>
            </a:r>
            <a:r>
              <a:rPr lang="en-US" altLang="zh-CN" sz="2400" b="1" dirty="0">
                <a:solidFill>
                  <a:schemeClr val="bg1"/>
                </a:solidFill>
              </a:rPr>
              <a:t>6</a:t>
            </a:r>
            <a:endParaRPr lang="zh-CN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风力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F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作用于向北运动的船，风力方向变化的规律是：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θ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Bs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，其中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s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为位移，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B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为常数，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θ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为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F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与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S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间的夹角。如果运动中，风的方向自南变到东，</a:t>
            </a:r>
          </a:p>
          <a:p>
            <a:pPr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求：风力作的功。</a:t>
            </a: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FD420E31-2893-7348-5C1B-35DB61A57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2090738"/>
            <a:ext cx="7343775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解：元功：</a:t>
            </a:r>
            <a:r>
              <a:rPr lang="en-US" altLang="zh-CN" sz="2400" b="1" dirty="0" err="1">
                <a:solidFill>
                  <a:schemeClr val="bg1"/>
                </a:solidFill>
                <a:latin typeface="+mn-lt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+mn-lt"/>
              </a:rPr>
              <a:t>A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400" b="1" i="1" dirty="0" err="1">
                <a:solidFill>
                  <a:schemeClr val="bg1"/>
                </a:solidFill>
                <a:latin typeface="+mn-lt"/>
              </a:rPr>
              <a:t>F</a:t>
            </a:r>
            <a:r>
              <a:rPr lang="en-US" altLang="zh-CN" sz="2400" b="1" dirty="0" err="1">
                <a:solidFill>
                  <a:schemeClr val="bg1"/>
                </a:solidFill>
                <a:latin typeface="+mn-lt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+mn-lt"/>
              </a:rPr>
              <a:t>s</a:t>
            </a:r>
            <a:r>
              <a:rPr lang="en-US" altLang="zh-CN" sz="2400" b="1" dirty="0" err="1">
                <a:solidFill>
                  <a:schemeClr val="bg1"/>
                </a:solidFill>
                <a:latin typeface="+mn-lt"/>
              </a:rPr>
              <a:t>cosθ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；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  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其中 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θ</a:t>
            </a:r>
            <a:r>
              <a:rPr lang="zh-CN" altLang="zh-CN" sz="2400" b="1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Bs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,  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d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=</a:t>
            </a:r>
            <a:r>
              <a:rPr lang="en-US" altLang="zh-CN" sz="2400" b="1" dirty="0" err="1">
                <a:solidFill>
                  <a:schemeClr val="bg1"/>
                </a:solidFill>
                <a:latin typeface="+mn-lt"/>
              </a:rPr>
              <a:t>d</a:t>
            </a:r>
            <a:r>
              <a:rPr lang="en-US" altLang="zh-CN" sz="2400" b="1" i="1" dirty="0" err="1">
                <a:solidFill>
                  <a:schemeClr val="bg1"/>
                </a:solidFill>
                <a:latin typeface="+mn-lt"/>
              </a:rPr>
              <a:t>θ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/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B</a:t>
            </a:r>
            <a:endParaRPr lang="zh-CN" altLang="zh-CN" sz="2400" b="1" i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积分限：风向由南变到东，则</a:t>
            </a:r>
            <a:r>
              <a:rPr lang="en-US" altLang="zh-CN" sz="2400" b="1" i="1" dirty="0">
                <a:solidFill>
                  <a:schemeClr val="bg1"/>
                </a:solidFill>
                <a:latin typeface="+mn-lt"/>
              </a:rPr>
              <a:t>θ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由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0</a:t>
            </a:r>
            <a:r>
              <a:rPr lang="zh-CN" altLang="zh-CN" sz="2400" b="1" dirty="0">
                <a:solidFill>
                  <a:schemeClr val="bg1"/>
                </a:solidFill>
                <a:latin typeface="+mn-lt"/>
              </a:rPr>
              <a:t>变到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</a:rPr>
              <a:t>π/2</a:t>
            </a:r>
            <a:endParaRPr lang="zh-CN" altLang="zh-CN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6D056-CE3A-591E-616F-DE27E79E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365625"/>
            <a:ext cx="8318500" cy="1938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400" b="1" dirty="0">
                <a:solidFill>
                  <a:srgbClr val="FFC000"/>
                </a:solidFill>
              </a:rPr>
              <a:t>小结： </a:t>
            </a:r>
            <a:r>
              <a:rPr lang="en-US" altLang="zh-CN" sz="2400" b="1" dirty="0">
                <a:solidFill>
                  <a:srgbClr val="FFC000"/>
                </a:solidFill>
              </a:rPr>
              <a:t>       </a:t>
            </a:r>
            <a:endParaRPr lang="zh-CN" altLang="zh-CN" sz="2400" b="1" dirty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en-US" altLang="zh-CN" sz="2400" b="1" i="1" dirty="0">
                <a:solidFill>
                  <a:srgbClr val="FFC000"/>
                </a:solidFill>
                <a:latin typeface="+mn-lt"/>
              </a:rPr>
              <a:t>A</a:t>
            </a:r>
            <a:r>
              <a:rPr lang="zh-CN" altLang="zh-CN" sz="2400" b="1" dirty="0">
                <a:solidFill>
                  <a:srgbClr val="FFC000"/>
                </a:solidFill>
                <a:latin typeface="+mn-lt"/>
              </a:rPr>
              <a:t>＝</a:t>
            </a:r>
            <a:r>
              <a:rPr lang="en-US" altLang="zh-CN" sz="2400" b="1" i="1" dirty="0" err="1">
                <a:solidFill>
                  <a:srgbClr val="FFC000"/>
                </a:solidFill>
                <a:latin typeface="+mn-lt"/>
              </a:rPr>
              <a:t>Fs</a:t>
            </a:r>
            <a:r>
              <a:rPr lang="en-US" altLang="zh-CN" sz="2400" b="1" dirty="0" err="1">
                <a:solidFill>
                  <a:srgbClr val="FFC000"/>
                </a:solidFill>
                <a:latin typeface="+mn-lt"/>
              </a:rPr>
              <a:t>cos</a:t>
            </a:r>
            <a:r>
              <a:rPr lang="en-US" altLang="zh-CN" sz="2400" b="1" i="1" dirty="0" err="1">
                <a:solidFill>
                  <a:srgbClr val="FFC000"/>
                </a:solidFill>
                <a:latin typeface="+mn-lt"/>
              </a:rPr>
              <a:t>θ</a:t>
            </a:r>
            <a:endParaRPr lang="en-US" altLang="zh-CN" sz="2400" b="1" i="1" dirty="0">
              <a:solidFill>
                <a:srgbClr val="FFC000"/>
              </a:solidFill>
              <a:latin typeface="+mn-lt"/>
            </a:endParaRPr>
          </a:p>
          <a:p>
            <a:pPr eaLnBrk="1" hangingPunct="1">
              <a:defRPr/>
            </a:pPr>
            <a:r>
              <a:rPr lang="zh-CN" altLang="en-US" sz="2400" b="1" dirty="0">
                <a:solidFill>
                  <a:srgbClr val="FFC000"/>
                </a:solidFill>
              </a:rPr>
              <a:t>解题时写出元功</a:t>
            </a:r>
            <a:r>
              <a:rPr lang="en-US" altLang="zh-CN" sz="2400" b="1" dirty="0" err="1">
                <a:solidFill>
                  <a:srgbClr val="FFC000"/>
                </a:solidFill>
              </a:rPr>
              <a:t>d</a:t>
            </a:r>
            <a:r>
              <a:rPr lang="en-US" altLang="zh-CN" sz="2400" b="1" i="1" dirty="0" err="1">
                <a:solidFill>
                  <a:srgbClr val="FFC000"/>
                </a:solidFill>
              </a:rPr>
              <a:t>A</a:t>
            </a:r>
            <a:r>
              <a:rPr lang="zh-CN" altLang="en-US" sz="2400" b="1" dirty="0">
                <a:solidFill>
                  <a:srgbClr val="FFC000"/>
                </a:solidFill>
              </a:rPr>
              <a:t>的表达式，弄清做功过程中是</a:t>
            </a:r>
            <a:r>
              <a:rPr lang="zh-CN" altLang="en-US" sz="2400" b="1" dirty="0">
                <a:solidFill>
                  <a:srgbClr val="FF0000"/>
                </a:solidFill>
              </a:rPr>
              <a:t>哪个参数在变化</a:t>
            </a:r>
            <a:r>
              <a:rPr lang="zh-CN" altLang="en-US" sz="2400" b="1" dirty="0">
                <a:solidFill>
                  <a:srgbClr val="FFC000"/>
                </a:solidFill>
              </a:rPr>
              <a:t>，就最终</a:t>
            </a:r>
            <a:r>
              <a:rPr lang="zh-CN" altLang="en-US" sz="2400" b="1" dirty="0">
                <a:solidFill>
                  <a:srgbClr val="FF0000"/>
                </a:solidFill>
              </a:rPr>
              <a:t>建立</a:t>
            </a:r>
            <a:r>
              <a:rPr lang="en-US" altLang="zh-CN" sz="2400" b="1" dirty="0" err="1">
                <a:solidFill>
                  <a:srgbClr val="FF0000"/>
                </a:solidFill>
              </a:rPr>
              <a:t>d</a:t>
            </a:r>
            <a:r>
              <a:rPr lang="en-US" altLang="zh-CN" sz="2400" b="1" i="1" dirty="0" err="1">
                <a:solidFill>
                  <a:srgbClr val="FF0000"/>
                </a:solidFill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</a:rPr>
              <a:t>与这个参数的微分表达式</a:t>
            </a:r>
            <a:r>
              <a:rPr lang="zh-CN" altLang="en-US" sz="2400" b="1" dirty="0">
                <a:solidFill>
                  <a:srgbClr val="FFC000"/>
                </a:solidFill>
              </a:rPr>
              <a:t>，再确定这个</a:t>
            </a:r>
            <a:r>
              <a:rPr lang="zh-CN" altLang="en-US" sz="2400" b="1" dirty="0">
                <a:solidFill>
                  <a:srgbClr val="FF0000"/>
                </a:solidFill>
              </a:rPr>
              <a:t>参数的初、末值</a:t>
            </a:r>
            <a:r>
              <a:rPr lang="zh-CN" altLang="en-US" sz="2400" b="1" dirty="0">
                <a:solidFill>
                  <a:srgbClr val="FFC000"/>
                </a:solidFill>
              </a:rPr>
              <a:t>积分。</a:t>
            </a:r>
            <a:endParaRPr lang="en-US" altLang="zh-CN" sz="2400" b="1" dirty="0">
              <a:solidFill>
                <a:srgbClr val="FFC000"/>
              </a:solidFill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6FC2D74-0154-852E-16D0-17C099905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997200"/>
          <a:ext cx="5432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500" imgH="393700" progId="Equation.DSMT4">
                  <p:embed/>
                </p:oleObj>
              </mc:Choice>
              <mc:Fallback>
                <p:oleObj name="Equation" r:id="rId2" imgW="2476500" imgH="3937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997200"/>
                        <a:ext cx="54324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">
            <a:extLst>
              <a:ext uri="{FF2B5EF4-FFF2-40B4-BE49-F238E27FC236}">
                <a16:creationId xmlns:a16="http://schemas.microsoft.com/office/drawing/2014/main" id="{E03F7DC6-14A5-B3E2-5FBF-E4A5A994850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836613"/>
            <a:ext cx="8785225" cy="2025650"/>
            <a:chOff x="251520" y="178594"/>
            <a:chExt cx="8786512" cy="2026269"/>
          </a:xfrm>
        </p:grpSpPr>
        <p:grpSp>
          <p:nvGrpSpPr>
            <p:cNvPr id="17413" name="组合 10">
              <a:extLst>
                <a:ext uri="{FF2B5EF4-FFF2-40B4-BE49-F238E27FC236}">
                  <a16:creationId xmlns:a16="http://schemas.microsoft.com/office/drawing/2014/main" id="{05981B42-24AE-B96A-BE3D-48E1FD0B6B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520" y="178594"/>
              <a:ext cx="5904656" cy="1691104"/>
              <a:chOff x="251520" y="93396"/>
              <a:chExt cx="5904656" cy="1691104"/>
            </a:xfrm>
          </p:grpSpPr>
          <p:sp>
            <p:nvSpPr>
              <p:cNvPr id="17415" name="矩形 7">
                <a:extLst>
                  <a:ext uri="{FF2B5EF4-FFF2-40B4-BE49-F238E27FC236}">
                    <a16:creationId xmlns:a16="http://schemas.microsoft.com/office/drawing/2014/main" id="{087D4451-7B2A-38CC-6DF5-34DCD7B18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520" y="93396"/>
                <a:ext cx="5904656" cy="1691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bg1"/>
                    </a:solidFill>
                  </a:rPr>
                  <a:t>如图所示，作用于一质点的力 随质点位移的变化为                                     ，请分别计算该力沿</a:t>
                </a:r>
                <a:r>
                  <a:rPr lang="en-US" altLang="zh-CN" sz="2400" b="1" dirty="0" err="1">
                    <a:solidFill>
                      <a:schemeClr val="bg1"/>
                    </a:solidFill>
                  </a:rPr>
                  <a:t>oab</a:t>
                </a:r>
                <a:r>
                  <a:rPr lang="zh-CN" altLang="en-US" sz="2400" b="1" dirty="0">
                    <a:solidFill>
                      <a:schemeClr val="bg1"/>
                    </a:solidFill>
                  </a:rPr>
                  <a:t>及</a:t>
                </a:r>
                <a:r>
                  <a:rPr lang="en-US" altLang="zh-CN" sz="2400" b="1" dirty="0" err="1">
                    <a:solidFill>
                      <a:schemeClr val="bg1"/>
                    </a:solidFill>
                  </a:rPr>
                  <a:t>ob</a:t>
                </a:r>
                <a:r>
                  <a:rPr lang="zh-CN" altLang="en-US" sz="2400" b="1" dirty="0">
                    <a:solidFill>
                      <a:schemeClr val="bg1"/>
                    </a:solidFill>
                  </a:rPr>
                  <a:t>所做的功。</a:t>
                </a:r>
              </a:p>
            </p:txBody>
          </p:sp>
          <p:graphicFrame>
            <p:nvGraphicFramePr>
              <p:cNvPr id="17416" name="对象 9">
                <a:extLst>
                  <a:ext uri="{FF2B5EF4-FFF2-40B4-BE49-F238E27FC236}">
                    <a16:creationId xmlns:a16="http://schemas.microsoft.com/office/drawing/2014/main" id="{E33B7DFD-2BF7-C106-0BA4-0F804C9B15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9672" y="765863"/>
              <a:ext cx="2285256" cy="5040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67893" imgH="253890" progId="Equation.DSMT4">
                      <p:embed/>
                    </p:oleObj>
                  </mc:Choice>
                  <mc:Fallback>
                    <p:oleObj name="Equation" r:id="rId2" imgW="1167893" imgH="253890" progId="Equation.DSMT4">
                      <p:embed/>
                      <p:pic>
                        <p:nvPicPr>
                          <p:cNvPr id="0" name="对象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9672" y="765863"/>
                            <a:ext cx="2285256" cy="50405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7414" name="图片 5">
              <a:extLst>
                <a:ext uri="{FF2B5EF4-FFF2-40B4-BE49-F238E27FC236}">
                  <a16:creationId xmlns:a16="http://schemas.microsoft.com/office/drawing/2014/main" id="{0A7D30F0-3805-016F-A0D4-140B42FFF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6176" y="316318"/>
              <a:ext cx="2881856" cy="1888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1" name="Rectangle 20">
            <a:extLst>
              <a:ext uri="{FF2B5EF4-FFF2-40B4-BE49-F238E27FC236}">
                <a16:creationId xmlns:a16="http://schemas.microsoft.com/office/drawing/2014/main" id="{F0D903A8-986B-7375-089D-1686083E5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22">
            <a:extLst>
              <a:ext uri="{FF2B5EF4-FFF2-40B4-BE49-F238E27FC236}">
                <a16:creationId xmlns:a16="http://schemas.microsoft.com/office/drawing/2014/main" id="{83AF7AB6-0E69-69D2-D0DF-05763DA95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01600"/>
            <a:ext cx="162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bg1"/>
                </a:solidFill>
              </a:rPr>
              <a:t>思考题：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BE4EEF1A-0C97-E1E7-D87C-F4AD74066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0350"/>
            <a:ext cx="4511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3.3</a:t>
            </a:r>
            <a:r>
              <a:rPr kumimoji="1"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动能定理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47E22B0B-71BC-8FD1-3707-547B91109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893763"/>
            <a:ext cx="413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质点动能定理</a:t>
            </a: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6500" name="Object 4">
            <a:extLst>
              <a:ext uri="{FF2B5EF4-FFF2-40B4-BE49-F238E27FC236}">
                <a16:creationId xmlns:a16="http://schemas.microsoft.com/office/drawing/2014/main" id="{CF8F4266-DA40-D9F1-E033-537473BA00E7}"/>
              </a:ext>
            </a:extLst>
          </p:cNvPr>
          <p:cNvGraphicFramePr>
            <a:graphicFrameLocks/>
          </p:cNvGraphicFramePr>
          <p:nvPr/>
        </p:nvGraphicFramePr>
        <p:xfrm>
          <a:off x="1490663" y="1773238"/>
          <a:ext cx="15732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88" imgH="266700" progId="Equation.3">
                  <p:embed/>
                </p:oleObj>
              </mc:Choice>
              <mc:Fallback>
                <p:oleObj name="Equation" r:id="rId2" imgW="1485988" imgH="2667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1773238"/>
                        <a:ext cx="15732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>
            <a:extLst>
              <a:ext uri="{FF2B5EF4-FFF2-40B4-BE49-F238E27FC236}">
                <a16:creationId xmlns:a16="http://schemas.microsoft.com/office/drawing/2014/main" id="{31B7CA66-034D-2ACF-EF6B-D0DD50BD002C}"/>
              </a:ext>
            </a:extLst>
          </p:cNvPr>
          <p:cNvGraphicFramePr>
            <a:graphicFrameLocks/>
          </p:cNvGraphicFramePr>
          <p:nvPr/>
        </p:nvGraphicFramePr>
        <p:xfrm>
          <a:off x="3170238" y="1557338"/>
          <a:ext cx="1571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88" imgH="723900" progId="Equation.3">
                  <p:embed/>
                </p:oleObj>
              </mc:Choice>
              <mc:Fallback>
                <p:oleObj name="Equation" r:id="rId4" imgW="1485988" imgH="723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1557338"/>
                        <a:ext cx="1571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6">
            <a:extLst>
              <a:ext uri="{FF2B5EF4-FFF2-40B4-BE49-F238E27FC236}">
                <a16:creationId xmlns:a16="http://schemas.microsoft.com/office/drawing/2014/main" id="{01176A26-720A-E0B9-0462-9B47E3CD76F0}"/>
              </a:ext>
            </a:extLst>
          </p:cNvPr>
          <p:cNvGraphicFramePr>
            <a:graphicFrameLocks/>
          </p:cNvGraphicFramePr>
          <p:nvPr/>
        </p:nvGraphicFramePr>
        <p:xfrm>
          <a:off x="4891088" y="1798638"/>
          <a:ext cx="13970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341" imgH="228600" progId="Equation.3">
                  <p:embed/>
                </p:oleObj>
              </mc:Choice>
              <mc:Fallback>
                <p:oleObj name="Equation" r:id="rId6" imgW="1295341" imgH="2286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088" y="1798638"/>
                        <a:ext cx="13970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7">
            <a:extLst>
              <a:ext uri="{FF2B5EF4-FFF2-40B4-BE49-F238E27FC236}">
                <a16:creationId xmlns:a16="http://schemas.microsoft.com/office/drawing/2014/main" id="{63A40ECB-E831-61AC-DA4E-AAE7C4D23634}"/>
              </a:ext>
            </a:extLst>
          </p:cNvPr>
          <p:cNvGraphicFramePr>
            <a:graphicFrameLocks/>
          </p:cNvGraphicFramePr>
          <p:nvPr/>
        </p:nvGraphicFramePr>
        <p:xfrm>
          <a:off x="6402388" y="1793875"/>
          <a:ext cx="1168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918" imgH="228600" progId="Equation.3">
                  <p:embed/>
                </p:oleObj>
              </mc:Choice>
              <mc:Fallback>
                <p:oleObj name="Equation" r:id="rId8" imgW="1066918" imgH="2286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1793875"/>
                        <a:ext cx="1168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8">
            <a:extLst>
              <a:ext uri="{FF2B5EF4-FFF2-40B4-BE49-F238E27FC236}">
                <a16:creationId xmlns:a16="http://schemas.microsoft.com/office/drawing/2014/main" id="{131B1396-E015-73C2-8F4C-9F09A822D91A}"/>
              </a:ext>
            </a:extLst>
          </p:cNvPr>
          <p:cNvGraphicFramePr>
            <a:graphicFrameLocks/>
          </p:cNvGraphicFramePr>
          <p:nvPr/>
        </p:nvGraphicFramePr>
        <p:xfrm>
          <a:off x="1498600" y="2586038"/>
          <a:ext cx="23225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8806" imgH="704850" progId="Equation.3">
                  <p:embed/>
                </p:oleObj>
              </mc:Choice>
              <mc:Fallback>
                <p:oleObj name="Equation" r:id="rId10" imgW="2228806" imgH="70485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2586038"/>
                        <a:ext cx="23225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>
            <a:extLst>
              <a:ext uri="{FF2B5EF4-FFF2-40B4-BE49-F238E27FC236}">
                <a16:creationId xmlns:a16="http://schemas.microsoft.com/office/drawing/2014/main" id="{00CEC60F-D297-8C75-B286-1CD6F5D8C268}"/>
              </a:ext>
            </a:extLst>
          </p:cNvPr>
          <p:cNvGraphicFramePr>
            <a:graphicFrameLocks/>
          </p:cNvGraphicFramePr>
          <p:nvPr/>
        </p:nvGraphicFramePr>
        <p:xfrm>
          <a:off x="1565275" y="3609975"/>
          <a:ext cx="44164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24512" imgH="723900" progId="Equation.3">
                  <p:embed/>
                </p:oleObj>
              </mc:Choice>
              <mc:Fallback>
                <p:oleObj name="Equation" r:id="rId12" imgW="4324512" imgH="7239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3609975"/>
                        <a:ext cx="4416425" cy="827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6" name="Text Box 10">
            <a:extLst>
              <a:ext uri="{FF2B5EF4-FFF2-40B4-BE49-F238E27FC236}">
                <a16:creationId xmlns:a16="http://schemas.microsoft.com/office/drawing/2014/main" id="{F0986145-356F-0A22-C33E-6CAA6B8C5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522788"/>
            <a:ext cx="8051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作用于质点的合力在某一路程中对质点所作的功，等于质点在同一路程的始、末两个状态动能的增量。</a:t>
            </a:r>
            <a:r>
              <a:rPr kumimoji="1" lang="zh-CN" altLang="en-US" sz="2400">
                <a:latin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2CC35088-DEE4-CFD9-BDE1-CD44804D2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96975"/>
            <a:ext cx="8640762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．动能是</a:t>
            </a:r>
            <a:r>
              <a:rPr kumimoji="1" lang="zh-CN" altLang="zh-CN" sz="2400" b="1">
                <a:solidFill>
                  <a:srgbClr val="FFC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标量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，是能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量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的一种表现形式。</a:t>
            </a:r>
          </a:p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．动能定理说明了作功与动能的关系。</a:t>
            </a:r>
          </a:p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即：合力作正功时（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A&gt;0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），质点动能增加；【加速】</a:t>
            </a:r>
          </a:p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 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合力作负功时（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A&lt;0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），质点动能减少。【减速】</a:t>
            </a:r>
          </a:p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．方程左边的结果取决于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F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的具体函数形式，与力对质点的作用过程相关。</a:t>
            </a:r>
            <a:endParaRPr kumimoji="1" lang="en-US" altLang="zh-CN" sz="2400" b="1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Aft>
                <a:spcPts val="1200"/>
              </a:spcAft>
            </a:pP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∴</a:t>
            </a:r>
            <a:r>
              <a:rPr kumimoji="1" lang="zh-CN" altLang="zh-CN" sz="2400" b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功是过程量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；</a:t>
            </a:r>
          </a:p>
          <a:p>
            <a:pPr>
              <a:spcAft>
                <a:spcPts val="1200"/>
              </a:spcAft>
            </a:pP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方程右边与过程无关，只由始末运动状态确定。</a:t>
            </a:r>
            <a:endParaRPr kumimoji="1" lang="en-US" altLang="zh-CN" sz="2400" b="1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spcAft>
                <a:spcPts val="1200"/>
              </a:spcAft>
            </a:pP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∴</a:t>
            </a:r>
            <a:r>
              <a:rPr kumimoji="1" lang="zh-CN" altLang="zh-CN" sz="2400" b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动能是状态量</a:t>
            </a:r>
            <a:r>
              <a:rPr kumimoji="1" lang="zh-CN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5A22507D-DBFB-FDAF-D2D6-9E4CDFF04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81688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4.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动能定律只用于惯性系。</a:t>
            </a: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ED0A2AE3-E3EC-A27E-896C-36F61CCE6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8613"/>
            <a:ext cx="1420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C000"/>
                </a:solidFill>
              </a:rPr>
              <a:t>说明：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>
            <a:extLst>
              <a:ext uri="{FF2B5EF4-FFF2-40B4-BE49-F238E27FC236}">
                <a16:creationId xmlns:a16="http://schemas.microsoft.com/office/drawing/2014/main" id="{4530B7B4-9764-BA9B-8311-2215355E6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3" y="52388"/>
            <a:ext cx="81375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</a:rPr>
              <a:t>书中例题 </a:t>
            </a:r>
            <a:r>
              <a:rPr lang="en-US" altLang="zh-CN" sz="2000" b="1">
                <a:solidFill>
                  <a:schemeClr val="bg1"/>
                </a:solidFill>
              </a:rPr>
              <a:t>3.5 P103 </a:t>
            </a:r>
          </a:p>
          <a:p>
            <a:pPr eaLnBrk="1" hangingPunct="1"/>
            <a:r>
              <a:rPr lang="en-US" altLang="zh-CN" sz="2000" b="1">
                <a:solidFill>
                  <a:schemeClr val="bg1"/>
                </a:solidFill>
              </a:rPr>
              <a:t> </a:t>
            </a:r>
            <a:r>
              <a:rPr lang="zh-CN" altLang="en-US" sz="2000" b="1">
                <a:solidFill>
                  <a:schemeClr val="bg1"/>
                </a:solidFill>
              </a:rPr>
              <a:t>物体的质量为</a:t>
            </a:r>
            <a:r>
              <a:rPr lang="en-US" altLang="zh-CN" sz="2000" b="1" i="1">
                <a:solidFill>
                  <a:schemeClr val="bg1"/>
                </a:solidFill>
              </a:rPr>
              <a:t>m</a:t>
            </a:r>
            <a:r>
              <a:rPr lang="zh-CN" altLang="en-US" sz="2000" b="1">
                <a:solidFill>
                  <a:schemeClr val="bg1"/>
                </a:solidFill>
              </a:rPr>
              <a:t>，弹簧劲度系数为</a:t>
            </a:r>
            <a:r>
              <a:rPr lang="en-US" altLang="zh-CN" sz="2000" b="1" i="1">
                <a:solidFill>
                  <a:schemeClr val="bg1"/>
                </a:solidFill>
              </a:rPr>
              <a:t>k</a:t>
            </a:r>
            <a:r>
              <a:rPr lang="zh-CN" altLang="en-US" sz="2000" b="1">
                <a:solidFill>
                  <a:schemeClr val="bg1"/>
                </a:solidFill>
              </a:rPr>
              <a:t>，</a:t>
            </a:r>
            <a:r>
              <a:rPr lang="en-US" altLang="zh-CN" sz="2000" b="1">
                <a:solidFill>
                  <a:schemeClr val="bg1"/>
                </a:solidFill>
              </a:rPr>
              <a:t>A</a:t>
            </a:r>
            <a:r>
              <a:rPr lang="zh-CN" altLang="en-US" sz="2000" b="1">
                <a:solidFill>
                  <a:schemeClr val="bg1"/>
                </a:solidFill>
              </a:rPr>
              <a:t>板及弹簧质量不计，求自弹簧原长</a:t>
            </a:r>
            <a:r>
              <a:rPr lang="en-US" altLang="zh-CN" sz="2000" b="1">
                <a:solidFill>
                  <a:schemeClr val="bg1"/>
                </a:solidFill>
              </a:rPr>
              <a:t>O</a:t>
            </a:r>
            <a:r>
              <a:rPr lang="zh-CN" altLang="en-US" sz="2000" b="1">
                <a:solidFill>
                  <a:schemeClr val="bg1"/>
                </a:solidFill>
              </a:rPr>
              <a:t>处，突然无初速度地加上物体</a:t>
            </a:r>
            <a:r>
              <a:rPr lang="en-US" altLang="zh-CN" sz="2000" b="1" i="1">
                <a:solidFill>
                  <a:schemeClr val="bg1"/>
                </a:solidFill>
              </a:rPr>
              <a:t>M</a:t>
            </a:r>
            <a:r>
              <a:rPr lang="zh-CN" altLang="en-US" sz="2000" b="1">
                <a:solidFill>
                  <a:schemeClr val="bg1"/>
                </a:solidFill>
              </a:rPr>
              <a:t>时，弹簧的最大压缩量。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372FAE4C-3F6D-B3B4-2F84-86D750185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1077913"/>
            <a:ext cx="3309937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5" name="Picture 3">
            <a:extLst>
              <a:ext uri="{FF2B5EF4-FFF2-40B4-BE49-F238E27FC236}">
                <a16:creationId xmlns:a16="http://schemas.microsoft.com/office/drawing/2014/main" id="{57F0DCF7-1C20-DED2-457E-75EFEE136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8388"/>
            <a:ext cx="5629275" cy="241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>
            <a:extLst>
              <a:ext uri="{FF2B5EF4-FFF2-40B4-BE49-F238E27FC236}">
                <a16:creationId xmlns:a16="http://schemas.microsoft.com/office/drawing/2014/main" id="{6AF409AC-FEE5-7941-0C69-6CA0DF7EC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2025"/>
            <a:ext cx="562927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7" name="Picture 5">
            <a:extLst>
              <a:ext uri="{FF2B5EF4-FFF2-40B4-BE49-F238E27FC236}">
                <a16:creationId xmlns:a16="http://schemas.microsoft.com/office/drawing/2014/main" id="{64F60014-6586-247C-C798-94F695756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0" y="4308475"/>
            <a:ext cx="1824038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E6395EB6-6814-10F2-5E5A-58A865F06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5229225"/>
            <a:ext cx="575945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1E7116C4-C006-F2D1-7633-83942899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317500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质点系动能定律</a:t>
            </a:r>
          </a:p>
        </p:txBody>
      </p:sp>
      <p:sp>
        <p:nvSpPr>
          <p:cNvPr id="107523" name="Text Box 3">
            <a:extLst>
              <a:ext uri="{FF2B5EF4-FFF2-40B4-BE49-F238E27FC236}">
                <a16:creationId xmlns:a16="http://schemas.microsoft.com/office/drawing/2014/main" id="{D2F4AE48-428F-CB5D-D1BF-9A64E1C70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693738"/>
            <a:ext cx="57261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把质点动能定理应用于质点系内所有质点并把所得方程相加有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 </a:t>
            </a:r>
          </a:p>
        </p:txBody>
      </p:sp>
      <p:graphicFrame>
        <p:nvGraphicFramePr>
          <p:cNvPr id="107524" name="Object 4">
            <a:extLst>
              <a:ext uri="{FF2B5EF4-FFF2-40B4-BE49-F238E27FC236}">
                <a16:creationId xmlns:a16="http://schemas.microsoft.com/office/drawing/2014/main" id="{2902CB00-0D67-D4BD-944D-CCF056CCA23C}"/>
              </a:ext>
            </a:extLst>
          </p:cNvPr>
          <p:cNvGraphicFramePr>
            <a:graphicFrameLocks/>
          </p:cNvGraphicFramePr>
          <p:nvPr/>
        </p:nvGraphicFramePr>
        <p:xfrm>
          <a:off x="857250" y="1665288"/>
          <a:ext cx="41386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8541" imgH="800100" progId="Equation.3">
                  <p:embed/>
                </p:oleObj>
              </mc:Choice>
              <mc:Fallback>
                <p:oleObj name="Equation" r:id="rId2" imgW="4038541" imgH="8001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665288"/>
                        <a:ext cx="4138613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>
            <a:extLst>
              <a:ext uri="{FF2B5EF4-FFF2-40B4-BE49-F238E27FC236}">
                <a16:creationId xmlns:a16="http://schemas.microsoft.com/office/drawing/2014/main" id="{7D9516C1-780F-B498-CC6C-B602884447F6}"/>
              </a:ext>
            </a:extLst>
          </p:cNvPr>
          <p:cNvGraphicFramePr>
            <a:graphicFrameLocks/>
          </p:cNvGraphicFramePr>
          <p:nvPr/>
        </p:nvGraphicFramePr>
        <p:xfrm>
          <a:off x="838200" y="2708275"/>
          <a:ext cx="3300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628650" progId="Equation.3">
                  <p:embed/>
                </p:oleObj>
              </mc:Choice>
              <mc:Fallback>
                <p:oleObj name="Equation" r:id="rId4" imgW="3200400" imgH="62865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08275"/>
                        <a:ext cx="3300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Freeform 6">
            <a:extLst>
              <a:ext uri="{FF2B5EF4-FFF2-40B4-BE49-F238E27FC236}">
                <a16:creationId xmlns:a16="http://schemas.microsoft.com/office/drawing/2014/main" id="{522972C6-A277-608A-A938-FC23F1D07842}"/>
              </a:ext>
            </a:extLst>
          </p:cNvPr>
          <p:cNvSpPr>
            <a:spLocks/>
          </p:cNvSpPr>
          <p:nvPr/>
        </p:nvSpPr>
        <p:spPr bwMode="auto">
          <a:xfrm>
            <a:off x="6067425" y="1296988"/>
            <a:ext cx="2362200" cy="2374900"/>
          </a:xfrm>
          <a:custGeom>
            <a:avLst/>
            <a:gdLst>
              <a:gd name="T0" fmla="*/ 2147483646 w 1704"/>
              <a:gd name="T1" fmla="*/ 2147483646 h 1504"/>
              <a:gd name="T2" fmla="*/ 2147483646 w 1704"/>
              <a:gd name="T3" fmla="*/ 2147483646 h 1504"/>
              <a:gd name="T4" fmla="*/ 2147483646 w 1704"/>
              <a:gd name="T5" fmla="*/ 2147483646 h 1504"/>
              <a:gd name="T6" fmla="*/ 2147483646 w 1704"/>
              <a:gd name="T7" fmla="*/ 2147483646 h 1504"/>
              <a:gd name="T8" fmla="*/ 2147483646 w 1704"/>
              <a:gd name="T9" fmla="*/ 2147483646 h 1504"/>
              <a:gd name="T10" fmla="*/ 2147483646 w 1704"/>
              <a:gd name="T11" fmla="*/ 2147483646 h 1504"/>
              <a:gd name="T12" fmla="*/ 2147483646 w 1704"/>
              <a:gd name="T13" fmla="*/ 2147483646 h 15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04" h="1504">
                <a:moveTo>
                  <a:pt x="816" y="8"/>
                </a:moveTo>
                <a:cubicBezTo>
                  <a:pt x="600" y="0"/>
                  <a:pt x="352" y="56"/>
                  <a:pt x="240" y="248"/>
                </a:cubicBezTo>
                <a:cubicBezTo>
                  <a:pt x="128" y="440"/>
                  <a:pt x="0" y="960"/>
                  <a:pt x="144" y="1160"/>
                </a:cubicBezTo>
                <a:cubicBezTo>
                  <a:pt x="288" y="1360"/>
                  <a:pt x="856" y="1504"/>
                  <a:pt x="1104" y="1448"/>
                </a:cubicBezTo>
                <a:cubicBezTo>
                  <a:pt x="1352" y="1392"/>
                  <a:pt x="1560" y="1016"/>
                  <a:pt x="1632" y="824"/>
                </a:cubicBezTo>
                <a:cubicBezTo>
                  <a:pt x="1704" y="632"/>
                  <a:pt x="1672" y="432"/>
                  <a:pt x="1536" y="296"/>
                </a:cubicBezTo>
                <a:cubicBezTo>
                  <a:pt x="1400" y="160"/>
                  <a:pt x="1032" y="16"/>
                  <a:pt x="816" y="8"/>
                </a:cubicBezTo>
                <a:close/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7527" name="Group 7">
            <a:extLst>
              <a:ext uri="{FF2B5EF4-FFF2-40B4-BE49-F238E27FC236}">
                <a16:creationId xmlns:a16="http://schemas.microsoft.com/office/drawing/2014/main" id="{73A68A16-091B-4623-EC92-2843408FF207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600200"/>
            <a:ext cx="1358900" cy="493713"/>
            <a:chOff x="4080" y="1008"/>
            <a:chExt cx="856" cy="311"/>
          </a:xfrm>
        </p:grpSpPr>
        <p:sp>
          <p:nvSpPr>
            <p:cNvPr id="21565" name="Oval 8">
              <a:extLst>
                <a:ext uri="{FF2B5EF4-FFF2-40B4-BE49-F238E27FC236}">
                  <a16:creationId xmlns:a16="http://schemas.microsoft.com/office/drawing/2014/main" id="{605FCD87-81BA-442B-A2C2-73B587440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1105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66" name="Line 9">
              <a:extLst>
                <a:ext uri="{FF2B5EF4-FFF2-40B4-BE49-F238E27FC236}">
                  <a16:creationId xmlns:a16="http://schemas.microsoft.com/office/drawing/2014/main" id="{4BC46768-6BEE-37F0-31CA-E4998D012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4" y="1153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67" name="Object 10">
              <a:extLst>
                <a:ext uri="{FF2B5EF4-FFF2-40B4-BE49-F238E27FC236}">
                  <a16:creationId xmlns:a16="http://schemas.microsoft.com/office/drawing/2014/main" id="{3170ADBE-40FD-52A3-CD8C-54869AF00AF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0" y="1056"/>
            <a:ext cx="22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55446" imgH="418918" progId="Equation.3">
                    <p:embed/>
                  </p:oleObj>
                </mc:Choice>
                <mc:Fallback>
                  <p:oleObj name="Equation" r:id="rId6" imgW="355446" imgH="418918" progId="Equation.3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056"/>
                          <a:ext cx="22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8" name="Object 11">
              <a:extLst>
                <a:ext uri="{FF2B5EF4-FFF2-40B4-BE49-F238E27FC236}">
                  <a16:creationId xmlns:a16="http://schemas.microsoft.com/office/drawing/2014/main" id="{D64B5D85-875C-25E9-B431-6BB2E30FCA7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52" y="1008"/>
            <a:ext cx="18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647" imgH="323850" progId="Equation.3">
                    <p:embed/>
                  </p:oleObj>
                </mc:Choice>
                <mc:Fallback>
                  <p:oleObj name="Equation" r:id="rId8" imgW="190647" imgH="323850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008"/>
                          <a:ext cx="18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532" name="Group 12">
            <a:extLst>
              <a:ext uri="{FF2B5EF4-FFF2-40B4-BE49-F238E27FC236}">
                <a16:creationId xmlns:a16="http://schemas.microsoft.com/office/drawing/2014/main" id="{0576CD4B-301A-EC76-5E8B-EF927908B24B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100263"/>
            <a:ext cx="990600" cy="717550"/>
            <a:chOff x="3984" y="1323"/>
            <a:chExt cx="624" cy="452"/>
          </a:xfrm>
        </p:grpSpPr>
        <p:sp>
          <p:nvSpPr>
            <p:cNvPr id="21561" name="Oval 13">
              <a:extLst>
                <a:ext uri="{FF2B5EF4-FFF2-40B4-BE49-F238E27FC236}">
                  <a16:creationId xmlns:a16="http://schemas.microsoft.com/office/drawing/2014/main" id="{5FBD74EC-76EF-8FFC-61F2-5E4869CD4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489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62" name="Object 14">
              <a:extLst>
                <a:ext uri="{FF2B5EF4-FFF2-40B4-BE49-F238E27FC236}">
                  <a16:creationId xmlns:a16="http://schemas.microsoft.com/office/drawing/2014/main" id="{60E15889-1463-F428-183E-9E492F575F9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84" y="1512"/>
            <a:ext cx="24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3529" imgH="418918" progId="Equation.3">
                    <p:embed/>
                  </p:oleObj>
                </mc:Choice>
                <mc:Fallback>
                  <p:oleObj name="Equation" r:id="rId10" imgW="393529" imgH="418918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512"/>
                          <a:ext cx="247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3" name="Line 15">
              <a:extLst>
                <a:ext uri="{FF2B5EF4-FFF2-40B4-BE49-F238E27FC236}">
                  <a16:creationId xmlns:a16="http://schemas.microsoft.com/office/drawing/2014/main" id="{44AB0D94-4B47-EB49-8362-701B4C191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9" y="1323"/>
              <a:ext cx="192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64" name="Object 16">
              <a:extLst>
                <a:ext uri="{FF2B5EF4-FFF2-40B4-BE49-F238E27FC236}">
                  <a16:creationId xmlns:a16="http://schemas.microsoft.com/office/drawing/2014/main" id="{E4367D90-B84F-50FB-911C-1875C2626F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99" y="1369"/>
            <a:ext cx="20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777" imgH="323850" progId="Equation.3">
                    <p:embed/>
                  </p:oleObj>
                </mc:Choice>
                <mc:Fallback>
                  <p:oleObj name="Equation" r:id="rId12" imgW="228777" imgH="323850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9" y="1369"/>
                          <a:ext cx="20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537" name="Group 17">
            <a:extLst>
              <a:ext uri="{FF2B5EF4-FFF2-40B4-BE49-F238E27FC236}">
                <a16:creationId xmlns:a16="http://schemas.microsoft.com/office/drawing/2014/main" id="{8A0D828E-49AE-A27F-98CB-5CE9770B8A36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2895600"/>
            <a:ext cx="1003300" cy="666750"/>
            <a:chOff x="4080" y="1824"/>
            <a:chExt cx="632" cy="420"/>
          </a:xfrm>
        </p:grpSpPr>
        <p:sp>
          <p:nvSpPr>
            <p:cNvPr id="21557" name="Oval 18">
              <a:extLst>
                <a:ext uri="{FF2B5EF4-FFF2-40B4-BE49-F238E27FC236}">
                  <a16:creationId xmlns:a16="http://schemas.microsoft.com/office/drawing/2014/main" id="{7289604A-6356-8672-5E0C-F3501A528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1873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8" name="Line 19">
              <a:extLst>
                <a:ext uri="{FF2B5EF4-FFF2-40B4-BE49-F238E27FC236}">
                  <a16:creationId xmlns:a16="http://schemas.microsoft.com/office/drawing/2014/main" id="{F87CC869-BFEF-63E6-58AF-21B0A45D7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4" y="1921"/>
              <a:ext cx="288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9" name="Object 20">
              <a:extLst>
                <a:ext uri="{FF2B5EF4-FFF2-40B4-BE49-F238E27FC236}">
                  <a16:creationId xmlns:a16="http://schemas.microsoft.com/office/drawing/2014/main" id="{FAED82BA-0113-51BA-93FD-E6E35A25E9F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0" y="182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0835" imgH="431613" progId="Equation.3">
                    <p:embed/>
                  </p:oleObj>
                </mc:Choice>
                <mc:Fallback>
                  <p:oleObj name="Equation" r:id="rId14" imgW="380835" imgH="431613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82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0" name="Object 21">
              <a:extLst>
                <a:ext uri="{FF2B5EF4-FFF2-40B4-BE49-F238E27FC236}">
                  <a16:creationId xmlns:a16="http://schemas.microsoft.com/office/drawing/2014/main" id="{E373BE96-86F6-187E-36B9-295F6F8FA6D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79" y="1972"/>
            <a:ext cx="19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28777" imgH="342900" progId="Equation.3">
                    <p:embed/>
                  </p:oleObj>
                </mc:Choice>
                <mc:Fallback>
                  <p:oleObj name="Equation" r:id="rId16" imgW="228777" imgH="342900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9" y="1972"/>
                          <a:ext cx="199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542" name="Group 22">
            <a:extLst>
              <a:ext uri="{FF2B5EF4-FFF2-40B4-BE49-F238E27FC236}">
                <a16:creationId xmlns:a16="http://schemas.microsoft.com/office/drawing/2014/main" id="{7185FC81-6BE2-5165-DC90-8EB828D7CAEA}"/>
              </a:ext>
            </a:extLst>
          </p:cNvPr>
          <p:cNvGrpSpPr>
            <a:grpSpLocks/>
          </p:cNvGrpSpPr>
          <p:nvPr/>
        </p:nvGrpSpPr>
        <p:grpSpPr bwMode="auto">
          <a:xfrm>
            <a:off x="6964363" y="1982788"/>
            <a:ext cx="903287" cy="1027112"/>
            <a:chOff x="4387" y="1249"/>
            <a:chExt cx="569" cy="647"/>
          </a:xfrm>
        </p:grpSpPr>
        <p:sp>
          <p:nvSpPr>
            <p:cNvPr id="21553" name="Oval 23">
              <a:extLst>
                <a:ext uri="{FF2B5EF4-FFF2-40B4-BE49-F238E27FC236}">
                  <a16:creationId xmlns:a16="http://schemas.microsoft.com/office/drawing/2014/main" id="{4C713F5C-1BD7-AA78-2B0A-FC64A77C5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1489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4" name="Line 24">
              <a:extLst>
                <a:ext uri="{FF2B5EF4-FFF2-40B4-BE49-F238E27FC236}">
                  <a16:creationId xmlns:a16="http://schemas.microsoft.com/office/drawing/2014/main" id="{D292A6F4-DD90-66AD-084E-2C15C1B5C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0" y="1574"/>
              <a:ext cx="144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5" name="Object 25">
              <a:extLst>
                <a:ext uri="{FF2B5EF4-FFF2-40B4-BE49-F238E27FC236}">
                  <a16:creationId xmlns:a16="http://schemas.microsoft.com/office/drawing/2014/main" id="{4FB10E28-782F-A0A5-A4B2-606FF911F79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09" y="1249"/>
            <a:ext cx="24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3529" imgH="418918" progId="Equation.3">
                    <p:embed/>
                  </p:oleObj>
                </mc:Choice>
                <mc:Fallback>
                  <p:oleObj name="Equation" r:id="rId18" imgW="393529" imgH="418918" progId="Equation.3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9" y="1249"/>
                          <a:ext cx="247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6" name="Object 26">
              <a:extLst>
                <a:ext uri="{FF2B5EF4-FFF2-40B4-BE49-F238E27FC236}">
                  <a16:creationId xmlns:a16="http://schemas.microsoft.com/office/drawing/2014/main" id="{5A5C5559-8845-7207-CD20-6406A7C500D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87" y="1633"/>
            <a:ext cx="20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28777" imgH="323850" progId="Equation.3">
                    <p:embed/>
                  </p:oleObj>
                </mc:Choice>
                <mc:Fallback>
                  <p:oleObj name="Equation" r:id="rId20" imgW="228777" imgH="323850" progId="Equation.3">
                    <p:embed/>
                    <p:pic>
                      <p:nvPicPr>
                        <p:cNvPr id="0" name="Object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1633"/>
                          <a:ext cx="20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547" name="Group 27">
            <a:extLst>
              <a:ext uri="{FF2B5EF4-FFF2-40B4-BE49-F238E27FC236}">
                <a16:creationId xmlns:a16="http://schemas.microsoft.com/office/drawing/2014/main" id="{E7BFF4DE-9E70-C2FD-F26F-9091793F96B6}"/>
              </a:ext>
            </a:extLst>
          </p:cNvPr>
          <p:cNvGrpSpPr>
            <a:grpSpLocks/>
          </p:cNvGrpSpPr>
          <p:nvPr/>
        </p:nvGrpSpPr>
        <p:grpSpPr bwMode="auto">
          <a:xfrm>
            <a:off x="7708900" y="2439988"/>
            <a:ext cx="152400" cy="609600"/>
            <a:chOff x="5040" y="2592"/>
            <a:chExt cx="96" cy="384"/>
          </a:xfrm>
        </p:grpSpPr>
        <p:sp>
          <p:nvSpPr>
            <p:cNvPr id="21551" name="Oval 28">
              <a:extLst>
                <a:ext uri="{FF2B5EF4-FFF2-40B4-BE49-F238E27FC236}">
                  <a16:creationId xmlns:a16="http://schemas.microsoft.com/office/drawing/2014/main" id="{847FA97A-FCD8-FEB8-8504-639CC754C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880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52" name="Line 29">
              <a:extLst>
                <a:ext uri="{FF2B5EF4-FFF2-40B4-BE49-F238E27FC236}">
                  <a16:creationId xmlns:a16="http://schemas.microsoft.com/office/drawing/2014/main" id="{AE8D5DF9-DAFF-F1CD-D941-43F389468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592"/>
              <a:ext cx="0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50" name="Text Box 30">
            <a:extLst>
              <a:ext uri="{FF2B5EF4-FFF2-40B4-BE49-F238E27FC236}">
                <a16:creationId xmlns:a16="http://schemas.microsoft.com/office/drawing/2014/main" id="{E35064CA-3D30-DE8B-C27F-8724BED0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3863975"/>
            <a:ext cx="41116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内力和为零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内力功的和是否为零？</a:t>
            </a:r>
          </a:p>
        </p:txBody>
      </p:sp>
      <p:sp>
        <p:nvSpPr>
          <p:cNvPr id="107551" name="Text Box 31">
            <a:extLst>
              <a:ext uri="{FF2B5EF4-FFF2-40B4-BE49-F238E27FC236}">
                <a16:creationId xmlns:a16="http://schemas.microsoft.com/office/drawing/2014/main" id="{FB4F85F5-8515-15C0-5CD1-85F1E380E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4381500"/>
            <a:ext cx="2835275" cy="457200"/>
          </a:xfrm>
          <a:prstGeom prst="rect">
            <a:avLst/>
          </a:prstGeom>
          <a:solidFill>
            <a:srgbClr val="00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不一定为零</a:t>
            </a:r>
            <a:endParaRPr kumimoji="1" lang="zh-CN" altLang="en-US" sz="2400">
              <a:solidFill>
                <a:srgbClr val="66FFFF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107552" name="Object 32">
            <a:extLst>
              <a:ext uri="{FF2B5EF4-FFF2-40B4-BE49-F238E27FC236}">
                <a16:creationId xmlns:a16="http://schemas.microsoft.com/office/drawing/2014/main" id="{DA1F81F8-E9AE-D7AE-C115-BFBF525FBCFA}"/>
              </a:ext>
            </a:extLst>
          </p:cNvPr>
          <p:cNvGraphicFramePr>
            <a:graphicFrameLocks/>
          </p:cNvGraphicFramePr>
          <p:nvPr/>
        </p:nvGraphicFramePr>
        <p:xfrm>
          <a:off x="989013" y="4894263"/>
          <a:ext cx="1295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00018" imgH="342900" progId="Equation.3">
                  <p:embed/>
                </p:oleObj>
              </mc:Choice>
              <mc:Fallback>
                <p:oleObj name="Equation" r:id="rId22" imgW="1200018" imgH="342900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4894263"/>
                        <a:ext cx="1295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3" name="Object 33">
            <a:extLst>
              <a:ext uri="{FF2B5EF4-FFF2-40B4-BE49-F238E27FC236}">
                <a16:creationId xmlns:a16="http://schemas.microsoft.com/office/drawing/2014/main" id="{04B2589F-1D1E-8E5E-5DA7-7A21E1C084CF}"/>
              </a:ext>
            </a:extLst>
          </p:cNvPr>
          <p:cNvGraphicFramePr>
            <a:graphicFrameLocks/>
          </p:cNvGraphicFramePr>
          <p:nvPr/>
        </p:nvGraphicFramePr>
        <p:xfrm>
          <a:off x="3435350" y="4876800"/>
          <a:ext cx="12303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3177" imgH="419100" progId="Equation.3">
                  <p:embed/>
                </p:oleObj>
              </mc:Choice>
              <mc:Fallback>
                <p:oleObj name="Equation" r:id="rId24" imgW="1143177" imgH="419100" progId="Equation.3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4876800"/>
                        <a:ext cx="12303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4" name="Object 34">
            <a:extLst>
              <a:ext uri="{FF2B5EF4-FFF2-40B4-BE49-F238E27FC236}">
                <a16:creationId xmlns:a16="http://schemas.microsoft.com/office/drawing/2014/main" id="{A3E24EDE-1D69-FF6A-D7DF-B2CF9B104D89}"/>
              </a:ext>
            </a:extLst>
          </p:cNvPr>
          <p:cNvGraphicFramePr>
            <a:graphicFrameLocks/>
          </p:cNvGraphicFramePr>
          <p:nvPr/>
        </p:nvGraphicFramePr>
        <p:xfrm>
          <a:off x="989013" y="5521325"/>
          <a:ext cx="1471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71600" imgH="304800" progId="Equation.3">
                  <p:embed/>
                </p:oleObj>
              </mc:Choice>
              <mc:Fallback>
                <p:oleObj name="Equation" r:id="rId26" imgW="1371600" imgH="304800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5521325"/>
                        <a:ext cx="14716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5" name="Object 35">
            <a:extLst>
              <a:ext uri="{FF2B5EF4-FFF2-40B4-BE49-F238E27FC236}">
                <a16:creationId xmlns:a16="http://schemas.microsoft.com/office/drawing/2014/main" id="{5E1CF86F-3B9C-110C-B1C5-8BBE4DF6C1AF}"/>
              </a:ext>
            </a:extLst>
          </p:cNvPr>
          <p:cNvGraphicFramePr>
            <a:graphicFrameLocks/>
          </p:cNvGraphicFramePr>
          <p:nvPr/>
        </p:nvGraphicFramePr>
        <p:xfrm>
          <a:off x="3214688" y="5519738"/>
          <a:ext cx="1346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57212" imgH="304800" progId="Equation.3">
                  <p:embed/>
                </p:oleObj>
              </mc:Choice>
              <mc:Fallback>
                <p:oleObj name="Equation" r:id="rId28" imgW="1257212" imgH="304800" progId="Equation.3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5519738"/>
                        <a:ext cx="1346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6" name="Object 36">
            <a:extLst>
              <a:ext uri="{FF2B5EF4-FFF2-40B4-BE49-F238E27FC236}">
                <a16:creationId xmlns:a16="http://schemas.microsoft.com/office/drawing/2014/main" id="{22009725-BEB0-2104-33B1-7849D8C824C8}"/>
              </a:ext>
            </a:extLst>
          </p:cNvPr>
          <p:cNvGraphicFramePr>
            <a:graphicFrameLocks/>
          </p:cNvGraphicFramePr>
          <p:nvPr/>
        </p:nvGraphicFramePr>
        <p:xfrm>
          <a:off x="981075" y="6037263"/>
          <a:ext cx="259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95712" imgH="419100" progId="Equation.3">
                  <p:embed/>
                </p:oleObj>
              </mc:Choice>
              <mc:Fallback>
                <p:oleObj name="Equation" r:id="rId30" imgW="2495712" imgH="419100" progId="Equation.3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6037263"/>
                        <a:ext cx="2590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557" name="Group 37">
            <a:extLst>
              <a:ext uri="{FF2B5EF4-FFF2-40B4-BE49-F238E27FC236}">
                <a16:creationId xmlns:a16="http://schemas.microsoft.com/office/drawing/2014/main" id="{600BCB62-DA19-CDCD-5815-E5B646125BD5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324350"/>
            <a:ext cx="3276600" cy="1008063"/>
            <a:chOff x="3522" y="1968"/>
            <a:chExt cx="2064" cy="635"/>
          </a:xfrm>
        </p:grpSpPr>
        <p:sp>
          <p:nvSpPr>
            <p:cNvPr id="21544" name="Line 38">
              <a:extLst>
                <a:ext uri="{FF2B5EF4-FFF2-40B4-BE49-F238E27FC236}">
                  <a16:creationId xmlns:a16="http://schemas.microsoft.com/office/drawing/2014/main" id="{E5A257B6-205D-EC1A-5A60-2782994B8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603"/>
              <a:ext cx="2064" cy="0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45" name="Group 39">
              <a:extLst>
                <a:ext uri="{FF2B5EF4-FFF2-40B4-BE49-F238E27FC236}">
                  <a16:creationId xmlns:a16="http://schemas.microsoft.com/office/drawing/2014/main" id="{93C8F3F4-3FF8-422A-9158-64699DB1A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245"/>
              <a:ext cx="480" cy="336"/>
              <a:chOff x="3648" y="2245"/>
              <a:chExt cx="480" cy="336"/>
            </a:xfrm>
          </p:grpSpPr>
          <p:sp>
            <p:nvSpPr>
              <p:cNvPr id="21549" name="Rectangle 40">
                <a:extLst>
                  <a:ext uri="{FF2B5EF4-FFF2-40B4-BE49-F238E27FC236}">
                    <a16:creationId xmlns:a16="http://schemas.microsoft.com/office/drawing/2014/main" id="{8EAB3F8D-6656-B370-9EDF-9878AD995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45"/>
                <a:ext cx="480" cy="336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FF99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50" name="Text Box 41">
                <a:extLst>
                  <a:ext uri="{FF2B5EF4-FFF2-40B4-BE49-F238E27FC236}">
                    <a16:creationId xmlns:a16="http://schemas.microsoft.com/office/drawing/2014/main" id="{051CF165-601F-6012-692D-51469D85B0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7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21546" name="Group 42">
              <a:extLst>
                <a:ext uri="{FF2B5EF4-FFF2-40B4-BE49-F238E27FC236}">
                  <a16:creationId xmlns:a16="http://schemas.microsoft.com/office/drawing/2014/main" id="{AF7264C8-D471-6F74-2B79-165AF1AE3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968"/>
              <a:ext cx="288" cy="288"/>
              <a:chOff x="3840" y="1968"/>
              <a:chExt cx="288" cy="288"/>
            </a:xfrm>
          </p:grpSpPr>
          <p:sp>
            <p:nvSpPr>
              <p:cNvPr id="21547" name="Rectangle 43">
                <a:extLst>
                  <a:ext uri="{FF2B5EF4-FFF2-40B4-BE49-F238E27FC236}">
                    <a16:creationId xmlns:a16="http://schemas.microsoft.com/office/drawing/2014/main" id="{B7ED8573-6A22-2586-E692-DEDC79154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994"/>
                <a:ext cx="288" cy="24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48" name="Text Box 44">
                <a:extLst>
                  <a:ext uri="{FF2B5EF4-FFF2-40B4-BE49-F238E27FC236}">
                    <a16:creationId xmlns:a16="http://schemas.microsoft.com/office/drawing/2014/main" id="{4823310D-2061-0E70-70E7-14BF52B269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2" y="19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107565" name="Line 45">
            <a:extLst>
              <a:ext uri="{FF2B5EF4-FFF2-40B4-BE49-F238E27FC236}">
                <a16:creationId xmlns:a16="http://schemas.microsoft.com/office/drawing/2014/main" id="{09FA8205-4020-864A-361C-5A67800536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9225" y="4759325"/>
            <a:ext cx="914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6" name="Line 46">
            <a:extLst>
              <a:ext uri="{FF2B5EF4-FFF2-40B4-BE49-F238E27FC236}">
                <a16:creationId xmlns:a16="http://schemas.microsoft.com/office/drawing/2014/main" id="{F388178C-12BE-D291-B56B-C39C8E717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3625" y="4759325"/>
            <a:ext cx="914400" cy="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7567" name="Object 47">
            <a:extLst>
              <a:ext uri="{FF2B5EF4-FFF2-40B4-BE49-F238E27FC236}">
                <a16:creationId xmlns:a16="http://schemas.microsoft.com/office/drawing/2014/main" id="{A70A1825-7ADC-0B0F-C903-C1A3C7B4B404}"/>
              </a:ext>
            </a:extLst>
          </p:cNvPr>
          <p:cNvGraphicFramePr>
            <a:graphicFrameLocks/>
          </p:cNvGraphicFramePr>
          <p:nvPr/>
        </p:nvGraphicFramePr>
        <p:xfrm>
          <a:off x="5181600" y="4149725"/>
          <a:ext cx="2921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0647" imgH="342900" progId="Equation.3">
                  <p:embed/>
                </p:oleObj>
              </mc:Choice>
              <mc:Fallback>
                <p:oleObj name="Equation" r:id="rId32" imgW="190647" imgH="342900" progId="Equation.3">
                  <p:embed/>
                  <p:pic>
                    <p:nvPicPr>
                      <p:cNvPr id="0" name="Object 47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49725"/>
                        <a:ext cx="2921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68" name="Object 48">
            <a:extLst>
              <a:ext uri="{FF2B5EF4-FFF2-40B4-BE49-F238E27FC236}">
                <a16:creationId xmlns:a16="http://schemas.microsoft.com/office/drawing/2014/main" id="{74ADA044-8A7D-95CA-DD38-225E2CCF362B}"/>
              </a:ext>
            </a:extLst>
          </p:cNvPr>
          <p:cNvGraphicFramePr>
            <a:graphicFrameLocks/>
          </p:cNvGraphicFramePr>
          <p:nvPr/>
        </p:nvGraphicFramePr>
        <p:xfrm>
          <a:off x="6781800" y="4149725"/>
          <a:ext cx="3317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28777" imgH="342900" progId="Equation.3">
                  <p:embed/>
                </p:oleObj>
              </mc:Choice>
              <mc:Fallback>
                <p:oleObj name="Equation" r:id="rId34" imgW="228777" imgH="342900" progId="Equation.3">
                  <p:embed/>
                  <p:pic>
                    <p:nvPicPr>
                      <p:cNvPr id="0" name="Object 48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149725"/>
                        <a:ext cx="3317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569" name="Group 49">
            <a:extLst>
              <a:ext uri="{FF2B5EF4-FFF2-40B4-BE49-F238E27FC236}">
                <a16:creationId xmlns:a16="http://schemas.microsoft.com/office/drawing/2014/main" id="{1A8ED782-15BC-AE7D-EF04-E52BB8F30DBE}"/>
              </a:ext>
            </a:extLst>
          </p:cNvPr>
          <p:cNvGrpSpPr>
            <a:grpSpLocks/>
          </p:cNvGrpSpPr>
          <p:nvPr/>
        </p:nvGrpSpPr>
        <p:grpSpPr bwMode="auto">
          <a:xfrm>
            <a:off x="7831138" y="4333875"/>
            <a:ext cx="762000" cy="973138"/>
            <a:chOff x="4845" y="1403"/>
            <a:chExt cx="480" cy="613"/>
          </a:xfrm>
        </p:grpSpPr>
        <p:grpSp>
          <p:nvGrpSpPr>
            <p:cNvPr id="21538" name="Group 50">
              <a:extLst>
                <a:ext uri="{FF2B5EF4-FFF2-40B4-BE49-F238E27FC236}">
                  <a16:creationId xmlns:a16="http://schemas.microsoft.com/office/drawing/2014/main" id="{A363E529-3CC6-3EE4-F780-BA878606F9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5" y="1680"/>
              <a:ext cx="480" cy="336"/>
              <a:chOff x="3648" y="2245"/>
              <a:chExt cx="480" cy="336"/>
            </a:xfrm>
          </p:grpSpPr>
          <p:sp>
            <p:nvSpPr>
              <p:cNvPr id="21542" name="Rectangle 51">
                <a:extLst>
                  <a:ext uri="{FF2B5EF4-FFF2-40B4-BE49-F238E27FC236}">
                    <a16:creationId xmlns:a16="http://schemas.microsoft.com/office/drawing/2014/main" id="{E422D841-AEEB-96AB-96F4-7DC621A58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45"/>
                <a:ext cx="480" cy="336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FF99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43" name="Text Box 52">
                <a:extLst>
                  <a:ext uri="{FF2B5EF4-FFF2-40B4-BE49-F238E27FC236}">
                    <a16:creationId xmlns:a16="http://schemas.microsoft.com/office/drawing/2014/main" id="{A6EA698E-44EB-46DE-FD1F-2BE04B3DC9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7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21539" name="Group 53">
              <a:extLst>
                <a:ext uri="{FF2B5EF4-FFF2-40B4-BE49-F238E27FC236}">
                  <a16:creationId xmlns:a16="http://schemas.microsoft.com/office/drawing/2014/main" id="{7177137E-DF61-873F-C810-2B71F19A5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5" y="1403"/>
              <a:ext cx="288" cy="288"/>
              <a:chOff x="3840" y="1968"/>
              <a:chExt cx="288" cy="288"/>
            </a:xfrm>
          </p:grpSpPr>
          <p:sp>
            <p:nvSpPr>
              <p:cNvPr id="21540" name="Rectangle 54">
                <a:extLst>
                  <a:ext uri="{FF2B5EF4-FFF2-40B4-BE49-F238E27FC236}">
                    <a16:creationId xmlns:a16="http://schemas.microsoft.com/office/drawing/2014/main" id="{64FE5BA1-9020-BAAB-A754-9D0702318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994"/>
                <a:ext cx="288" cy="24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41" name="Text Box 55">
                <a:extLst>
                  <a:ext uri="{FF2B5EF4-FFF2-40B4-BE49-F238E27FC236}">
                    <a16:creationId xmlns:a16="http://schemas.microsoft.com/office/drawing/2014/main" id="{41C313DE-F56B-A49E-D10A-F96D1DA73B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2" y="196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107576" name="Line 56">
            <a:extLst>
              <a:ext uri="{FF2B5EF4-FFF2-40B4-BE49-F238E27FC236}">
                <a16:creationId xmlns:a16="http://schemas.microsoft.com/office/drawing/2014/main" id="{0D9C093D-AEB4-CBF4-4DAF-A86996031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8425" y="5310188"/>
            <a:ext cx="0" cy="6858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7" name="Line 57">
            <a:extLst>
              <a:ext uri="{FF2B5EF4-FFF2-40B4-BE49-F238E27FC236}">
                <a16:creationId xmlns:a16="http://schemas.microsoft.com/office/drawing/2014/main" id="{7159E50B-DC98-E0C6-B23C-2DC56D09A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310188"/>
            <a:ext cx="0" cy="4572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8" name="Line 58">
            <a:extLst>
              <a:ext uri="{FF2B5EF4-FFF2-40B4-BE49-F238E27FC236}">
                <a16:creationId xmlns:a16="http://schemas.microsoft.com/office/drawing/2014/main" id="{8DBA565B-A8C5-054C-F7BB-8140A9AE4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9488" y="5292725"/>
            <a:ext cx="0" cy="7620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9" name="Line 59">
            <a:extLst>
              <a:ext uri="{FF2B5EF4-FFF2-40B4-BE49-F238E27FC236}">
                <a16:creationId xmlns:a16="http://schemas.microsoft.com/office/drawing/2014/main" id="{2C246254-6EEA-F970-11B9-68910295F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8425" y="5538788"/>
            <a:ext cx="1857375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80" name="Line 60">
            <a:extLst>
              <a:ext uri="{FF2B5EF4-FFF2-40B4-BE49-F238E27FC236}">
                <a16:creationId xmlns:a16="http://schemas.microsoft.com/office/drawing/2014/main" id="{F7902A60-33CD-7ACC-3DE0-3B8DE778A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7950" y="5937250"/>
            <a:ext cx="21336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81" name="Text Box 61">
            <a:extLst>
              <a:ext uri="{FF2B5EF4-FFF2-40B4-BE49-F238E27FC236}">
                <a16:creationId xmlns:a16="http://schemas.microsoft.com/office/drawing/2014/main" id="{A89BBC1A-387D-609B-2EA2-6C7DE14C3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025" y="5497513"/>
            <a:ext cx="58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07582" name="Text Box 62">
            <a:extLst>
              <a:ext uri="{FF2B5EF4-FFF2-40B4-BE49-F238E27FC236}">
                <a16:creationId xmlns:a16="http://schemas.microsoft.com/office/drawing/2014/main" id="{61F8AB38-7A59-2678-ACED-214A9C338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700" y="5995988"/>
            <a:ext cx="69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07583" name="Rectangle 63">
            <a:extLst>
              <a:ext uri="{FF2B5EF4-FFF2-40B4-BE49-F238E27FC236}">
                <a16:creationId xmlns:a16="http://schemas.microsoft.com/office/drawing/2014/main" id="{5DC38A5E-B2D5-F052-A1C5-37EE8270F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476625"/>
            <a:ext cx="178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讨论</a:t>
            </a:r>
          </a:p>
        </p:txBody>
      </p:sp>
      <p:sp>
        <p:nvSpPr>
          <p:cNvPr id="107584" name="AutoShape 64">
            <a:extLst>
              <a:ext uri="{FF2B5EF4-FFF2-40B4-BE49-F238E27FC236}">
                <a16:creationId xmlns:a16="http://schemas.microsoft.com/office/drawing/2014/main" id="{45C76BC6-724B-C6FE-EDEE-5EE0522F0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3430588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10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10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0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9" dur="500"/>
                                        <p:tgtEl>
                                          <p:spTgt spid="10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2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50" grpId="0" autoUpdateAnimBg="0"/>
      <p:bldP spid="107551" grpId="0" animBg="1" autoUpdateAnimBg="0"/>
      <p:bldP spid="107581" grpId="0" autoUpdateAnimBg="0"/>
      <p:bldP spid="107582" grpId="0" autoUpdateAnimBg="0"/>
      <p:bldP spid="107583" grpId="0" autoUpdateAnimBg="0"/>
      <p:bldP spid="1075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>
            <a:extLst>
              <a:ext uri="{FF2B5EF4-FFF2-40B4-BE49-F238E27FC236}">
                <a16:creationId xmlns:a16="http://schemas.microsoft.com/office/drawing/2014/main" id="{7BAD2E5C-B8A9-71B4-A9FA-29CDEF454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439738"/>
            <a:ext cx="611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内力的功也能改变系统的动能</a:t>
            </a:r>
          </a:p>
        </p:txBody>
      </p:sp>
      <p:sp>
        <p:nvSpPr>
          <p:cNvPr id="108547" name="Text Box 3">
            <a:extLst>
              <a:ext uri="{FF2B5EF4-FFF2-40B4-BE49-F238E27FC236}">
                <a16:creationId xmlns:a16="http://schemas.microsoft.com/office/drawing/2014/main" id="{729DB1F8-AA50-E50E-93B5-D220227E1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3429000"/>
            <a:ext cx="78073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炸弹爆炸，过程内力和为零，但内力所做的功转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化为弹片的动能。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D30232-4857-3D6C-9F46-31CE739C3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1268413"/>
            <a:ext cx="73977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∵功是标量，其和为代数和。</a:t>
            </a: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内力总是成对出现的，按照牛顿第三定律，这一对力的矢量和为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，但这一对力所作的功的和不一定为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 autoUpdateAnimBg="0"/>
      <p:bldP spid="10854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94839715-2B41-D7F1-60C5-9A100C472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8153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长为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的均质链条，部分置于水平面上，另一部分自然下垂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,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已知链条与水平面间静摩擦系数为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,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滑动摩擦系数为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endParaRPr kumimoji="1" lang="zh-CN" altLang="en-US" sz="2400" b="1" i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67E5CDAB-60D8-5DDA-1F0B-3DE89C83E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181350"/>
            <a:ext cx="53340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以链条的水平部分为研究对象，设链条每单位长度的质量为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，沿铅垂向下取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Oy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轴。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79572CB7-5D0B-76DC-0963-D8D75BDB8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3254375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pic>
        <p:nvPicPr>
          <p:cNvPr id="110597" name="Picture 5">
            <a:extLst>
              <a:ext uri="{FF2B5EF4-FFF2-40B4-BE49-F238E27FC236}">
                <a16:creationId xmlns:a16="http://schemas.microsoft.com/office/drawing/2014/main" id="{E2B72832-5CF5-FDDD-BD6B-336F22D8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828800"/>
            <a:ext cx="167163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0598" name="Group 6">
            <a:extLst>
              <a:ext uri="{FF2B5EF4-FFF2-40B4-BE49-F238E27FC236}">
                <a16:creationId xmlns:a16="http://schemas.microsoft.com/office/drawing/2014/main" id="{C22F73BE-73E4-BAEB-5FB5-5FB05740400C}"/>
              </a:ext>
            </a:extLst>
          </p:cNvPr>
          <p:cNvGrpSpPr>
            <a:grpSpLocks/>
          </p:cNvGrpSpPr>
          <p:nvPr/>
        </p:nvGrpSpPr>
        <p:grpSpPr bwMode="auto">
          <a:xfrm>
            <a:off x="7902575" y="1752600"/>
            <a:ext cx="846138" cy="1981200"/>
            <a:chOff x="4944" y="218"/>
            <a:chExt cx="533" cy="1248"/>
          </a:xfrm>
        </p:grpSpPr>
        <p:sp>
          <p:nvSpPr>
            <p:cNvPr id="23568" name="Line 7">
              <a:extLst>
                <a:ext uri="{FF2B5EF4-FFF2-40B4-BE49-F238E27FC236}">
                  <a16:creationId xmlns:a16="http://schemas.microsoft.com/office/drawing/2014/main" id="{1405494C-3A46-7651-7C7B-238CCC128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8"/>
              <a:ext cx="288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8">
              <a:extLst>
                <a:ext uri="{FF2B5EF4-FFF2-40B4-BE49-F238E27FC236}">
                  <a16:creationId xmlns:a16="http://schemas.microsoft.com/office/drawing/2014/main" id="{BC507333-CF07-393E-AF8C-A83C2EA5A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88"/>
              <a:ext cx="0" cy="110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Text Box 9">
              <a:extLst>
                <a:ext uri="{FF2B5EF4-FFF2-40B4-BE49-F238E27FC236}">
                  <a16:creationId xmlns:a16="http://schemas.microsoft.com/office/drawing/2014/main" id="{532F07D2-B3AA-1019-58A5-8F4337243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21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3571" name="Text Box 10">
              <a:extLst>
                <a:ext uri="{FF2B5EF4-FFF2-40B4-BE49-F238E27FC236}">
                  <a16:creationId xmlns:a16="http://schemas.microsoft.com/office/drawing/2014/main" id="{A9206E67-1A41-5068-96A4-341D1DA1F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" y="117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3559" name="Rectangle 11">
            <a:extLst>
              <a:ext uri="{FF2B5EF4-FFF2-40B4-BE49-F238E27FC236}">
                <a16:creationId xmlns:a16="http://schemas.microsoft.com/office/drawing/2014/main" id="{8FC2E528-FB00-8901-C483-D53CF8D60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35401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23560" name="Rectangle 12">
            <a:extLst>
              <a:ext uri="{FF2B5EF4-FFF2-40B4-BE49-F238E27FC236}">
                <a16:creationId xmlns:a16="http://schemas.microsoft.com/office/drawing/2014/main" id="{FA4FE1E3-87FC-63FB-1ED3-26B1995A5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13208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23561" name="Rectangle 13">
            <a:extLst>
              <a:ext uri="{FF2B5EF4-FFF2-40B4-BE49-F238E27FC236}">
                <a16:creationId xmlns:a16="http://schemas.microsoft.com/office/drawing/2014/main" id="{5E8FEECA-B4BF-0A7C-E9CF-4FEE9F5AC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38250"/>
            <a:ext cx="5410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AutoNum type="arabicParenBoth"/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满足什么条件时，链条将开始滑动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若下垂部分长度为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b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时，链条自静止开始滑动，当链条末端刚刚滑离桌面时，其速度等于多少？</a:t>
            </a:r>
          </a:p>
        </p:txBody>
      </p:sp>
      <p:sp>
        <p:nvSpPr>
          <p:cNvPr id="110606" name="Rectangle 14">
            <a:extLst>
              <a:ext uri="{FF2B5EF4-FFF2-40B4-BE49-F238E27FC236}">
                <a16:creationId xmlns:a16="http://schemas.microsoft.com/office/drawing/2014/main" id="{1CE1BF72-95E4-03BA-FD73-1C5E50A8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6003925"/>
            <a:ext cx="8686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当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y &gt;b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，拉力大于最大静摩擦力时，链条将开始滑动。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10607" name="Text Box 15">
            <a:extLst>
              <a:ext uri="{FF2B5EF4-FFF2-40B4-BE49-F238E27FC236}">
                <a16:creationId xmlns:a16="http://schemas.microsoft.com/office/drawing/2014/main" id="{069666EF-1350-158D-8729-805530638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689475"/>
            <a:ext cx="559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设链条下落长度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y =b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时，处于临界状态</a:t>
            </a:r>
          </a:p>
        </p:txBody>
      </p:sp>
      <p:graphicFrame>
        <p:nvGraphicFramePr>
          <p:cNvPr id="110608" name="Object 16">
            <a:extLst>
              <a:ext uri="{FF2B5EF4-FFF2-40B4-BE49-F238E27FC236}">
                <a16:creationId xmlns:a16="http://schemas.microsoft.com/office/drawing/2014/main" id="{F7151242-FFE6-581A-85B8-327ACAA50F58}"/>
              </a:ext>
            </a:extLst>
          </p:cNvPr>
          <p:cNvGraphicFramePr>
            <a:graphicFrameLocks/>
          </p:cNvGraphicFramePr>
          <p:nvPr/>
        </p:nvGraphicFramePr>
        <p:xfrm>
          <a:off x="1371600" y="5316538"/>
          <a:ext cx="3375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659" imgH="342900" progId="Equation.3">
                  <p:embed/>
                </p:oleObj>
              </mc:Choice>
              <mc:Fallback>
                <p:oleObj name="Equation" r:id="rId3" imgW="3276659" imgH="3429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16538"/>
                        <a:ext cx="33750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9" name="Object 17">
            <a:extLst>
              <a:ext uri="{FF2B5EF4-FFF2-40B4-BE49-F238E27FC236}">
                <a16:creationId xmlns:a16="http://schemas.microsoft.com/office/drawing/2014/main" id="{F9D5A76F-BD56-1B10-9CB4-5E7892441A0C}"/>
              </a:ext>
            </a:extLst>
          </p:cNvPr>
          <p:cNvGraphicFramePr>
            <a:graphicFrameLocks/>
          </p:cNvGraphicFramePr>
          <p:nvPr/>
        </p:nvGraphicFramePr>
        <p:xfrm>
          <a:off x="5921375" y="5087938"/>
          <a:ext cx="1652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247" imgH="819150" progId="Equation.3">
                  <p:embed/>
                </p:oleObj>
              </mc:Choice>
              <mc:Fallback>
                <p:oleObj name="Equation" r:id="rId5" imgW="1562247" imgH="81915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5087938"/>
                        <a:ext cx="16525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0" name="AutoShape 18">
            <a:extLst>
              <a:ext uri="{FF2B5EF4-FFF2-40B4-BE49-F238E27FC236}">
                <a16:creationId xmlns:a16="http://schemas.microsoft.com/office/drawing/2014/main" id="{FD67B530-18AD-72DE-C531-98D691BFF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543401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7" name="矩形 1">
            <a:extLst>
              <a:ext uri="{FF2B5EF4-FFF2-40B4-BE49-F238E27FC236}">
                <a16:creationId xmlns:a16="http://schemas.microsoft.com/office/drawing/2014/main" id="{2EADD388-9CA2-0C3A-AADE-6CF93DD0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3" y="0"/>
            <a:ext cx="4529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3.11</a:t>
            </a:r>
            <a:r>
              <a:rPr lang="zh-CN" altLang="zh-CN" sz="2400" b="1">
                <a:solidFill>
                  <a:srgbClr val="FFC000"/>
                </a:solidFill>
              </a:rPr>
              <a:t>（</a:t>
            </a:r>
            <a:r>
              <a:rPr lang="en-US" altLang="zh-CN" sz="2400" b="1">
                <a:solidFill>
                  <a:srgbClr val="FFC000"/>
                </a:solidFill>
              </a:rPr>
              <a:t>p111</a:t>
            </a:r>
            <a:r>
              <a:rPr lang="zh-CN" altLang="zh-CN" sz="2400" b="1">
                <a:solidFill>
                  <a:srgbClr val="FFC000"/>
                </a:solidFill>
              </a:rPr>
              <a:t>）（重点）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utoUpdateAnimBg="0"/>
      <p:bldP spid="110596" grpId="0" autoUpdateAnimBg="0"/>
      <p:bldP spid="110606" grpId="0" autoUpdateAnimBg="0"/>
      <p:bldP spid="110607" grpId="0" autoUpdateAnimBg="0"/>
      <p:bldP spid="1106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41150B96-05F6-318B-12AD-E0C15BD7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381000"/>
            <a:ext cx="81486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以整个链条为研究对象，链条在运动过程中各部分之间相互作用的内力的功之和为零，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5C916403-ABC0-EF67-6DCF-F6E1DCCE3712}"/>
              </a:ext>
            </a:extLst>
          </p:cNvPr>
          <p:cNvGraphicFramePr>
            <a:graphicFrameLocks/>
          </p:cNvGraphicFramePr>
          <p:nvPr/>
        </p:nvGraphicFramePr>
        <p:xfrm>
          <a:off x="3209925" y="1533525"/>
          <a:ext cx="39989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05088" imgH="723900" progId="Equation.3">
                  <p:embed/>
                </p:oleObj>
              </mc:Choice>
              <mc:Fallback>
                <p:oleObj name="公式" r:id="rId2" imgW="3905088" imgH="7239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5" y="1533525"/>
                        <a:ext cx="39989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>
            <a:extLst>
              <a:ext uri="{FF2B5EF4-FFF2-40B4-BE49-F238E27FC236}">
                <a16:creationId xmlns:a16="http://schemas.microsoft.com/office/drawing/2014/main" id="{719EEB7D-E26C-4CF9-95BB-7B5AD04148C4}"/>
              </a:ext>
            </a:extLst>
          </p:cNvPr>
          <p:cNvGraphicFramePr>
            <a:graphicFrameLocks/>
          </p:cNvGraphicFramePr>
          <p:nvPr/>
        </p:nvGraphicFramePr>
        <p:xfrm>
          <a:off x="3122613" y="2590800"/>
          <a:ext cx="52657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181718" imgH="723900" progId="Equation.3">
                  <p:embed/>
                </p:oleObj>
              </mc:Choice>
              <mc:Fallback>
                <p:oleObj name="公式" r:id="rId4" imgW="5181718" imgH="723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2590800"/>
                        <a:ext cx="52657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1" name="Rectangle 5">
            <a:extLst>
              <a:ext uri="{FF2B5EF4-FFF2-40B4-BE49-F238E27FC236}">
                <a16:creationId xmlns:a16="http://schemas.microsoft.com/office/drawing/2014/main" id="{8569A28B-D0F7-CA37-62F3-6182807B1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2754313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摩擦力的功</a:t>
            </a:r>
          </a:p>
        </p:txBody>
      </p:sp>
      <p:sp>
        <p:nvSpPr>
          <p:cNvPr id="111622" name="Rectangle 6">
            <a:extLst>
              <a:ext uri="{FF2B5EF4-FFF2-40B4-BE49-F238E27FC236}">
                <a16:creationId xmlns:a16="http://schemas.microsoft.com/office/drawing/2014/main" id="{608E78F6-2C26-3615-078A-8255B88B1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16859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重力的功</a:t>
            </a:r>
          </a:p>
        </p:txBody>
      </p:sp>
      <p:graphicFrame>
        <p:nvGraphicFramePr>
          <p:cNvPr id="111623" name="Object 7">
            <a:extLst>
              <a:ext uri="{FF2B5EF4-FFF2-40B4-BE49-F238E27FC236}">
                <a16:creationId xmlns:a16="http://schemas.microsoft.com/office/drawing/2014/main" id="{4C84C2F8-981F-46AD-E2CC-A5E57B00DE33}"/>
              </a:ext>
            </a:extLst>
          </p:cNvPr>
          <p:cNvGraphicFramePr>
            <a:graphicFrameLocks/>
          </p:cNvGraphicFramePr>
          <p:nvPr/>
        </p:nvGraphicFramePr>
        <p:xfrm>
          <a:off x="1709738" y="4221163"/>
          <a:ext cx="5791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96112" imgH="723900" progId="Equation.3">
                  <p:embed/>
                </p:oleObj>
              </mc:Choice>
              <mc:Fallback>
                <p:oleObj name="Equation" r:id="rId6" imgW="5696112" imgH="7239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4221163"/>
                        <a:ext cx="5791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4" name="Object 8">
            <a:extLst>
              <a:ext uri="{FF2B5EF4-FFF2-40B4-BE49-F238E27FC236}">
                <a16:creationId xmlns:a16="http://schemas.microsoft.com/office/drawing/2014/main" id="{819FE2DB-A678-0C52-20ED-32833A840E90}"/>
              </a:ext>
            </a:extLst>
          </p:cNvPr>
          <p:cNvGraphicFramePr>
            <a:graphicFrameLocks/>
          </p:cNvGraphicFramePr>
          <p:nvPr/>
        </p:nvGraphicFramePr>
        <p:xfrm>
          <a:off x="1797050" y="5373688"/>
          <a:ext cx="40481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62282" imgH="781050" progId="Equation.3">
                  <p:embed/>
                </p:oleObj>
              </mc:Choice>
              <mc:Fallback>
                <p:oleObj name="Equation" r:id="rId8" imgW="3962282" imgH="78105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5373688"/>
                        <a:ext cx="40481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5" name="Text Box 9">
            <a:extLst>
              <a:ext uri="{FF2B5EF4-FFF2-40B4-BE49-F238E27FC236}">
                <a16:creationId xmlns:a16="http://schemas.microsoft.com/office/drawing/2014/main" id="{0EBFF455-F3B9-CA39-CB07-F31B31C73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573463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根据动能定理有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 autoUpdateAnimBg="0"/>
      <p:bldP spid="111621" grpId="0" autoUpdateAnimBg="0"/>
      <p:bldP spid="111622" grpId="0" autoUpdateAnimBg="0"/>
      <p:bldP spid="11162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1">
            <a:extLst>
              <a:ext uri="{FF2B5EF4-FFF2-40B4-BE49-F238E27FC236}">
                <a16:creationId xmlns:a16="http://schemas.microsoft.com/office/drawing/2014/main" id="{A154F5A6-2A94-0681-5B48-4B116219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700"/>
            <a:ext cx="2022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3.12</a:t>
            </a:r>
            <a:endParaRPr lang="zh-CN" altLang="zh-CN" sz="2400" b="1">
              <a:solidFill>
                <a:srgbClr val="FFC000"/>
              </a:solidFill>
            </a:endParaRPr>
          </a:p>
        </p:txBody>
      </p:sp>
      <p:sp>
        <p:nvSpPr>
          <p:cNvPr id="25603" name="矩形 2">
            <a:extLst>
              <a:ext uri="{FF2B5EF4-FFF2-40B4-BE49-F238E27FC236}">
                <a16:creationId xmlns:a16="http://schemas.microsoft.com/office/drawing/2014/main" id="{709D9E38-8942-13F9-5913-367827253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675"/>
            <a:ext cx="5435600" cy="34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水平面内有一半径为</a:t>
            </a:r>
            <a:r>
              <a:rPr lang="en-US" altLang="zh-CN" sz="2400" b="1">
                <a:solidFill>
                  <a:schemeClr val="bg1"/>
                </a:solidFill>
              </a:rPr>
              <a:t>R</a:t>
            </a:r>
            <a:r>
              <a:rPr lang="zh-CN" altLang="zh-CN" sz="2400" b="1">
                <a:solidFill>
                  <a:schemeClr val="bg1"/>
                </a:solidFill>
              </a:rPr>
              <a:t>的圆，在圆内离圆心</a:t>
            </a:r>
            <a:r>
              <a:rPr lang="en-US" altLang="zh-CN" sz="2400" b="1">
                <a:solidFill>
                  <a:schemeClr val="bg1"/>
                </a:solidFill>
              </a:rPr>
              <a:t>O</a:t>
            </a:r>
            <a:r>
              <a:rPr lang="zh-CN" altLang="zh-CN" sz="2400" b="1">
                <a:solidFill>
                  <a:schemeClr val="bg1"/>
                </a:solidFill>
              </a:rPr>
              <a:t>距离为</a:t>
            </a:r>
            <a:r>
              <a:rPr lang="en-US" altLang="zh-CN" sz="2400" b="1">
                <a:solidFill>
                  <a:schemeClr val="bg1"/>
                </a:solidFill>
              </a:rPr>
              <a:t>S</a:t>
            </a:r>
            <a:r>
              <a:rPr lang="zh-CN" altLang="zh-CN" sz="2400" b="1">
                <a:solidFill>
                  <a:schemeClr val="bg1"/>
                </a:solidFill>
              </a:rPr>
              <a:t>处有一质量很大</a:t>
            </a:r>
            <a:r>
              <a:rPr lang="zh-CN" altLang="en-US" sz="2400" b="1">
                <a:solidFill>
                  <a:schemeClr val="bg1"/>
                </a:solidFill>
              </a:rPr>
              <a:t>、可</a:t>
            </a:r>
            <a:r>
              <a:rPr lang="zh-CN" altLang="zh-CN" sz="2400" b="1">
                <a:solidFill>
                  <a:schemeClr val="bg1"/>
                </a:solidFill>
              </a:rPr>
              <a:t>视为固定的力心</a:t>
            </a:r>
            <a:r>
              <a:rPr lang="en-US" altLang="zh-CN" sz="2400" b="1">
                <a:solidFill>
                  <a:schemeClr val="bg1"/>
                </a:solidFill>
              </a:rPr>
              <a:t>O’</a:t>
            </a:r>
            <a:r>
              <a:rPr lang="zh-CN" altLang="zh-CN" sz="2400" b="1">
                <a:solidFill>
                  <a:schemeClr val="bg1"/>
                </a:solidFill>
              </a:rPr>
              <a:t>，力心对单位质量的有心引力为</a:t>
            </a:r>
            <a:r>
              <a:rPr lang="en-US" altLang="zh-CN" sz="2400" b="1">
                <a:solidFill>
                  <a:schemeClr val="bg1"/>
                </a:solidFill>
              </a:rPr>
              <a:t>μr</a:t>
            </a:r>
            <a:r>
              <a:rPr lang="zh-CN" altLang="zh-CN" sz="2400" b="1">
                <a:solidFill>
                  <a:schemeClr val="bg1"/>
                </a:solidFill>
              </a:rPr>
              <a:t>，</a:t>
            </a:r>
            <a:r>
              <a:rPr lang="en-US" altLang="zh-CN" sz="2400" b="1">
                <a:solidFill>
                  <a:schemeClr val="bg1"/>
                </a:solidFill>
              </a:rPr>
              <a:t>r</a:t>
            </a:r>
            <a:r>
              <a:rPr lang="zh-CN" altLang="zh-CN" sz="2400" b="1">
                <a:solidFill>
                  <a:schemeClr val="bg1"/>
                </a:solidFill>
              </a:rPr>
              <a:t>为力心</a:t>
            </a:r>
            <a:r>
              <a:rPr lang="zh-CN" altLang="en-US" sz="2400" b="1">
                <a:solidFill>
                  <a:schemeClr val="bg1"/>
                </a:solidFill>
              </a:rPr>
              <a:t>到</a:t>
            </a:r>
            <a:r>
              <a:rPr lang="zh-CN" altLang="zh-CN" sz="2400" b="1">
                <a:solidFill>
                  <a:schemeClr val="bg1"/>
                </a:solidFill>
              </a:rPr>
              <a:t>质量为</a:t>
            </a:r>
            <a:r>
              <a:rPr lang="en-US" altLang="zh-CN" sz="2400" b="1">
                <a:solidFill>
                  <a:schemeClr val="bg1"/>
                </a:solidFill>
              </a:rPr>
              <a:t>m</a:t>
            </a:r>
            <a:r>
              <a:rPr lang="zh-CN" altLang="zh-CN" sz="2400" b="1">
                <a:solidFill>
                  <a:schemeClr val="bg1"/>
                </a:solidFill>
              </a:rPr>
              <a:t>的质点</a:t>
            </a:r>
            <a:r>
              <a:rPr lang="en-US" altLang="zh-CN" sz="2400" b="1">
                <a:solidFill>
                  <a:schemeClr val="bg1"/>
                </a:solidFill>
              </a:rPr>
              <a:t>Q</a:t>
            </a:r>
            <a:r>
              <a:rPr lang="zh-CN" altLang="zh-CN" sz="2400" b="1">
                <a:solidFill>
                  <a:schemeClr val="bg1"/>
                </a:solidFill>
              </a:rPr>
              <a:t>的位矢大小，质点</a:t>
            </a:r>
            <a:r>
              <a:rPr lang="en-US" altLang="zh-CN" sz="2400" b="1">
                <a:solidFill>
                  <a:schemeClr val="bg1"/>
                </a:solidFill>
              </a:rPr>
              <a:t>Q</a:t>
            </a:r>
            <a:r>
              <a:rPr lang="zh-CN" altLang="zh-CN" sz="2400" b="1">
                <a:solidFill>
                  <a:schemeClr val="bg1"/>
                </a:solidFill>
              </a:rPr>
              <a:t>被限制在圆周上运动。</a:t>
            </a: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求：（</a:t>
            </a:r>
            <a:r>
              <a:rPr lang="en-US" altLang="zh-CN" sz="2400" b="1">
                <a:solidFill>
                  <a:schemeClr val="bg1"/>
                </a:solidFill>
              </a:rPr>
              <a:t>1</a:t>
            </a:r>
            <a:r>
              <a:rPr lang="zh-CN" altLang="zh-CN" sz="2400" b="1">
                <a:solidFill>
                  <a:schemeClr val="bg1"/>
                </a:solidFill>
              </a:rPr>
              <a:t>）质点</a:t>
            </a:r>
            <a:r>
              <a:rPr lang="en-US" altLang="zh-CN" sz="2400" b="1">
                <a:solidFill>
                  <a:schemeClr val="bg1"/>
                </a:solidFill>
              </a:rPr>
              <a:t>Q</a:t>
            </a:r>
            <a:r>
              <a:rPr lang="zh-CN" altLang="zh-CN" sz="2400" b="1">
                <a:solidFill>
                  <a:schemeClr val="bg1"/>
                </a:solidFill>
              </a:rPr>
              <a:t>从</a:t>
            </a:r>
            <a:r>
              <a:rPr lang="en-US" altLang="zh-CN" sz="2400" b="1">
                <a:solidFill>
                  <a:schemeClr val="bg1"/>
                </a:solidFill>
              </a:rPr>
              <a:t>B</a:t>
            </a:r>
            <a:r>
              <a:rPr lang="zh-CN" altLang="zh-CN" sz="2400" b="1">
                <a:solidFill>
                  <a:schemeClr val="bg1"/>
                </a:solidFill>
              </a:rPr>
              <a:t>点由静止出发</a:t>
            </a:r>
            <a:r>
              <a:rPr lang="zh-CN" altLang="en-US" sz="2400" b="1">
                <a:solidFill>
                  <a:schemeClr val="bg1"/>
                </a:solidFill>
              </a:rPr>
              <a:t>转过</a:t>
            </a:r>
            <a:r>
              <a:rPr lang="el-GR" altLang="zh-CN" sz="2400" b="1">
                <a:solidFill>
                  <a:schemeClr val="bg1"/>
                </a:solidFill>
              </a:rPr>
              <a:t>φ</a:t>
            </a:r>
            <a:r>
              <a:rPr lang="zh-CN" altLang="en-US" sz="2400" b="1">
                <a:solidFill>
                  <a:schemeClr val="bg1"/>
                </a:solidFill>
              </a:rPr>
              <a:t>角</a:t>
            </a:r>
            <a:r>
              <a:rPr lang="zh-CN" altLang="zh-CN" sz="2400" b="1">
                <a:solidFill>
                  <a:schemeClr val="bg1"/>
                </a:solidFill>
              </a:rPr>
              <a:t>有心力所做的功</a:t>
            </a: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（</a:t>
            </a:r>
            <a:r>
              <a:rPr lang="en-US" altLang="zh-CN" sz="2400" b="1">
                <a:solidFill>
                  <a:schemeClr val="bg1"/>
                </a:solidFill>
              </a:rPr>
              <a:t>2</a:t>
            </a:r>
            <a:r>
              <a:rPr lang="zh-CN" altLang="zh-CN" sz="2400" b="1">
                <a:solidFill>
                  <a:schemeClr val="bg1"/>
                </a:solidFill>
              </a:rPr>
              <a:t>）质点通过第二象限所经历的时间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F5A43A97-9C5C-01AB-A2FD-E024A5ABC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415925"/>
            <a:ext cx="3559175" cy="341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7" name="Picture 3">
            <a:extLst>
              <a:ext uri="{FF2B5EF4-FFF2-40B4-BE49-F238E27FC236}">
                <a16:creationId xmlns:a16="http://schemas.microsoft.com/office/drawing/2014/main" id="{F644EDCC-DBBA-1BAA-32E3-9752A103B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3833813"/>
            <a:ext cx="5292725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8" name="Picture 4">
            <a:extLst>
              <a:ext uri="{FF2B5EF4-FFF2-40B4-BE49-F238E27FC236}">
                <a16:creationId xmlns:a16="http://schemas.microsoft.com/office/drawing/2014/main" id="{FA74F27D-B165-8705-F517-9DF501F0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188" y="4433888"/>
            <a:ext cx="326707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>
            <a:extLst>
              <a:ext uri="{FF2B5EF4-FFF2-40B4-BE49-F238E27FC236}">
                <a16:creationId xmlns:a16="http://schemas.microsoft.com/office/drawing/2014/main" id="{5449DBC3-F554-3CFB-1F62-F05FB5489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8913"/>
            <a:ext cx="210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bg1"/>
                </a:solidFill>
              </a:rPr>
              <a:t>(2)</a:t>
            </a:r>
            <a:r>
              <a:rPr lang="zh-CN" altLang="en-US" sz="2400" b="1">
                <a:solidFill>
                  <a:schemeClr val="bg1"/>
                </a:solidFill>
              </a:rPr>
              <a:t>由动能定理</a:t>
            </a: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60DAA73E-04E4-334B-2707-7216E3E1F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758825"/>
            <a:ext cx="392271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>
            <a:extLst>
              <a:ext uri="{FF2B5EF4-FFF2-40B4-BE49-F238E27FC236}">
                <a16:creationId xmlns:a16="http://schemas.microsoft.com/office/drawing/2014/main" id="{AAE05EEB-8075-AD33-4270-0C09BE62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741363"/>
            <a:ext cx="4432300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C9BF7F37-C244-226F-F4D4-7627842E4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50" y="1773238"/>
            <a:ext cx="403225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>
            <a:extLst>
              <a:ext uri="{FF2B5EF4-FFF2-40B4-BE49-F238E27FC236}">
                <a16:creationId xmlns:a16="http://schemas.microsoft.com/office/drawing/2014/main" id="{8D04740B-9A48-4259-AB7D-557C929F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3213100"/>
            <a:ext cx="5761038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CAF7D74-CDD6-AF58-2AD7-A377DC7DB6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3895725"/>
          <a:ext cx="3186113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600" imgH="609600" progId="Equation.DSMT4">
                  <p:embed/>
                </p:oleObj>
              </mc:Choice>
              <mc:Fallback>
                <p:oleObj name="Equation" r:id="rId6" imgW="1498600" imgH="609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895725"/>
                        <a:ext cx="3186113" cy="1296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3" name="Picture 7">
            <a:extLst>
              <a:ext uri="{FF2B5EF4-FFF2-40B4-BE49-F238E27FC236}">
                <a16:creationId xmlns:a16="http://schemas.microsoft.com/office/drawing/2014/main" id="{A6924E91-8766-F94E-E0BD-5F1DB715F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3" y="5300663"/>
            <a:ext cx="7031037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9588544B-6A12-034B-EF9F-C0F5A86D0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503238"/>
            <a:ext cx="5468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3.4</a:t>
            </a:r>
            <a:r>
              <a:rPr kumimoji="1"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势能  机械能守恒定律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3FF6E254-0DFF-5563-723D-B30D9B029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254125"/>
            <a:ext cx="299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保守力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7558C0D7-4F4A-A161-C367-F8F4DD0FB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846263"/>
            <a:ext cx="71945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rgbClr val="FFFFFF"/>
                </a:solidFill>
                <a:latin typeface="Times New Roman" panose="02020603050405020304" pitchFamily="18" charset="0"/>
              </a:rPr>
              <a:t>如果力所做的功与路径无关，而只决定于物体的始末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rgbClr val="FFFFFF"/>
                </a:solidFill>
                <a:latin typeface="Times New Roman" panose="02020603050405020304" pitchFamily="18" charset="0"/>
              </a:rPr>
              <a:t>相对位置，这样的力称为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保守力</a:t>
            </a:r>
            <a:r>
              <a:rPr kumimoji="1" lang="zh-CN" altLang="en-US" sz="2400" b="1">
                <a:solidFill>
                  <a:srgbClr val="FFFF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B203192B-76B8-D396-9623-B1E7B04D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2997200"/>
            <a:ext cx="544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保守力沿闭合路径一周所做的功为零。 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C89BDC1F-F3C1-7C0C-AF8B-69B2E18BF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3716338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即   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817D15E2-D070-9683-7A1A-54451E018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581525"/>
            <a:ext cx="605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例如重力、万有引力、弹性力都是保守力。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6181FAD9-2AD0-411B-86CC-1D06412C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184775"/>
            <a:ext cx="513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作功与路径有关的力称为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非保守力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2BA0C22F-C43F-FD34-D785-64FF5B0C6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780088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例如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摩擦力</a:t>
            </a:r>
          </a:p>
        </p:txBody>
      </p:sp>
      <p:graphicFrame>
        <p:nvGraphicFramePr>
          <p:cNvPr id="27658" name="Object 10">
            <a:extLst>
              <a:ext uri="{FF2B5EF4-FFF2-40B4-BE49-F238E27FC236}">
                <a16:creationId xmlns:a16="http://schemas.microsoft.com/office/drawing/2014/main" id="{1B64AAC6-2B2C-7484-50C1-472DF043C22C}"/>
              </a:ext>
            </a:extLst>
          </p:cNvPr>
          <p:cNvGraphicFramePr>
            <a:graphicFrameLocks/>
          </p:cNvGraphicFramePr>
          <p:nvPr/>
        </p:nvGraphicFramePr>
        <p:xfrm>
          <a:off x="2127250" y="3644900"/>
          <a:ext cx="15478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859" imgH="704850" progId="Equation.3">
                  <p:embed/>
                </p:oleObj>
              </mc:Choice>
              <mc:Fallback>
                <p:oleObj name="Equation" r:id="rId2" imgW="1447859" imgH="70485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3644900"/>
                        <a:ext cx="15478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9" name="Group 12">
            <a:extLst>
              <a:ext uri="{FF2B5EF4-FFF2-40B4-BE49-F238E27FC236}">
                <a16:creationId xmlns:a16="http://schemas.microsoft.com/office/drawing/2014/main" id="{761E4575-CFFA-66E2-D24A-F279BF25DDF5}"/>
              </a:ext>
            </a:extLst>
          </p:cNvPr>
          <p:cNvGrpSpPr>
            <a:grpSpLocks/>
          </p:cNvGrpSpPr>
          <p:nvPr/>
        </p:nvGrpSpPr>
        <p:grpSpPr bwMode="auto">
          <a:xfrm>
            <a:off x="6788150" y="2220913"/>
            <a:ext cx="2630488" cy="2379662"/>
            <a:chOff x="6128" y="3270"/>
            <a:chExt cx="2794" cy="2683"/>
          </a:xfrm>
        </p:grpSpPr>
        <p:grpSp>
          <p:nvGrpSpPr>
            <p:cNvPr id="27660" name="Group 13">
              <a:extLst>
                <a:ext uri="{FF2B5EF4-FFF2-40B4-BE49-F238E27FC236}">
                  <a16:creationId xmlns:a16="http://schemas.microsoft.com/office/drawing/2014/main" id="{781DD07A-C67F-F227-E15F-F6D2368BF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8" y="3270"/>
              <a:ext cx="2794" cy="2683"/>
              <a:chOff x="6470" y="3213"/>
              <a:chExt cx="2794" cy="2683"/>
            </a:xfrm>
          </p:grpSpPr>
          <p:sp>
            <p:nvSpPr>
              <p:cNvPr id="27663" name="Line 14">
                <a:extLst>
                  <a:ext uri="{FF2B5EF4-FFF2-40B4-BE49-F238E27FC236}">
                    <a16:creationId xmlns:a16="http://schemas.microsoft.com/office/drawing/2014/main" id="{FCFDB778-F688-0A8E-FD19-BEF8B4099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56" y="5601"/>
                <a:ext cx="193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4" name="Line 15">
                <a:extLst>
                  <a:ext uri="{FF2B5EF4-FFF2-40B4-BE49-F238E27FC236}">
                    <a16:creationId xmlns:a16="http://schemas.microsoft.com/office/drawing/2014/main" id="{EF9AA46B-A06F-F159-0B77-2A8F4C078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56" y="3777"/>
                <a:ext cx="0" cy="18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5" name="Freeform 16">
                <a:extLst>
                  <a:ext uri="{FF2B5EF4-FFF2-40B4-BE49-F238E27FC236}">
                    <a16:creationId xmlns:a16="http://schemas.microsoft.com/office/drawing/2014/main" id="{B54C8C4D-F307-F797-0DB8-A25B4827A9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1" y="4176"/>
                <a:ext cx="1083" cy="1083"/>
              </a:xfrm>
              <a:custGeom>
                <a:avLst/>
                <a:gdLst>
                  <a:gd name="T0" fmla="*/ 0 w 1083"/>
                  <a:gd name="T1" fmla="*/ 1083 h 1083"/>
                  <a:gd name="T2" fmla="*/ 570 w 1083"/>
                  <a:gd name="T3" fmla="*/ 798 h 1083"/>
                  <a:gd name="T4" fmla="*/ 798 w 1083"/>
                  <a:gd name="T5" fmla="*/ 228 h 1083"/>
                  <a:gd name="T6" fmla="*/ 1083 w 1083"/>
                  <a:gd name="T7" fmla="*/ 0 h 108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83" h="1083">
                    <a:moveTo>
                      <a:pt x="0" y="1083"/>
                    </a:moveTo>
                    <a:cubicBezTo>
                      <a:pt x="218" y="1011"/>
                      <a:pt x="437" y="940"/>
                      <a:pt x="570" y="798"/>
                    </a:cubicBezTo>
                    <a:cubicBezTo>
                      <a:pt x="703" y="656"/>
                      <a:pt x="713" y="361"/>
                      <a:pt x="798" y="228"/>
                    </a:cubicBezTo>
                    <a:cubicBezTo>
                      <a:pt x="883" y="95"/>
                      <a:pt x="983" y="47"/>
                      <a:pt x="1083" y="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6" name="Text Box 17">
                <a:extLst>
                  <a:ext uri="{FF2B5EF4-FFF2-40B4-BE49-F238E27FC236}">
                    <a16:creationId xmlns:a16="http://schemas.microsoft.com/office/drawing/2014/main" id="{96B35CF5-FD15-EE49-30D6-D6802A092B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66" y="5155"/>
                <a:ext cx="798" cy="7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Calibri" panose="020F0502020204030204" pitchFamily="34" charset="0"/>
                  </a:rPr>
                  <a:t>x</a:t>
                </a:r>
                <a:endParaRPr lang="zh-CN" altLang="zh-CN" sz="4000"/>
              </a:p>
            </p:txBody>
          </p:sp>
          <p:sp>
            <p:nvSpPr>
              <p:cNvPr id="27667" name="Text Box 18">
                <a:extLst>
                  <a:ext uri="{FF2B5EF4-FFF2-40B4-BE49-F238E27FC236}">
                    <a16:creationId xmlns:a16="http://schemas.microsoft.com/office/drawing/2014/main" id="{46C9FBA8-11F0-92C8-1C67-A3D3B338E5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70" y="3213"/>
                <a:ext cx="798" cy="7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Calibri" panose="020F0502020204030204" pitchFamily="34" charset="0"/>
                  </a:rPr>
                  <a:t>y</a:t>
                </a:r>
                <a:endParaRPr lang="zh-CN" altLang="zh-CN" sz="4000"/>
              </a:p>
            </p:txBody>
          </p:sp>
          <p:sp>
            <p:nvSpPr>
              <p:cNvPr id="27668" name="Text Box 19">
                <a:extLst>
                  <a:ext uri="{FF2B5EF4-FFF2-40B4-BE49-F238E27FC236}">
                    <a16:creationId xmlns:a16="http://schemas.microsoft.com/office/drawing/2014/main" id="{1471A51A-5BF6-8717-47DC-EFE48A36C3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3" y="5060"/>
                <a:ext cx="798" cy="7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>
                    <a:latin typeface="Calibri" panose="020F0502020204030204" pitchFamily="34" charset="0"/>
                  </a:rPr>
                  <a:t>b</a:t>
                </a:r>
                <a:endParaRPr lang="zh-CN" altLang="zh-CN"/>
              </a:p>
            </p:txBody>
          </p:sp>
          <p:sp>
            <p:nvSpPr>
              <p:cNvPr id="27669" name="Text Box 20">
                <a:extLst>
                  <a:ext uri="{FF2B5EF4-FFF2-40B4-BE49-F238E27FC236}">
                    <a16:creationId xmlns:a16="http://schemas.microsoft.com/office/drawing/2014/main" id="{3D93C4D7-3D46-102B-599C-AF9B74F7F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67" y="3535"/>
                <a:ext cx="798" cy="7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Calibri" panose="020F0502020204030204" pitchFamily="34" charset="0"/>
                  </a:rPr>
                  <a:t>a</a:t>
                </a:r>
                <a:endParaRPr lang="zh-CN" altLang="zh-CN" sz="4000"/>
              </a:p>
            </p:txBody>
          </p:sp>
        </p:grpSp>
        <p:sp>
          <p:nvSpPr>
            <p:cNvPr id="27661" name="Freeform 21">
              <a:extLst>
                <a:ext uri="{FF2B5EF4-FFF2-40B4-BE49-F238E27FC236}">
                  <a16:creationId xmlns:a16="http://schemas.microsoft.com/office/drawing/2014/main" id="{E6CABE47-868A-F288-E970-7D4D71FB2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" y="4233"/>
              <a:ext cx="1083" cy="1102"/>
            </a:xfrm>
            <a:custGeom>
              <a:avLst/>
              <a:gdLst>
                <a:gd name="T0" fmla="*/ 0 w 1083"/>
                <a:gd name="T1" fmla="*/ 1083 h 1102"/>
                <a:gd name="T2" fmla="*/ 627 w 1083"/>
                <a:gd name="T3" fmla="*/ 1026 h 1102"/>
                <a:gd name="T4" fmla="*/ 798 w 1083"/>
                <a:gd name="T5" fmla="*/ 627 h 1102"/>
                <a:gd name="T6" fmla="*/ 1083 w 1083"/>
                <a:gd name="T7" fmla="*/ 0 h 110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3" h="1102">
                  <a:moveTo>
                    <a:pt x="0" y="1083"/>
                  </a:moveTo>
                  <a:cubicBezTo>
                    <a:pt x="247" y="1092"/>
                    <a:pt x="494" y="1102"/>
                    <a:pt x="627" y="1026"/>
                  </a:cubicBezTo>
                  <a:cubicBezTo>
                    <a:pt x="760" y="950"/>
                    <a:pt x="722" y="798"/>
                    <a:pt x="798" y="627"/>
                  </a:cubicBezTo>
                  <a:cubicBezTo>
                    <a:pt x="874" y="456"/>
                    <a:pt x="1035" y="105"/>
                    <a:pt x="1083" y="0"/>
                  </a:cubicBez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2" name="Freeform 22">
              <a:extLst>
                <a:ext uri="{FF2B5EF4-FFF2-40B4-BE49-F238E27FC236}">
                  <a16:creationId xmlns:a16="http://schemas.microsoft.com/office/drawing/2014/main" id="{24E5F669-1721-2BA3-EAC6-8476A0A82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" y="4233"/>
              <a:ext cx="1026" cy="1083"/>
            </a:xfrm>
            <a:custGeom>
              <a:avLst/>
              <a:gdLst>
                <a:gd name="T0" fmla="*/ 1026 w 1026"/>
                <a:gd name="T1" fmla="*/ 0 h 1083"/>
                <a:gd name="T2" fmla="*/ 456 w 1026"/>
                <a:gd name="T3" fmla="*/ 57 h 1083"/>
                <a:gd name="T4" fmla="*/ 399 w 1026"/>
                <a:gd name="T5" fmla="*/ 342 h 1083"/>
                <a:gd name="T6" fmla="*/ 228 w 1026"/>
                <a:gd name="T7" fmla="*/ 456 h 1083"/>
                <a:gd name="T8" fmla="*/ 228 w 1026"/>
                <a:gd name="T9" fmla="*/ 741 h 1083"/>
                <a:gd name="T10" fmla="*/ 0 w 1026"/>
                <a:gd name="T11" fmla="*/ 1083 h 10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6" h="1083">
                  <a:moveTo>
                    <a:pt x="1026" y="0"/>
                  </a:moveTo>
                  <a:cubicBezTo>
                    <a:pt x="793" y="0"/>
                    <a:pt x="560" y="0"/>
                    <a:pt x="456" y="57"/>
                  </a:cubicBezTo>
                  <a:cubicBezTo>
                    <a:pt x="352" y="114"/>
                    <a:pt x="437" y="276"/>
                    <a:pt x="399" y="342"/>
                  </a:cubicBezTo>
                  <a:cubicBezTo>
                    <a:pt x="361" y="408"/>
                    <a:pt x="256" y="390"/>
                    <a:pt x="228" y="456"/>
                  </a:cubicBezTo>
                  <a:cubicBezTo>
                    <a:pt x="200" y="522"/>
                    <a:pt x="266" y="637"/>
                    <a:pt x="228" y="741"/>
                  </a:cubicBezTo>
                  <a:cubicBezTo>
                    <a:pt x="190" y="845"/>
                    <a:pt x="38" y="1026"/>
                    <a:pt x="0" y="1083"/>
                  </a:cubicBez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>
            <a:extLst>
              <a:ext uri="{FF2B5EF4-FFF2-40B4-BE49-F238E27FC236}">
                <a16:creationId xmlns:a16="http://schemas.microsoft.com/office/drawing/2014/main" id="{182FEB6E-D967-4F6D-043B-2FC604255BA4}"/>
              </a:ext>
            </a:extLst>
          </p:cNvPr>
          <p:cNvGraphicFramePr>
            <a:graphicFrameLocks/>
          </p:cNvGraphicFramePr>
          <p:nvPr/>
        </p:nvGraphicFramePr>
        <p:xfrm>
          <a:off x="3178175" y="4652963"/>
          <a:ext cx="21066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3080" imgH="927000" progId="Equation.3">
                  <p:embed/>
                </p:oleObj>
              </mc:Choice>
              <mc:Fallback>
                <p:oleObj name="Equation" r:id="rId2" imgW="3313080" imgH="9270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4652963"/>
                        <a:ext cx="2106613" cy="685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7" name="Rectangle 3">
            <a:extLst>
              <a:ext uri="{FF2B5EF4-FFF2-40B4-BE49-F238E27FC236}">
                <a16:creationId xmlns:a16="http://schemas.microsoft.com/office/drawing/2014/main" id="{A31BF6D6-8C84-B533-0918-1D1B4566D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3500438"/>
            <a:ext cx="813752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选空间上的一点</a:t>
            </a:r>
            <a:r>
              <a:rPr lang="en-US" altLang="zh-CN" sz="2400" b="1">
                <a:solidFill>
                  <a:schemeClr val="bg1"/>
                </a:solidFill>
              </a:rPr>
              <a:t>M</a:t>
            </a:r>
            <a:r>
              <a:rPr lang="en-US" altLang="zh-CN" sz="2400" b="1" baseline="-25000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为势能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点；由空间上</a:t>
            </a:r>
            <a:r>
              <a:rPr lang="en-US" altLang="zh-CN" sz="2400" b="1">
                <a:solidFill>
                  <a:schemeClr val="bg1"/>
                </a:solidFill>
              </a:rPr>
              <a:t>M</a:t>
            </a:r>
            <a:r>
              <a:rPr lang="zh-CN" altLang="zh-CN" sz="2400" b="1">
                <a:solidFill>
                  <a:schemeClr val="bg1"/>
                </a:solidFill>
              </a:rPr>
              <a:t>点到势能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点</a:t>
            </a:r>
            <a:r>
              <a:rPr lang="en-US" altLang="zh-CN" sz="2400" b="1">
                <a:solidFill>
                  <a:schemeClr val="bg1"/>
                </a:solidFill>
              </a:rPr>
              <a:t>M</a:t>
            </a:r>
            <a:r>
              <a:rPr lang="en-US" altLang="zh-CN" sz="2400" b="1" baseline="-25000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过程中，保守力所作功的大小为该点的势能。</a:t>
            </a:r>
          </a:p>
        </p:txBody>
      </p:sp>
      <p:sp>
        <p:nvSpPr>
          <p:cNvPr id="28676" name="Text Box 34">
            <a:extLst>
              <a:ext uri="{FF2B5EF4-FFF2-40B4-BE49-F238E27FC236}">
                <a16:creationId xmlns:a16="http://schemas.microsoft.com/office/drawing/2014/main" id="{5F130F31-9BE7-437F-68C3-3354E7AB6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176213"/>
            <a:ext cx="2930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势能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86F2C3-6B25-F7F5-49D6-B25B7B8BD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836613"/>
            <a:ext cx="85693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在保守力场中，质点的始末位置一定，力作的功便确定。</a:t>
            </a: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根据动能定理，作功的结果是使质点的动能发生变化。这说明在保守场中，两点之间的能量不同，而且这一能量只与位置有关。当质点的位置改变时，这一能量便释放出来，转变成质点的动能。——这就是</a:t>
            </a:r>
            <a:r>
              <a:rPr lang="zh-CN" altLang="zh-CN" sz="2400" b="1">
                <a:solidFill>
                  <a:srgbClr val="FFC000"/>
                </a:solidFill>
              </a:rPr>
              <a:t>保守场的势能</a:t>
            </a:r>
            <a:r>
              <a:rPr lang="zh-CN" altLang="zh-CN" sz="2400" b="1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CC36A2-5DD5-5F4D-08AD-D01BD0A1E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661025"/>
            <a:ext cx="80105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注意：势能的大小由相对位置决定，没有绝对大小；势能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zh-CN" sz="2400" b="1">
                <a:solidFill>
                  <a:schemeClr val="bg1"/>
                </a:solidFill>
              </a:rPr>
              <a:t>点的选取是任意的。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>
            <a:extLst>
              <a:ext uri="{FF2B5EF4-FFF2-40B4-BE49-F238E27FC236}">
                <a16:creationId xmlns:a16="http://schemas.microsoft.com/office/drawing/2014/main" id="{BFCEAD12-EAA8-8B13-8F4D-C5F0D2E3B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6250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重力势能</a:t>
            </a:r>
            <a:r>
              <a:rPr kumimoji="1" lang="zh-CN" altLang="en-US" sz="2400">
                <a:latin typeface="仿宋_GB2312" panose="02010609030101010101" pitchFamily="49" charset="-122"/>
                <a:ea typeface="仿宋_GB2312" panose="02010609030101010101" pitchFamily="49" charset="-122"/>
              </a:rPr>
              <a:t> 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88D2E7D4-E1F5-4CAF-F315-BC64F19B7ED7}"/>
              </a:ext>
            </a:extLst>
          </p:cNvPr>
          <p:cNvGraphicFramePr>
            <a:graphicFrameLocks/>
          </p:cNvGraphicFramePr>
          <p:nvPr/>
        </p:nvGraphicFramePr>
        <p:xfrm>
          <a:off x="833438" y="1208088"/>
          <a:ext cx="23479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6935" imgH="609600" progId="Equation.3">
                  <p:embed/>
                </p:oleObj>
              </mc:Choice>
              <mc:Fallback>
                <p:oleObj name="Equation" r:id="rId2" imgW="2266935" imgH="6096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1208088"/>
                        <a:ext cx="23479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8">
            <a:extLst>
              <a:ext uri="{FF2B5EF4-FFF2-40B4-BE49-F238E27FC236}">
                <a16:creationId xmlns:a16="http://schemas.microsoft.com/office/drawing/2014/main" id="{9AF2BBEF-D305-C77C-0624-9EB4E142CB46}"/>
              </a:ext>
            </a:extLst>
          </p:cNvPr>
          <p:cNvGrpSpPr>
            <a:grpSpLocks/>
          </p:cNvGrpSpPr>
          <p:nvPr/>
        </p:nvGrpSpPr>
        <p:grpSpPr bwMode="auto">
          <a:xfrm>
            <a:off x="5434013" y="614363"/>
            <a:ext cx="2849562" cy="2459037"/>
            <a:chOff x="3424" y="1397"/>
            <a:chExt cx="1795" cy="1549"/>
          </a:xfrm>
        </p:grpSpPr>
        <p:sp>
          <p:nvSpPr>
            <p:cNvPr id="29710" name="Line 9">
              <a:extLst>
                <a:ext uri="{FF2B5EF4-FFF2-40B4-BE49-F238E27FC236}">
                  <a16:creationId xmlns:a16="http://schemas.microsoft.com/office/drawing/2014/main" id="{1BBBBD92-9082-5FC6-B3A8-282DB70CC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416"/>
              <a:ext cx="124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0">
              <a:extLst>
                <a:ext uri="{FF2B5EF4-FFF2-40B4-BE49-F238E27FC236}">
                  <a16:creationId xmlns:a16="http://schemas.microsoft.com/office/drawing/2014/main" id="{5006E80C-5D89-B94B-0EE9-3DAD14B45A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9" y="2405"/>
              <a:ext cx="240" cy="48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1">
              <a:extLst>
                <a:ext uri="{FF2B5EF4-FFF2-40B4-BE49-F238E27FC236}">
                  <a16:creationId xmlns:a16="http://schemas.microsoft.com/office/drawing/2014/main" id="{5AE2B0C6-ED0C-087B-CA82-45629243F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1456"/>
              <a:ext cx="0" cy="96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Text Box 12">
              <a:extLst>
                <a:ext uri="{FF2B5EF4-FFF2-40B4-BE49-F238E27FC236}">
                  <a16:creationId xmlns:a16="http://schemas.microsoft.com/office/drawing/2014/main" id="{AE073D77-4691-0A68-A148-39B8F9580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6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9714" name="Text Box 13">
              <a:extLst>
                <a:ext uri="{FF2B5EF4-FFF2-40B4-BE49-F238E27FC236}">
                  <a16:creationId xmlns:a16="http://schemas.microsoft.com/office/drawing/2014/main" id="{B1038A0F-3F7F-91B2-8EBB-CE9DB0408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2073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9715" name="Text Box 14">
              <a:extLst>
                <a:ext uri="{FF2B5EF4-FFF2-40B4-BE49-F238E27FC236}">
                  <a16:creationId xmlns:a16="http://schemas.microsoft.com/office/drawing/2014/main" id="{571A4BDA-8F20-37A2-C194-1DA11F0F3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1397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9716" name="Text Box 15">
              <a:extLst>
                <a:ext uri="{FF2B5EF4-FFF2-40B4-BE49-F238E27FC236}">
                  <a16:creationId xmlns:a16="http://schemas.microsoft.com/office/drawing/2014/main" id="{E112F9E7-F264-CAF3-AEF2-25E8C78D4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240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2" name="Oval 16">
            <a:extLst>
              <a:ext uri="{FF2B5EF4-FFF2-40B4-BE49-F238E27FC236}">
                <a16:creationId xmlns:a16="http://schemas.microsoft.com/office/drawing/2014/main" id="{85031470-5167-20BD-1099-DA00A91E3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275" y="28670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211CDB0B-50B8-609E-6B3A-B70229AD0FDD}"/>
              </a:ext>
            </a:extLst>
          </p:cNvPr>
          <p:cNvGraphicFramePr>
            <a:graphicFrameLocks/>
          </p:cNvGraphicFramePr>
          <p:nvPr/>
        </p:nvGraphicFramePr>
        <p:xfrm>
          <a:off x="6570663" y="2976563"/>
          <a:ext cx="15541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929" imgH="352425" progId="Equation.3">
                  <p:embed/>
                </p:oleObj>
              </mc:Choice>
              <mc:Fallback>
                <p:oleObj name="Equation" r:id="rId4" imgW="1866929" imgH="352425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663" y="2976563"/>
                        <a:ext cx="15541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8">
            <a:extLst>
              <a:ext uri="{FF2B5EF4-FFF2-40B4-BE49-F238E27FC236}">
                <a16:creationId xmlns:a16="http://schemas.microsoft.com/office/drawing/2014/main" id="{FA73D954-1CED-F175-A77D-73F6E45D5294}"/>
              </a:ext>
            </a:extLst>
          </p:cNvPr>
          <p:cNvSpPr>
            <a:spLocks/>
          </p:cNvSpPr>
          <p:nvPr/>
        </p:nvSpPr>
        <p:spPr bwMode="auto">
          <a:xfrm>
            <a:off x="6627813" y="1343025"/>
            <a:ext cx="952500" cy="1524000"/>
          </a:xfrm>
          <a:custGeom>
            <a:avLst/>
            <a:gdLst>
              <a:gd name="T0" fmla="*/ 2147483646 w 600"/>
              <a:gd name="T1" fmla="*/ 2147483646 h 960"/>
              <a:gd name="T2" fmla="*/ 2147483646 w 600"/>
              <a:gd name="T3" fmla="*/ 2147483646 h 960"/>
              <a:gd name="T4" fmla="*/ 2147483646 w 600"/>
              <a:gd name="T5" fmla="*/ 2147483646 h 960"/>
              <a:gd name="T6" fmla="*/ 0 w 600"/>
              <a:gd name="T7" fmla="*/ 0 h 9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00" h="960">
                <a:moveTo>
                  <a:pt x="528" y="960"/>
                </a:moveTo>
                <a:cubicBezTo>
                  <a:pt x="564" y="832"/>
                  <a:pt x="600" y="704"/>
                  <a:pt x="576" y="576"/>
                </a:cubicBezTo>
                <a:cubicBezTo>
                  <a:pt x="552" y="448"/>
                  <a:pt x="480" y="288"/>
                  <a:pt x="384" y="192"/>
                </a:cubicBezTo>
                <a:cubicBezTo>
                  <a:pt x="288" y="96"/>
                  <a:pt x="144" y="48"/>
                  <a:pt x="0" y="0"/>
                </a:cubicBezTo>
              </a:path>
            </a:pathLst>
          </a:custGeom>
          <a:noFill/>
          <a:ln w="28575" cmpd="sng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D3691364-A12F-B4E6-DA0A-4A2725EC8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13081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" name="Object 20">
            <a:extLst>
              <a:ext uri="{FF2B5EF4-FFF2-40B4-BE49-F238E27FC236}">
                <a16:creationId xmlns:a16="http://schemas.microsoft.com/office/drawing/2014/main" id="{E256475D-8492-D544-EBA6-4A4B9C29CCE2}"/>
              </a:ext>
            </a:extLst>
          </p:cNvPr>
          <p:cNvGraphicFramePr>
            <a:graphicFrameLocks/>
          </p:cNvGraphicFramePr>
          <p:nvPr/>
        </p:nvGraphicFramePr>
        <p:xfrm>
          <a:off x="6494463" y="842963"/>
          <a:ext cx="1158875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314325" progId="Equation.3">
                  <p:embed/>
                </p:oleObj>
              </mc:Choice>
              <mc:Fallback>
                <p:oleObj name="Equation" r:id="rId6" imgW="1371600" imgH="314325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3" y="842963"/>
                        <a:ext cx="1158875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21">
            <a:extLst>
              <a:ext uri="{FF2B5EF4-FFF2-40B4-BE49-F238E27FC236}">
                <a16:creationId xmlns:a16="http://schemas.microsoft.com/office/drawing/2014/main" id="{E2F7503E-3E6C-9C48-5969-7337C89FD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7413" y="1647825"/>
            <a:ext cx="0" cy="795338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" name="Object 29">
            <a:extLst>
              <a:ext uri="{FF2B5EF4-FFF2-40B4-BE49-F238E27FC236}">
                <a16:creationId xmlns:a16="http://schemas.microsoft.com/office/drawing/2014/main" id="{869B8876-003A-404F-C3A3-1F3742146167}"/>
              </a:ext>
            </a:extLst>
          </p:cNvPr>
          <p:cNvGraphicFramePr>
            <a:graphicFrameLocks/>
          </p:cNvGraphicFramePr>
          <p:nvPr/>
        </p:nvGraphicFramePr>
        <p:xfrm>
          <a:off x="3271838" y="1454150"/>
          <a:ext cx="9001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9076" imgH="228600" progId="Equation.3">
                  <p:embed/>
                </p:oleObj>
              </mc:Choice>
              <mc:Fallback>
                <p:oleObj name="Equation" r:id="rId8" imgW="819076" imgH="228600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1454150"/>
                        <a:ext cx="9001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>
            <a:extLst>
              <a:ext uri="{FF2B5EF4-FFF2-40B4-BE49-F238E27FC236}">
                <a16:creationId xmlns:a16="http://schemas.microsoft.com/office/drawing/2014/main" id="{FE9BEDD6-E492-7E78-8DD3-B72B28671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7363" y="2328863"/>
          <a:ext cx="292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712" imgH="276225" progId="Equation.3">
                  <p:embed/>
                </p:oleObj>
              </mc:Choice>
              <mc:Fallback>
                <p:oleObj name="Equation" r:id="rId10" imgW="209712" imgH="27622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363" y="2328863"/>
                        <a:ext cx="292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C433456D-849F-B130-8D77-9192D6562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3860800"/>
            <a:ext cx="72786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重力势能与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成正比，重力势能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点的选择可以是任意的。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22E3AA0-8FC1-CBEE-60C1-B3EF4FCA9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352675"/>
            <a:ext cx="7504113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注意：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因为弹性势能与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成正比，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+</a:t>
            </a:r>
            <a:r>
              <a:rPr lang="zh-CN" altLang="zh-CN" sz="2000" b="1" i="1">
                <a:solidFill>
                  <a:schemeClr val="bg1"/>
                </a:solidFill>
                <a:latin typeface="宋体" panose="02010600030101010101" pitchFamily="2" charset="-122"/>
                <a:ea typeface="Arial Unicode MS" pitchFamily="34" charset="-122"/>
              </a:rPr>
              <a:t>△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＋</a:t>
            </a:r>
            <a:r>
              <a:rPr lang="zh-CN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△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不同，弹簧的势能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点要选原长位置时，才有这么简捷的表达式。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故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对于弹簧的弹性势能，势能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点通常选弹簧的原长。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当保守力作正功时，质点动能增加，势能减少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【势能→动能】</a:t>
            </a: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当保守力作负功时，质点动能减少，势能增加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【动能→势能】</a:t>
            </a:r>
          </a:p>
        </p:txBody>
      </p:sp>
      <p:sp>
        <p:nvSpPr>
          <p:cNvPr id="30723" name="Text Box 6">
            <a:extLst>
              <a:ext uri="{FF2B5EF4-FFF2-40B4-BE49-F238E27FC236}">
                <a16:creationId xmlns:a16="http://schemas.microsoft.com/office/drawing/2014/main" id="{7FED09E5-3B12-9D16-2653-BFEB418AE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627063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弹性势能</a:t>
            </a:r>
            <a:r>
              <a:rPr kumimoji="1" lang="zh-CN" altLang="en-US" sz="2400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B86162D7-0DF5-307E-F438-CF56BCA120BF}"/>
              </a:ext>
            </a:extLst>
          </p:cNvPr>
          <p:cNvGraphicFramePr>
            <a:graphicFrameLocks/>
          </p:cNvGraphicFramePr>
          <p:nvPr/>
        </p:nvGraphicFramePr>
        <p:xfrm>
          <a:off x="820738" y="1277938"/>
          <a:ext cx="218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4885" imgH="609600" progId="Equation.3">
                  <p:embed/>
                </p:oleObj>
              </mc:Choice>
              <mc:Fallback>
                <p:oleObj name="Equation" r:id="rId2" imgW="2104885" imgH="6096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1277938"/>
                        <a:ext cx="218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22">
            <a:extLst>
              <a:ext uri="{FF2B5EF4-FFF2-40B4-BE49-F238E27FC236}">
                <a16:creationId xmlns:a16="http://schemas.microsoft.com/office/drawing/2014/main" id="{CC82040C-41AC-0655-3950-6F5814445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88" y="939800"/>
            <a:ext cx="3413125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23">
            <a:extLst>
              <a:ext uri="{FF2B5EF4-FFF2-40B4-BE49-F238E27FC236}">
                <a16:creationId xmlns:a16="http://schemas.microsoft.com/office/drawing/2014/main" id="{A4EBD274-FA9F-4BCC-78A6-728F58661C89}"/>
              </a:ext>
            </a:extLst>
          </p:cNvPr>
          <p:cNvGrpSpPr>
            <a:grpSpLocks/>
          </p:cNvGrpSpPr>
          <p:nvPr/>
        </p:nvGrpSpPr>
        <p:grpSpPr bwMode="auto">
          <a:xfrm>
            <a:off x="5878513" y="981075"/>
            <a:ext cx="2546350" cy="696913"/>
            <a:chOff x="3852" y="3180"/>
            <a:chExt cx="1604" cy="439"/>
          </a:xfrm>
        </p:grpSpPr>
        <p:sp>
          <p:nvSpPr>
            <p:cNvPr id="30730" name="Line 24">
              <a:extLst>
                <a:ext uri="{FF2B5EF4-FFF2-40B4-BE49-F238E27FC236}">
                  <a16:creationId xmlns:a16="http://schemas.microsoft.com/office/drawing/2014/main" id="{73960428-D040-15C7-9C07-EE0D06900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3619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Text Box 25">
              <a:extLst>
                <a:ext uri="{FF2B5EF4-FFF2-40B4-BE49-F238E27FC236}">
                  <a16:creationId xmlns:a16="http://schemas.microsoft.com/office/drawing/2014/main" id="{3579F86A-729C-AAEE-5528-3DFD57981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318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0732" name="Text Box 26">
              <a:extLst>
                <a:ext uri="{FF2B5EF4-FFF2-40B4-BE49-F238E27FC236}">
                  <a16:creationId xmlns:a16="http://schemas.microsoft.com/office/drawing/2014/main" id="{5BD3B0E3-3FE5-6615-A467-0618330BD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32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21" name="Line 27">
            <a:extLst>
              <a:ext uri="{FF2B5EF4-FFF2-40B4-BE49-F238E27FC236}">
                <a16:creationId xmlns:a16="http://schemas.microsoft.com/office/drawing/2014/main" id="{79AC2853-CC47-B8F3-1F5A-0CC10D756B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8913" y="1679575"/>
            <a:ext cx="762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4AD38777-ECF0-44AA-AEC0-47785531F847}"/>
              </a:ext>
            </a:extLst>
          </p:cNvPr>
          <p:cNvGraphicFramePr>
            <a:graphicFrameLocks/>
          </p:cNvGraphicFramePr>
          <p:nvPr/>
        </p:nvGraphicFramePr>
        <p:xfrm>
          <a:off x="6545263" y="1114425"/>
          <a:ext cx="3063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777" imgH="266700" progId="Equation.3">
                  <p:embed/>
                </p:oleObj>
              </mc:Choice>
              <mc:Fallback>
                <p:oleObj name="Equation" r:id="rId5" imgW="228777" imgH="266700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263" y="1114425"/>
                        <a:ext cx="3063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>
            <a:extLst>
              <a:ext uri="{FF2B5EF4-FFF2-40B4-BE49-F238E27FC236}">
                <a16:creationId xmlns:a16="http://schemas.microsoft.com/office/drawing/2014/main" id="{DDAEEBEA-0F31-3F44-F83B-5522522FDD19}"/>
              </a:ext>
            </a:extLst>
          </p:cNvPr>
          <p:cNvGraphicFramePr>
            <a:graphicFrameLocks/>
          </p:cNvGraphicFramePr>
          <p:nvPr/>
        </p:nvGraphicFramePr>
        <p:xfrm>
          <a:off x="3059113" y="1196975"/>
          <a:ext cx="9890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742950" progId="Equation.3">
                  <p:embed/>
                </p:oleObj>
              </mc:Choice>
              <mc:Fallback>
                <p:oleObj name="Equation" r:id="rId7" imgW="914400" imgH="742950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196975"/>
                        <a:ext cx="9890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9767023-74BC-730F-533E-98E885453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-15875"/>
            <a:ext cx="3059112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书中例题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p103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000" b="1">
              <a:solidFill>
                <a:schemeClr val="bg1"/>
              </a:solidFill>
            </a:endParaRPr>
          </a:p>
          <a:p>
            <a:endParaRPr lang="zh-CN" altLang="en-US" sz="2000"/>
          </a:p>
        </p:txBody>
      </p:sp>
      <p:grpSp>
        <p:nvGrpSpPr>
          <p:cNvPr id="31747" name="Group 1">
            <a:extLst>
              <a:ext uri="{FF2B5EF4-FFF2-40B4-BE49-F238E27FC236}">
                <a16:creationId xmlns:a16="http://schemas.microsoft.com/office/drawing/2014/main" id="{89787F31-A61E-3932-565D-1874B62EC1DE}"/>
              </a:ext>
            </a:extLst>
          </p:cNvPr>
          <p:cNvGrpSpPr>
            <a:grpSpLocks/>
          </p:cNvGrpSpPr>
          <p:nvPr/>
        </p:nvGrpSpPr>
        <p:grpSpPr bwMode="auto">
          <a:xfrm>
            <a:off x="7346950" y="228600"/>
            <a:ext cx="1512888" cy="2535238"/>
            <a:chOff x="6984" y="3093"/>
            <a:chExt cx="1254" cy="2109"/>
          </a:xfrm>
        </p:grpSpPr>
        <p:sp>
          <p:nvSpPr>
            <p:cNvPr id="31750" name="Rectangle 6">
              <a:extLst>
                <a:ext uri="{FF2B5EF4-FFF2-40B4-BE49-F238E27FC236}">
                  <a16:creationId xmlns:a16="http://schemas.microsoft.com/office/drawing/2014/main" id="{5EE2F424-FA46-BCAA-CB26-0A4DD5B6B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4" y="3777"/>
              <a:ext cx="798" cy="5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1" name="Line 5">
              <a:extLst>
                <a:ext uri="{FF2B5EF4-FFF2-40B4-BE49-F238E27FC236}">
                  <a16:creationId xmlns:a16="http://schemas.microsoft.com/office/drawing/2014/main" id="{0923250A-2B37-5D70-57C4-83BD88872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3" y="4119"/>
              <a:ext cx="0" cy="7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Line 4">
              <a:extLst>
                <a:ext uri="{FF2B5EF4-FFF2-40B4-BE49-F238E27FC236}">
                  <a16:creationId xmlns:a16="http://schemas.microsoft.com/office/drawing/2014/main" id="{AE0AB0C3-E141-ED59-CC4B-F3F89A6AA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3" y="3378"/>
              <a:ext cx="0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3" name="Text Box 3">
              <a:extLst>
                <a:ext uri="{FF2B5EF4-FFF2-40B4-BE49-F238E27FC236}">
                  <a16:creationId xmlns:a16="http://schemas.microsoft.com/office/drawing/2014/main" id="{3D110698-A601-226E-E6D9-1986E1A15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0" y="4461"/>
              <a:ext cx="798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mg</a:t>
              </a:r>
              <a:endParaRPr lang="en-US" altLang="zh-CN"/>
            </a:p>
          </p:txBody>
        </p:sp>
        <p:sp>
          <p:nvSpPr>
            <p:cNvPr id="31754" name="Text Box 2">
              <a:extLst>
                <a:ext uri="{FF2B5EF4-FFF2-40B4-BE49-F238E27FC236}">
                  <a16:creationId xmlns:a16="http://schemas.microsoft.com/office/drawing/2014/main" id="{A61C924C-259A-AB4A-4CC2-7C445C9B2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3" y="3093"/>
              <a:ext cx="798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/>
            </a:p>
          </p:txBody>
        </p:sp>
      </p:grpSp>
      <p:sp>
        <p:nvSpPr>
          <p:cNvPr id="9" name="Rectangle 10">
            <a:extLst>
              <a:ext uri="{FF2B5EF4-FFF2-40B4-BE49-F238E27FC236}">
                <a16:creationId xmlns:a16="http://schemas.microsoft.com/office/drawing/2014/main" id="{70E646B8-0A61-A663-5BFA-81311C401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871663"/>
            <a:ext cx="843280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解：重力和弹簧的弹性力都是保守力。</a:t>
            </a:r>
            <a:endParaRPr lang="zh-CN" altLang="en-US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初：动能＝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；重力势能＝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，弹性势能＝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末：动能＝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；重力势能＝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，弹性势能＝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重力势能转换成弹性势能</a:t>
            </a:r>
            <a:endParaRPr lang="zh-CN" altLang="en-US" sz="1000" b="1">
              <a:solidFill>
                <a:schemeClr val="bg1"/>
              </a:solidFill>
            </a:endParaRPr>
          </a:p>
          <a:p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mgy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400" b="1" baseline="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000" b="1">
              <a:solidFill>
                <a:schemeClr val="bg1"/>
              </a:solidFill>
            </a:endParaRPr>
          </a:p>
          <a:p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1000" b="1" i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在整个运动过程中，重力势能减小，动能增加，弹性势能增加；当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时，物体受力为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，但这时物体具有动能，所以要继续压缩弹簧，直到动能为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，这时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，物体在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的作用下往回运动，直到所有的弹性势能转换成重力势能才停下来（动能为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）。物体在力的平衡点处（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）上下振动。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sp>
        <p:nvSpPr>
          <p:cNvPr id="31749" name="矩形 9">
            <a:extLst>
              <a:ext uri="{FF2B5EF4-FFF2-40B4-BE49-F238E27FC236}">
                <a16:creationId xmlns:a16="http://schemas.microsoft.com/office/drawing/2014/main" id="{F2BAE103-2E24-E76A-22D0-E09F27D94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368300"/>
            <a:ext cx="5983287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物体质量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，弹簧的劲度系数为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，自弹簧原长，无初速度加上物体。</a:t>
            </a:r>
            <a:endParaRPr lang="zh-CN" altLang="en-US" sz="10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求：弹簧的最大压缩量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F9B432E9-CCC3-042B-4A31-B8E5C1AD8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360363"/>
            <a:ext cx="247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万有引力势能</a:t>
            </a:r>
            <a:r>
              <a:rPr kumimoji="1" lang="zh-CN" altLang="en-US" sz="2400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14691" name="Object 3">
            <a:extLst>
              <a:ext uri="{FF2B5EF4-FFF2-40B4-BE49-F238E27FC236}">
                <a16:creationId xmlns:a16="http://schemas.microsoft.com/office/drawing/2014/main" id="{2BCEAA81-F663-F379-17BD-085F8DAACFE7}"/>
              </a:ext>
            </a:extLst>
          </p:cNvPr>
          <p:cNvGraphicFramePr>
            <a:graphicFrameLocks/>
          </p:cNvGraphicFramePr>
          <p:nvPr/>
        </p:nvGraphicFramePr>
        <p:xfrm>
          <a:off x="957263" y="831850"/>
          <a:ext cx="2844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723900" progId="Equation.3">
                  <p:embed/>
                </p:oleObj>
              </mc:Choice>
              <mc:Fallback>
                <p:oleObj name="Equation" r:id="rId2" imgW="2743200" imgH="7239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831850"/>
                        <a:ext cx="28448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2" name="Oval 4">
            <a:extLst>
              <a:ext uri="{FF2B5EF4-FFF2-40B4-BE49-F238E27FC236}">
                <a16:creationId xmlns:a16="http://schemas.microsoft.com/office/drawing/2014/main" id="{EBC4924E-9976-677A-C4E4-EF5451286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1731963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7C8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93" name="Line 5">
            <a:extLst>
              <a:ext uri="{FF2B5EF4-FFF2-40B4-BE49-F238E27FC236}">
                <a16:creationId xmlns:a16="http://schemas.microsoft.com/office/drawing/2014/main" id="{E98917F0-AB3E-26C3-C348-035513097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5688" y="1849438"/>
            <a:ext cx="2438400" cy="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4" name="Oval 6">
            <a:extLst>
              <a:ext uri="{FF2B5EF4-FFF2-40B4-BE49-F238E27FC236}">
                <a16:creationId xmlns:a16="http://schemas.microsoft.com/office/drawing/2014/main" id="{B92652AE-30E1-EA15-C69E-2078E154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1773238"/>
            <a:ext cx="152400" cy="152400"/>
          </a:xfrm>
          <a:prstGeom prst="ellipse">
            <a:avLst/>
          </a:prstGeom>
          <a:solidFill>
            <a:srgbClr val="00FF99"/>
          </a:solidFill>
          <a:ln w="9525">
            <a:solidFill>
              <a:srgbClr val="00FF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95" name="Text Box 7">
            <a:extLst>
              <a:ext uri="{FF2B5EF4-FFF2-40B4-BE49-F238E27FC236}">
                <a16:creationId xmlns:a16="http://schemas.microsoft.com/office/drawing/2014/main" id="{2CC7E3E6-9D23-1BB4-3D31-45C4618B2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1189038"/>
            <a:ext cx="398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solidFill>
                  <a:srgbClr val="FFFF66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4696" name="Text Box 8">
            <a:extLst>
              <a:ext uri="{FF2B5EF4-FFF2-40B4-BE49-F238E27FC236}">
                <a16:creationId xmlns:a16="http://schemas.microsoft.com/office/drawing/2014/main" id="{C6700934-3019-4C8A-990B-9FE5DA7F1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198563"/>
            <a:ext cx="70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9999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4697" name="Text Box 9">
            <a:extLst>
              <a:ext uri="{FF2B5EF4-FFF2-40B4-BE49-F238E27FC236}">
                <a16:creationId xmlns:a16="http://schemas.microsoft.com/office/drawing/2014/main" id="{04B52395-297D-569E-D9EC-5ED8987AF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239838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00FF99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4698" name="Line 10">
            <a:extLst>
              <a:ext uri="{FF2B5EF4-FFF2-40B4-BE49-F238E27FC236}">
                <a16:creationId xmlns:a16="http://schemas.microsoft.com/office/drawing/2014/main" id="{37D88EE4-4C89-821C-AF8E-4084D1AEB8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2475" y="1849438"/>
            <a:ext cx="609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4699" name="Object 11">
            <a:extLst>
              <a:ext uri="{FF2B5EF4-FFF2-40B4-BE49-F238E27FC236}">
                <a16:creationId xmlns:a16="http://schemas.microsoft.com/office/drawing/2014/main" id="{077E2E6B-85F0-9CC6-2865-32B2F0AD0CC6}"/>
              </a:ext>
            </a:extLst>
          </p:cNvPr>
          <p:cNvGraphicFramePr>
            <a:graphicFrameLocks/>
          </p:cNvGraphicFramePr>
          <p:nvPr/>
        </p:nvGraphicFramePr>
        <p:xfrm>
          <a:off x="7123113" y="2020888"/>
          <a:ext cx="3063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712" imgH="247650" progId="Equation.3">
                  <p:embed/>
                </p:oleObj>
              </mc:Choice>
              <mc:Fallback>
                <p:oleObj name="Equation" r:id="rId4" imgW="209712" imgH="24765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113" y="2020888"/>
                        <a:ext cx="3063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0" name="Oval 12">
            <a:extLst>
              <a:ext uri="{FF2B5EF4-FFF2-40B4-BE49-F238E27FC236}">
                <a16:creationId xmlns:a16="http://schemas.microsoft.com/office/drawing/2014/main" id="{8F6EE105-F4AE-F94E-2060-C1584E302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1557338"/>
            <a:ext cx="609600" cy="6096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701" name="Oval 13">
            <a:extLst>
              <a:ext uri="{FF2B5EF4-FFF2-40B4-BE49-F238E27FC236}">
                <a16:creationId xmlns:a16="http://schemas.microsoft.com/office/drawing/2014/main" id="{7A6DE578-0E0F-B59C-CEE9-0306E7655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288" y="1274763"/>
            <a:ext cx="1066800" cy="11430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702" name="Oval 14">
            <a:extLst>
              <a:ext uri="{FF2B5EF4-FFF2-40B4-BE49-F238E27FC236}">
                <a16:creationId xmlns:a16="http://schemas.microsoft.com/office/drawing/2014/main" id="{47A0CDDC-56DE-932E-A5CD-A7BDB362B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954088"/>
            <a:ext cx="1828800" cy="1828800"/>
          </a:xfrm>
          <a:prstGeom prst="ellips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703" name="Text Box 15">
            <a:extLst>
              <a:ext uri="{FF2B5EF4-FFF2-40B4-BE49-F238E27FC236}">
                <a16:creationId xmlns:a16="http://schemas.microsoft.com/office/drawing/2014/main" id="{72CC327F-BBFE-49A1-B971-4137D5D57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1000"/>
            <a:ext cx="110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FF00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等势面</a:t>
            </a:r>
          </a:p>
        </p:txBody>
      </p:sp>
      <p:graphicFrame>
        <p:nvGraphicFramePr>
          <p:cNvPr id="114704" name="Object 16">
            <a:extLst>
              <a:ext uri="{FF2B5EF4-FFF2-40B4-BE49-F238E27FC236}">
                <a16:creationId xmlns:a16="http://schemas.microsoft.com/office/drawing/2014/main" id="{D88B3A79-D3A9-2702-6DF2-5EA6C4079416}"/>
              </a:ext>
            </a:extLst>
          </p:cNvPr>
          <p:cNvGraphicFramePr>
            <a:graphicFrameLocks/>
          </p:cNvGraphicFramePr>
          <p:nvPr/>
        </p:nvGraphicFramePr>
        <p:xfrm>
          <a:off x="1373188" y="1781175"/>
          <a:ext cx="144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2535" imgH="723900" progId="Equation.3">
                  <p:embed/>
                </p:oleObj>
              </mc:Choice>
              <mc:Fallback>
                <p:oleObj name="Equation" r:id="rId6" imgW="1352535" imgH="7239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1781175"/>
                        <a:ext cx="144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5" name="Rectangle 17">
            <a:extLst>
              <a:ext uri="{FF2B5EF4-FFF2-40B4-BE49-F238E27FC236}">
                <a16:creationId xmlns:a16="http://schemas.microsoft.com/office/drawing/2014/main" id="{4A578D98-1731-F25E-9E59-136A8CD41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584450"/>
            <a:ext cx="203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例如</a:t>
            </a:r>
          </a:p>
        </p:txBody>
      </p:sp>
      <p:sp>
        <p:nvSpPr>
          <p:cNvPr id="114706" name="Text Box 18">
            <a:extLst>
              <a:ext uri="{FF2B5EF4-FFF2-40B4-BE49-F238E27FC236}">
                <a16:creationId xmlns:a16="http://schemas.microsoft.com/office/drawing/2014/main" id="{9F1F6B64-8A44-BE7B-C9F1-1641C29A8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10038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在质量为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M</a:t>
            </a:r>
            <a:r>
              <a:rPr kumimoji="1" lang="zh-CN" altLang="en-US" sz="24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、半径为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R</a:t>
            </a:r>
            <a:r>
              <a:rPr kumimoji="1" lang="zh-CN" altLang="en-US" sz="24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、密度为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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的球体的万有引力场中</a:t>
            </a:r>
            <a:endParaRPr kumimoji="1" lang="zh-CN" altLang="en-US" sz="2400" b="1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114707" name="Object 19">
            <a:extLst>
              <a:ext uri="{FF2B5EF4-FFF2-40B4-BE49-F238E27FC236}">
                <a16:creationId xmlns:a16="http://schemas.microsoft.com/office/drawing/2014/main" id="{4A428A86-0D4C-8EE2-5BED-98EF1A4B03E8}"/>
              </a:ext>
            </a:extLst>
          </p:cNvPr>
          <p:cNvGraphicFramePr>
            <a:graphicFrameLocks/>
          </p:cNvGraphicFramePr>
          <p:nvPr/>
        </p:nvGraphicFramePr>
        <p:xfrm>
          <a:off x="2401888" y="4606925"/>
          <a:ext cx="1522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8794" imgH="723900" progId="Equation.3">
                  <p:embed/>
                </p:oleObj>
              </mc:Choice>
              <mc:Fallback>
                <p:oleObj name="Equation" r:id="rId8" imgW="1428794" imgH="723900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4606925"/>
                        <a:ext cx="1522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8" name="Object 20">
            <a:extLst>
              <a:ext uri="{FF2B5EF4-FFF2-40B4-BE49-F238E27FC236}">
                <a16:creationId xmlns:a16="http://schemas.microsoft.com/office/drawing/2014/main" id="{0F0DE8D9-62EA-A3FC-3006-359B8EC2A865}"/>
              </a:ext>
            </a:extLst>
          </p:cNvPr>
          <p:cNvGraphicFramePr>
            <a:graphicFrameLocks/>
          </p:cNvGraphicFramePr>
          <p:nvPr/>
        </p:nvGraphicFramePr>
        <p:xfrm>
          <a:off x="1377950" y="5592763"/>
          <a:ext cx="40497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62282" imgH="723900" progId="Equation.3">
                  <p:embed/>
                </p:oleObj>
              </mc:Choice>
              <mc:Fallback>
                <p:oleObj name="Equation" r:id="rId10" imgW="3962282" imgH="723900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5592763"/>
                        <a:ext cx="40497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9" name="Oval 21">
            <a:extLst>
              <a:ext uri="{FF2B5EF4-FFF2-40B4-BE49-F238E27FC236}">
                <a16:creationId xmlns:a16="http://schemas.microsoft.com/office/drawing/2014/main" id="{91A92EB2-B40C-8A06-9A2F-B90B74C8E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4618038"/>
            <a:ext cx="1601787" cy="1600200"/>
          </a:xfrm>
          <a:prstGeom prst="ellipse">
            <a:avLst/>
          </a:prstGeom>
          <a:gradFill rotWithShape="0">
            <a:gsLst>
              <a:gs pos="0">
                <a:srgbClr val="FFCC00"/>
              </a:gs>
              <a:gs pos="100000">
                <a:srgbClr val="9966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99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4710" name="Text Box 22">
            <a:extLst>
              <a:ext uri="{FF2B5EF4-FFF2-40B4-BE49-F238E27FC236}">
                <a16:creationId xmlns:a16="http://schemas.microsoft.com/office/drawing/2014/main" id="{FD593B76-E71F-64F7-1D04-22A6E6059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4524375"/>
            <a:ext cx="623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4711" name="Line 23">
            <a:extLst>
              <a:ext uri="{FF2B5EF4-FFF2-40B4-BE49-F238E27FC236}">
                <a16:creationId xmlns:a16="http://schemas.microsoft.com/office/drawing/2014/main" id="{596ADD5E-C2BF-25AA-B0FB-E49F133065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700" y="4829175"/>
            <a:ext cx="568325" cy="56832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12" name="Text Box 24">
            <a:extLst>
              <a:ext uri="{FF2B5EF4-FFF2-40B4-BE49-F238E27FC236}">
                <a16:creationId xmlns:a16="http://schemas.microsoft.com/office/drawing/2014/main" id="{19DB7790-DAFB-BCDA-F9CB-2F2313CD8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47418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14713" name="Line 25">
            <a:extLst>
              <a:ext uri="{FF2B5EF4-FFF2-40B4-BE49-F238E27FC236}">
                <a16:creationId xmlns:a16="http://schemas.microsoft.com/office/drawing/2014/main" id="{D34EFAD7-C0C2-205A-8FA9-D9A2CEA4B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5397500"/>
            <a:ext cx="21336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14" name="Text Box 26">
            <a:extLst>
              <a:ext uri="{FF2B5EF4-FFF2-40B4-BE49-F238E27FC236}">
                <a16:creationId xmlns:a16="http://schemas.microsoft.com/office/drawing/2014/main" id="{DC644E06-2C79-97BA-605D-AE4B29D3F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4863" y="54975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14715" name="Oval 27">
            <a:extLst>
              <a:ext uri="{FF2B5EF4-FFF2-40B4-BE49-F238E27FC236}">
                <a16:creationId xmlns:a16="http://schemas.microsoft.com/office/drawing/2014/main" id="{C34C8C69-8849-B406-2663-B6004B4F9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538" y="53625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716" name="Text Box 28">
            <a:extLst>
              <a:ext uri="{FF2B5EF4-FFF2-40B4-BE49-F238E27FC236}">
                <a16:creationId xmlns:a16="http://schemas.microsoft.com/office/drawing/2014/main" id="{37CBB0C6-9CA1-BF77-AAE9-A0D5A88AB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4846638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4717" name="Text Box 29">
            <a:extLst>
              <a:ext uri="{FF2B5EF4-FFF2-40B4-BE49-F238E27FC236}">
                <a16:creationId xmlns:a16="http://schemas.microsoft.com/office/drawing/2014/main" id="{F48848B9-C80C-40AE-EDA2-BD9902E45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3500438"/>
            <a:ext cx="58642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质点在球外任一点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，与球心距离为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，质点受到的万有引力为</a:t>
            </a:r>
            <a:r>
              <a:rPr kumimoji="1" lang="en-US" altLang="zh-CN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</a:p>
        </p:txBody>
      </p:sp>
      <p:sp>
        <p:nvSpPr>
          <p:cNvPr id="114718" name="Text Box 30">
            <a:extLst>
              <a:ext uri="{FF2B5EF4-FFF2-40B4-BE49-F238E27FC236}">
                <a16:creationId xmlns:a16="http://schemas.microsoft.com/office/drawing/2014/main" id="{4B933F4B-B969-547C-ED3C-7AAB56EA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5403850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1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nimBg="1"/>
      <p:bldP spid="114694" grpId="0" animBg="1"/>
      <p:bldP spid="114695" grpId="0" autoUpdateAnimBg="0"/>
      <p:bldP spid="114696" grpId="0" autoUpdateAnimBg="0"/>
      <p:bldP spid="114697" grpId="0" autoUpdateAnimBg="0"/>
      <p:bldP spid="114700" grpId="0" animBg="1"/>
      <p:bldP spid="114701" grpId="0" animBg="1"/>
      <p:bldP spid="114702" grpId="0" animBg="1"/>
      <p:bldP spid="114703" grpId="0" autoUpdateAnimBg="0"/>
      <p:bldP spid="114705" grpId="0" autoUpdateAnimBg="0"/>
      <p:bldP spid="114706" grpId="0" autoUpdateAnimBg="0"/>
      <p:bldP spid="114709" grpId="0" animBg="1" autoUpdateAnimBg="0"/>
      <p:bldP spid="114710" grpId="0" autoUpdateAnimBg="0"/>
      <p:bldP spid="114712" grpId="0" autoUpdateAnimBg="0"/>
      <p:bldP spid="114714" grpId="0" autoUpdateAnimBg="0"/>
      <p:bldP spid="114715" grpId="0" animBg="1"/>
      <p:bldP spid="114716" grpId="0" autoUpdateAnimBg="0"/>
      <p:bldP spid="114717" grpId="0" autoUpdateAnimBg="0"/>
      <p:bldP spid="11471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14" name="Group 2">
            <a:extLst>
              <a:ext uri="{FF2B5EF4-FFF2-40B4-BE49-F238E27FC236}">
                <a16:creationId xmlns:a16="http://schemas.microsoft.com/office/drawing/2014/main" id="{3F9F19DD-2182-4761-30C6-688239B85CBB}"/>
              </a:ext>
            </a:extLst>
          </p:cNvPr>
          <p:cNvGrpSpPr>
            <a:grpSpLocks/>
          </p:cNvGrpSpPr>
          <p:nvPr/>
        </p:nvGrpSpPr>
        <p:grpSpPr bwMode="auto">
          <a:xfrm>
            <a:off x="5302250" y="515938"/>
            <a:ext cx="3392488" cy="1770062"/>
            <a:chOff x="3340" y="325"/>
            <a:chExt cx="2137" cy="1115"/>
          </a:xfrm>
        </p:grpSpPr>
        <p:grpSp>
          <p:nvGrpSpPr>
            <p:cNvPr id="33804" name="Group 3">
              <a:extLst>
                <a:ext uri="{FF2B5EF4-FFF2-40B4-BE49-F238E27FC236}">
                  <a16:creationId xmlns:a16="http://schemas.microsoft.com/office/drawing/2014/main" id="{CF4100B0-CD28-FCE5-6A32-C94A01CBC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325"/>
              <a:ext cx="2137" cy="1115"/>
              <a:chOff x="3340" y="325"/>
              <a:chExt cx="2137" cy="1115"/>
            </a:xfrm>
          </p:grpSpPr>
          <p:sp>
            <p:nvSpPr>
              <p:cNvPr id="33806" name="Oval 4">
                <a:extLst>
                  <a:ext uri="{FF2B5EF4-FFF2-40B4-BE49-F238E27FC236}">
                    <a16:creationId xmlns:a16="http://schemas.microsoft.com/office/drawing/2014/main" id="{49163EFD-0529-C68F-436C-0C0F80480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7" y="432"/>
                <a:ext cx="1009" cy="1008"/>
              </a:xfrm>
              <a:prstGeom prst="ellipse">
                <a:avLst/>
              </a:prstGeom>
              <a:gradFill rotWithShape="0">
                <a:gsLst>
                  <a:gs pos="0">
                    <a:srgbClr val="FFCC00"/>
                  </a:gs>
                  <a:gs pos="100000">
                    <a:srgbClr val="9966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99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07" name="Line 5">
                <a:extLst>
                  <a:ext uri="{FF2B5EF4-FFF2-40B4-BE49-F238E27FC236}">
                    <a16:creationId xmlns:a16="http://schemas.microsoft.com/office/drawing/2014/main" id="{2D1981D8-B943-5F49-1685-F239DB059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6" y="565"/>
                <a:ext cx="358" cy="358"/>
              </a:xfrm>
              <a:prstGeom prst="line">
                <a:avLst/>
              </a:prstGeom>
              <a:noFill/>
              <a:ln w="28575">
                <a:solidFill>
                  <a:srgbClr val="0066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8" name="Text Box 6">
                <a:extLst>
                  <a:ext uri="{FF2B5EF4-FFF2-40B4-BE49-F238E27FC236}">
                    <a16:creationId xmlns:a16="http://schemas.microsoft.com/office/drawing/2014/main" id="{9E4E14D0-79B6-35A3-3BB1-D42859EE7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9" y="51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 i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33809" name="Line 7">
                <a:extLst>
                  <a:ext uri="{FF2B5EF4-FFF2-40B4-BE49-F238E27FC236}">
                    <a16:creationId xmlns:a16="http://schemas.microsoft.com/office/drawing/2014/main" id="{E6F62B67-B4A0-6391-ABA2-0B7DDD1BCB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923"/>
                <a:ext cx="1344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Text Box 8">
                <a:extLst>
                  <a:ext uri="{FF2B5EF4-FFF2-40B4-BE49-F238E27FC236}">
                    <a16:creationId xmlns:a16="http://schemas.microsoft.com/office/drawing/2014/main" id="{CF7C7B9F-3D65-971D-601E-358EFC3F7B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5" y="9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 i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33811" name="Text Box 9">
                <a:extLst>
                  <a:ext uri="{FF2B5EF4-FFF2-40B4-BE49-F238E27FC236}">
                    <a16:creationId xmlns:a16="http://schemas.microsoft.com/office/drawing/2014/main" id="{3F989B71-B492-5CB0-B6BE-994BE4BE9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0" y="325"/>
                <a:ext cx="3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 i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33805" name="Text Box 10">
              <a:extLst>
                <a:ext uri="{FF2B5EF4-FFF2-40B4-BE49-F238E27FC236}">
                  <a16:creationId xmlns:a16="http://schemas.microsoft.com/office/drawing/2014/main" id="{C943ECA6-96F0-7F2F-C340-37FA5957E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5" y="87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33795" name="Text Box 11">
            <a:extLst>
              <a:ext uri="{FF2B5EF4-FFF2-40B4-BE49-F238E27FC236}">
                <a16:creationId xmlns:a16="http://schemas.microsoft.com/office/drawing/2014/main" id="{0DE19C39-3342-8A5D-6F71-7C29A484D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50825"/>
            <a:ext cx="44608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质点在球内任一点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，与  球心距离为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，质点受到　　 的万有引力为</a:t>
            </a:r>
          </a:p>
        </p:txBody>
      </p:sp>
      <p:graphicFrame>
        <p:nvGraphicFramePr>
          <p:cNvPr id="115724" name="Object 12">
            <a:extLst>
              <a:ext uri="{FF2B5EF4-FFF2-40B4-BE49-F238E27FC236}">
                <a16:creationId xmlns:a16="http://schemas.microsoft.com/office/drawing/2014/main" id="{902FED20-55C7-EC08-29D8-7922AED0B940}"/>
              </a:ext>
            </a:extLst>
          </p:cNvPr>
          <p:cNvGraphicFramePr>
            <a:graphicFrameLocks/>
          </p:cNvGraphicFramePr>
          <p:nvPr/>
        </p:nvGraphicFramePr>
        <p:xfrm>
          <a:off x="1227138" y="1752600"/>
          <a:ext cx="19796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85994" imgH="723900" progId="Equation.3">
                  <p:embed/>
                </p:oleObj>
              </mc:Choice>
              <mc:Fallback>
                <p:oleObj name="Equation" r:id="rId2" imgW="1885994" imgH="7239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1752600"/>
                        <a:ext cx="19796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5" name="Object 13">
            <a:extLst>
              <a:ext uri="{FF2B5EF4-FFF2-40B4-BE49-F238E27FC236}">
                <a16:creationId xmlns:a16="http://schemas.microsoft.com/office/drawing/2014/main" id="{555018E2-75D1-B727-1992-A1E6B87A3428}"/>
              </a:ext>
            </a:extLst>
          </p:cNvPr>
          <p:cNvGraphicFramePr>
            <a:graphicFrameLocks/>
          </p:cNvGraphicFramePr>
          <p:nvPr/>
        </p:nvGraphicFramePr>
        <p:xfrm>
          <a:off x="1143000" y="2667000"/>
          <a:ext cx="521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24524" imgH="723900" progId="Equation.3">
                  <p:embed/>
                </p:oleObj>
              </mc:Choice>
              <mc:Fallback>
                <p:oleObj name="Equation" r:id="rId4" imgW="5124524" imgH="72390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0"/>
                        <a:ext cx="5219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6" name="Oval 14">
            <a:extLst>
              <a:ext uri="{FF2B5EF4-FFF2-40B4-BE49-F238E27FC236}">
                <a16:creationId xmlns:a16="http://schemas.microsoft.com/office/drawing/2014/main" id="{93D1C9C4-740B-47E2-DD69-AD1E1680C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88" y="1406525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27" name="Text Box 15">
            <a:extLst>
              <a:ext uri="{FF2B5EF4-FFF2-40B4-BE49-F238E27FC236}">
                <a16:creationId xmlns:a16="http://schemas.microsoft.com/office/drawing/2014/main" id="{8A73C0C0-8513-E3F4-A021-F931A2114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966788"/>
            <a:ext cx="560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CCFF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5728" name="Oval 16">
            <a:extLst>
              <a:ext uri="{FF2B5EF4-FFF2-40B4-BE49-F238E27FC236}">
                <a16:creationId xmlns:a16="http://schemas.microsoft.com/office/drawing/2014/main" id="{72A93086-7D30-F17A-BB5E-62802D09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1004888"/>
            <a:ext cx="914400" cy="914400"/>
          </a:xfrm>
          <a:prstGeom prst="ellipse">
            <a:avLst/>
          </a:prstGeom>
          <a:noFill/>
          <a:ln w="28575">
            <a:solidFill>
              <a:srgbClr val="00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5729" name="Object 17">
            <a:extLst>
              <a:ext uri="{FF2B5EF4-FFF2-40B4-BE49-F238E27FC236}">
                <a16:creationId xmlns:a16="http://schemas.microsoft.com/office/drawing/2014/main" id="{A29ECD78-2BAD-22F7-71E0-CC6CED8CD6E7}"/>
              </a:ext>
            </a:extLst>
          </p:cNvPr>
          <p:cNvGraphicFramePr>
            <a:graphicFrameLocks/>
          </p:cNvGraphicFramePr>
          <p:nvPr/>
        </p:nvGraphicFramePr>
        <p:xfrm>
          <a:off x="1609725" y="4591050"/>
          <a:ext cx="279241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71" imgH="781050" progId="Equation.3">
                  <p:embed/>
                </p:oleObj>
              </mc:Choice>
              <mc:Fallback>
                <p:oleObj name="Equation" r:id="rId6" imgW="2705071" imgH="78105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4591050"/>
                        <a:ext cx="279241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0" name="Object 18">
            <a:extLst>
              <a:ext uri="{FF2B5EF4-FFF2-40B4-BE49-F238E27FC236}">
                <a16:creationId xmlns:a16="http://schemas.microsoft.com/office/drawing/2014/main" id="{3F0921CA-267B-D80D-2466-C684373BC915}"/>
              </a:ext>
            </a:extLst>
          </p:cNvPr>
          <p:cNvGraphicFramePr>
            <a:graphicFrameLocks/>
          </p:cNvGraphicFramePr>
          <p:nvPr/>
        </p:nvGraphicFramePr>
        <p:xfrm>
          <a:off x="1600200" y="3657600"/>
          <a:ext cx="41894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95735" imgH="723900" progId="Equation.3">
                  <p:embed/>
                </p:oleObj>
              </mc:Choice>
              <mc:Fallback>
                <p:oleObj name="Equation" r:id="rId8" imgW="4095735" imgH="723900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657600"/>
                        <a:ext cx="41894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31" name="Text Box 19">
            <a:extLst>
              <a:ext uri="{FF2B5EF4-FFF2-40B4-BE49-F238E27FC236}">
                <a16:creationId xmlns:a16="http://schemas.microsoft.com/office/drawing/2014/main" id="{9E876E5F-291F-A383-1758-7D428FFA3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46725"/>
            <a:ext cx="8382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Symbol" panose="05050102010706020507" pitchFamily="18" charset="2"/>
              <a:buChar char="·"/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在保守力场中，质点从起始位置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到末了位置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，保守力的</a:t>
            </a:r>
          </a:p>
          <a:p>
            <a:pPr eaLnBrk="1" hangingPunct="1">
              <a:lnSpc>
                <a:spcPct val="125000"/>
              </a:lnSpc>
              <a:buFont typeface="Symbol" panose="05050102010706020507" pitchFamily="18" charset="2"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 功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等于质点在始末两位置势能增量的负值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6" grpId="0" animBg="1"/>
      <p:bldP spid="115727" grpId="0" autoUpdateAnimBg="0"/>
      <p:bldP spid="115728" grpId="0" animBg="1"/>
      <p:bldP spid="11573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38" name="Object 2">
            <a:extLst>
              <a:ext uri="{FF2B5EF4-FFF2-40B4-BE49-F238E27FC236}">
                <a16:creationId xmlns:a16="http://schemas.microsoft.com/office/drawing/2014/main" id="{27314B41-15DB-973B-E87A-3C184351E64F}"/>
              </a:ext>
            </a:extLst>
          </p:cNvPr>
          <p:cNvGraphicFramePr>
            <a:graphicFrameLocks/>
          </p:cNvGraphicFramePr>
          <p:nvPr/>
        </p:nvGraphicFramePr>
        <p:xfrm>
          <a:off x="1998663" y="423863"/>
          <a:ext cx="35560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6953" imgH="381000" progId="Equation.3">
                  <p:embed/>
                </p:oleObj>
              </mc:Choice>
              <mc:Fallback>
                <p:oleObj name="Equation" r:id="rId2" imgW="3466953" imgH="3810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423863"/>
                        <a:ext cx="3556000" cy="4714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Rectangle 3">
            <a:extLst>
              <a:ext uri="{FF2B5EF4-FFF2-40B4-BE49-F238E27FC236}">
                <a16:creationId xmlns:a16="http://schemas.microsoft.com/office/drawing/2014/main" id="{399A917B-057F-15CD-28C4-43F963AF9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3528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质点的势能与位置坐标的关系可以用图线表示出来。</a:t>
            </a:r>
          </a:p>
        </p:txBody>
      </p:sp>
      <p:sp>
        <p:nvSpPr>
          <p:cNvPr id="116740" name="Text Box 4">
            <a:extLst>
              <a:ext uri="{FF2B5EF4-FFF2-40B4-BE49-F238E27FC236}">
                <a16:creationId xmlns:a16="http://schemas.microsoft.com/office/drawing/2014/main" id="{0BFD8339-E145-5ECB-59FA-ACA35EF6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89560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势能曲线</a:t>
            </a:r>
          </a:p>
        </p:txBody>
      </p:sp>
      <p:sp>
        <p:nvSpPr>
          <p:cNvPr id="116741" name="Text Box 5">
            <a:extLst>
              <a:ext uri="{FF2B5EF4-FFF2-40B4-BE49-F238E27FC236}">
                <a16:creationId xmlns:a16="http://schemas.microsoft.com/office/drawing/2014/main" id="{D8E9FDA3-7A52-6AEF-FC79-F90B76DBC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71600"/>
            <a:ext cx="8153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由于势能零点可以任意选取，所以某一点的势能值是相对的。</a:t>
            </a:r>
          </a:p>
        </p:txBody>
      </p:sp>
      <p:sp>
        <p:nvSpPr>
          <p:cNvPr id="116742" name="Text Box 6">
            <a:extLst>
              <a:ext uri="{FF2B5EF4-FFF2-40B4-BE49-F238E27FC236}">
                <a16:creationId xmlns:a16="http://schemas.microsoft.com/office/drawing/2014/main" id="{1242A7BE-4DFD-5B3C-8D3D-D5797AB0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2362200"/>
            <a:ext cx="80740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保守力场中任意两点间的势能差与势能零点选取无关。</a:t>
            </a:r>
          </a:p>
        </p:txBody>
      </p:sp>
      <p:sp>
        <p:nvSpPr>
          <p:cNvPr id="116743" name="Rectangle 7">
            <a:extLst>
              <a:ext uri="{FF2B5EF4-FFF2-40B4-BE49-F238E27FC236}">
                <a16:creationId xmlns:a16="http://schemas.microsoft.com/office/drawing/2014/main" id="{B2D6A07E-1CDD-D879-886B-D5658426A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990600"/>
            <a:ext cx="229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说明</a:t>
            </a:r>
          </a:p>
        </p:txBody>
      </p:sp>
      <p:grpSp>
        <p:nvGrpSpPr>
          <p:cNvPr id="116744" name="Group 8">
            <a:extLst>
              <a:ext uri="{FF2B5EF4-FFF2-40B4-BE49-F238E27FC236}">
                <a16:creationId xmlns:a16="http://schemas.microsoft.com/office/drawing/2014/main" id="{59886769-FC1A-7C57-9A9C-FDA7E32B763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090988"/>
            <a:ext cx="2522538" cy="1981200"/>
            <a:chOff x="518" y="288"/>
            <a:chExt cx="1589" cy="1248"/>
          </a:xfrm>
        </p:grpSpPr>
        <p:sp>
          <p:nvSpPr>
            <p:cNvPr id="34851" name="Line 9">
              <a:extLst>
                <a:ext uri="{FF2B5EF4-FFF2-40B4-BE49-F238E27FC236}">
                  <a16:creationId xmlns:a16="http://schemas.microsoft.com/office/drawing/2014/main" id="{07AFB761-A100-168C-1B92-95E4FA3D2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296"/>
              <a:ext cx="1152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Line 10">
              <a:extLst>
                <a:ext uri="{FF2B5EF4-FFF2-40B4-BE49-F238E27FC236}">
                  <a16:creationId xmlns:a16="http://schemas.microsoft.com/office/drawing/2014/main" id="{318CA21F-F62C-DDE8-31BB-013DB464D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36"/>
              <a:ext cx="0" cy="1056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3" name="Text Box 11">
              <a:extLst>
                <a:ext uri="{FF2B5EF4-FFF2-40B4-BE49-F238E27FC236}">
                  <a16:creationId xmlns:a16="http://schemas.microsoft.com/office/drawing/2014/main" id="{26B67A0D-2A8A-867F-666D-DAAD9FD71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6" y="124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graphicFrame>
          <p:nvGraphicFramePr>
            <p:cNvPr id="34854" name="Object 12">
              <a:extLst>
                <a:ext uri="{FF2B5EF4-FFF2-40B4-BE49-F238E27FC236}">
                  <a16:creationId xmlns:a16="http://schemas.microsoft.com/office/drawing/2014/main" id="{A1C25C97-2558-A493-628C-BCB34D3AAC7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60" y="288"/>
            <a:ext cx="26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3747" imgH="323850" progId="Equation.3">
                    <p:embed/>
                  </p:oleObj>
                </mc:Choice>
                <mc:Fallback>
                  <p:oleObj name="Equation" r:id="rId4" imgW="323747" imgH="323850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88"/>
                          <a:ext cx="26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5" name="Text Box 13">
              <a:extLst>
                <a:ext uri="{FF2B5EF4-FFF2-40B4-BE49-F238E27FC236}">
                  <a16:creationId xmlns:a16="http://schemas.microsoft.com/office/drawing/2014/main" id="{F5642D2F-EAF4-A4D8-B2AC-0D9788861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" y="108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116750" name="Rectangle 14">
            <a:extLst>
              <a:ext uri="{FF2B5EF4-FFF2-40B4-BE49-F238E27FC236}">
                <a16:creationId xmlns:a16="http://schemas.microsoft.com/office/drawing/2014/main" id="{AE80F229-E5F5-F430-F955-73F1314B2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6096000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重力势能</a:t>
            </a:r>
          </a:p>
        </p:txBody>
      </p:sp>
      <p:graphicFrame>
        <p:nvGraphicFramePr>
          <p:cNvPr id="116751" name="Object 15">
            <a:extLst>
              <a:ext uri="{FF2B5EF4-FFF2-40B4-BE49-F238E27FC236}">
                <a16:creationId xmlns:a16="http://schemas.microsoft.com/office/drawing/2014/main" id="{270A5DA1-9F5A-AB81-3B0E-E8502F56BC6A}"/>
              </a:ext>
            </a:extLst>
          </p:cNvPr>
          <p:cNvGraphicFramePr>
            <a:graphicFrameLocks/>
          </p:cNvGraphicFramePr>
          <p:nvPr/>
        </p:nvGraphicFramePr>
        <p:xfrm>
          <a:off x="5326063" y="5303838"/>
          <a:ext cx="4429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812" imgH="323850" progId="Equation.3">
                  <p:embed/>
                </p:oleObj>
              </mc:Choice>
              <mc:Fallback>
                <p:oleObj name="Equation" r:id="rId6" imgW="342812" imgH="32385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5303838"/>
                        <a:ext cx="4429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2" name="Rectangle 16">
            <a:extLst>
              <a:ext uri="{FF2B5EF4-FFF2-40B4-BE49-F238E27FC236}">
                <a16:creationId xmlns:a16="http://schemas.microsoft.com/office/drawing/2014/main" id="{752585D9-687A-BC3A-6273-5333B50A0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6134100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弹性势能</a:t>
            </a:r>
          </a:p>
        </p:txBody>
      </p:sp>
      <p:pic>
        <p:nvPicPr>
          <p:cNvPr id="116753" name="Picture 17">
            <a:extLst>
              <a:ext uri="{FF2B5EF4-FFF2-40B4-BE49-F238E27FC236}">
                <a16:creationId xmlns:a16="http://schemas.microsoft.com/office/drawing/2014/main" id="{0C126EB0-A7D6-3E72-8CFA-475B145E6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63" y="4287838"/>
            <a:ext cx="873125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6754" name="Picture 18">
            <a:extLst>
              <a:ext uri="{FF2B5EF4-FFF2-40B4-BE49-F238E27FC236}">
                <a16:creationId xmlns:a16="http://schemas.microsoft.com/office/drawing/2014/main" id="{1114B7FA-B6C7-3A0F-8849-725EAC93B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4305300"/>
            <a:ext cx="858837" cy="147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6755" name="Line 19">
            <a:extLst>
              <a:ext uri="{FF2B5EF4-FFF2-40B4-BE49-F238E27FC236}">
                <a16:creationId xmlns:a16="http://schemas.microsoft.com/office/drawing/2014/main" id="{00D31F1D-BE34-9225-B5B9-4D8E6B7B7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4138" y="4624388"/>
            <a:ext cx="15240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56" name="Text Box 20">
            <a:extLst>
              <a:ext uri="{FF2B5EF4-FFF2-40B4-BE49-F238E27FC236}">
                <a16:creationId xmlns:a16="http://schemas.microsoft.com/office/drawing/2014/main" id="{530327F2-C258-5B12-6772-EFE700347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41322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FF66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16757" name="Line 21">
            <a:extLst>
              <a:ext uri="{FF2B5EF4-FFF2-40B4-BE49-F238E27FC236}">
                <a16:creationId xmlns:a16="http://schemas.microsoft.com/office/drawing/2014/main" id="{A0BEF4D1-8AB3-8EDB-B357-B2B35D03A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0" y="4624388"/>
            <a:ext cx="0" cy="609600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58" name="Line 22">
            <a:extLst>
              <a:ext uri="{FF2B5EF4-FFF2-40B4-BE49-F238E27FC236}">
                <a16:creationId xmlns:a16="http://schemas.microsoft.com/office/drawing/2014/main" id="{133494FA-6C7A-B1F4-52B7-BDE53E711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0" y="5233988"/>
            <a:ext cx="0" cy="5334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6759" name="Object 23">
            <a:extLst>
              <a:ext uri="{FF2B5EF4-FFF2-40B4-BE49-F238E27FC236}">
                <a16:creationId xmlns:a16="http://schemas.microsoft.com/office/drawing/2014/main" id="{18114A6D-F8BA-CE21-9769-A2FACF38B080}"/>
              </a:ext>
            </a:extLst>
          </p:cNvPr>
          <p:cNvGraphicFramePr>
            <a:graphicFrameLocks/>
          </p:cNvGraphicFramePr>
          <p:nvPr/>
        </p:nvGraphicFramePr>
        <p:xfrm>
          <a:off x="4703763" y="4724400"/>
          <a:ext cx="431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812" imgH="342900" progId="Equation.3">
                  <p:embed/>
                </p:oleObj>
              </mc:Choice>
              <mc:Fallback>
                <p:oleObj name="Equation" r:id="rId10" imgW="342812" imgH="342900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763" y="4724400"/>
                        <a:ext cx="431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60" name="Rectangle 24">
            <a:extLst>
              <a:ext uri="{FF2B5EF4-FFF2-40B4-BE49-F238E27FC236}">
                <a16:creationId xmlns:a16="http://schemas.microsoft.com/office/drawing/2014/main" id="{4C654C21-42D1-0091-E80C-E973BB18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6096000"/>
            <a:ext cx="203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万有引力势能</a:t>
            </a:r>
          </a:p>
        </p:txBody>
      </p:sp>
      <p:grpSp>
        <p:nvGrpSpPr>
          <p:cNvPr id="116761" name="Group 25">
            <a:extLst>
              <a:ext uri="{FF2B5EF4-FFF2-40B4-BE49-F238E27FC236}">
                <a16:creationId xmlns:a16="http://schemas.microsoft.com/office/drawing/2014/main" id="{74FD457F-BCA6-DA1A-8832-282587ECD8D6}"/>
              </a:ext>
            </a:extLst>
          </p:cNvPr>
          <p:cNvGrpSpPr>
            <a:grpSpLocks/>
          </p:cNvGrpSpPr>
          <p:nvPr/>
        </p:nvGrpSpPr>
        <p:grpSpPr bwMode="auto">
          <a:xfrm>
            <a:off x="3582988" y="4014788"/>
            <a:ext cx="2682875" cy="2192337"/>
            <a:chOff x="2304" y="240"/>
            <a:chExt cx="1690" cy="1381"/>
          </a:xfrm>
        </p:grpSpPr>
        <p:sp>
          <p:nvSpPr>
            <p:cNvPr id="34846" name="Line 26">
              <a:extLst>
                <a:ext uri="{FF2B5EF4-FFF2-40B4-BE49-F238E27FC236}">
                  <a16:creationId xmlns:a16="http://schemas.microsoft.com/office/drawing/2014/main" id="{FFA303D8-5283-0948-FFF9-8681C308A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55"/>
              <a:ext cx="1488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Line 27">
              <a:extLst>
                <a:ext uri="{FF2B5EF4-FFF2-40B4-BE49-F238E27FC236}">
                  <a16:creationId xmlns:a16="http://schemas.microsoft.com/office/drawing/2014/main" id="{8095732F-1487-9BD1-4497-AC178B906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47"/>
              <a:ext cx="0" cy="115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8" name="Object 28">
              <a:extLst>
                <a:ext uri="{FF2B5EF4-FFF2-40B4-BE49-F238E27FC236}">
                  <a16:creationId xmlns:a16="http://schemas.microsoft.com/office/drawing/2014/main" id="{F6CFC45B-3EDA-7F4E-93EF-353CCE39792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36" y="240"/>
            <a:ext cx="26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23747" imgH="323850" progId="Equation.3">
                    <p:embed/>
                  </p:oleObj>
                </mc:Choice>
                <mc:Fallback>
                  <p:oleObj name="Equation" r:id="rId12" imgW="323747" imgH="323850" progId="Equation.3">
                    <p:embed/>
                    <p:pic>
                      <p:nvPicPr>
                        <p:cNvPr id="0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" y="240"/>
                          <a:ext cx="26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9" name="Text Box 29">
              <a:extLst>
                <a:ext uri="{FF2B5EF4-FFF2-40B4-BE49-F238E27FC236}">
                  <a16:creationId xmlns:a16="http://schemas.microsoft.com/office/drawing/2014/main" id="{20F75F10-EE4C-15B4-6E89-DA0240499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13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4850" name="Text Box 30">
              <a:extLst>
                <a:ext uri="{FF2B5EF4-FFF2-40B4-BE49-F238E27FC236}">
                  <a16:creationId xmlns:a16="http://schemas.microsoft.com/office/drawing/2014/main" id="{339C18B8-0DB9-72FC-585B-8D7BDB18E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1" y="130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116767" name="Group 31">
            <a:extLst>
              <a:ext uri="{FF2B5EF4-FFF2-40B4-BE49-F238E27FC236}">
                <a16:creationId xmlns:a16="http://schemas.microsoft.com/office/drawing/2014/main" id="{4DE83F29-4660-A5F9-C8C2-78F7E5EB59CD}"/>
              </a:ext>
            </a:extLst>
          </p:cNvPr>
          <p:cNvGrpSpPr>
            <a:grpSpLocks/>
          </p:cNvGrpSpPr>
          <p:nvPr/>
        </p:nvGrpSpPr>
        <p:grpSpPr bwMode="auto">
          <a:xfrm>
            <a:off x="6492875" y="3949700"/>
            <a:ext cx="2362200" cy="2066925"/>
            <a:chOff x="4128" y="199"/>
            <a:chExt cx="1488" cy="1302"/>
          </a:xfrm>
        </p:grpSpPr>
        <p:graphicFrame>
          <p:nvGraphicFramePr>
            <p:cNvPr id="34841" name="Object 32">
              <a:extLst>
                <a:ext uri="{FF2B5EF4-FFF2-40B4-BE49-F238E27FC236}">
                  <a16:creationId xmlns:a16="http://schemas.microsoft.com/office/drawing/2014/main" id="{9066EE04-3F65-978B-93F5-D7E68FB89FA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64" y="240"/>
            <a:ext cx="26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23747" imgH="323850" progId="Equation.3">
                    <p:embed/>
                  </p:oleObj>
                </mc:Choice>
                <mc:Fallback>
                  <p:oleObj name="Equation" r:id="rId14" imgW="323747" imgH="323850" progId="Equation.3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40"/>
                          <a:ext cx="26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2" name="Line 33">
              <a:extLst>
                <a:ext uri="{FF2B5EF4-FFF2-40B4-BE49-F238E27FC236}">
                  <a16:creationId xmlns:a16="http://schemas.microsoft.com/office/drawing/2014/main" id="{0C1A17EA-4C7B-671D-EE1D-5FF8CDD57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541"/>
              <a:ext cx="1344" cy="0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34">
              <a:extLst>
                <a:ext uri="{FF2B5EF4-FFF2-40B4-BE49-F238E27FC236}">
                  <a16:creationId xmlns:a16="http://schemas.microsoft.com/office/drawing/2014/main" id="{AA4C0566-5693-A141-EB15-052B7430D9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49"/>
              <a:ext cx="0" cy="1152"/>
            </a:xfrm>
            <a:prstGeom prst="line">
              <a:avLst/>
            </a:prstGeom>
            <a:noFill/>
            <a:ln w="28575">
              <a:solidFill>
                <a:srgbClr val="CCFF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Text Box 35">
              <a:extLst>
                <a:ext uri="{FF2B5EF4-FFF2-40B4-BE49-F238E27FC236}">
                  <a16:creationId xmlns:a16="http://schemas.microsoft.com/office/drawing/2014/main" id="{6AB5D7D3-B01D-6B96-9915-4BAFBB239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8" y="19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4845" name="Text Box 36">
              <a:extLst>
                <a:ext uri="{FF2B5EF4-FFF2-40B4-BE49-F238E27FC236}">
                  <a16:creationId xmlns:a16="http://schemas.microsoft.com/office/drawing/2014/main" id="{0AF9C43D-C3F6-4CC2-2C74-74EA15FD7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49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FF66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pic>
        <p:nvPicPr>
          <p:cNvPr id="116773" name="Picture 37">
            <a:extLst>
              <a:ext uri="{FF2B5EF4-FFF2-40B4-BE49-F238E27FC236}">
                <a16:creationId xmlns:a16="http://schemas.microsoft.com/office/drawing/2014/main" id="{A75E69C3-8B36-D676-E77C-ADBC811FC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75" y="4568825"/>
            <a:ext cx="1128713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6774" name="Line 38">
            <a:extLst>
              <a:ext uri="{FF2B5EF4-FFF2-40B4-BE49-F238E27FC236}">
                <a16:creationId xmlns:a16="http://schemas.microsoft.com/office/drawing/2014/main" id="{F155F652-8598-5947-C47B-7984ADFA7A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8875" y="4173538"/>
            <a:ext cx="1676400" cy="16764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75" name="AutoShape 39">
            <a:extLst>
              <a:ext uri="{FF2B5EF4-FFF2-40B4-BE49-F238E27FC236}">
                <a16:creationId xmlns:a16="http://schemas.microsoft.com/office/drawing/2014/main" id="{6F162F1B-CC77-4A64-4AEB-F67B77C1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96361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1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1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0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116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utoUpdateAnimBg="0"/>
      <p:bldP spid="116740" grpId="0" autoUpdateAnimBg="0"/>
      <p:bldP spid="116741" grpId="0" autoUpdateAnimBg="0"/>
      <p:bldP spid="116742" grpId="0" autoUpdateAnimBg="0"/>
      <p:bldP spid="116743" grpId="0" autoUpdateAnimBg="0"/>
      <p:bldP spid="116750" grpId="0" autoUpdateAnimBg="0"/>
      <p:bldP spid="116752" grpId="0" autoUpdateAnimBg="0"/>
      <p:bldP spid="116756" grpId="0" autoUpdateAnimBg="0"/>
      <p:bldP spid="116760" grpId="0" autoUpdateAnimBg="0"/>
      <p:bldP spid="11677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1E4C2260-F2B9-47F3-DFD0-B16912CD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由势能函数求保守力</a:t>
            </a:r>
            <a:r>
              <a:rPr kumimoji="1" lang="zh-CN" altLang="en-US" sz="2400" b="1">
                <a:solidFill>
                  <a:srgbClr val="66FF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</a:t>
            </a:r>
            <a:endParaRPr kumimoji="1" lang="zh-CN" altLang="en-US" sz="2400">
              <a:solidFill>
                <a:srgbClr val="66FFFF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graphicFrame>
        <p:nvGraphicFramePr>
          <p:cNvPr id="117763" name="Object 3">
            <a:extLst>
              <a:ext uri="{FF2B5EF4-FFF2-40B4-BE49-F238E27FC236}">
                <a16:creationId xmlns:a16="http://schemas.microsoft.com/office/drawing/2014/main" id="{DD1A1346-E093-AE9F-61C2-233DA173DF14}"/>
              </a:ext>
            </a:extLst>
          </p:cNvPr>
          <p:cNvGraphicFramePr>
            <a:graphicFrameLocks/>
          </p:cNvGraphicFramePr>
          <p:nvPr/>
        </p:nvGraphicFramePr>
        <p:xfrm>
          <a:off x="1025525" y="957263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612" imgH="323850" progId="Equation.3">
                  <p:embed/>
                </p:oleObj>
              </mc:Choice>
              <mc:Fallback>
                <p:oleObj name="Equation" r:id="rId2" imgW="2171612" imgH="32385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957263"/>
                        <a:ext cx="226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4" name="Object 4">
            <a:extLst>
              <a:ext uri="{FF2B5EF4-FFF2-40B4-BE49-F238E27FC236}">
                <a16:creationId xmlns:a16="http://schemas.microsoft.com/office/drawing/2014/main" id="{705A6AEA-62B9-872E-65D5-5D23004EEC89}"/>
              </a:ext>
            </a:extLst>
          </p:cNvPr>
          <p:cNvGraphicFramePr>
            <a:graphicFrameLocks/>
          </p:cNvGraphicFramePr>
          <p:nvPr/>
        </p:nvGraphicFramePr>
        <p:xfrm>
          <a:off x="1038225" y="2020888"/>
          <a:ext cx="15732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85988" imgH="266700" progId="Equation.3">
                  <p:embed/>
                </p:oleObj>
              </mc:Choice>
              <mc:Fallback>
                <p:oleObj name="公式" r:id="rId4" imgW="1485988" imgH="2667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2020888"/>
                        <a:ext cx="15732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5" name="Object 5">
            <a:extLst>
              <a:ext uri="{FF2B5EF4-FFF2-40B4-BE49-F238E27FC236}">
                <a16:creationId xmlns:a16="http://schemas.microsoft.com/office/drawing/2014/main" id="{3C71678F-9AFA-D3F0-2489-64DAF0AA0863}"/>
              </a:ext>
            </a:extLst>
          </p:cNvPr>
          <p:cNvGraphicFramePr>
            <a:graphicFrameLocks/>
          </p:cNvGraphicFramePr>
          <p:nvPr/>
        </p:nvGraphicFramePr>
        <p:xfrm>
          <a:off x="3990975" y="728663"/>
          <a:ext cx="44799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81353" imgH="800100" progId="Equation.3">
                  <p:embed/>
                </p:oleObj>
              </mc:Choice>
              <mc:Fallback>
                <p:oleObj name="Equation" r:id="rId6" imgW="4381353" imgH="8001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728663"/>
                        <a:ext cx="44799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6" name="Object 6">
            <a:extLst>
              <a:ext uri="{FF2B5EF4-FFF2-40B4-BE49-F238E27FC236}">
                <a16:creationId xmlns:a16="http://schemas.microsoft.com/office/drawing/2014/main" id="{91F92ADC-0B4E-F06F-58C8-826970DAAAE8}"/>
              </a:ext>
            </a:extLst>
          </p:cNvPr>
          <p:cNvGraphicFramePr>
            <a:graphicFrameLocks/>
          </p:cNvGraphicFramePr>
          <p:nvPr/>
        </p:nvGraphicFramePr>
        <p:xfrm>
          <a:off x="2695575" y="2041525"/>
          <a:ext cx="294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57588" imgH="381000" progId="Equation.3">
                  <p:embed/>
                </p:oleObj>
              </mc:Choice>
              <mc:Fallback>
                <p:oleObj name="公式" r:id="rId8" imgW="2857588" imgH="3810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2041525"/>
                        <a:ext cx="2946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7" name="Object 7">
            <a:extLst>
              <a:ext uri="{FF2B5EF4-FFF2-40B4-BE49-F238E27FC236}">
                <a16:creationId xmlns:a16="http://schemas.microsoft.com/office/drawing/2014/main" id="{CB8A5A2F-040B-E0F6-9825-28DEF9A35A66}"/>
              </a:ext>
            </a:extLst>
          </p:cNvPr>
          <p:cNvGraphicFramePr>
            <a:graphicFrameLocks/>
          </p:cNvGraphicFramePr>
          <p:nvPr/>
        </p:nvGraphicFramePr>
        <p:xfrm>
          <a:off x="4149725" y="2997200"/>
          <a:ext cx="42037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4800" imgH="800100" progId="Equation.DSMT4">
                  <p:embed/>
                </p:oleObj>
              </mc:Choice>
              <mc:Fallback>
                <p:oleObj name="Equation" r:id="rId10" imgW="4114800" imgH="8001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725" y="2997200"/>
                        <a:ext cx="4203700" cy="9001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>
            <a:extLst>
              <a:ext uri="{FF2B5EF4-FFF2-40B4-BE49-F238E27FC236}">
                <a16:creationId xmlns:a16="http://schemas.microsoft.com/office/drawing/2014/main" id="{C5E58EF5-37BF-989F-C643-7E308DD66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6638" y="3213100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28794" imgH="323850" progId="Equation.3">
                  <p:embed/>
                </p:oleObj>
              </mc:Choice>
              <mc:Fallback>
                <p:oleObj name="公式" r:id="rId12" imgW="1428794" imgH="32385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3213100"/>
                        <a:ext cx="152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1" name="AutoShape 11">
            <a:extLst>
              <a:ext uri="{FF2B5EF4-FFF2-40B4-BE49-F238E27FC236}">
                <a16:creationId xmlns:a16="http://schemas.microsoft.com/office/drawing/2014/main" id="{2C9C5FEE-B75B-FE09-71D2-E8F5D40E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332105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51CBE8-322B-1E47-D50E-33E9F8525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76327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势能曲线上某点斜率的负值，就是该点对应的位置处质点所受的保守力。</a:t>
            </a:r>
            <a:endParaRPr kumimoji="1" lang="en-US" altLang="zh-CN" sz="2400" b="1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势能与其对应的保守力的微分关系：保守力是势能的</a:t>
            </a:r>
            <a:r>
              <a:rPr kumimoji="1" lang="zh-CN" altLang="en-US" sz="2400" b="1">
                <a:solidFill>
                  <a:srgbClr val="FFC000"/>
                </a:solidFill>
                <a:latin typeface="宋体" panose="02010600030101010101" pitchFamily="2" charset="-122"/>
              </a:rPr>
              <a:t>负梯度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3820E00-BA5D-66D0-927C-5E25D5CCB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805488"/>
          <a:ext cx="13795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113" imgH="241195" progId="Equation.DSMT4">
                  <p:embed/>
                </p:oleObj>
              </mc:Choice>
              <mc:Fallback>
                <p:oleObj name="Equation" r:id="rId14" imgW="660113" imgH="241195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05488"/>
                        <a:ext cx="1379538" cy="503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F5332A8-3C5A-63D3-5D93-C3F44B1C2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649913"/>
          <a:ext cx="28162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46200" imgH="419100" progId="Equation.DSMT4">
                  <p:embed/>
                </p:oleObj>
              </mc:Choice>
              <mc:Fallback>
                <p:oleObj name="Equation" r:id="rId16" imgW="1346200" imgH="4191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49913"/>
                        <a:ext cx="2816225" cy="874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71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7BB0793-E896-5E5C-E562-5B3B68455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500438"/>
            <a:ext cx="16446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>
            <a:extLst>
              <a:ext uri="{FF2B5EF4-FFF2-40B4-BE49-F238E27FC236}">
                <a16:creationId xmlns:a16="http://schemas.microsoft.com/office/drawing/2014/main" id="{413C214B-235B-AAC8-BD34-B9F5928C7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3521075"/>
            <a:ext cx="14700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4">
            <a:extLst>
              <a:ext uri="{FF2B5EF4-FFF2-40B4-BE49-F238E27FC236}">
                <a16:creationId xmlns:a16="http://schemas.microsoft.com/office/drawing/2014/main" id="{2E2E0468-A908-F551-4BF4-A962AD59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3533775"/>
            <a:ext cx="1366837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E211E002-9934-D45C-8A4E-8CCC6356E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1052513"/>
            <a:ext cx="7162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3FBEC156-CC3C-5E62-FC28-38DC8C45D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460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4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7E274D59-5CE6-D2E8-9BE1-E4A146658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572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是不是保守力</a:t>
            </a:r>
            <a:r>
              <a:rPr kumimoji="1"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A9B5A5DC-FA56-16FC-B4CC-8DE3A3D41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1715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pSp>
        <p:nvGrpSpPr>
          <p:cNvPr id="119813" name="Group 5">
            <a:extLst>
              <a:ext uri="{FF2B5EF4-FFF2-40B4-BE49-F238E27FC236}">
                <a16:creationId xmlns:a16="http://schemas.microsoft.com/office/drawing/2014/main" id="{829892C3-BCBE-FF9F-58C1-4BBD433203E3}"/>
              </a:ext>
            </a:extLst>
          </p:cNvPr>
          <p:cNvGrpSpPr>
            <a:grpSpLocks/>
          </p:cNvGrpSpPr>
          <p:nvPr/>
        </p:nvGrpSpPr>
        <p:grpSpPr bwMode="auto">
          <a:xfrm>
            <a:off x="3749675" y="4521200"/>
            <a:ext cx="685800" cy="609600"/>
            <a:chOff x="2304" y="2832"/>
            <a:chExt cx="432" cy="384"/>
          </a:xfrm>
        </p:grpSpPr>
        <p:sp>
          <p:nvSpPr>
            <p:cNvPr id="37904" name="Line 6">
              <a:extLst>
                <a:ext uri="{FF2B5EF4-FFF2-40B4-BE49-F238E27FC236}">
                  <a16:creationId xmlns:a16="http://schemas.microsoft.com/office/drawing/2014/main" id="{6D80BF57-E78B-36F8-8E86-D61DD5FDC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28"/>
              <a:ext cx="43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Line 7">
              <a:extLst>
                <a:ext uri="{FF2B5EF4-FFF2-40B4-BE49-F238E27FC236}">
                  <a16:creationId xmlns:a16="http://schemas.microsoft.com/office/drawing/2014/main" id="{60A57CB0-E217-C341-642F-02277045A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072"/>
              <a:ext cx="43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6" name="Line 8">
              <a:extLst>
                <a:ext uri="{FF2B5EF4-FFF2-40B4-BE49-F238E27FC236}">
                  <a16:creationId xmlns:a16="http://schemas.microsoft.com/office/drawing/2014/main" id="{D55695FE-E438-0629-6B31-EB7E48C17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832"/>
              <a:ext cx="240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9817" name="Text Box 9">
            <a:extLst>
              <a:ext uri="{FF2B5EF4-FFF2-40B4-BE49-F238E27FC236}">
                <a16:creationId xmlns:a16="http://schemas.microsoft.com/office/drawing/2014/main" id="{387D1564-D120-8070-E48A-59254AA47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158" y="5316048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不是保守力</a:t>
            </a:r>
          </a:p>
        </p:txBody>
      </p:sp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3A0F514F-F49E-A6EE-FF42-4785A20EF592}"/>
              </a:ext>
            </a:extLst>
          </p:cNvPr>
          <p:cNvGraphicFramePr>
            <a:graphicFrameLocks/>
          </p:cNvGraphicFramePr>
          <p:nvPr/>
        </p:nvGraphicFramePr>
        <p:xfrm>
          <a:off x="4837113" y="4302125"/>
          <a:ext cx="1587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88" imgH="762000" progId="Equation.3">
                  <p:embed/>
                </p:oleObj>
              </mc:Choice>
              <mc:Fallback>
                <p:oleObj name="Equation" r:id="rId2" imgW="1485988" imgH="7620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4302125"/>
                        <a:ext cx="1587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1">
            <a:extLst>
              <a:ext uri="{FF2B5EF4-FFF2-40B4-BE49-F238E27FC236}">
                <a16:creationId xmlns:a16="http://schemas.microsoft.com/office/drawing/2014/main" id="{606346BA-38BB-7B7A-F61C-76342AE08A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4327525"/>
          <a:ext cx="1625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118" imgH="800100" progId="Equation.3">
                  <p:embed/>
                </p:oleObj>
              </mc:Choice>
              <mc:Fallback>
                <p:oleObj name="Equation" r:id="rId4" imgW="1524118" imgH="800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4327525"/>
                        <a:ext cx="1625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0" name="Text Box 12">
            <a:extLst>
              <a:ext uri="{FF2B5EF4-FFF2-40B4-BE49-F238E27FC236}">
                <a16:creationId xmlns:a16="http://schemas.microsoft.com/office/drawing/2014/main" id="{DF0C0710-8642-DF95-B386-A8F9DFF57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157288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如果是保守力，则</a:t>
            </a:r>
          </a:p>
        </p:txBody>
      </p:sp>
      <p:graphicFrame>
        <p:nvGraphicFramePr>
          <p:cNvPr id="119821" name="Object 13">
            <a:extLst>
              <a:ext uri="{FF2B5EF4-FFF2-40B4-BE49-F238E27FC236}">
                <a16:creationId xmlns:a16="http://schemas.microsoft.com/office/drawing/2014/main" id="{87CEECE7-F1BD-E8F3-56B1-7CFC80B43636}"/>
              </a:ext>
            </a:extLst>
          </p:cNvPr>
          <p:cNvGraphicFramePr>
            <a:graphicFrameLocks/>
          </p:cNvGraphicFramePr>
          <p:nvPr/>
        </p:nvGraphicFramePr>
        <p:xfrm>
          <a:off x="5703888" y="2530475"/>
          <a:ext cx="1460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838200" progId="Equation.3">
                  <p:embed/>
                </p:oleObj>
              </mc:Choice>
              <mc:Fallback>
                <p:oleObj name="Equation" r:id="rId6" imgW="1371600" imgH="83820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2530475"/>
                        <a:ext cx="1460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2" name="Object 14">
            <a:extLst>
              <a:ext uri="{FF2B5EF4-FFF2-40B4-BE49-F238E27FC236}">
                <a16:creationId xmlns:a16="http://schemas.microsoft.com/office/drawing/2014/main" id="{35BBB2FC-0096-5F65-4B79-395F657EEC40}"/>
              </a:ext>
            </a:extLst>
          </p:cNvPr>
          <p:cNvGraphicFramePr>
            <a:graphicFrameLocks/>
          </p:cNvGraphicFramePr>
          <p:nvPr/>
        </p:nvGraphicFramePr>
        <p:xfrm>
          <a:off x="1838325" y="3086100"/>
          <a:ext cx="1854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541" imgH="857250" progId="Equation.3">
                  <p:embed/>
                </p:oleObj>
              </mc:Choice>
              <mc:Fallback>
                <p:oleObj name="Equation" r:id="rId8" imgW="1752541" imgH="85725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3086100"/>
                        <a:ext cx="1854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3" name="Object 15">
            <a:extLst>
              <a:ext uri="{FF2B5EF4-FFF2-40B4-BE49-F238E27FC236}">
                <a16:creationId xmlns:a16="http://schemas.microsoft.com/office/drawing/2014/main" id="{DB340C11-7024-73DA-319A-E8EACD1CC790}"/>
              </a:ext>
            </a:extLst>
          </p:cNvPr>
          <p:cNvGraphicFramePr>
            <a:graphicFrameLocks/>
          </p:cNvGraphicFramePr>
          <p:nvPr/>
        </p:nvGraphicFramePr>
        <p:xfrm>
          <a:off x="1844675" y="1847850"/>
          <a:ext cx="1841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52541" imgH="857250" progId="Equation.3">
                  <p:embed/>
                </p:oleObj>
              </mc:Choice>
              <mc:Fallback>
                <p:oleObj name="Equation" r:id="rId10" imgW="1752541" imgH="85725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1847850"/>
                        <a:ext cx="1841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6">
            <a:extLst>
              <a:ext uri="{FF2B5EF4-FFF2-40B4-BE49-F238E27FC236}">
                <a16:creationId xmlns:a16="http://schemas.microsoft.com/office/drawing/2014/main" id="{D1B678E4-4D37-1710-3764-2517BC3C2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5513" y="457200"/>
          <a:ext cx="2641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553" imgH="381000" progId="Equation.3">
                  <p:embed/>
                </p:oleObj>
              </mc:Choice>
              <mc:Fallback>
                <p:oleObj name="Equation" r:id="rId12" imgW="2552553" imgH="381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457200"/>
                        <a:ext cx="2641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5" name="AutoShape 17">
            <a:extLst>
              <a:ext uri="{FF2B5EF4-FFF2-40B4-BE49-F238E27FC236}">
                <a16:creationId xmlns:a16="http://schemas.microsoft.com/office/drawing/2014/main" id="{ED399D93-8D5B-8807-6711-DCFA8EB2B95E}"/>
              </a:ext>
            </a:extLst>
          </p:cNvPr>
          <p:cNvSpPr>
            <a:spLocks/>
          </p:cNvSpPr>
          <p:nvPr/>
        </p:nvSpPr>
        <p:spPr bwMode="auto">
          <a:xfrm>
            <a:off x="3913188" y="22669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9826" name="AutoShape 18">
            <a:extLst>
              <a:ext uri="{FF2B5EF4-FFF2-40B4-BE49-F238E27FC236}">
                <a16:creationId xmlns:a16="http://schemas.microsoft.com/office/drawing/2014/main" id="{AAF527DE-8617-95F5-7F0F-136312F65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5" y="287655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46453-7D45-408A-0445-1F6C52EBC9FC}"/>
              </a:ext>
            </a:extLst>
          </p:cNvPr>
          <p:cNvSpPr txBox="1"/>
          <p:nvPr/>
        </p:nvSpPr>
        <p:spPr>
          <a:xfrm>
            <a:off x="863588" y="5875581"/>
            <a:ext cx="74168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C000"/>
                </a:solidFill>
              </a:rPr>
              <a:t>二维判断保守力 </a:t>
            </a:r>
            <a:r>
              <a:rPr lang="en-US" altLang="zh-CN" sz="2400" b="1" dirty="0">
                <a:solidFill>
                  <a:srgbClr val="FFC000"/>
                </a:solidFill>
              </a:rPr>
              <a:t>= </a:t>
            </a:r>
            <a:r>
              <a:rPr lang="zh-CN" altLang="en-US" sz="2400" b="1" dirty="0">
                <a:solidFill>
                  <a:srgbClr val="FFC000"/>
                </a:solidFill>
              </a:rPr>
              <a:t>交叉偏导是否相等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CF61D454-3269-C654-10B3-AD2D5C81D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63627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 = 2xy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+ x</a:t>
            </a:r>
            <a:r>
              <a:rPr kumimoji="1" lang="en-US" altLang="zh-CN" sz="2400" b="1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j  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utoUpdateAnimBg="0"/>
      <p:bldP spid="119817" grpId="0" autoUpdateAnimBg="0"/>
      <p:bldP spid="119820" grpId="0" autoUpdateAnimBg="0"/>
      <p:bldP spid="119825" grpId="0" animBg="1"/>
      <p:bldP spid="119826" grpId="0" animBg="1"/>
      <p:bldP spid="2" grpId="0" animBg="1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814674AB-88F2-0805-738B-2D609685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319088"/>
            <a:ext cx="458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四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机械能守恒定律</a:t>
            </a:r>
          </a:p>
        </p:txBody>
      </p:sp>
      <p:sp>
        <p:nvSpPr>
          <p:cNvPr id="120835" name="Text Box 3">
            <a:extLst>
              <a:ext uri="{FF2B5EF4-FFF2-40B4-BE49-F238E27FC236}">
                <a16:creationId xmlns:a16="http://schemas.microsoft.com/office/drawing/2014/main" id="{4D6DC734-7C7B-6712-DD4B-C47343BD8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836613"/>
            <a:ext cx="263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对质点系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120836" name="Object 4">
            <a:extLst>
              <a:ext uri="{FF2B5EF4-FFF2-40B4-BE49-F238E27FC236}">
                <a16:creationId xmlns:a16="http://schemas.microsoft.com/office/drawing/2014/main" id="{3E55E86C-0700-9341-A14B-88EE3FC6308A}"/>
              </a:ext>
            </a:extLst>
          </p:cNvPr>
          <p:cNvGraphicFramePr>
            <a:graphicFrameLocks/>
          </p:cNvGraphicFramePr>
          <p:nvPr/>
        </p:nvGraphicFramePr>
        <p:xfrm>
          <a:off x="2627313" y="889000"/>
          <a:ext cx="2170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6288" imgH="342900" progId="Equation.3">
                  <p:embed/>
                </p:oleObj>
              </mc:Choice>
              <mc:Fallback>
                <p:oleObj name="Equation" r:id="rId2" imgW="2076288" imgH="342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889000"/>
                        <a:ext cx="2170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>
            <a:extLst>
              <a:ext uri="{FF2B5EF4-FFF2-40B4-BE49-F238E27FC236}">
                <a16:creationId xmlns:a16="http://schemas.microsoft.com/office/drawing/2014/main" id="{C151EA00-D8B1-5C3C-AD75-0F7A6B33DDBB}"/>
              </a:ext>
            </a:extLst>
          </p:cNvPr>
          <p:cNvGraphicFramePr>
            <a:graphicFrameLocks/>
          </p:cNvGraphicFramePr>
          <p:nvPr/>
        </p:nvGraphicFramePr>
        <p:xfrm>
          <a:off x="2420938" y="1411288"/>
          <a:ext cx="33750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59" imgH="342900" progId="Equation.3">
                  <p:embed/>
                </p:oleObj>
              </mc:Choice>
              <mc:Fallback>
                <p:oleObj name="Equation" r:id="rId4" imgW="3276659" imgH="342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1411288"/>
                        <a:ext cx="33750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>
            <a:extLst>
              <a:ext uri="{FF2B5EF4-FFF2-40B4-BE49-F238E27FC236}">
                <a16:creationId xmlns:a16="http://schemas.microsoft.com/office/drawing/2014/main" id="{DB1329FC-4E4F-5C20-CA34-3B86FEC3A24E}"/>
              </a:ext>
            </a:extLst>
          </p:cNvPr>
          <p:cNvGraphicFramePr>
            <a:graphicFrameLocks/>
          </p:cNvGraphicFramePr>
          <p:nvPr/>
        </p:nvGraphicFramePr>
        <p:xfrm>
          <a:off x="2481263" y="1951038"/>
          <a:ext cx="331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9465" imgH="381000" progId="Equation.3">
                  <p:embed/>
                </p:oleObj>
              </mc:Choice>
              <mc:Fallback>
                <p:oleObj name="Equation" r:id="rId6" imgW="3219465" imgH="3810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1951038"/>
                        <a:ext cx="331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>
            <a:extLst>
              <a:ext uri="{FF2B5EF4-FFF2-40B4-BE49-F238E27FC236}">
                <a16:creationId xmlns:a16="http://schemas.microsoft.com/office/drawing/2014/main" id="{73F31D36-1B62-B2BC-99BD-9FE8152D0AE8}"/>
              </a:ext>
            </a:extLst>
          </p:cNvPr>
          <p:cNvGraphicFramePr>
            <a:graphicFrameLocks/>
          </p:cNvGraphicFramePr>
          <p:nvPr/>
        </p:nvGraphicFramePr>
        <p:xfrm>
          <a:off x="2195513" y="2570163"/>
          <a:ext cx="4089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00412" imgH="381000" progId="Equation.3">
                  <p:embed/>
                </p:oleObj>
              </mc:Choice>
              <mc:Fallback>
                <p:oleObj name="Equation" r:id="rId8" imgW="4000412" imgH="3810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570163"/>
                        <a:ext cx="4089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0" name="Text Box 8">
            <a:extLst>
              <a:ext uri="{FF2B5EF4-FFF2-40B4-BE49-F238E27FC236}">
                <a16:creationId xmlns:a16="http://schemas.microsoft.com/office/drawing/2014/main" id="{240FFF14-752B-97FB-6D4F-4587F57A8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41663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graphicFrame>
        <p:nvGraphicFramePr>
          <p:cNvPr id="120841" name="Object 9">
            <a:extLst>
              <a:ext uri="{FF2B5EF4-FFF2-40B4-BE49-F238E27FC236}">
                <a16:creationId xmlns:a16="http://schemas.microsoft.com/office/drawing/2014/main" id="{663CB91C-639B-CCA5-AB7B-AAC1A6DF9B2E}"/>
              </a:ext>
            </a:extLst>
          </p:cNvPr>
          <p:cNvGraphicFramePr>
            <a:graphicFrameLocks/>
          </p:cNvGraphicFramePr>
          <p:nvPr/>
        </p:nvGraphicFramePr>
        <p:xfrm>
          <a:off x="1482725" y="3217863"/>
          <a:ext cx="20050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59" imgH="228600" progId="Equation.3">
                  <p:embed/>
                </p:oleObj>
              </mc:Choice>
              <mc:Fallback>
                <p:oleObj name="Equation" r:id="rId10" imgW="1905059" imgH="2286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3217863"/>
                        <a:ext cx="20050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2" name="Object 10">
            <a:extLst>
              <a:ext uri="{FF2B5EF4-FFF2-40B4-BE49-F238E27FC236}">
                <a16:creationId xmlns:a16="http://schemas.microsoft.com/office/drawing/2014/main" id="{EB21DE7D-D53B-F208-CDC1-320DAD415EFD}"/>
              </a:ext>
            </a:extLst>
          </p:cNvPr>
          <p:cNvGraphicFramePr>
            <a:graphicFrameLocks/>
          </p:cNvGraphicFramePr>
          <p:nvPr/>
        </p:nvGraphicFramePr>
        <p:xfrm>
          <a:off x="4541838" y="3217863"/>
          <a:ext cx="10144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228600" progId="Equation.3">
                  <p:embed/>
                </p:oleObj>
              </mc:Choice>
              <mc:Fallback>
                <p:oleObj name="Equation" r:id="rId12" imgW="914400" imgH="2286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3217863"/>
                        <a:ext cx="10144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3" name="Object 11">
            <a:extLst>
              <a:ext uri="{FF2B5EF4-FFF2-40B4-BE49-F238E27FC236}">
                <a16:creationId xmlns:a16="http://schemas.microsoft.com/office/drawing/2014/main" id="{0D21A88D-B71A-6824-DAEE-88D090941D8A}"/>
              </a:ext>
            </a:extLst>
          </p:cNvPr>
          <p:cNvGraphicFramePr>
            <a:graphicFrameLocks/>
          </p:cNvGraphicFramePr>
          <p:nvPr/>
        </p:nvGraphicFramePr>
        <p:xfrm>
          <a:off x="2044700" y="3810000"/>
          <a:ext cx="2792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05071" imgH="381000" progId="Equation.3">
                  <p:embed/>
                </p:oleObj>
              </mc:Choice>
              <mc:Fallback>
                <p:oleObj name="Equation" r:id="rId14" imgW="2705071" imgH="3810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810000"/>
                        <a:ext cx="2792413" cy="482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4" name="Text Box 12">
            <a:extLst>
              <a:ext uri="{FF2B5EF4-FFF2-40B4-BE49-F238E27FC236}">
                <a16:creationId xmlns:a16="http://schemas.microsoft.com/office/drawing/2014/main" id="{2A6A8312-E374-05A9-1155-896137597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3819525"/>
            <a:ext cx="233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机械能守恒定律</a:t>
            </a:r>
          </a:p>
        </p:txBody>
      </p:sp>
      <p:sp>
        <p:nvSpPr>
          <p:cNvPr id="120845" name="AutoShape 13">
            <a:extLst>
              <a:ext uri="{FF2B5EF4-FFF2-40B4-BE49-F238E27FC236}">
                <a16:creationId xmlns:a16="http://schemas.microsoft.com/office/drawing/2014/main" id="{50A9994D-2080-588F-EA8E-216DAE829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9406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0846" name="Rectangle 14">
            <a:extLst>
              <a:ext uri="{FF2B5EF4-FFF2-40B4-BE49-F238E27FC236}">
                <a16:creationId xmlns:a16="http://schemas.microsoft.com/office/drawing/2014/main" id="{31E8636E-C9A5-385E-81E2-224CC1AB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2509838"/>
            <a:ext cx="2052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ea typeface="楷体_GB2312" panose="02010609030101010101" pitchFamily="49" charset="-122"/>
              </a:rPr>
              <a:t>机械能增量</a:t>
            </a:r>
          </a:p>
        </p:txBody>
      </p:sp>
      <p:sp>
        <p:nvSpPr>
          <p:cNvPr id="120847" name="Text Box 15">
            <a:extLst>
              <a:ext uri="{FF2B5EF4-FFF2-40B4-BE49-F238E27FC236}">
                <a16:creationId xmlns:a16="http://schemas.microsoft.com/office/drawing/2014/main" id="{AFB336CF-171A-2066-42E3-677F5174A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5487988"/>
            <a:ext cx="457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守恒定律是对一个系统而言的</a:t>
            </a:r>
          </a:p>
        </p:txBody>
      </p:sp>
      <p:sp>
        <p:nvSpPr>
          <p:cNvPr id="120848" name="Text Box 16">
            <a:extLst>
              <a:ext uri="{FF2B5EF4-FFF2-40B4-BE49-F238E27FC236}">
                <a16:creationId xmlns:a16="http://schemas.microsoft.com/office/drawing/2014/main" id="{DF90AA57-CBC8-6480-54FD-FA3332A79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6003925"/>
            <a:ext cx="732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(3)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守恒是对整个过程而言的，不能只考虑始末两状态</a:t>
            </a:r>
          </a:p>
        </p:txBody>
      </p:sp>
      <p:sp>
        <p:nvSpPr>
          <p:cNvPr id="120849" name="Text Box 17">
            <a:extLst>
              <a:ext uri="{FF2B5EF4-FFF2-40B4-BE49-F238E27FC236}">
                <a16:creationId xmlns:a16="http://schemas.microsoft.com/office/drawing/2014/main" id="{E431A13C-8A71-2661-20F0-8F2122322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4484688"/>
            <a:ext cx="784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说明</a:t>
            </a:r>
          </a:p>
        </p:txBody>
      </p:sp>
      <p:sp>
        <p:nvSpPr>
          <p:cNvPr id="120850" name="Text Box 18">
            <a:extLst>
              <a:ext uri="{FF2B5EF4-FFF2-40B4-BE49-F238E27FC236}">
                <a16:creationId xmlns:a16="http://schemas.microsoft.com/office/drawing/2014/main" id="{4F835E24-85C9-EB0E-CFBE-C5B484D35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4978400"/>
            <a:ext cx="183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守恒条件</a:t>
            </a:r>
          </a:p>
        </p:txBody>
      </p:sp>
      <p:graphicFrame>
        <p:nvGraphicFramePr>
          <p:cNvPr id="120851" name="Object 19">
            <a:extLst>
              <a:ext uri="{FF2B5EF4-FFF2-40B4-BE49-F238E27FC236}">
                <a16:creationId xmlns:a16="http://schemas.microsoft.com/office/drawing/2014/main" id="{09FD6D4C-CBD0-9A01-4D77-627E3F4B33C0}"/>
              </a:ext>
            </a:extLst>
          </p:cNvPr>
          <p:cNvGraphicFramePr>
            <a:graphicFrameLocks/>
          </p:cNvGraphicFramePr>
          <p:nvPr/>
        </p:nvGraphicFramePr>
        <p:xfrm>
          <a:off x="3111500" y="5033963"/>
          <a:ext cx="2005013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5059" imgH="228600" progId="Equation.3">
                  <p:embed/>
                </p:oleObj>
              </mc:Choice>
              <mc:Fallback>
                <p:oleObj name="Equation" r:id="rId16" imgW="1905059" imgH="228600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5033963"/>
                        <a:ext cx="2005013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52" name="AutoShape 20">
            <a:extLst>
              <a:ext uri="{FF2B5EF4-FFF2-40B4-BE49-F238E27FC236}">
                <a16:creationId xmlns:a16="http://schemas.microsoft.com/office/drawing/2014/main" id="{E3CAD9B8-27A1-C963-005C-542CB0617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3706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/>
      <p:bldP spid="120840" grpId="0" autoUpdateAnimBg="0"/>
      <p:bldP spid="120844" grpId="0" autoUpdateAnimBg="0"/>
      <p:bldP spid="120845" grpId="0" animBg="1"/>
      <p:bldP spid="120846" grpId="0"/>
      <p:bldP spid="120847" grpId="0" autoUpdateAnimBg="0"/>
      <p:bldP spid="120848" grpId="0" autoUpdateAnimBg="0"/>
      <p:bldP spid="120849" grpId="0" autoUpdateAnimBg="0"/>
      <p:bldP spid="120850" grpId="0" autoUpdateAnimBg="0"/>
      <p:bldP spid="1208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3386C33-F393-7C9B-C58C-492C0BD5F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2888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把一个物体从地球表面上沿铅垂方向以第二宇宙速度                              </a:t>
            </a:r>
          </a:p>
        </p:txBody>
      </p:sp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9F2167A3-FB17-886F-B7E6-F873DCDDEA4A}"/>
              </a:ext>
            </a:extLst>
          </p:cNvPr>
          <p:cNvGraphicFramePr>
            <a:graphicFrameLocks/>
          </p:cNvGraphicFramePr>
          <p:nvPr/>
        </p:nvGraphicFramePr>
        <p:xfrm>
          <a:off x="814388" y="825500"/>
          <a:ext cx="1878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71" imgH="876300" progId="Equation.3">
                  <p:embed/>
                </p:oleObj>
              </mc:Choice>
              <mc:Fallback>
                <p:oleObj name="Equation" r:id="rId2" imgW="1790671" imgH="8763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825500"/>
                        <a:ext cx="1878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Text Box 4">
            <a:extLst>
              <a:ext uri="{FF2B5EF4-FFF2-40B4-BE49-F238E27FC236}">
                <a16:creationId xmlns:a16="http://schemas.microsoft.com/office/drawing/2014/main" id="{225A47E4-900A-7DA6-3746-F372DE5FC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25654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21861" name="Text Box 5">
            <a:extLst>
              <a:ext uri="{FF2B5EF4-FFF2-40B4-BE49-F238E27FC236}">
                <a16:creationId xmlns:a16="http://schemas.microsoft.com/office/drawing/2014/main" id="{9700E124-F2C8-3C8B-9683-ADE5C28CB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565400"/>
            <a:ext cx="3535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根据机械能守恒定律有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21862" name="Object 6">
            <a:extLst>
              <a:ext uri="{FF2B5EF4-FFF2-40B4-BE49-F238E27FC236}">
                <a16:creationId xmlns:a16="http://schemas.microsoft.com/office/drawing/2014/main" id="{32EBC448-0FE3-7AB1-5FB3-182874509539}"/>
              </a:ext>
            </a:extLst>
          </p:cNvPr>
          <p:cNvGraphicFramePr>
            <a:graphicFrameLocks/>
          </p:cNvGraphicFramePr>
          <p:nvPr/>
        </p:nvGraphicFramePr>
        <p:xfrm>
          <a:off x="971550" y="3197225"/>
          <a:ext cx="482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24518" imgH="819150" progId="Equation.3">
                  <p:embed/>
                </p:oleObj>
              </mc:Choice>
              <mc:Fallback>
                <p:oleObj name="Equation" r:id="rId4" imgW="4724518" imgH="81915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97225"/>
                        <a:ext cx="4826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7">
            <a:extLst>
              <a:ext uri="{FF2B5EF4-FFF2-40B4-BE49-F238E27FC236}">
                <a16:creationId xmlns:a16="http://schemas.microsoft.com/office/drawing/2014/main" id="{D9EDCDFC-DADD-6036-F0C9-6BFAA26E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2286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39944" name="Rectangle 8">
            <a:extLst>
              <a:ext uri="{FF2B5EF4-FFF2-40B4-BE49-F238E27FC236}">
                <a16:creationId xmlns:a16="http://schemas.microsoft.com/office/drawing/2014/main" id="{41E7C03F-C5F0-5472-2C97-B789B1457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1844675"/>
            <a:ext cx="8118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物体从地面飞行到与地心相距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nR</a:t>
            </a:r>
            <a:r>
              <a:rPr kumimoji="1" lang="en-US" altLang="zh-CN" sz="2400" b="1" i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e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处经历的时间。</a:t>
            </a:r>
          </a:p>
        </p:txBody>
      </p:sp>
      <p:sp>
        <p:nvSpPr>
          <p:cNvPr id="39945" name="Rectangle 9">
            <a:extLst>
              <a:ext uri="{FF2B5EF4-FFF2-40B4-BE49-F238E27FC236}">
                <a16:creationId xmlns:a16="http://schemas.microsoft.com/office/drawing/2014/main" id="{316FCC01-E95B-CCE2-46B7-7A99E4FFE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8954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39946" name="Rectangle 10">
            <a:extLst>
              <a:ext uri="{FF2B5EF4-FFF2-40B4-BE49-F238E27FC236}">
                <a16:creationId xmlns:a16="http://schemas.microsoft.com/office/drawing/2014/main" id="{D22A605C-2AA3-E1F5-8352-72040B181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25" y="1069975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发射出去，阻力忽略不计，</a:t>
            </a:r>
          </a:p>
        </p:txBody>
      </p:sp>
      <p:graphicFrame>
        <p:nvGraphicFramePr>
          <p:cNvPr id="121867" name="Object 11">
            <a:extLst>
              <a:ext uri="{FF2B5EF4-FFF2-40B4-BE49-F238E27FC236}">
                <a16:creationId xmlns:a16="http://schemas.microsoft.com/office/drawing/2014/main" id="{1D224CAB-3DCF-1BF4-A27F-5EC9893BFDDE}"/>
              </a:ext>
            </a:extLst>
          </p:cNvPr>
          <p:cNvGraphicFramePr>
            <a:graphicFrameLocks/>
          </p:cNvGraphicFramePr>
          <p:nvPr/>
        </p:nvGraphicFramePr>
        <p:xfrm>
          <a:off x="6610350" y="3141663"/>
          <a:ext cx="17526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7218" imgH="781050" progId="Equation.3">
                  <p:embed/>
                </p:oleObj>
              </mc:Choice>
              <mc:Fallback>
                <p:oleObj name="Equation" r:id="rId6" imgW="1657218" imgH="78105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141663"/>
                        <a:ext cx="17526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8" name="Object 12">
            <a:extLst>
              <a:ext uri="{FF2B5EF4-FFF2-40B4-BE49-F238E27FC236}">
                <a16:creationId xmlns:a16="http://schemas.microsoft.com/office/drawing/2014/main" id="{0DC6AAB2-3354-870B-DFE6-B2BCD84C1355}"/>
              </a:ext>
            </a:extLst>
          </p:cNvPr>
          <p:cNvGraphicFramePr>
            <a:graphicFrameLocks/>
          </p:cNvGraphicFramePr>
          <p:nvPr/>
        </p:nvGraphicFramePr>
        <p:xfrm>
          <a:off x="1042988" y="4279900"/>
          <a:ext cx="1003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723900" progId="Equation.3">
                  <p:embed/>
                </p:oleObj>
              </mc:Choice>
              <mc:Fallback>
                <p:oleObj name="Equation" r:id="rId8" imgW="914400" imgH="7239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79900"/>
                        <a:ext cx="10033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9" name="Object 13">
            <a:extLst>
              <a:ext uri="{FF2B5EF4-FFF2-40B4-BE49-F238E27FC236}">
                <a16:creationId xmlns:a16="http://schemas.microsoft.com/office/drawing/2014/main" id="{D0485401-F795-D2FA-531A-A7AF757DEE26}"/>
              </a:ext>
            </a:extLst>
          </p:cNvPr>
          <p:cNvGraphicFramePr>
            <a:graphicFrameLocks/>
          </p:cNvGraphicFramePr>
          <p:nvPr/>
        </p:nvGraphicFramePr>
        <p:xfrm>
          <a:off x="3203575" y="4278313"/>
          <a:ext cx="3365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76659" imgH="838200" progId="Equation.3">
                  <p:embed/>
                </p:oleObj>
              </mc:Choice>
              <mc:Fallback>
                <p:oleObj name="Equation" r:id="rId10" imgW="3276659" imgH="83820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278313"/>
                        <a:ext cx="3365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70" name="AutoShape 14">
            <a:extLst>
              <a:ext uri="{FF2B5EF4-FFF2-40B4-BE49-F238E27FC236}">
                <a16:creationId xmlns:a16="http://schemas.microsoft.com/office/drawing/2014/main" id="{E989A855-43C2-7F4E-F77E-336603457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459581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1871" name="Object 15">
            <a:extLst>
              <a:ext uri="{FF2B5EF4-FFF2-40B4-BE49-F238E27FC236}">
                <a16:creationId xmlns:a16="http://schemas.microsoft.com/office/drawing/2014/main" id="{4969BA3C-7506-9769-C9B6-3B3CEFDF8A70}"/>
              </a:ext>
            </a:extLst>
          </p:cNvPr>
          <p:cNvGraphicFramePr>
            <a:graphicFrameLocks/>
          </p:cNvGraphicFramePr>
          <p:nvPr/>
        </p:nvGraphicFramePr>
        <p:xfrm>
          <a:off x="1019175" y="5445125"/>
          <a:ext cx="326707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91047" imgH="838200" progId="Equation.3">
                  <p:embed/>
                </p:oleObj>
              </mc:Choice>
              <mc:Fallback>
                <p:oleObj name="公式" r:id="rId12" imgW="3391047" imgH="83820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5445125"/>
                        <a:ext cx="3267075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2" name="Object 16">
            <a:extLst>
              <a:ext uri="{FF2B5EF4-FFF2-40B4-BE49-F238E27FC236}">
                <a16:creationId xmlns:a16="http://schemas.microsoft.com/office/drawing/2014/main" id="{0C6CF6DC-EE85-A77F-F39D-CE2BE2ADB4AF}"/>
              </a:ext>
            </a:extLst>
          </p:cNvPr>
          <p:cNvGraphicFramePr>
            <a:graphicFrameLocks/>
          </p:cNvGraphicFramePr>
          <p:nvPr/>
        </p:nvGraphicFramePr>
        <p:xfrm>
          <a:off x="5129213" y="5445125"/>
          <a:ext cx="3527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38535" imgH="838200" progId="Equation.3">
                  <p:embed/>
                </p:oleObj>
              </mc:Choice>
              <mc:Fallback>
                <p:oleObj name="Equation" r:id="rId14" imgW="3638535" imgH="8382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213" y="5445125"/>
                        <a:ext cx="35274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53" name="Picture 2">
            <a:extLst>
              <a:ext uri="{FF2B5EF4-FFF2-40B4-BE49-F238E27FC236}">
                <a16:creationId xmlns:a16="http://schemas.microsoft.com/office/drawing/2014/main" id="{1C40153A-F90F-5009-B41A-1F6EAB9F5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600" y="144463"/>
            <a:ext cx="1168400" cy="276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  <p:bldP spid="121861" grpId="0" autoUpdateAnimBg="0"/>
      <p:bldP spid="12187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Object 2">
            <a:extLst>
              <a:ext uri="{FF2B5EF4-FFF2-40B4-BE49-F238E27FC236}">
                <a16:creationId xmlns:a16="http://schemas.microsoft.com/office/drawing/2014/main" id="{3E476F43-11C2-456C-5400-CE9495512CF2}"/>
              </a:ext>
            </a:extLst>
          </p:cNvPr>
          <p:cNvGraphicFramePr>
            <a:graphicFrameLocks/>
          </p:cNvGraphicFramePr>
          <p:nvPr/>
        </p:nvGraphicFramePr>
        <p:xfrm>
          <a:off x="1514475" y="5199063"/>
          <a:ext cx="5649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62659" imgH="723900" progId="Equation.3">
                  <p:embed/>
                </p:oleObj>
              </mc:Choice>
              <mc:Fallback>
                <p:oleObj name="Equation" r:id="rId2" imgW="5562659" imgH="7239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5199063"/>
                        <a:ext cx="56499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3" name="Object 3">
            <a:extLst>
              <a:ext uri="{FF2B5EF4-FFF2-40B4-BE49-F238E27FC236}">
                <a16:creationId xmlns:a16="http://schemas.microsoft.com/office/drawing/2014/main" id="{78D22E61-D7CC-CD86-3F46-739CDEA768E9}"/>
              </a:ext>
            </a:extLst>
          </p:cNvPr>
          <p:cNvGraphicFramePr>
            <a:graphicFrameLocks/>
          </p:cNvGraphicFramePr>
          <p:nvPr/>
        </p:nvGraphicFramePr>
        <p:xfrm>
          <a:off x="3006725" y="6165850"/>
          <a:ext cx="2195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353" imgH="323850" progId="Equation.3">
                  <p:embed/>
                </p:oleObj>
              </mc:Choice>
              <mc:Fallback>
                <p:oleObj name="Equation" r:id="rId4" imgW="2095353" imgH="32385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725" y="6165850"/>
                        <a:ext cx="21955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4">
            <a:extLst>
              <a:ext uri="{FF2B5EF4-FFF2-40B4-BE49-F238E27FC236}">
                <a16:creationId xmlns:a16="http://schemas.microsoft.com/office/drawing/2014/main" id="{E2D31187-68E9-CB9A-9968-8CD7DCD7CB3A}"/>
              </a:ext>
            </a:extLst>
          </p:cNvPr>
          <p:cNvGraphicFramePr>
            <a:graphicFrameLocks/>
          </p:cNvGraphicFramePr>
          <p:nvPr/>
        </p:nvGraphicFramePr>
        <p:xfrm>
          <a:off x="1511300" y="4302125"/>
          <a:ext cx="1320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9082" imgH="723900" progId="Equation.3">
                  <p:embed/>
                </p:oleObj>
              </mc:Choice>
              <mc:Fallback>
                <p:oleObj name="Equation" r:id="rId6" imgW="1219082" imgH="7239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302125"/>
                        <a:ext cx="1320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>
            <a:extLst>
              <a:ext uri="{FF2B5EF4-FFF2-40B4-BE49-F238E27FC236}">
                <a16:creationId xmlns:a16="http://schemas.microsoft.com/office/drawing/2014/main" id="{1ED3E27F-BF79-327D-24FB-D4A53CA1BD75}"/>
              </a:ext>
            </a:extLst>
          </p:cNvPr>
          <p:cNvGraphicFramePr>
            <a:graphicFrameLocks/>
          </p:cNvGraphicFramePr>
          <p:nvPr/>
        </p:nvGraphicFramePr>
        <p:xfrm>
          <a:off x="4051300" y="4313238"/>
          <a:ext cx="952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7206" imgH="723900" progId="Equation.3">
                  <p:embed/>
                </p:oleObj>
              </mc:Choice>
              <mc:Fallback>
                <p:oleObj name="Equation" r:id="rId8" imgW="857206" imgH="7239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4313238"/>
                        <a:ext cx="952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>
            <a:extLst>
              <a:ext uri="{FF2B5EF4-FFF2-40B4-BE49-F238E27FC236}">
                <a16:creationId xmlns:a16="http://schemas.microsoft.com/office/drawing/2014/main" id="{00D390C5-E0F9-CE3E-12CC-761DA08FC5C7}"/>
              </a:ext>
            </a:extLst>
          </p:cNvPr>
          <p:cNvGraphicFramePr>
            <a:graphicFrameLocks/>
          </p:cNvGraphicFramePr>
          <p:nvPr/>
        </p:nvGraphicFramePr>
        <p:xfrm>
          <a:off x="5953125" y="4313238"/>
          <a:ext cx="128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953" imgH="723900" progId="Equation.3">
                  <p:embed/>
                </p:oleObj>
              </mc:Choice>
              <mc:Fallback>
                <p:oleObj name="Equation" r:id="rId10" imgW="1180953" imgH="7239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4313238"/>
                        <a:ext cx="1282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7" name="Text Box 7">
            <a:extLst>
              <a:ext uri="{FF2B5EF4-FFF2-40B4-BE49-F238E27FC236}">
                <a16:creationId xmlns:a16="http://schemas.microsoft.com/office/drawing/2014/main" id="{741D9FD6-682E-33FF-0FB1-C74E88DA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8100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用弹簧连接两个木板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 dirty="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 dirty="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，弹簧压缩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srgbClr val="66FF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22888" name="Line 8">
            <a:extLst>
              <a:ext uri="{FF2B5EF4-FFF2-40B4-BE49-F238E27FC236}">
                <a16:creationId xmlns:a16="http://schemas.microsoft.com/office/drawing/2014/main" id="{9BD22130-3C8B-102A-0D3A-697D1FAAB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3" y="2022475"/>
            <a:ext cx="7824787" cy="0"/>
          </a:xfrm>
          <a:prstGeom prst="line">
            <a:avLst/>
          </a:prstGeom>
          <a:noFill/>
          <a:ln w="28575">
            <a:solidFill>
              <a:srgbClr val="CC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889" name="Group 9">
            <a:extLst>
              <a:ext uri="{FF2B5EF4-FFF2-40B4-BE49-F238E27FC236}">
                <a16:creationId xmlns:a16="http://schemas.microsoft.com/office/drawing/2014/main" id="{D17535D5-BB3C-3CDB-F627-F9602C8205A6}"/>
              </a:ext>
            </a:extLst>
          </p:cNvPr>
          <p:cNvGrpSpPr>
            <a:grpSpLocks/>
          </p:cNvGrpSpPr>
          <p:nvPr/>
        </p:nvGrpSpPr>
        <p:grpSpPr bwMode="auto">
          <a:xfrm>
            <a:off x="1766888" y="2249488"/>
            <a:ext cx="1585912" cy="1179512"/>
            <a:chOff x="1113" y="1417"/>
            <a:chExt cx="999" cy="743"/>
          </a:xfrm>
        </p:grpSpPr>
        <p:sp>
          <p:nvSpPr>
            <p:cNvPr id="41008" name="Rectangle 10">
              <a:extLst>
                <a:ext uri="{FF2B5EF4-FFF2-40B4-BE49-F238E27FC236}">
                  <a16:creationId xmlns:a16="http://schemas.microsoft.com/office/drawing/2014/main" id="{45DC9681-0606-F709-C5F5-CA889CD50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1514"/>
              <a:ext cx="672" cy="96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FF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1009" name="Object 11">
              <a:extLst>
                <a:ext uri="{FF2B5EF4-FFF2-40B4-BE49-F238E27FC236}">
                  <a16:creationId xmlns:a16="http://schemas.microsoft.com/office/drawing/2014/main" id="{E24ED865-ACD0-DC42-F79E-6F4C740D35E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29" y="1417"/>
            <a:ext cx="24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682" imgH="323850" progId="Equation.3">
                    <p:embed/>
                  </p:oleObj>
                </mc:Choice>
                <mc:Fallback>
                  <p:oleObj name="Equation" r:id="rId12" imgW="304682" imgH="323850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9" y="1417"/>
                          <a:ext cx="247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0" name="Rectangle 12">
              <a:extLst>
                <a:ext uri="{FF2B5EF4-FFF2-40B4-BE49-F238E27FC236}">
                  <a16:creationId xmlns:a16="http://schemas.microsoft.com/office/drawing/2014/main" id="{DE1061D0-AE45-FF51-5A5D-C2E7D716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" y="1994"/>
              <a:ext cx="672" cy="96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1011" name="Object 13">
              <a:extLst>
                <a:ext uri="{FF2B5EF4-FFF2-40B4-BE49-F238E27FC236}">
                  <a16:creationId xmlns:a16="http://schemas.microsoft.com/office/drawing/2014/main" id="{1AFE4123-9692-31D1-63BF-360323580A9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88" y="1897"/>
            <a:ext cx="22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553" imgH="323850" progId="Equation.3">
                    <p:embed/>
                  </p:oleObj>
                </mc:Choice>
                <mc:Fallback>
                  <p:oleObj name="Equation" r:id="rId14" imgW="266553" imgH="323850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" y="1897"/>
                          <a:ext cx="22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1012" name="Picture 14">
              <a:extLst>
                <a:ext uri="{FF2B5EF4-FFF2-40B4-BE49-F238E27FC236}">
                  <a16:creationId xmlns:a16="http://schemas.microsoft.com/office/drawing/2014/main" id="{E9AFE047-0C05-4281-092E-8566B3C651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1" y="1610"/>
              <a:ext cx="9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2895" name="Line 15">
            <a:extLst>
              <a:ext uri="{FF2B5EF4-FFF2-40B4-BE49-F238E27FC236}">
                <a16:creationId xmlns:a16="http://schemas.microsoft.com/office/drawing/2014/main" id="{277E846C-E1C9-DC67-D4FB-985072B45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2088" y="2403475"/>
            <a:ext cx="304800" cy="0"/>
          </a:xfrm>
          <a:prstGeom prst="line">
            <a:avLst/>
          </a:prstGeom>
          <a:noFill/>
          <a:ln w="28575">
            <a:solidFill>
              <a:srgbClr val="CC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896" name="Object 16">
            <a:extLst>
              <a:ext uri="{FF2B5EF4-FFF2-40B4-BE49-F238E27FC236}">
                <a16:creationId xmlns:a16="http://schemas.microsoft.com/office/drawing/2014/main" id="{EA59D8C8-3298-8B6D-089F-93277AA566DB}"/>
              </a:ext>
            </a:extLst>
          </p:cNvPr>
          <p:cNvGraphicFramePr>
            <a:graphicFrameLocks/>
          </p:cNvGraphicFramePr>
          <p:nvPr/>
        </p:nvGraphicFramePr>
        <p:xfrm>
          <a:off x="1131888" y="2006600"/>
          <a:ext cx="315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777" imgH="342900" progId="Equation.3">
                  <p:embed/>
                </p:oleObj>
              </mc:Choice>
              <mc:Fallback>
                <p:oleObj name="Equation" r:id="rId17" imgW="228777" imgH="3429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2006600"/>
                        <a:ext cx="315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7" name="Line 17">
            <a:extLst>
              <a:ext uri="{FF2B5EF4-FFF2-40B4-BE49-F238E27FC236}">
                <a16:creationId xmlns:a16="http://schemas.microsoft.com/office/drawing/2014/main" id="{4E4A9971-C5ED-D3CA-BED4-7FD19F833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22475"/>
            <a:ext cx="0" cy="381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898" name="Group 18">
            <a:extLst>
              <a:ext uri="{FF2B5EF4-FFF2-40B4-BE49-F238E27FC236}">
                <a16:creationId xmlns:a16="http://schemas.microsoft.com/office/drawing/2014/main" id="{BC645AD7-D3AA-FF6B-5A70-EE6D2558DC76}"/>
              </a:ext>
            </a:extLst>
          </p:cNvPr>
          <p:cNvGrpSpPr>
            <a:grpSpLocks/>
          </p:cNvGrpSpPr>
          <p:nvPr/>
        </p:nvGrpSpPr>
        <p:grpSpPr bwMode="auto">
          <a:xfrm>
            <a:off x="4357688" y="2478088"/>
            <a:ext cx="1585912" cy="950912"/>
            <a:chOff x="2745" y="1561"/>
            <a:chExt cx="999" cy="599"/>
          </a:xfrm>
        </p:grpSpPr>
        <p:sp>
          <p:nvSpPr>
            <p:cNvPr id="41003" name="Rectangle 19">
              <a:extLst>
                <a:ext uri="{FF2B5EF4-FFF2-40B4-BE49-F238E27FC236}">
                  <a16:creationId xmlns:a16="http://schemas.microsoft.com/office/drawing/2014/main" id="{0BFC1D06-CD4F-AC89-F6F5-F49ED2BAC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1663"/>
              <a:ext cx="672" cy="96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FF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1004" name="Object 20">
              <a:extLst>
                <a:ext uri="{FF2B5EF4-FFF2-40B4-BE49-F238E27FC236}">
                  <a16:creationId xmlns:a16="http://schemas.microsoft.com/office/drawing/2014/main" id="{C8E4C7D9-7B7A-0C48-2520-042E77ADE0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97" y="1561"/>
            <a:ext cx="24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04682" imgH="323850" progId="Equation.3">
                    <p:embed/>
                  </p:oleObj>
                </mc:Choice>
                <mc:Fallback>
                  <p:oleObj name="Equation" r:id="rId19" imgW="304682" imgH="323850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7" y="1561"/>
                          <a:ext cx="247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5" name="Rectangle 21">
              <a:extLst>
                <a:ext uri="{FF2B5EF4-FFF2-40B4-BE49-F238E27FC236}">
                  <a16:creationId xmlns:a16="http://schemas.microsoft.com/office/drawing/2014/main" id="{C8540A9A-2931-08C4-FAAD-731BCE4E2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1994"/>
              <a:ext cx="672" cy="96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1006" name="Object 22">
              <a:extLst>
                <a:ext uri="{FF2B5EF4-FFF2-40B4-BE49-F238E27FC236}">
                  <a16:creationId xmlns:a16="http://schemas.microsoft.com/office/drawing/2014/main" id="{92498594-E071-84D8-FD2A-6F193CD9860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520" y="1897"/>
            <a:ext cx="22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66553" imgH="323850" progId="Equation.3">
                    <p:embed/>
                  </p:oleObj>
                </mc:Choice>
                <mc:Fallback>
                  <p:oleObj name="Equation" r:id="rId21" imgW="266553" imgH="323850" progId="Equation.3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0" y="1897"/>
                          <a:ext cx="22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1007" name="Picture 23">
              <a:extLst>
                <a:ext uri="{FF2B5EF4-FFF2-40B4-BE49-F238E27FC236}">
                  <a16:creationId xmlns:a16="http://schemas.microsoft.com/office/drawing/2014/main" id="{F3BEAE9F-AEFD-CB32-98B1-9D8BDEA19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1754"/>
              <a:ext cx="8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2904" name="Line 24">
            <a:extLst>
              <a:ext uri="{FF2B5EF4-FFF2-40B4-BE49-F238E27FC236}">
                <a16:creationId xmlns:a16="http://schemas.microsoft.com/office/drawing/2014/main" id="{A36754DF-6C2E-5853-0210-792E61BA1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1798638"/>
            <a:ext cx="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05" name="Object 25">
            <a:extLst>
              <a:ext uri="{FF2B5EF4-FFF2-40B4-BE49-F238E27FC236}">
                <a16:creationId xmlns:a16="http://schemas.microsoft.com/office/drawing/2014/main" id="{D3B90D83-B94C-C9F6-0C7A-382F04A1824E}"/>
              </a:ext>
            </a:extLst>
          </p:cNvPr>
          <p:cNvGraphicFramePr>
            <a:graphicFrameLocks/>
          </p:cNvGraphicFramePr>
          <p:nvPr/>
        </p:nvGraphicFramePr>
        <p:xfrm>
          <a:off x="4779963" y="1374775"/>
          <a:ext cx="3063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9712" imgH="247650" progId="Equation.3">
                  <p:embed/>
                </p:oleObj>
              </mc:Choice>
              <mc:Fallback>
                <p:oleObj name="Equation" r:id="rId24" imgW="209712" imgH="247650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3" y="1374775"/>
                        <a:ext cx="3063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06" name="Line 26">
            <a:extLst>
              <a:ext uri="{FF2B5EF4-FFF2-40B4-BE49-F238E27FC236}">
                <a16:creationId xmlns:a16="http://schemas.microsoft.com/office/drawing/2014/main" id="{BE66D642-4278-D414-5CC0-BE021F6EC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7588" y="2403475"/>
            <a:ext cx="609600" cy="0"/>
          </a:xfrm>
          <a:prstGeom prst="line">
            <a:avLst/>
          </a:prstGeom>
          <a:noFill/>
          <a:ln w="28575">
            <a:solidFill>
              <a:srgbClr val="CC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7" name="Line 27">
            <a:extLst>
              <a:ext uri="{FF2B5EF4-FFF2-40B4-BE49-F238E27FC236}">
                <a16:creationId xmlns:a16="http://schemas.microsoft.com/office/drawing/2014/main" id="{A8651501-A850-EBE1-9215-9407ABBE5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632075"/>
            <a:ext cx="533400" cy="0"/>
          </a:xfrm>
          <a:prstGeom prst="line">
            <a:avLst/>
          </a:prstGeom>
          <a:noFill/>
          <a:ln w="28575">
            <a:solidFill>
              <a:srgbClr val="CC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08" name="Group 28">
            <a:extLst>
              <a:ext uri="{FF2B5EF4-FFF2-40B4-BE49-F238E27FC236}">
                <a16:creationId xmlns:a16="http://schemas.microsoft.com/office/drawing/2014/main" id="{8173CCE5-0CC7-A8A2-8CAA-33163C062570}"/>
              </a:ext>
            </a:extLst>
          </p:cNvPr>
          <p:cNvGrpSpPr>
            <a:grpSpLocks/>
          </p:cNvGrpSpPr>
          <p:nvPr/>
        </p:nvGrpSpPr>
        <p:grpSpPr bwMode="auto">
          <a:xfrm>
            <a:off x="3881438" y="2116138"/>
            <a:ext cx="0" cy="803275"/>
            <a:chOff x="2445" y="2411"/>
            <a:chExt cx="0" cy="506"/>
          </a:xfrm>
        </p:grpSpPr>
        <p:sp>
          <p:nvSpPr>
            <p:cNvPr id="41000" name="Line 29">
              <a:extLst>
                <a:ext uri="{FF2B5EF4-FFF2-40B4-BE49-F238E27FC236}">
                  <a16:creationId xmlns:a16="http://schemas.microsoft.com/office/drawing/2014/main" id="{608F2657-EA1C-B413-FE21-86E0328AB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" y="2411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Line 30">
              <a:extLst>
                <a:ext uri="{FF2B5EF4-FFF2-40B4-BE49-F238E27FC236}">
                  <a16:creationId xmlns:a16="http://schemas.microsoft.com/office/drawing/2014/main" id="{B7084AB3-4290-B15E-451B-43EA6043F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" y="2603"/>
              <a:ext cx="0" cy="144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Line 31">
              <a:extLst>
                <a:ext uri="{FF2B5EF4-FFF2-40B4-BE49-F238E27FC236}">
                  <a16:creationId xmlns:a16="http://schemas.microsoft.com/office/drawing/2014/main" id="{A01E7FC4-845F-CBF9-8CEA-A9F014F38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" y="2725"/>
              <a:ext cx="0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2912" name="Object 32">
            <a:extLst>
              <a:ext uri="{FF2B5EF4-FFF2-40B4-BE49-F238E27FC236}">
                <a16:creationId xmlns:a16="http://schemas.microsoft.com/office/drawing/2014/main" id="{E5F72EE2-93F6-4FCD-4A3F-812BF4540727}"/>
              </a:ext>
            </a:extLst>
          </p:cNvPr>
          <p:cNvGraphicFramePr>
            <a:graphicFrameLocks/>
          </p:cNvGraphicFramePr>
          <p:nvPr/>
        </p:nvGraphicFramePr>
        <p:xfrm>
          <a:off x="4062413" y="2287588"/>
          <a:ext cx="2809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0647" imgH="323850" progId="Equation.3">
                  <p:embed/>
                </p:oleObj>
              </mc:Choice>
              <mc:Fallback>
                <p:oleObj name="Equation" r:id="rId26" imgW="190647" imgH="323850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2287588"/>
                        <a:ext cx="2809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13" name="Group 33">
            <a:extLst>
              <a:ext uri="{FF2B5EF4-FFF2-40B4-BE49-F238E27FC236}">
                <a16:creationId xmlns:a16="http://schemas.microsoft.com/office/drawing/2014/main" id="{7348703F-80AA-BD1A-3378-74029308AF84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1497013"/>
            <a:ext cx="1525587" cy="1930400"/>
            <a:chOff x="4111" y="943"/>
            <a:chExt cx="961" cy="1216"/>
          </a:xfrm>
        </p:grpSpPr>
        <p:sp>
          <p:nvSpPr>
            <p:cNvPr id="40997" name="Rectangle 34">
              <a:extLst>
                <a:ext uri="{FF2B5EF4-FFF2-40B4-BE49-F238E27FC236}">
                  <a16:creationId xmlns:a16="http://schemas.microsoft.com/office/drawing/2014/main" id="{3BEA3ADC-20A4-9D8D-1497-E2016E083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" y="1994"/>
              <a:ext cx="672" cy="96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0998" name="Object 35">
              <a:extLst>
                <a:ext uri="{FF2B5EF4-FFF2-40B4-BE49-F238E27FC236}">
                  <a16:creationId xmlns:a16="http://schemas.microsoft.com/office/drawing/2014/main" id="{1CB2EF7B-726B-5B15-40C1-68990B82E3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48" y="1896"/>
            <a:ext cx="22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66553" imgH="323850" progId="Equation.3">
                    <p:embed/>
                  </p:oleObj>
                </mc:Choice>
                <mc:Fallback>
                  <p:oleObj name="Equation" r:id="rId28" imgW="266553" imgH="323850" progId="Equation.3">
                    <p:embed/>
                    <p:pic>
                      <p:nvPicPr>
                        <p:cNvPr id="0" name="Object 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896"/>
                          <a:ext cx="22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0999" name="Picture 36">
              <a:extLst>
                <a:ext uri="{FF2B5EF4-FFF2-40B4-BE49-F238E27FC236}">
                  <a16:creationId xmlns:a16="http://schemas.microsoft.com/office/drawing/2014/main" id="{CA68DC36-DA60-97C3-DA6E-6D99763D3C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1" y="943"/>
              <a:ext cx="161" cy="1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2917" name="Line 37">
            <a:extLst>
              <a:ext uri="{FF2B5EF4-FFF2-40B4-BE49-F238E27FC236}">
                <a16:creationId xmlns:a16="http://schemas.microsoft.com/office/drawing/2014/main" id="{BABDC721-576C-A1D3-EE35-7DE2871BE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524000"/>
            <a:ext cx="609600" cy="0"/>
          </a:xfrm>
          <a:prstGeom prst="line">
            <a:avLst/>
          </a:prstGeom>
          <a:noFill/>
          <a:ln w="28575">
            <a:solidFill>
              <a:srgbClr val="CC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8" name="Line 38">
            <a:extLst>
              <a:ext uri="{FF2B5EF4-FFF2-40B4-BE49-F238E27FC236}">
                <a16:creationId xmlns:a16="http://schemas.microsoft.com/office/drawing/2014/main" id="{D3854207-DDD5-9B9A-4C52-780CB272B9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7625" y="1533525"/>
            <a:ext cx="4763" cy="4746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19" name="Object 39">
            <a:extLst>
              <a:ext uri="{FF2B5EF4-FFF2-40B4-BE49-F238E27FC236}">
                <a16:creationId xmlns:a16="http://schemas.microsoft.com/office/drawing/2014/main" id="{9062B2A9-F509-14DC-A30D-6296212FDD58}"/>
              </a:ext>
            </a:extLst>
          </p:cNvPr>
          <p:cNvGraphicFramePr>
            <a:graphicFrameLocks/>
          </p:cNvGraphicFramePr>
          <p:nvPr/>
        </p:nvGraphicFramePr>
        <p:xfrm>
          <a:off x="7848600" y="1524000"/>
          <a:ext cx="3159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777" imgH="323850" progId="Equation.3">
                  <p:embed/>
                </p:oleObj>
              </mc:Choice>
              <mc:Fallback>
                <p:oleObj name="Equation" r:id="rId31" imgW="228777" imgH="323850" progId="Equation.3">
                  <p:embed/>
                  <p:pic>
                    <p:nvPicPr>
                      <p:cNvPr id="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524000"/>
                        <a:ext cx="3159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0" name="Text Box 40">
            <a:extLst>
              <a:ext uri="{FF2B5EF4-FFF2-40B4-BE49-F238E27FC236}">
                <a16:creationId xmlns:a16="http://schemas.microsoft.com/office/drawing/2014/main" id="{6E0FF69A-5225-2CF8-03D3-872FE3EF9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036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22921" name="Text Box 41">
            <a:extLst>
              <a:ext uri="{FF2B5EF4-FFF2-40B4-BE49-F238E27FC236}">
                <a16:creationId xmlns:a16="http://schemas.microsoft.com/office/drawing/2014/main" id="{F8C231BE-431A-296C-530B-1FEA564F2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7973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整个过程只有保守力作功，机械能守恒</a:t>
            </a:r>
          </a:p>
        </p:txBody>
      </p:sp>
      <p:sp>
        <p:nvSpPr>
          <p:cNvPr id="122922" name="Line 42">
            <a:extLst>
              <a:ext uri="{FF2B5EF4-FFF2-40B4-BE49-F238E27FC236}">
                <a16:creationId xmlns:a16="http://schemas.microsoft.com/office/drawing/2014/main" id="{A9CD3A16-8809-9E2B-73CD-9D12212A4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6913" y="3241675"/>
            <a:ext cx="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3" name="Line 43">
            <a:extLst>
              <a:ext uri="{FF2B5EF4-FFF2-40B4-BE49-F238E27FC236}">
                <a16:creationId xmlns:a16="http://schemas.microsoft.com/office/drawing/2014/main" id="{754E7F5C-5FAD-7857-2EC0-AF6068CBF5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5325" y="2708275"/>
            <a:ext cx="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4" name="Line 44">
            <a:extLst>
              <a:ext uri="{FF2B5EF4-FFF2-40B4-BE49-F238E27FC236}">
                <a16:creationId xmlns:a16="http://schemas.microsoft.com/office/drawing/2014/main" id="{25D36791-70A5-BC3C-8435-5C53CD7D4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7588" y="2438400"/>
            <a:ext cx="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5" name="Line 45">
            <a:extLst>
              <a:ext uri="{FF2B5EF4-FFF2-40B4-BE49-F238E27FC236}">
                <a16:creationId xmlns:a16="http://schemas.microsoft.com/office/drawing/2014/main" id="{79A386AB-84B0-714E-37E9-29E0AA2DCF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1905000"/>
            <a:ext cx="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26" name="Object 46">
            <a:extLst>
              <a:ext uri="{FF2B5EF4-FFF2-40B4-BE49-F238E27FC236}">
                <a16:creationId xmlns:a16="http://schemas.microsoft.com/office/drawing/2014/main" id="{5FB9F21F-63E3-1B5F-1D62-ACD05714EA21}"/>
              </a:ext>
            </a:extLst>
          </p:cNvPr>
          <p:cNvGraphicFramePr>
            <a:graphicFrameLocks/>
          </p:cNvGraphicFramePr>
          <p:nvPr/>
        </p:nvGraphicFramePr>
        <p:xfrm>
          <a:off x="2451100" y="2643188"/>
          <a:ext cx="3952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04682" imgH="342900" progId="Equation.3">
                  <p:embed/>
                </p:oleObj>
              </mc:Choice>
              <mc:Fallback>
                <p:oleObj name="Equation" r:id="rId33" imgW="304682" imgH="342900" progId="Equation.3">
                  <p:embed/>
                  <p:pic>
                    <p:nvPicPr>
                      <p:cNvPr id="0" name="Object 46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2643188"/>
                        <a:ext cx="3952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7" name="Object 47">
            <a:extLst>
              <a:ext uri="{FF2B5EF4-FFF2-40B4-BE49-F238E27FC236}">
                <a16:creationId xmlns:a16="http://schemas.microsoft.com/office/drawing/2014/main" id="{8D96F756-8C65-CC51-EE41-F4D5F2BCE4B5}"/>
              </a:ext>
            </a:extLst>
          </p:cNvPr>
          <p:cNvGraphicFramePr>
            <a:graphicFrameLocks/>
          </p:cNvGraphicFramePr>
          <p:nvPr/>
        </p:nvGraphicFramePr>
        <p:xfrm>
          <a:off x="2149475" y="1423988"/>
          <a:ext cx="3302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8777" imgH="342900" progId="Equation.3">
                  <p:embed/>
                </p:oleObj>
              </mc:Choice>
              <mc:Fallback>
                <p:oleObj name="Equation" r:id="rId35" imgW="228777" imgH="342900" progId="Equation.3">
                  <p:embed/>
                  <p:pic>
                    <p:nvPicPr>
                      <p:cNvPr id="0" name="Object 47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1423988"/>
                        <a:ext cx="3302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8" name="Object 48">
            <a:extLst>
              <a:ext uri="{FF2B5EF4-FFF2-40B4-BE49-F238E27FC236}">
                <a16:creationId xmlns:a16="http://schemas.microsoft.com/office/drawing/2014/main" id="{72F8C624-2F68-AF63-B7C7-01135E3D4FAF}"/>
              </a:ext>
            </a:extLst>
          </p:cNvPr>
          <p:cNvGraphicFramePr>
            <a:graphicFrameLocks/>
          </p:cNvGraphicFramePr>
          <p:nvPr/>
        </p:nvGraphicFramePr>
        <p:xfrm>
          <a:off x="7239000" y="2590800"/>
          <a:ext cx="2921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90647" imgH="342900" progId="Equation.3">
                  <p:embed/>
                </p:oleObj>
              </mc:Choice>
              <mc:Fallback>
                <p:oleObj name="Equation" r:id="rId37" imgW="190647" imgH="342900" progId="Equation.3">
                  <p:embed/>
                  <p:pic>
                    <p:nvPicPr>
                      <p:cNvPr id="0" name="Object 48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590800"/>
                        <a:ext cx="2921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9" name="Object 49">
            <a:extLst>
              <a:ext uri="{FF2B5EF4-FFF2-40B4-BE49-F238E27FC236}">
                <a16:creationId xmlns:a16="http://schemas.microsoft.com/office/drawing/2014/main" id="{4F97F15E-6500-331A-E4AC-4A4E47B0461D}"/>
              </a:ext>
            </a:extLst>
          </p:cNvPr>
          <p:cNvGraphicFramePr>
            <a:graphicFrameLocks/>
          </p:cNvGraphicFramePr>
          <p:nvPr/>
        </p:nvGraphicFramePr>
        <p:xfrm>
          <a:off x="7162800" y="3422650"/>
          <a:ext cx="34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47488" imgH="342900" progId="Equation.3">
                  <p:embed/>
                </p:oleObj>
              </mc:Choice>
              <mc:Fallback>
                <p:oleObj name="Equation" r:id="rId39" imgW="247488" imgH="342900" progId="Equation.3">
                  <p:embed/>
                  <p:pic>
                    <p:nvPicPr>
                      <p:cNvPr id="0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422650"/>
                        <a:ext cx="342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0" name="Rectangle 50">
            <a:extLst>
              <a:ext uri="{FF2B5EF4-FFF2-40B4-BE49-F238E27FC236}">
                <a16:creationId xmlns:a16="http://schemas.microsoft.com/office/drawing/2014/main" id="{73853BB2-DBEA-7874-DB6E-0C1A8468A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603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122931" name="Rectangle 51">
            <a:extLst>
              <a:ext uri="{FF2B5EF4-FFF2-40B4-BE49-F238E27FC236}">
                <a16:creationId xmlns:a16="http://schemas.microsoft.com/office/drawing/2014/main" id="{EA8FFD39-1F3C-6C1F-3054-2B228AB74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896938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给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 dirty="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上加多大的压力能使</a:t>
            </a:r>
            <a:r>
              <a:rPr kumimoji="1" lang="en-US" altLang="zh-CN" sz="2400" b="1" i="1" dirty="0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baseline="-25000" dirty="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离开桌面？</a:t>
            </a:r>
          </a:p>
        </p:txBody>
      </p:sp>
      <p:sp>
        <p:nvSpPr>
          <p:cNvPr id="122932" name="Text Box 52">
            <a:extLst>
              <a:ext uri="{FF2B5EF4-FFF2-40B4-BE49-F238E27FC236}">
                <a16:creationId xmlns:a16="http://schemas.microsoft.com/office/drawing/2014/main" id="{75960D87-82DF-70CA-9BAA-46DDC2A6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8794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2" name="Text Box 41">
            <a:extLst>
              <a:ext uri="{FF2B5EF4-FFF2-40B4-BE49-F238E27FC236}">
                <a16:creationId xmlns:a16="http://schemas.microsoft.com/office/drawing/2014/main" id="{29B59913-260E-FB10-BD80-CFA879F4A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17" y="1726332"/>
            <a:ext cx="64008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裸弹簧</a:t>
            </a:r>
            <a:r>
              <a:rPr kumimoji="1" lang="en-US" altLang="zh-CN" sz="1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x=0</a:t>
            </a:r>
            <a:r>
              <a:rPr kumimoji="1"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位置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1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 autoUpdateAnimBg="0"/>
      <p:bldP spid="122920" grpId="0" autoUpdateAnimBg="0"/>
      <p:bldP spid="122921" grpId="0" autoUpdateAnimBg="0"/>
      <p:bldP spid="122930" grpId="0" autoUpdateAnimBg="0"/>
      <p:bldP spid="122931" grpId="0" autoUpdateAnimBg="0"/>
      <p:bldP spid="122932" grpId="0" autoUpdateAnimBg="0"/>
      <p:bldP spid="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>
            <a:extLst>
              <a:ext uri="{FF2B5EF4-FFF2-40B4-BE49-F238E27FC236}">
                <a16:creationId xmlns:a16="http://schemas.microsoft.com/office/drawing/2014/main" id="{3C61FE9C-4986-B2AF-0C77-C2C0194CE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5888"/>
            <a:ext cx="614838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solidFill>
                  <a:srgbClr val="FFC000"/>
                </a:solidFill>
              </a:rPr>
              <a:t>书中例题</a:t>
            </a:r>
            <a:r>
              <a:rPr lang="en-US" altLang="zh-CN" sz="2400" b="1">
                <a:solidFill>
                  <a:srgbClr val="FFC000"/>
                </a:solidFill>
              </a:rPr>
              <a:t>3.15</a:t>
            </a:r>
            <a:r>
              <a:rPr lang="zh-CN" altLang="zh-CN" sz="2400" b="1">
                <a:solidFill>
                  <a:srgbClr val="FFC000"/>
                </a:solidFill>
              </a:rPr>
              <a:t>（</a:t>
            </a:r>
            <a:r>
              <a:rPr lang="en-US" altLang="zh-CN" sz="2400" b="1">
                <a:solidFill>
                  <a:srgbClr val="FFC000"/>
                </a:solidFill>
              </a:rPr>
              <a:t>p126)</a:t>
            </a:r>
            <a:endParaRPr lang="en-US" altLang="zh-CN" sz="24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物体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悬于弹簧上，弹簧的弹性系数为</a:t>
            </a: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，弹簧的原长与圆环的半径相等。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不计摩擦力</a:t>
            </a:r>
            <a:r>
              <a:rPr lang="zh-CN" altLang="en-US" sz="1100" b="1">
                <a:solidFill>
                  <a:schemeClr val="bg1"/>
                </a:solidFill>
              </a:rPr>
              <a:t>。</a:t>
            </a:r>
            <a:r>
              <a:rPr lang="zh-CN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求：物体自弹簧的原长无初速度的沿圆环滑至最低点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时所获得的动能。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18E91F64-D868-B5C9-5FE2-7C9F20DC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2225"/>
            <a:ext cx="225901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BA2703-873E-FD53-4673-3D032A24DAFD}"/>
              </a:ext>
            </a:extLst>
          </p:cNvPr>
          <p:cNvSpPr txBox="1"/>
          <p:nvPr/>
        </p:nvSpPr>
        <p:spPr>
          <a:xfrm>
            <a:off x="179388" y="2133600"/>
            <a:ext cx="7353300" cy="41227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</a:rPr>
              <a:t>解：不计摩擦力，所以圆环只起到约束的作用。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</a:rPr>
              <a:t>重力和弹性力都是保守力。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</a:rPr>
              <a:t>选择</a:t>
            </a:r>
            <a:r>
              <a:rPr lang="en-US" altLang="zh-CN" sz="2400" b="1">
                <a:solidFill>
                  <a:schemeClr val="bg1"/>
                </a:solidFill>
              </a:rPr>
              <a:t>B</a:t>
            </a:r>
            <a:r>
              <a:rPr lang="zh-CN" altLang="en-US" sz="2400" b="1">
                <a:solidFill>
                  <a:schemeClr val="bg1"/>
                </a:solidFill>
              </a:rPr>
              <a:t>点为重力势能</a:t>
            </a:r>
            <a:r>
              <a:rPr lang="en-US" altLang="zh-CN" sz="2400" b="1">
                <a:solidFill>
                  <a:schemeClr val="bg1"/>
                </a:solidFill>
              </a:rPr>
              <a:t>0</a:t>
            </a:r>
            <a:r>
              <a:rPr lang="zh-CN" altLang="en-US" sz="2400" b="1">
                <a:solidFill>
                  <a:schemeClr val="bg1"/>
                </a:solidFill>
              </a:rPr>
              <a:t>点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</a:rPr>
              <a:t>初：重力势能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mg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(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R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+cos60°)</a:t>
            </a:r>
            <a:r>
              <a:rPr lang="zh-CN" altLang="en-US" sz="2400" b="1">
                <a:solidFill>
                  <a:schemeClr val="bg1"/>
                </a:solidFill>
                <a:latin typeface="+mn-lt"/>
              </a:rPr>
              <a:t>，弹性势能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=0</a:t>
            </a:r>
            <a:r>
              <a:rPr lang="zh-CN" altLang="en-US" sz="2400" b="1">
                <a:solidFill>
                  <a:schemeClr val="bg1"/>
                </a:solidFill>
                <a:latin typeface="+mn-lt"/>
              </a:rPr>
              <a:t>，动能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=0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  <a:latin typeface="+mn-lt"/>
              </a:rPr>
              <a:t>末：重力势能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=0</a:t>
            </a:r>
            <a:r>
              <a:rPr lang="zh-CN" altLang="en-US" sz="2400" b="1">
                <a:solidFill>
                  <a:schemeClr val="bg1"/>
                </a:solidFill>
                <a:latin typeface="+mn-lt"/>
              </a:rPr>
              <a:t>，弹性势能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kR  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/2,</a:t>
            </a:r>
            <a:r>
              <a:rPr lang="zh-CN" altLang="en-US" sz="2400" b="1">
                <a:solidFill>
                  <a:schemeClr val="bg1"/>
                </a:solidFill>
                <a:latin typeface="+mn-lt"/>
              </a:rPr>
              <a:t>动能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E</a:t>
            </a:r>
            <a:r>
              <a:rPr lang="en-US" altLang="zh-CN" b="1" i="1">
                <a:solidFill>
                  <a:schemeClr val="bg1"/>
                </a:solidFill>
                <a:latin typeface="+mn-lt"/>
              </a:rPr>
              <a:t>k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zh-CN" altLang="en-US" sz="2400" b="1">
                <a:solidFill>
                  <a:schemeClr val="bg1"/>
                </a:solidFill>
                <a:latin typeface="+mn-lt"/>
              </a:rPr>
              <a:t>                               初机械能</a:t>
            </a:r>
            <a:r>
              <a:rPr lang="en-US" altLang="zh-CN" sz="2400" b="1">
                <a:solidFill>
                  <a:schemeClr val="bg1"/>
                </a:solidFill>
                <a:latin typeface="+mn-lt"/>
              </a:rPr>
              <a:t>=</a:t>
            </a:r>
            <a:r>
              <a:rPr lang="zh-CN" altLang="en-US" sz="2400" b="1">
                <a:solidFill>
                  <a:schemeClr val="bg1"/>
                </a:solidFill>
                <a:latin typeface="+mn-lt"/>
              </a:rPr>
              <a:t>末机械能</a:t>
            </a:r>
            <a:endParaRPr lang="en-US" altLang="zh-CN" sz="2400" b="1">
              <a:solidFill>
                <a:schemeClr val="bg1"/>
              </a:solidFill>
              <a:latin typeface="+mn-lt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                          E</a:t>
            </a:r>
            <a:r>
              <a:rPr lang="en-US" altLang="zh-CN" sz="1600" b="1" i="1">
                <a:solidFill>
                  <a:schemeClr val="bg1"/>
                </a:solidFill>
                <a:latin typeface="+mn-lt"/>
              </a:rPr>
              <a:t>k</a:t>
            </a:r>
            <a:r>
              <a:rPr lang="en-US" altLang="zh-CN" sz="2400" b="1" i="1">
                <a:solidFill>
                  <a:schemeClr val="bg1"/>
                </a:solidFill>
                <a:latin typeface="+mn-lt"/>
              </a:rPr>
              <a:t>+</a:t>
            </a: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 kR  </a:t>
            </a:r>
            <a:r>
              <a:rPr lang="en-US" altLang="zh-CN" sz="2400" b="1">
                <a:solidFill>
                  <a:srgbClr val="FFFFFF"/>
                </a:solidFill>
                <a:latin typeface="Times New Roman"/>
              </a:rPr>
              <a:t>/2=</a:t>
            </a: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 mg</a:t>
            </a:r>
            <a:r>
              <a:rPr lang="en-US" altLang="zh-CN" sz="2400" b="1">
                <a:solidFill>
                  <a:srgbClr val="FFFFFF"/>
                </a:solidFill>
                <a:latin typeface="Times New Roman"/>
              </a:rPr>
              <a:t>(</a:t>
            </a: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R</a:t>
            </a:r>
            <a:r>
              <a:rPr lang="en-US" altLang="zh-CN" sz="2400" b="1">
                <a:solidFill>
                  <a:srgbClr val="FFFFFF"/>
                </a:solidFill>
                <a:latin typeface="Times New Roman"/>
              </a:rPr>
              <a:t>+cos60°)</a:t>
            </a:r>
            <a:endParaRPr lang="en-US" altLang="zh-CN" sz="1600" b="1" i="1">
              <a:solidFill>
                <a:schemeClr val="bg1"/>
              </a:solidFill>
              <a:latin typeface="+mn-lt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                                 E</a:t>
            </a:r>
            <a:r>
              <a:rPr lang="en-US" altLang="zh-CN" sz="1600" b="1" i="1">
                <a:solidFill>
                  <a:srgbClr val="FFFFFF"/>
                </a:solidFill>
                <a:latin typeface="Times New Roman"/>
              </a:rPr>
              <a:t>k</a:t>
            </a: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=</a:t>
            </a:r>
            <a:r>
              <a:rPr lang="en-US" altLang="zh-CN" sz="2400" b="1">
                <a:solidFill>
                  <a:srgbClr val="FFFFFF"/>
                </a:solidFill>
                <a:latin typeface="Times New Roman"/>
              </a:rPr>
              <a:t>3/2</a:t>
            </a:r>
            <a:r>
              <a:rPr lang="en-US" altLang="zh-CN" sz="2400" b="1" i="1">
                <a:solidFill>
                  <a:srgbClr val="FFFFFF"/>
                </a:solidFill>
                <a:latin typeface="Times New Roman"/>
              </a:rPr>
              <a:t>mgR- kR  </a:t>
            </a:r>
            <a:r>
              <a:rPr lang="en-US" altLang="zh-CN" sz="2400" b="1">
                <a:solidFill>
                  <a:srgbClr val="FFFFFF"/>
                </a:solidFill>
                <a:latin typeface="Times New Roman"/>
              </a:rPr>
              <a:t>/2</a:t>
            </a:r>
            <a:endParaRPr lang="zh-CN" altLang="en-US" sz="36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D6478-7B41-12BC-08CC-92BAB945073B}"/>
              </a:ext>
            </a:extLst>
          </p:cNvPr>
          <p:cNvSpPr txBox="1"/>
          <p:nvPr/>
        </p:nvSpPr>
        <p:spPr>
          <a:xfrm>
            <a:off x="4427538" y="4143375"/>
            <a:ext cx="3603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>
                <a:solidFill>
                  <a:schemeClr val="bg1"/>
                </a:solidFill>
                <a:latin typeface="+mn-lt"/>
              </a:rPr>
              <a:t>2</a:t>
            </a:r>
            <a:endParaRPr lang="zh-CN" altLang="en-US" sz="14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01EB9-D079-E517-BAA7-1F078ECBB4B8}"/>
              </a:ext>
            </a:extLst>
          </p:cNvPr>
          <p:cNvSpPr txBox="1"/>
          <p:nvPr/>
        </p:nvSpPr>
        <p:spPr>
          <a:xfrm>
            <a:off x="3103563" y="5157788"/>
            <a:ext cx="3603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>
                <a:solidFill>
                  <a:schemeClr val="bg1"/>
                </a:solidFill>
                <a:latin typeface="+mn-lt"/>
              </a:rPr>
              <a:t>2</a:t>
            </a:r>
            <a:endParaRPr lang="zh-CN" altLang="en-US" sz="1400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73780-3A39-30CE-B27C-7ACA7557666D}"/>
              </a:ext>
            </a:extLst>
          </p:cNvPr>
          <p:cNvSpPr txBox="1"/>
          <p:nvPr/>
        </p:nvSpPr>
        <p:spPr>
          <a:xfrm>
            <a:off x="4735513" y="5732463"/>
            <a:ext cx="36036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b="1">
                <a:solidFill>
                  <a:schemeClr val="bg1"/>
                </a:solidFill>
                <a:latin typeface="+mn-lt"/>
              </a:rPr>
              <a:t>2</a:t>
            </a:r>
            <a:endParaRPr lang="zh-CN" altLang="en-US" sz="1400" b="1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DD99D9CD-8026-209A-8605-CB20AD556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33375"/>
            <a:ext cx="3963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3.5</a:t>
            </a:r>
            <a:r>
              <a:rPr kumimoji="1"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能量守恒定律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896A343D-CB88-A235-D70D-45B9417C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990600"/>
            <a:ext cx="8072437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能量不能消失，也不能创造，只能从一种形式转换为另一种形式。对一个封闭系统来说，不论发生何种变化，各种形式的能量可以互相转换，但它们总和是一个常量。这一结论称为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能量转换和守恒定律。</a:t>
            </a:r>
            <a:r>
              <a:rPr kumimoji="1" lang="zh-CN" altLang="en-US" sz="2400" b="1">
                <a:solidFill>
                  <a:srgbClr val="00FFF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FDD245D2-AC06-E79D-08F8-FF9559DC5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4337050"/>
            <a:ext cx="8124825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3688" indent="-2936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2000"/>
              </a:lnSpc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3.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机械能守恒定律是普遍的能量守恒定律在机械运动范围内的体现 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307A4AF0-2A05-B469-DA54-60FBA3DC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03600"/>
            <a:ext cx="779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1.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能量守恒定律可以适用于任何变化过程 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BD420466-24AA-86C3-1507-4CA579C42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3898900"/>
            <a:ext cx="514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2.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功是能量交换或转换的一种度量</a:t>
            </a:r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F09FAE44-CA9B-588D-2BFB-303F23BAB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2928938"/>
            <a:ext cx="78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43016" name="AutoShape 10">
            <a:extLst>
              <a:ext uri="{FF2B5EF4-FFF2-40B4-BE49-F238E27FC236}">
                <a16:creationId xmlns:a16="http://schemas.microsoft.com/office/drawing/2014/main" id="{674EA3AB-808F-1942-4908-CD051B83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28860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1">
            <a:extLst>
              <a:ext uri="{FF2B5EF4-FFF2-40B4-BE49-F238E27FC236}">
                <a16:creationId xmlns:a16="http://schemas.microsoft.com/office/drawing/2014/main" id="{BA83C846-640F-4722-F222-3FDCC8820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4813"/>
            <a:ext cx="61928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FFC000"/>
                </a:solidFill>
              </a:rPr>
              <a:t>作业：</a:t>
            </a:r>
            <a:r>
              <a:rPr lang="en-US" altLang="zh-CN" sz="2800" b="1">
                <a:solidFill>
                  <a:srgbClr val="FFC000"/>
                </a:solidFill>
              </a:rPr>
              <a:t>p.136  </a:t>
            </a:r>
          </a:p>
          <a:p>
            <a:pPr eaLnBrk="1" hangingPunct="1"/>
            <a:r>
              <a:rPr lang="en-US" altLang="zh-CN" sz="2800" b="1">
                <a:solidFill>
                  <a:srgbClr val="FFC000"/>
                </a:solidFill>
              </a:rPr>
              <a:t>3.11     3.17     3.18      3.19 </a:t>
            </a:r>
            <a:endParaRPr lang="zh-CN" altLang="en-US" sz="2800" b="1">
              <a:solidFill>
                <a:srgbClr val="FFC000"/>
              </a:solidFill>
            </a:endParaRPr>
          </a:p>
        </p:txBody>
      </p:sp>
      <p:sp>
        <p:nvSpPr>
          <p:cNvPr id="44035" name="文本框 2">
            <a:extLst>
              <a:ext uri="{FF2B5EF4-FFF2-40B4-BE49-F238E27FC236}">
                <a16:creationId xmlns:a16="http://schemas.microsoft.com/office/drawing/2014/main" id="{F3746B11-89E1-E8B9-D1E7-C6274FC4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86423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 b="1">
                <a:solidFill>
                  <a:srgbClr val="FFC000"/>
                </a:solidFill>
              </a:rPr>
              <a:t>5. </a:t>
            </a:r>
            <a:r>
              <a:rPr lang="zh-CN" altLang="en-US" sz="2800" b="1">
                <a:solidFill>
                  <a:srgbClr val="FFC000"/>
                </a:solidFill>
              </a:rPr>
              <a:t>一人从</a:t>
            </a:r>
            <a:r>
              <a:rPr lang="en-US" altLang="zh-CN" sz="2800" b="1">
                <a:solidFill>
                  <a:srgbClr val="FFC000"/>
                </a:solidFill>
              </a:rPr>
              <a:t>10 m</a:t>
            </a:r>
            <a:r>
              <a:rPr lang="zh-CN" altLang="en-US" sz="2800" b="1">
                <a:solidFill>
                  <a:srgbClr val="FFC000"/>
                </a:solidFill>
              </a:rPr>
              <a:t>深的井中匀速地提水，起始桶中装有</a:t>
            </a:r>
            <a:r>
              <a:rPr lang="en-US" altLang="zh-CN" sz="2800" b="1">
                <a:solidFill>
                  <a:srgbClr val="FFC000"/>
                </a:solidFill>
              </a:rPr>
              <a:t>10kg</a:t>
            </a:r>
            <a:r>
              <a:rPr lang="zh-CN" altLang="en-US" sz="2800" b="1">
                <a:solidFill>
                  <a:srgbClr val="FFC000"/>
                </a:solidFill>
              </a:rPr>
              <a:t>的水，由于水桶底部均速地漏水，每升高</a:t>
            </a:r>
            <a:r>
              <a:rPr lang="en-US" altLang="zh-CN" sz="2800" b="1">
                <a:solidFill>
                  <a:srgbClr val="FFC000"/>
                </a:solidFill>
              </a:rPr>
              <a:t>1m</a:t>
            </a:r>
            <a:r>
              <a:rPr lang="zh-CN" altLang="en-US" sz="2800" b="1">
                <a:solidFill>
                  <a:srgbClr val="FFC000"/>
                </a:solidFill>
              </a:rPr>
              <a:t>要漏掉</a:t>
            </a:r>
            <a:r>
              <a:rPr lang="en-US" altLang="zh-CN" sz="2800" b="1">
                <a:solidFill>
                  <a:srgbClr val="FFC000"/>
                </a:solidFill>
              </a:rPr>
              <a:t>0.2kg</a:t>
            </a:r>
            <a:r>
              <a:rPr lang="zh-CN" altLang="en-US" sz="2800" b="1">
                <a:solidFill>
                  <a:srgbClr val="FFC000"/>
                </a:solidFill>
              </a:rPr>
              <a:t>水。问水桶被均速地从井中提到井口，人所做的功。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2_默认设计模板">
  <a:themeElements>
    <a:clrScheme name="2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2812</Words>
  <Application>Microsoft Office PowerPoint</Application>
  <PresentationFormat>全屏显示(4:3)</PresentationFormat>
  <Paragraphs>333</Paragraphs>
  <Slides>42</Slides>
  <Notes>0</Notes>
  <HiddenSlides>4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仿宋_GB2312</vt:lpstr>
      <vt:lpstr>黑体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2_默认设计模板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CH1-1</dc:subject>
  <dc:creator>喻有理</dc:creator>
  <cp:lastModifiedBy>LuoXiaoguang</cp:lastModifiedBy>
  <cp:revision>73</cp:revision>
  <dcterms:created xsi:type="dcterms:W3CDTF">2002-06-18T00:43:24Z</dcterms:created>
  <dcterms:modified xsi:type="dcterms:W3CDTF">2026-03-09T14:31:58Z</dcterms:modified>
</cp:coreProperties>
</file>